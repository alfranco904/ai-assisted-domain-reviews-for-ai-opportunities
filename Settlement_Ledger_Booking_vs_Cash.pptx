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6122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Frame the deck as an interview reference: authorization vs settlement, five parties, and the issuer's GL.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authorization is a promise (dashed, no GL impact). Settlement is the real financial event (solid, colored fee flows).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Authorization: each party's experience while the transaction is only a memo hold. No fees, no ledger postings anywhere.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Settlement: clearing file forwards merchant -&gt; acquirer -&gt; network -&gt; issuer; payout returns net of MDR; interchange and network fees split off.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Issuer GL: four independent postings at settlement (loan receivable, merchant payable, interchange revenue, network fee expense); two more at a later dispute.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 of funds waterfall: cash leaves the issuer already net of interchange, then network, acquirer and payment system each skim their own fee before relaying the rest to the merchant.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 of funds accounting: unlike the issuer's fuller GL entry, these four panels are pure pass-through settlement -- each one balances on its own, Dr in equals Cr kept plus Cr relayed.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Booking vs cash settlement: booking happens when the clearing record posts; cash settlement is a separate later event when money actually moves. At the issuer-to-acquirer cash leg, only issuer/network/acquirer have entries -- consumer's balance was already fixed, and payment system/merchant haven't been reached yet. Cash entries just clear the payable/receivable already booked -- no P&amp;L hit a second time.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Settlement timeline: the clock starts at swipe, but real money doesn't move until the network nets everyone's obligations the next business day; merchant funding trails that by another day or two.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Fee glossary: interchange funds issuer risk/float; network fees pay for the rails; acquirer and PSP fees are their own margins; chargeback reserve is a liability, not a fee.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Chargeback: dispute fees cascade issuer -&gt; network -&gt; acquirer -&gt; merchant; issuer separately books its own reserve and loss expense.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the 40-second verbal answer to 'walk me through a card transaction.'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914400" y="2148840"/>
            <a:ext cx="10332720" cy="1188720"/>
          </a:xfrm>
          <a:prstGeom prst="rect">
            <a:avLst/>
          </a:prstGeom>
          <a:noFill/>
        </p:spPr>
        <p:txBody>
          <a:bodyPr wrap="square" lIns="0" tIns="0" rIns="0" bIns="0" anchor="t">
            <a:spAutoFit/>
          </a:bodyPr>
          <a:lstStyle/>
          <a:p>
            <a:pPr algn="ctr"/>
            <a:r>
              <a:rPr sz="4600" b="1" i="0">
                <a:solidFill>
                  <a:srgbClr val="FFFFFF"/>
                </a:solidFill>
                <a:latin typeface="Cambria"/>
              </a:rPr>
              <a:t>The Settlement Ledger</a:t>
            </a:r>
          </a:p>
        </p:txBody>
      </p:sp>
      <p:sp>
        <p:nvSpPr>
          <p:cNvPr id="3" name="TextBox 2"/>
          <p:cNvSpPr txBox="1"/>
          <p:nvPr/>
        </p:nvSpPr>
        <p:spPr>
          <a:xfrm>
            <a:off x="1463040" y="3246120"/>
            <a:ext cx="9235440" cy="822960"/>
          </a:xfrm>
          <a:prstGeom prst="rect">
            <a:avLst/>
          </a:prstGeom>
          <a:noFill/>
        </p:spPr>
        <p:txBody>
          <a:bodyPr wrap="square" lIns="0" tIns="0" rIns="0" bIns="0" anchor="t">
            <a:spAutoFit/>
          </a:bodyPr>
          <a:lstStyle/>
          <a:p>
            <a:pPr algn="ctr">
              <a:lnSpc>
                <a:spcPct val="125000"/>
              </a:lnSpc>
            </a:pPr>
            <a:r>
              <a:rPr sz="1600" b="0" i="1">
                <a:solidFill>
                  <a:srgbClr val="CADCEA"/>
                </a:solidFill>
                <a:latin typeface="Calibri"/>
              </a:rPr>
              <a:t>How a card swipe becomes a loan receivable, a merchant payable,</a:t>
            </a:r>
          </a:p>
          <a:p>
            <a:pPr algn="ctr">
              <a:lnSpc>
                <a:spcPct val="125000"/>
              </a:lnSpc>
            </a:pPr>
            <a:r>
              <a:rPr sz="1600" b="0" i="1">
                <a:solidFill>
                  <a:srgbClr val="CADCEA"/>
                </a:solidFill>
                <a:latin typeface="Calibri"/>
              </a:rPr>
              <a:t>and an interchange fee — across five parties and the issuer's GL.</a:t>
            </a:r>
          </a:p>
        </p:txBody>
      </p:sp>
      <p:sp>
        <p:nvSpPr>
          <p:cNvPr id="4" name="Oval 3"/>
          <p:cNvSpPr/>
          <p:nvPr/>
        </p:nvSpPr>
        <p:spPr>
          <a:xfrm>
            <a:off x="339836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C</a:t>
            </a:r>
          </a:p>
        </p:txBody>
      </p:sp>
      <p:sp>
        <p:nvSpPr>
          <p:cNvPr id="5" name="Oval 4"/>
          <p:cNvSpPr/>
          <p:nvPr/>
        </p:nvSpPr>
        <p:spPr>
          <a:xfrm>
            <a:off x="463280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M</a:t>
            </a:r>
          </a:p>
        </p:txBody>
      </p:sp>
      <p:sp>
        <p:nvSpPr>
          <p:cNvPr id="6" name="Oval 5"/>
          <p:cNvSpPr/>
          <p:nvPr/>
        </p:nvSpPr>
        <p:spPr>
          <a:xfrm>
            <a:off x="586724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A</a:t>
            </a:r>
          </a:p>
        </p:txBody>
      </p:sp>
      <p:sp>
        <p:nvSpPr>
          <p:cNvPr id="7" name="Oval 6"/>
          <p:cNvSpPr/>
          <p:nvPr/>
        </p:nvSpPr>
        <p:spPr>
          <a:xfrm>
            <a:off x="710168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N</a:t>
            </a:r>
          </a:p>
        </p:txBody>
      </p:sp>
      <p:sp>
        <p:nvSpPr>
          <p:cNvPr id="8" name="Oval 7"/>
          <p:cNvSpPr/>
          <p:nvPr/>
        </p:nvSpPr>
        <p:spPr>
          <a:xfrm>
            <a:off x="8336127" y="4206240"/>
            <a:ext cx="457200" cy="457200"/>
          </a:xfrm>
          <a:prstGeom prst="ellipse">
            <a:avLst/>
          </a:prstGeom>
          <a:solidFill>
            <a:srgbClr val="1A2130"/>
          </a:solidFill>
          <a:ln w="15875">
            <a:solidFill>
              <a:srgbClr val="CADCE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CADCEA"/>
                </a:solidFill>
                <a:latin typeface="Cambria"/>
              </a:rPr>
              <a:t>I</a:t>
            </a:r>
          </a:p>
        </p:txBody>
      </p:sp>
      <p:sp>
        <p:nvSpPr>
          <p:cNvPr id="9" name="TextBox 8"/>
          <p:cNvSpPr txBox="1"/>
          <p:nvPr/>
        </p:nvSpPr>
        <p:spPr>
          <a:xfrm>
            <a:off x="914400" y="6172200"/>
            <a:ext cx="10360152" cy="365760"/>
          </a:xfrm>
          <a:prstGeom prst="rect">
            <a:avLst/>
          </a:prstGeom>
          <a:noFill/>
        </p:spPr>
        <p:txBody>
          <a:bodyPr wrap="square" lIns="0" tIns="0" rIns="0" bIns="0" anchor="t">
            <a:spAutoFit/>
          </a:bodyPr>
          <a:lstStyle/>
          <a:p>
            <a:pPr algn="ctr"/>
            <a:r>
              <a:rPr sz="1050" b="0" i="0">
                <a:solidFill>
                  <a:srgbClr val="8A9298"/>
                </a:solidFill>
                <a:latin typeface="Courier New"/>
              </a:rPr>
              <a:t>PREPARED FOR INTERVIEW REVIEW · TUE 2026-09-15 · REF AUTH-CLR-GL-01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01</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Two events, five parties</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top lane is a promise; nothing posts. The bottom lane is the real event.</a:t>
            </a:r>
          </a:p>
        </p:txBody>
      </p:sp>
      <p:cxnSp>
        <p:nvCxnSpPr>
          <p:cNvPr id="5" name="Connector 4"/>
          <p:cNvCxnSpPr/>
          <p:nvPr/>
        </p:nvCxnSpPr>
        <p:spPr>
          <a:xfrm>
            <a:off x="1645920" y="1874519"/>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C</a:t>
            </a:r>
          </a:p>
        </p:txBody>
      </p:sp>
      <p:sp>
        <p:nvSpPr>
          <p:cNvPr id="7" name="TextBox 6"/>
          <p:cNvSpPr txBox="1"/>
          <p:nvPr/>
        </p:nvSpPr>
        <p:spPr>
          <a:xfrm>
            <a:off x="64008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Consumer</a:t>
            </a:r>
          </a:p>
        </p:txBody>
      </p:sp>
      <p:sp>
        <p:nvSpPr>
          <p:cNvPr id="8" name="TextBox 7"/>
          <p:cNvSpPr txBox="1"/>
          <p:nvPr/>
        </p:nvSpPr>
        <p:spPr>
          <a:xfrm>
            <a:off x="64008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cardholder</a:t>
            </a:r>
          </a:p>
        </p:txBody>
      </p:sp>
      <p:sp>
        <p:nvSpPr>
          <p:cNvPr id="9" name="Oval 8"/>
          <p:cNvSpPr/>
          <p:nvPr/>
        </p:nvSpPr>
        <p:spPr>
          <a:xfrm>
            <a:off x="377190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10" name="TextBox 9"/>
          <p:cNvSpPr txBox="1"/>
          <p:nvPr/>
        </p:nvSpPr>
        <p:spPr>
          <a:xfrm>
            <a:off x="301752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 / PSP</a:t>
            </a:r>
          </a:p>
        </p:txBody>
      </p:sp>
      <p:sp>
        <p:nvSpPr>
          <p:cNvPr id="11" name="TextBox 10"/>
          <p:cNvSpPr txBox="1"/>
          <p:nvPr/>
        </p:nvSpPr>
        <p:spPr>
          <a:xfrm>
            <a:off x="301752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POS · Stripe · Square</a:t>
            </a:r>
          </a:p>
        </p:txBody>
      </p:sp>
      <p:sp>
        <p:nvSpPr>
          <p:cNvPr id="12" name="Oval 11"/>
          <p:cNvSpPr/>
          <p:nvPr/>
        </p:nvSpPr>
        <p:spPr>
          <a:xfrm>
            <a:off x="614934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3" name="TextBox 12"/>
          <p:cNvSpPr txBox="1"/>
          <p:nvPr/>
        </p:nvSpPr>
        <p:spPr>
          <a:xfrm>
            <a:off x="539496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4" name="TextBox 13"/>
          <p:cNvSpPr txBox="1"/>
          <p:nvPr/>
        </p:nvSpPr>
        <p:spPr>
          <a:xfrm>
            <a:off x="539496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merchant bank</a:t>
            </a:r>
          </a:p>
        </p:txBody>
      </p:sp>
      <p:sp>
        <p:nvSpPr>
          <p:cNvPr id="15" name="Oval 14"/>
          <p:cNvSpPr/>
          <p:nvPr/>
        </p:nvSpPr>
        <p:spPr>
          <a:xfrm>
            <a:off x="8526780"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16" name="TextBox 15"/>
          <p:cNvSpPr txBox="1"/>
          <p:nvPr/>
        </p:nvSpPr>
        <p:spPr>
          <a:xfrm>
            <a:off x="777240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7" name="TextBox 16"/>
          <p:cNvSpPr txBox="1"/>
          <p:nvPr/>
        </p:nvSpPr>
        <p:spPr>
          <a:xfrm>
            <a:off x="777240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Visa · MC · Amex</a:t>
            </a:r>
          </a:p>
        </p:txBody>
      </p:sp>
      <p:sp>
        <p:nvSpPr>
          <p:cNvPr id="18" name="Oval 17"/>
          <p:cNvSpPr/>
          <p:nvPr/>
        </p:nvSpPr>
        <p:spPr>
          <a:xfrm>
            <a:off x="10904219" y="162306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19" name="TextBox 18"/>
          <p:cNvSpPr txBox="1"/>
          <p:nvPr/>
        </p:nvSpPr>
        <p:spPr>
          <a:xfrm>
            <a:off x="10149840" y="2221991"/>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sp>
        <p:nvSpPr>
          <p:cNvPr id="20" name="TextBox 19"/>
          <p:cNvSpPr txBox="1"/>
          <p:nvPr/>
        </p:nvSpPr>
        <p:spPr>
          <a:xfrm>
            <a:off x="10149840" y="2478024"/>
            <a:ext cx="2011680" cy="274320"/>
          </a:xfrm>
          <a:prstGeom prst="rect">
            <a:avLst/>
          </a:prstGeom>
          <a:noFill/>
        </p:spPr>
        <p:txBody>
          <a:bodyPr wrap="square" lIns="0" tIns="0" rIns="0" bIns="0" anchor="t">
            <a:spAutoFit/>
          </a:bodyPr>
          <a:lstStyle/>
          <a:p>
            <a:pPr algn="ctr"/>
            <a:r>
              <a:rPr sz="850" b="0" i="0">
                <a:solidFill>
                  <a:srgbClr val="8A9298"/>
                </a:solidFill>
                <a:latin typeface="Courier New"/>
              </a:rPr>
              <a:t>card-issuing bank</a:t>
            </a:r>
          </a:p>
        </p:txBody>
      </p:sp>
      <p:sp>
        <p:nvSpPr>
          <p:cNvPr id="21" name="TextBox 20"/>
          <p:cNvSpPr txBox="1"/>
          <p:nvPr/>
        </p:nvSpPr>
        <p:spPr>
          <a:xfrm>
            <a:off x="640080" y="2697480"/>
            <a:ext cx="3108960" cy="274320"/>
          </a:xfrm>
          <a:prstGeom prst="rect">
            <a:avLst/>
          </a:prstGeom>
          <a:noFill/>
        </p:spPr>
        <p:txBody>
          <a:bodyPr wrap="square" lIns="0" tIns="0" rIns="0" bIns="0" anchor="t">
            <a:spAutoFit/>
          </a:bodyPr>
          <a:lstStyle/>
          <a:p>
            <a:pPr algn="l"/>
            <a:r>
              <a:rPr sz="1100" b="1" i="0">
                <a:solidFill>
                  <a:srgbClr val="57626B"/>
                </a:solidFill>
                <a:latin typeface="Courier New"/>
              </a:rPr>
              <a:t>① AUTHORIZATION</a:t>
            </a:r>
          </a:p>
        </p:txBody>
      </p:sp>
      <p:sp>
        <p:nvSpPr>
          <p:cNvPr id="22" name="TextBox 21"/>
          <p:cNvSpPr txBox="1"/>
          <p:nvPr/>
        </p:nvSpPr>
        <p:spPr>
          <a:xfrm>
            <a:off x="1645920" y="2880360"/>
            <a:ext cx="9509759" cy="274320"/>
          </a:xfrm>
          <a:prstGeom prst="rect">
            <a:avLst/>
          </a:prstGeom>
          <a:noFill/>
        </p:spPr>
        <p:txBody>
          <a:bodyPr wrap="square" lIns="0" tIns="0" rIns="0" bIns="0" anchor="t">
            <a:spAutoFit/>
          </a:bodyPr>
          <a:lstStyle/>
          <a:p>
            <a:pPr algn="ctr"/>
            <a:r>
              <a:rPr sz="1100" b="0" i="1">
                <a:solidFill>
                  <a:srgbClr val="57626B"/>
                </a:solidFill>
                <a:latin typeface="Calibri"/>
              </a:rPr>
              <a:t>auth request → fraud + credit check → approval routed back (memo only, no GL impact)</a:t>
            </a:r>
          </a:p>
        </p:txBody>
      </p:sp>
      <p:cxnSp>
        <p:nvCxnSpPr>
          <p:cNvPr id="23" name="Connector 22"/>
          <p:cNvCxnSpPr/>
          <p:nvPr/>
        </p:nvCxnSpPr>
        <p:spPr>
          <a:xfrm>
            <a:off x="1645920" y="3246120"/>
            <a:ext cx="9509760" cy="0"/>
          </a:xfrm>
          <a:prstGeom prst="line">
            <a:avLst/>
          </a:prstGeom>
          <a:ln w="22225">
            <a:solidFill>
              <a:srgbClr val="8A92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3794760"/>
            <a:ext cx="3108960" cy="274320"/>
          </a:xfrm>
          <a:prstGeom prst="rect">
            <a:avLst/>
          </a:prstGeom>
          <a:noFill/>
        </p:spPr>
        <p:txBody>
          <a:bodyPr wrap="square" lIns="0" tIns="0" rIns="0" bIns="0" anchor="t">
            <a:spAutoFit/>
          </a:bodyPr>
          <a:lstStyle/>
          <a:p>
            <a:pPr algn="l"/>
            <a:r>
              <a:rPr sz="1100" b="1" i="0">
                <a:solidFill>
                  <a:srgbClr val="1A2130"/>
                </a:solidFill>
                <a:latin typeface="Courier New"/>
              </a:rPr>
              <a:t>② SETTLEMENT &amp; CLEARING</a:t>
            </a:r>
          </a:p>
        </p:txBody>
      </p:sp>
      <p:sp>
        <p:nvSpPr>
          <p:cNvPr id="25" name="TextBox 24"/>
          <p:cNvSpPr txBox="1"/>
          <p:nvPr/>
        </p:nvSpPr>
        <p:spPr>
          <a:xfrm>
            <a:off x="1645920" y="3977639"/>
            <a:ext cx="9509759" cy="274320"/>
          </a:xfrm>
          <a:prstGeom prst="rect">
            <a:avLst/>
          </a:prstGeom>
          <a:noFill/>
        </p:spPr>
        <p:txBody>
          <a:bodyPr wrap="square" lIns="0" tIns="0" rIns="0" bIns="0" anchor="t">
            <a:spAutoFit/>
          </a:bodyPr>
          <a:lstStyle/>
          <a:p>
            <a:pPr algn="ctr"/>
            <a:r>
              <a:rPr sz="1100" b="0" i="1">
                <a:solidFill>
                  <a:srgbClr val="57626B"/>
                </a:solidFill>
                <a:latin typeface="Calibri"/>
              </a:rPr>
              <a:t>clearing file forwards merchant → acquirer → network → issuer</a:t>
            </a:r>
          </a:p>
        </p:txBody>
      </p:sp>
      <p:cxnSp>
        <p:nvCxnSpPr>
          <p:cNvPr id="26" name="Connector 25"/>
          <p:cNvCxnSpPr/>
          <p:nvPr/>
        </p:nvCxnSpPr>
        <p:spPr>
          <a:xfrm>
            <a:off x="1645920" y="4343400"/>
            <a:ext cx="950976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331720" y="4709160"/>
            <a:ext cx="2377440" cy="384048"/>
          </a:xfrm>
          <a:prstGeom prst="roundRect">
            <a:avLst>
              <a:gd name="adj" fmla="val 50000"/>
            </a:avLst>
          </a:prstGeom>
          <a:no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1A2130"/>
                </a:solidFill>
                <a:latin typeface="Courier New"/>
              </a:rPr>
              <a:t>PAYOUT (CASH)</a:t>
            </a:r>
          </a:p>
        </p:txBody>
      </p:sp>
      <p:sp>
        <p:nvSpPr>
          <p:cNvPr id="28" name="Rounded Rectangle 27"/>
          <p:cNvSpPr/>
          <p:nvPr/>
        </p:nvSpPr>
        <p:spPr>
          <a:xfrm>
            <a:off x="5074920" y="4709160"/>
            <a:ext cx="2377440" cy="384048"/>
          </a:xfrm>
          <a:prstGeom prst="roundRect">
            <a:avLst>
              <a:gd name="adj" fmla="val 50000"/>
            </a:avLst>
          </a:prstGeom>
          <a:no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0E7C66"/>
                </a:solidFill>
                <a:latin typeface="Courier New"/>
              </a:rPr>
              <a:t>INTERCHANGE → ISSUER</a:t>
            </a:r>
          </a:p>
        </p:txBody>
      </p:sp>
      <p:sp>
        <p:nvSpPr>
          <p:cNvPr id="29" name="Rounded Rectangle 28"/>
          <p:cNvSpPr/>
          <p:nvPr/>
        </p:nvSpPr>
        <p:spPr>
          <a:xfrm>
            <a:off x="7818120" y="4709160"/>
            <a:ext cx="2377440" cy="384048"/>
          </a:xfrm>
          <a:prstGeom prst="roundRect">
            <a:avLst>
              <a:gd name="adj" fmla="val 50000"/>
            </a:avLst>
          </a:prstGeom>
          <a:no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9A3324"/>
                </a:solidFill>
                <a:latin typeface="Courier New"/>
              </a:rPr>
              <a:t>NETWORK FEES</a:t>
            </a:r>
          </a:p>
        </p:txBody>
      </p:sp>
      <p:cxnSp>
        <p:nvCxnSpPr>
          <p:cNvPr id="30" name="Connector 29"/>
          <p:cNvCxnSpPr/>
          <p:nvPr/>
        </p:nvCxnSpPr>
        <p:spPr>
          <a:xfrm>
            <a:off x="731520" y="5888736"/>
            <a:ext cx="320040" cy="0"/>
          </a:xfrm>
          <a:prstGeom prst="line">
            <a:avLst/>
          </a:prstGeom>
          <a:ln w="28575">
            <a:solidFill>
              <a:srgbClr val="8A9298"/>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43000"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memo, no GL impact</a:t>
            </a:r>
          </a:p>
        </p:txBody>
      </p:sp>
      <p:cxnSp>
        <p:nvCxnSpPr>
          <p:cNvPr id="32" name="Connector 31"/>
          <p:cNvCxnSpPr/>
          <p:nvPr/>
        </p:nvCxnSpPr>
        <p:spPr>
          <a:xfrm>
            <a:off x="3520439" y="5888736"/>
            <a:ext cx="320040" cy="0"/>
          </a:xfrm>
          <a:prstGeom prst="line">
            <a:avLst/>
          </a:prstGeom>
          <a:ln w="28575">
            <a:solidFill>
              <a:srgbClr val="1A213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931920"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settlement cash</a:t>
            </a:r>
          </a:p>
        </p:txBody>
      </p:sp>
      <p:cxnSp>
        <p:nvCxnSpPr>
          <p:cNvPr id="34" name="Connector 33"/>
          <p:cNvCxnSpPr/>
          <p:nvPr/>
        </p:nvCxnSpPr>
        <p:spPr>
          <a:xfrm>
            <a:off x="6309359" y="5888736"/>
            <a:ext cx="320040" cy="0"/>
          </a:xfrm>
          <a:prstGeom prst="line">
            <a:avLst/>
          </a:prstGeom>
          <a:ln w="28575">
            <a:solidFill>
              <a:srgbClr val="0E7C66"/>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20840"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revenue / asset ↑</a:t>
            </a:r>
          </a:p>
        </p:txBody>
      </p:sp>
      <p:cxnSp>
        <p:nvCxnSpPr>
          <p:cNvPr id="36" name="Connector 35"/>
          <p:cNvCxnSpPr/>
          <p:nvPr/>
        </p:nvCxnSpPr>
        <p:spPr>
          <a:xfrm>
            <a:off x="9098280" y="5888736"/>
            <a:ext cx="320039" cy="0"/>
          </a:xfrm>
          <a:prstGeom prst="line">
            <a:avLst/>
          </a:prstGeom>
          <a:ln w="28575">
            <a:solidFill>
              <a:srgbClr val="9A3324"/>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509759" y="5806440"/>
            <a:ext cx="2331720" cy="228600"/>
          </a:xfrm>
          <a:prstGeom prst="rect">
            <a:avLst/>
          </a:prstGeom>
          <a:noFill/>
        </p:spPr>
        <p:txBody>
          <a:bodyPr wrap="square" lIns="0" tIns="0" rIns="0" bIns="0" anchor="t">
            <a:spAutoFit/>
          </a:bodyPr>
          <a:lstStyle/>
          <a:p>
            <a:pPr algn="l"/>
            <a:r>
              <a:rPr sz="950" b="0" i="0">
                <a:solidFill>
                  <a:srgbClr val="57626B"/>
                </a:solidFill>
                <a:latin typeface="Courier New"/>
              </a:rPr>
              <a:t>expense / liability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02</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Authorization hold</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A temporary reservation of credit. No money moves and nothing posts to the GL.</a:t>
            </a:r>
          </a:p>
        </p:txBody>
      </p:sp>
      <p:sp>
        <p:nvSpPr>
          <p:cNvPr id="5" name="Oval 4"/>
          <p:cNvSpPr/>
          <p:nvPr/>
        </p:nvSpPr>
        <p:spPr>
          <a:xfrm>
            <a:off x="777240" y="1536192"/>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C</a:t>
            </a:r>
          </a:p>
        </p:txBody>
      </p:sp>
      <p:sp>
        <p:nvSpPr>
          <p:cNvPr id="6" name="TextBox 5"/>
          <p:cNvSpPr txBox="1"/>
          <p:nvPr/>
        </p:nvSpPr>
        <p:spPr>
          <a:xfrm>
            <a:off x="1600200" y="1508760"/>
            <a:ext cx="2286000" cy="548640"/>
          </a:xfrm>
          <a:prstGeom prst="rect">
            <a:avLst/>
          </a:prstGeom>
          <a:noFill/>
        </p:spPr>
        <p:txBody>
          <a:bodyPr wrap="square" lIns="0" tIns="0" rIns="0" bIns="0" anchor="ctr">
            <a:spAutoFit/>
          </a:bodyPr>
          <a:lstStyle/>
          <a:p>
            <a:pPr algn="l"/>
            <a:r>
              <a:rPr sz="1500" b="1" i="0">
                <a:solidFill>
                  <a:srgbClr val="1A2130"/>
                </a:solidFill>
                <a:latin typeface="Cambria"/>
              </a:rPr>
              <a:t>Consumer</a:t>
            </a:r>
          </a:p>
        </p:txBody>
      </p:sp>
      <p:sp>
        <p:nvSpPr>
          <p:cNvPr id="7" name="TextBox 6"/>
          <p:cNvSpPr txBox="1"/>
          <p:nvPr/>
        </p:nvSpPr>
        <p:spPr>
          <a:xfrm>
            <a:off x="3977639" y="1508760"/>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Sees a pending charge — available credit drops. Statement balance is unchanged. No fees.</a:t>
            </a:r>
          </a:p>
        </p:txBody>
      </p:sp>
      <p:cxnSp>
        <p:nvCxnSpPr>
          <p:cNvPr id="8" name="Connector 7"/>
          <p:cNvCxnSpPr/>
          <p:nvPr/>
        </p:nvCxnSpPr>
        <p:spPr>
          <a:xfrm>
            <a:off x="1005840" y="2221991"/>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77240" y="2432304"/>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M</a:t>
            </a:r>
          </a:p>
        </p:txBody>
      </p:sp>
      <p:sp>
        <p:nvSpPr>
          <p:cNvPr id="10" name="TextBox 9"/>
          <p:cNvSpPr txBox="1"/>
          <p:nvPr/>
        </p:nvSpPr>
        <p:spPr>
          <a:xfrm>
            <a:off x="1600200" y="2404872"/>
            <a:ext cx="2286000" cy="548640"/>
          </a:xfrm>
          <a:prstGeom prst="rect">
            <a:avLst/>
          </a:prstGeom>
          <a:noFill/>
        </p:spPr>
        <p:txBody>
          <a:bodyPr wrap="square" lIns="0" tIns="0" rIns="0" bIns="0" anchor="ctr">
            <a:spAutoFit/>
          </a:bodyPr>
          <a:lstStyle/>
          <a:p>
            <a:pPr algn="l"/>
            <a:r>
              <a:rPr sz="1500" b="1" i="0">
                <a:solidFill>
                  <a:srgbClr val="1A2130"/>
                </a:solidFill>
                <a:latin typeface="Cambria"/>
              </a:rPr>
              <a:t>Merchant / PSP</a:t>
            </a:r>
          </a:p>
        </p:txBody>
      </p:sp>
      <p:sp>
        <p:nvSpPr>
          <p:cNvPr id="11" name="TextBox 10"/>
          <p:cNvSpPr txBox="1"/>
          <p:nvPr/>
        </p:nvSpPr>
        <p:spPr>
          <a:xfrm>
            <a:off x="3977639" y="2404872"/>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Sends the auth request and receives approval. No fees yet, no money moves.</a:t>
            </a:r>
          </a:p>
        </p:txBody>
      </p:sp>
      <p:cxnSp>
        <p:nvCxnSpPr>
          <p:cNvPr id="12" name="Connector 11"/>
          <p:cNvCxnSpPr/>
          <p:nvPr/>
        </p:nvCxnSpPr>
        <p:spPr>
          <a:xfrm>
            <a:off x="1005840" y="3118104"/>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77240" y="3328415"/>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A</a:t>
            </a:r>
          </a:p>
        </p:txBody>
      </p:sp>
      <p:sp>
        <p:nvSpPr>
          <p:cNvPr id="14" name="TextBox 13"/>
          <p:cNvSpPr txBox="1"/>
          <p:nvPr/>
        </p:nvSpPr>
        <p:spPr>
          <a:xfrm>
            <a:off x="1600200" y="3300984"/>
            <a:ext cx="2286000" cy="548640"/>
          </a:xfrm>
          <a:prstGeom prst="rect">
            <a:avLst/>
          </a:prstGeom>
          <a:noFill/>
        </p:spPr>
        <p:txBody>
          <a:bodyPr wrap="square" lIns="0" tIns="0" rIns="0" bIns="0" anchor="ctr">
            <a:spAutoFit/>
          </a:bodyPr>
          <a:lstStyle/>
          <a:p>
            <a:pPr algn="l"/>
            <a:r>
              <a:rPr sz="1500" b="1" i="0">
                <a:solidFill>
                  <a:srgbClr val="1A2130"/>
                </a:solidFill>
                <a:latin typeface="Cambria"/>
              </a:rPr>
              <a:t>Acquirer</a:t>
            </a:r>
          </a:p>
        </p:txBody>
      </p:sp>
      <p:sp>
        <p:nvSpPr>
          <p:cNvPr id="15" name="TextBox 14"/>
          <p:cNvSpPr txBox="1"/>
          <p:nvPr/>
        </p:nvSpPr>
        <p:spPr>
          <a:xfrm>
            <a:off x="3977639" y="3300984"/>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Forwards the request to the network. No fees, no settlement yet.</a:t>
            </a:r>
          </a:p>
        </p:txBody>
      </p:sp>
      <p:cxnSp>
        <p:nvCxnSpPr>
          <p:cNvPr id="16" name="Connector 15"/>
          <p:cNvCxnSpPr/>
          <p:nvPr/>
        </p:nvCxnSpPr>
        <p:spPr>
          <a:xfrm>
            <a:off x="1005840" y="4014215"/>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77240" y="4224528"/>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N</a:t>
            </a:r>
          </a:p>
        </p:txBody>
      </p:sp>
      <p:sp>
        <p:nvSpPr>
          <p:cNvPr id="18" name="TextBox 17"/>
          <p:cNvSpPr txBox="1"/>
          <p:nvPr/>
        </p:nvSpPr>
        <p:spPr>
          <a:xfrm>
            <a:off x="1600200" y="4197096"/>
            <a:ext cx="2286000" cy="548640"/>
          </a:xfrm>
          <a:prstGeom prst="rect">
            <a:avLst/>
          </a:prstGeom>
          <a:noFill/>
        </p:spPr>
        <p:txBody>
          <a:bodyPr wrap="square" lIns="0" tIns="0" rIns="0" bIns="0" anchor="ctr">
            <a:spAutoFit/>
          </a:bodyPr>
          <a:lstStyle/>
          <a:p>
            <a:pPr algn="l"/>
            <a:r>
              <a:rPr sz="1500" b="1" i="0">
                <a:solidFill>
                  <a:srgbClr val="1A2130"/>
                </a:solidFill>
                <a:latin typeface="Cambria"/>
              </a:rPr>
              <a:t>Network</a:t>
            </a:r>
          </a:p>
        </p:txBody>
      </p:sp>
      <p:sp>
        <p:nvSpPr>
          <p:cNvPr id="19" name="TextBox 18"/>
          <p:cNvSpPr txBox="1"/>
          <p:nvPr/>
        </p:nvSpPr>
        <p:spPr>
          <a:xfrm>
            <a:off x="3977639" y="4197096"/>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Routes the request between acquirer and issuer. No fees yet.</a:t>
            </a:r>
          </a:p>
        </p:txBody>
      </p:sp>
      <p:cxnSp>
        <p:nvCxnSpPr>
          <p:cNvPr id="20" name="Connector 19"/>
          <p:cNvCxnSpPr/>
          <p:nvPr/>
        </p:nvCxnSpPr>
        <p:spPr>
          <a:xfrm>
            <a:off x="1005840" y="4910328"/>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77240" y="5120640"/>
            <a:ext cx="457200" cy="45720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2130"/>
                </a:solidFill>
                <a:latin typeface="Cambria"/>
              </a:rPr>
              <a:t>I</a:t>
            </a:r>
          </a:p>
        </p:txBody>
      </p:sp>
      <p:sp>
        <p:nvSpPr>
          <p:cNvPr id="22" name="TextBox 21"/>
          <p:cNvSpPr txBox="1"/>
          <p:nvPr/>
        </p:nvSpPr>
        <p:spPr>
          <a:xfrm>
            <a:off x="1600200" y="5093208"/>
            <a:ext cx="2286000" cy="548640"/>
          </a:xfrm>
          <a:prstGeom prst="rect">
            <a:avLst/>
          </a:prstGeom>
          <a:noFill/>
        </p:spPr>
        <p:txBody>
          <a:bodyPr wrap="square" lIns="0" tIns="0" rIns="0" bIns="0" anchor="ctr">
            <a:spAutoFit/>
          </a:bodyPr>
          <a:lstStyle/>
          <a:p>
            <a:pPr algn="l"/>
            <a:r>
              <a:rPr sz="1500" b="1" i="0">
                <a:solidFill>
                  <a:srgbClr val="1A2130"/>
                </a:solidFill>
                <a:latin typeface="Cambria"/>
              </a:rPr>
              <a:t>Issuer</a:t>
            </a:r>
          </a:p>
        </p:txBody>
      </p:sp>
      <p:sp>
        <p:nvSpPr>
          <p:cNvPr id="23" name="TextBox 22"/>
          <p:cNvSpPr txBox="1"/>
          <p:nvPr/>
        </p:nvSpPr>
        <p:spPr>
          <a:xfrm>
            <a:off x="3977639" y="5093208"/>
            <a:ext cx="7589520" cy="548640"/>
          </a:xfrm>
          <a:prstGeom prst="rect">
            <a:avLst/>
          </a:prstGeom>
          <a:noFill/>
        </p:spPr>
        <p:txBody>
          <a:bodyPr wrap="square" lIns="0" tIns="0" rIns="0" bIns="0" anchor="ctr">
            <a:spAutoFit/>
          </a:bodyPr>
          <a:lstStyle/>
          <a:p>
            <a:pPr algn="l">
              <a:lnSpc>
                <a:spcPct val="110000"/>
              </a:lnSpc>
            </a:pPr>
            <a:r>
              <a:rPr sz="1300" b="0" i="0">
                <a:solidFill>
                  <a:srgbClr val="57626B"/>
                </a:solidFill>
                <a:latin typeface="Calibri"/>
              </a:rPr>
              <a:t>Runs fraud + credit checks and places a memo hold — no GL posting, no revenue, no liability.</a:t>
            </a:r>
          </a:p>
        </p:txBody>
      </p:sp>
      <p:cxnSp>
        <p:nvCxnSpPr>
          <p:cNvPr id="24" name="Connector 23"/>
          <p:cNvCxnSpPr/>
          <p:nvPr/>
        </p:nvCxnSpPr>
        <p:spPr>
          <a:xfrm>
            <a:off x="1005840" y="5806440"/>
            <a:ext cx="10561320" cy="0"/>
          </a:xfrm>
          <a:prstGeom prst="line">
            <a:avLst/>
          </a:prstGeom>
          <a:ln w="9525">
            <a:solidFill>
              <a:srgbClr val="D7DCD2"/>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03</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Settlement posting — the clearing flow</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moment the transaction becomes real. Four independent ledger movements land at once.</a:t>
            </a:r>
          </a:p>
        </p:txBody>
      </p:sp>
      <p:cxnSp>
        <p:nvCxnSpPr>
          <p:cNvPr id="5" name="Connector 4"/>
          <p:cNvCxnSpPr/>
          <p:nvPr/>
        </p:nvCxnSpPr>
        <p:spPr>
          <a:xfrm>
            <a:off x="1645920" y="1691640"/>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C</a:t>
            </a:r>
          </a:p>
        </p:txBody>
      </p:sp>
      <p:sp>
        <p:nvSpPr>
          <p:cNvPr id="7" name="TextBox 6"/>
          <p:cNvSpPr txBox="1"/>
          <p:nvPr/>
        </p:nvSpPr>
        <p:spPr>
          <a:xfrm>
            <a:off x="64008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Consumer</a:t>
            </a:r>
          </a:p>
        </p:txBody>
      </p:sp>
      <p:sp>
        <p:nvSpPr>
          <p:cNvPr id="8" name="Oval 7"/>
          <p:cNvSpPr/>
          <p:nvPr/>
        </p:nvSpPr>
        <p:spPr>
          <a:xfrm>
            <a:off x="377190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9" name="TextBox 8"/>
          <p:cNvSpPr txBox="1"/>
          <p:nvPr/>
        </p:nvSpPr>
        <p:spPr>
          <a:xfrm>
            <a:off x="301752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 / PSP</a:t>
            </a:r>
          </a:p>
        </p:txBody>
      </p:sp>
      <p:sp>
        <p:nvSpPr>
          <p:cNvPr id="10" name="Oval 9"/>
          <p:cNvSpPr/>
          <p:nvPr/>
        </p:nvSpPr>
        <p:spPr>
          <a:xfrm>
            <a:off x="614934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1" name="TextBox 10"/>
          <p:cNvSpPr txBox="1"/>
          <p:nvPr/>
        </p:nvSpPr>
        <p:spPr>
          <a:xfrm>
            <a:off x="539496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2" name="Oval 11"/>
          <p:cNvSpPr/>
          <p:nvPr/>
        </p:nvSpPr>
        <p:spPr>
          <a:xfrm>
            <a:off x="852678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13" name="TextBox 12"/>
          <p:cNvSpPr txBox="1"/>
          <p:nvPr/>
        </p:nvSpPr>
        <p:spPr>
          <a:xfrm>
            <a:off x="777240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4" name="Oval 13"/>
          <p:cNvSpPr/>
          <p:nvPr/>
        </p:nvSpPr>
        <p:spPr>
          <a:xfrm>
            <a:off x="10904219"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15" name="TextBox 14"/>
          <p:cNvSpPr txBox="1"/>
          <p:nvPr/>
        </p:nvSpPr>
        <p:spPr>
          <a:xfrm>
            <a:off x="1014984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cxnSp>
        <p:nvCxnSpPr>
          <p:cNvPr id="16" name="Connector 15"/>
          <p:cNvCxnSpPr/>
          <p:nvPr/>
        </p:nvCxnSpPr>
        <p:spPr>
          <a:xfrm>
            <a:off x="4023360" y="2697480"/>
            <a:ext cx="2377440" cy="0"/>
          </a:xfrm>
          <a:prstGeom prst="line">
            <a:avLst/>
          </a:prstGeom>
          <a:ln w="19050">
            <a:solidFill>
              <a:srgbClr val="8A92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00800" y="2697480"/>
            <a:ext cx="2377440" cy="0"/>
          </a:xfrm>
          <a:prstGeom prst="line">
            <a:avLst/>
          </a:prstGeom>
          <a:ln w="19050">
            <a:solidFill>
              <a:srgbClr val="8A92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778240" y="2697480"/>
            <a:ext cx="2377440" cy="0"/>
          </a:xfrm>
          <a:prstGeom prst="line">
            <a:avLst/>
          </a:prstGeom>
          <a:ln w="19050">
            <a:solidFill>
              <a:srgbClr val="8A92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23360" y="2450592"/>
            <a:ext cx="4754879" cy="228600"/>
          </a:xfrm>
          <a:prstGeom prst="rect">
            <a:avLst/>
          </a:prstGeom>
          <a:noFill/>
        </p:spPr>
        <p:txBody>
          <a:bodyPr wrap="square" lIns="0" tIns="0" rIns="0" bIns="0" anchor="t">
            <a:spAutoFit/>
          </a:bodyPr>
          <a:lstStyle/>
          <a:p>
            <a:pPr algn="ctr"/>
            <a:r>
              <a:rPr sz="1000" b="0" i="0">
                <a:solidFill>
                  <a:srgbClr val="8A9298"/>
                </a:solidFill>
                <a:latin typeface="Courier New"/>
              </a:rPr>
              <a:t>clearing file</a:t>
            </a:r>
          </a:p>
        </p:txBody>
      </p:sp>
      <p:cxnSp>
        <p:nvCxnSpPr>
          <p:cNvPr id="20" name="Connector 19"/>
          <p:cNvCxnSpPr/>
          <p:nvPr/>
        </p:nvCxnSpPr>
        <p:spPr>
          <a:xfrm>
            <a:off x="4023360" y="3429000"/>
            <a:ext cx="2377440" cy="0"/>
          </a:xfrm>
          <a:prstGeom prst="line">
            <a:avLst/>
          </a:prstGeom>
          <a:ln w="34925">
            <a:solidFill>
              <a:srgbClr val="1A2130"/>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023360" y="3063240"/>
            <a:ext cx="2377439" cy="274320"/>
          </a:xfrm>
          <a:prstGeom prst="rect">
            <a:avLst/>
          </a:prstGeom>
          <a:noFill/>
        </p:spPr>
        <p:txBody>
          <a:bodyPr wrap="square" lIns="0" tIns="0" rIns="0" bIns="0" anchor="t">
            <a:spAutoFit/>
          </a:bodyPr>
          <a:lstStyle/>
          <a:p>
            <a:pPr algn="ctr">
              <a:lnSpc>
                <a:spcPct val="100000"/>
              </a:lnSpc>
            </a:pPr>
            <a:r>
              <a:rPr sz="1050" b="1" i="0">
                <a:solidFill>
                  <a:srgbClr val="1A2130"/>
                </a:solidFill>
                <a:latin typeface="Calibri"/>
              </a:rPr>
              <a:t>payout =</a:t>
            </a:r>
          </a:p>
          <a:p>
            <a:pPr algn="ctr">
              <a:lnSpc>
                <a:spcPct val="100000"/>
              </a:lnSpc>
            </a:pPr>
            <a:r>
              <a:rPr sz="1050" b="1" i="0">
                <a:solidFill>
                  <a:srgbClr val="1A2130"/>
                </a:solidFill>
                <a:latin typeface="Calibri"/>
              </a:rPr>
              <a:t>gross − MDR</a:t>
            </a:r>
          </a:p>
        </p:txBody>
      </p:sp>
      <p:cxnSp>
        <p:nvCxnSpPr>
          <p:cNvPr id="22" name="Connector 21"/>
          <p:cNvCxnSpPr/>
          <p:nvPr/>
        </p:nvCxnSpPr>
        <p:spPr>
          <a:xfrm>
            <a:off x="6400800" y="4160520"/>
            <a:ext cx="4754880" cy="0"/>
          </a:xfrm>
          <a:prstGeom prst="line">
            <a:avLst/>
          </a:prstGeom>
          <a:ln w="31750">
            <a:solidFill>
              <a:srgbClr val="0E7C6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0" y="3794760"/>
            <a:ext cx="4754879" cy="274320"/>
          </a:xfrm>
          <a:prstGeom prst="rect">
            <a:avLst/>
          </a:prstGeom>
          <a:noFill/>
        </p:spPr>
        <p:txBody>
          <a:bodyPr wrap="square" lIns="0" tIns="0" rIns="0" bIns="0" anchor="t">
            <a:spAutoFit/>
          </a:bodyPr>
          <a:lstStyle/>
          <a:p>
            <a:pPr algn="ctr"/>
            <a:r>
              <a:rPr sz="1050" b="1" i="0">
                <a:solidFill>
                  <a:srgbClr val="0E7C66"/>
                </a:solidFill>
                <a:latin typeface="Courier New"/>
              </a:rPr>
              <a:t>interchange — issuer revenue</a:t>
            </a:r>
          </a:p>
        </p:txBody>
      </p:sp>
      <p:cxnSp>
        <p:nvCxnSpPr>
          <p:cNvPr id="24" name="Connector 23"/>
          <p:cNvCxnSpPr/>
          <p:nvPr/>
        </p:nvCxnSpPr>
        <p:spPr>
          <a:xfrm>
            <a:off x="6400800" y="4846320"/>
            <a:ext cx="2377440" cy="0"/>
          </a:xfrm>
          <a:prstGeom prst="line">
            <a:avLst/>
          </a:prstGeom>
          <a:ln w="28575">
            <a:solidFill>
              <a:srgbClr val="9A332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0" y="4526280"/>
            <a:ext cx="2377439" cy="274320"/>
          </a:xfrm>
          <a:prstGeom prst="rect">
            <a:avLst/>
          </a:prstGeom>
          <a:noFill/>
        </p:spPr>
        <p:txBody>
          <a:bodyPr wrap="square" lIns="0" tIns="0" rIns="0" bIns="0" anchor="t">
            <a:spAutoFit/>
          </a:bodyPr>
          <a:lstStyle/>
          <a:p>
            <a:pPr algn="ctr">
              <a:lnSpc>
                <a:spcPct val="100000"/>
              </a:lnSpc>
            </a:pPr>
            <a:r>
              <a:rPr sz="950" b="0" i="0">
                <a:solidFill>
                  <a:srgbClr val="9A3324"/>
                </a:solidFill>
                <a:latin typeface="Courier New"/>
              </a:rPr>
              <a:t>network fee —</a:t>
            </a:r>
          </a:p>
          <a:p>
            <a:pPr algn="ctr">
              <a:lnSpc>
                <a:spcPct val="100000"/>
              </a:lnSpc>
            </a:pPr>
            <a:r>
              <a:rPr sz="950" b="0" i="0">
                <a:solidFill>
                  <a:srgbClr val="9A3324"/>
                </a:solidFill>
                <a:latin typeface="Courier New"/>
              </a:rPr>
              <a:t>acquirer side</a:t>
            </a:r>
          </a:p>
        </p:txBody>
      </p:sp>
      <p:cxnSp>
        <p:nvCxnSpPr>
          <p:cNvPr id="26" name="Connector 25"/>
          <p:cNvCxnSpPr/>
          <p:nvPr/>
        </p:nvCxnSpPr>
        <p:spPr>
          <a:xfrm>
            <a:off x="8778240" y="544068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5120640"/>
            <a:ext cx="2377439" cy="274320"/>
          </a:xfrm>
          <a:prstGeom prst="rect">
            <a:avLst/>
          </a:prstGeom>
          <a:noFill/>
        </p:spPr>
        <p:txBody>
          <a:bodyPr wrap="square" lIns="0" tIns="0" rIns="0" bIns="0" anchor="t">
            <a:spAutoFit/>
          </a:bodyPr>
          <a:lstStyle/>
          <a:p>
            <a:pPr algn="ctr">
              <a:lnSpc>
                <a:spcPct val="100000"/>
              </a:lnSpc>
            </a:pPr>
            <a:r>
              <a:rPr sz="950" b="0" i="0">
                <a:solidFill>
                  <a:srgbClr val="9A3324"/>
                </a:solidFill>
                <a:latin typeface="Courier New"/>
              </a:rPr>
              <a:t>network fee —</a:t>
            </a:r>
          </a:p>
          <a:p>
            <a:pPr algn="ctr">
              <a:lnSpc>
                <a:spcPct val="100000"/>
              </a:lnSpc>
            </a:pPr>
            <a:r>
              <a:rPr sz="950" b="0" i="0">
                <a:solidFill>
                  <a:srgbClr val="9A3324"/>
                </a:solidFill>
                <a:latin typeface="Courier New"/>
              </a:rPr>
              <a:t>issuer side</a:t>
            </a:r>
          </a:p>
        </p:txBody>
      </p:sp>
      <p:sp>
        <p:nvSpPr>
          <p:cNvPr id="28" name="Rounded Rectangle 27"/>
          <p:cNvSpPr/>
          <p:nvPr/>
        </p:nvSpPr>
        <p:spPr>
          <a:xfrm>
            <a:off x="5394960" y="5989320"/>
            <a:ext cx="2011680" cy="365760"/>
          </a:xfrm>
          <a:prstGeom prst="roundRect">
            <a:avLst>
              <a:gd name="adj" fmla="val 50000"/>
            </a:avLst>
          </a:prstGeom>
          <a:noFill/>
          <a:ln w="12700">
            <a:solidFill>
              <a:srgbClr val="57626B"/>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57626B"/>
                </a:solidFill>
                <a:latin typeface="Courier New"/>
              </a:rPr>
              <a:t>KEEPS: ACQUIRER FEE</a:t>
            </a:r>
          </a:p>
        </p:txBody>
      </p:sp>
      <p:sp>
        <p:nvSpPr>
          <p:cNvPr id="29" name="Rounded Rectangle 28"/>
          <p:cNvSpPr/>
          <p:nvPr/>
        </p:nvSpPr>
        <p:spPr>
          <a:xfrm>
            <a:off x="3017520" y="5989320"/>
            <a:ext cx="2011680" cy="365760"/>
          </a:xfrm>
          <a:prstGeom prst="roundRect">
            <a:avLst>
              <a:gd name="adj" fmla="val 50000"/>
            </a:avLst>
          </a:prstGeom>
          <a:noFill/>
          <a:ln w="12700">
            <a:solidFill>
              <a:srgbClr val="57626B"/>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57626B"/>
                </a:solidFill>
                <a:latin typeface="Courier New"/>
              </a:rPr>
              <a:t>KEEPS: PSP FEE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04</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Issuer's general ledger — what actually posts</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Two separate events. Each row is an independent account movement, not a balanced entry on its own.</a:t>
            </a:r>
          </a:p>
        </p:txBody>
      </p:sp>
      <p:sp>
        <p:nvSpPr>
          <p:cNvPr id="5" name="TextBox 4"/>
          <p:cNvSpPr txBox="1"/>
          <p:nvPr/>
        </p:nvSpPr>
        <p:spPr>
          <a:xfrm>
            <a:off x="640080" y="1508760"/>
            <a:ext cx="5212080" cy="320040"/>
          </a:xfrm>
          <a:prstGeom prst="rect">
            <a:avLst/>
          </a:prstGeom>
          <a:noFill/>
        </p:spPr>
        <p:txBody>
          <a:bodyPr wrap="square" lIns="0" tIns="0" rIns="0" bIns="0" anchor="t">
            <a:spAutoFit/>
          </a:bodyPr>
          <a:lstStyle/>
          <a:p>
            <a:pPr algn="l"/>
            <a:r>
              <a:rPr sz="1500" b="1" i="0">
                <a:solidFill>
                  <a:srgbClr val="1A2130"/>
                </a:solidFill>
                <a:latin typeface="Cambria"/>
              </a:rPr>
              <a:t>At settlement posting</a:t>
            </a:r>
          </a:p>
        </p:txBody>
      </p:sp>
      <p:graphicFrame>
        <p:nvGraphicFramePr>
          <p:cNvPr id="6" name="Table 5"/>
          <p:cNvGraphicFramePr>
            <a:graphicFrameLocks noGrp="1"/>
          </p:cNvGraphicFramePr>
          <p:nvPr/>
        </p:nvGraphicFramePr>
        <p:xfrm>
          <a:off x="640080" y="1920240"/>
          <a:ext cx="5212079" cy="320040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566928">
                <a:tc>
                  <a:txBody>
                    <a:bodyPr/>
                    <a:lstStyle/>
                    <a:p>
                      <a:r>
                        <a:rPr sz="1250" b="1">
                          <a:solidFill>
                            <a:srgbClr val="1A2130"/>
                          </a:solidFill>
                          <a:latin typeface="Calibri"/>
                        </a:rPr>
                        <a:t>Loan Receivable</a:t>
                      </a:r>
                    </a:p>
                    <a:p>
                      <a:r>
                        <a:rPr sz="950" i="1">
                          <a:solidFill>
                            <a:srgbClr val="57626B"/>
                          </a:solidFill>
                          <a:latin typeface="Calibri"/>
                        </a:rPr>
                        <a:t>Asset</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 cardholder balance</a:t>
                      </a:r>
                    </a:p>
                  </a:txBody>
                  <a:tcPr anchor="ctr">
                    <a:solidFill>
                      <a:srgbClr val="FFFFFF"/>
                    </a:solidFill>
                  </a:tcPr>
                </a:tc>
                <a:extLst>
                  <a:ext uri="{0D108BD9-81ED-4DB2-BD59-A6C34878D82A}">
                    <a16:rowId xmlns:a16="http://schemas.microsoft.com/office/drawing/2014/main" val="10001"/>
                  </a:ext>
                </a:extLst>
              </a:tr>
              <a:tr h="566928">
                <a:tc>
                  <a:txBody>
                    <a:bodyPr/>
                    <a:lstStyle/>
                    <a:p>
                      <a:r>
                        <a:rPr sz="1250" b="1">
                          <a:solidFill>
                            <a:srgbClr val="1A2130"/>
                          </a:solidFill>
                          <a:latin typeface="Calibri"/>
                        </a:rPr>
                        <a:t>Merchant Payable</a:t>
                      </a:r>
                    </a:p>
                    <a:p>
                      <a:r>
                        <a:rPr sz="950" i="1">
                          <a:solidFill>
                            <a:srgbClr val="57626B"/>
                          </a:solidFill>
                          <a:latin typeface="Calibri"/>
                        </a:rPr>
                        <a:t>Liability</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 owed to network / acquirer</a:t>
                      </a:r>
                    </a:p>
                  </a:txBody>
                  <a:tcPr anchor="ctr">
                    <a:solidFill>
                      <a:srgbClr val="FFFFFF"/>
                    </a:solidFill>
                  </a:tcPr>
                </a:tc>
                <a:extLst>
                  <a:ext uri="{0D108BD9-81ED-4DB2-BD59-A6C34878D82A}">
                    <a16:rowId xmlns:a16="http://schemas.microsoft.com/office/drawing/2014/main" val="10002"/>
                  </a:ext>
                </a:extLst>
              </a:tr>
              <a:tr h="566928">
                <a:tc>
                  <a:txBody>
                    <a:bodyPr/>
                    <a:lstStyle/>
                    <a:p>
                      <a:r>
                        <a:rPr sz="1250" b="1">
                          <a:solidFill>
                            <a:srgbClr val="1A2130"/>
                          </a:solidFill>
                          <a:latin typeface="Calibri"/>
                        </a:rPr>
                        <a:t>Interchange Revenue</a:t>
                      </a:r>
                    </a:p>
                    <a:p>
                      <a:r>
                        <a:rPr sz="950" i="1">
                          <a:solidFill>
                            <a:srgbClr val="57626B"/>
                          </a:solidFill>
                          <a:latin typeface="Calibri"/>
                        </a:rPr>
                        <a:t>Non-interest 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 from acquirer</a:t>
                      </a:r>
                    </a:p>
                  </a:txBody>
                  <a:tcPr anchor="ctr">
                    <a:solidFill>
                      <a:srgbClr val="FFFFFF"/>
                    </a:solidFill>
                  </a:tcPr>
                </a:tc>
                <a:extLst>
                  <a:ext uri="{0D108BD9-81ED-4DB2-BD59-A6C34878D82A}">
                    <a16:rowId xmlns:a16="http://schemas.microsoft.com/office/drawing/2014/main" val="10003"/>
                  </a:ext>
                </a:extLst>
              </a:tr>
              <a:tr h="566928">
                <a:tc>
                  <a:txBody>
                    <a:bodyPr/>
                    <a:lstStyle/>
                    <a:p>
                      <a:r>
                        <a:rPr sz="1250" b="1">
                          <a:solidFill>
                            <a:srgbClr val="1A2130"/>
                          </a:solidFill>
                          <a:latin typeface="Calibri"/>
                        </a:rPr>
                        <a:t>Network Fee Expense</a:t>
                      </a:r>
                    </a:p>
                    <a:p>
                      <a:r>
                        <a:rPr sz="950" i="1">
                          <a:solidFill>
                            <a:srgbClr val="57626B"/>
                          </a:solidFill>
                          <a:latin typeface="Calibri"/>
                        </a:rPr>
                        <a:t>Expense</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 reduces net margin</a:t>
                      </a:r>
                    </a:p>
                  </a:txBody>
                  <a:tcPr anchor="ctr">
                    <a:solidFill>
                      <a:srgbClr val="FFFFFF"/>
                    </a:solidFill>
                  </a:tcPr>
                </a:tc>
                <a:extLst>
                  <a:ext uri="{0D108BD9-81ED-4DB2-BD59-A6C34878D82A}">
                    <a16:rowId xmlns:a16="http://schemas.microsoft.com/office/drawing/2014/main" val="10004"/>
                  </a:ext>
                </a:extLst>
              </a:tr>
              <a:tr h="566928">
                <a:tc>
                  <a:txBody>
                    <a:bodyPr/>
                    <a:lstStyle/>
                    <a:p>
                      <a:r>
                        <a:rPr sz="1250" b="1">
                          <a:solidFill>
                            <a:srgbClr val="1A2130"/>
                          </a:solidFill>
                          <a:latin typeface="Calibri"/>
                        </a:rPr>
                        <a:t>Authorization Hold</a:t>
                      </a:r>
                    </a:p>
                    <a:p>
                      <a:r>
                        <a:rPr sz="950" i="1">
                          <a:solidFill>
                            <a:srgbClr val="57626B"/>
                          </a:solidFill>
                          <a:latin typeface="Calibri"/>
                        </a:rPr>
                        <a:t>Memo</a:t>
                      </a:r>
                    </a:p>
                  </a:txBody>
                  <a:tcPr anchor="ctr">
                    <a:solidFill>
                      <a:srgbClr val="FFFFFF"/>
                    </a:solidFill>
                  </a:tcPr>
                </a:tc>
                <a:tc>
                  <a:txBody>
                    <a:bodyPr/>
                    <a:lstStyle/>
                    <a:p>
                      <a:pPr algn="ctr"/>
                      <a:r>
                        <a:rPr sz="1200" b="1">
                          <a:solidFill>
                            <a:srgbClr val="8A9298"/>
                          </a:solidFill>
                          <a:latin typeface="Courier New"/>
                        </a:rPr>
                        <a:t>—</a:t>
                      </a:r>
                    </a:p>
                  </a:txBody>
                  <a:tcPr anchor="ctr">
                    <a:solidFill>
                      <a:srgbClr val="FFFFFF"/>
                    </a:solidFill>
                  </a:tcPr>
                </a:tc>
                <a:tc>
                  <a:txBody>
                    <a:bodyPr/>
                    <a:lstStyle/>
                    <a:p>
                      <a:r>
                        <a:rPr sz="1100">
                          <a:solidFill>
                            <a:srgbClr val="57626B"/>
                          </a:solidFill>
                          <a:latin typeface="Courier New"/>
                        </a:rPr>
                        <a:t>released — no GL impact</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355080" y="1508760"/>
            <a:ext cx="5212080" cy="320040"/>
          </a:xfrm>
          <a:prstGeom prst="rect">
            <a:avLst/>
          </a:prstGeom>
          <a:noFill/>
        </p:spPr>
        <p:txBody>
          <a:bodyPr wrap="square" lIns="0" tIns="0" rIns="0" bIns="0" anchor="t">
            <a:spAutoFit/>
          </a:bodyPr>
          <a:lstStyle/>
          <a:p>
            <a:pPr algn="l"/>
            <a:r>
              <a:rPr sz="1500" b="1" i="0">
                <a:solidFill>
                  <a:srgbClr val="1A2130"/>
                </a:solidFill>
                <a:latin typeface="Cambria"/>
              </a:rPr>
              <a:t>At dispute / chargeback</a:t>
            </a:r>
          </a:p>
        </p:txBody>
      </p:sp>
      <p:graphicFrame>
        <p:nvGraphicFramePr>
          <p:cNvPr id="8" name="Table 7"/>
          <p:cNvGraphicFramePr>
            <a:graphicFrameLocks noGrp="1"/>
          </p:cNvGraphicFramePr>
          <p:nvPr/>
        </p:nvGraphicFramePr>
        <p:xfrm>
          <a:off x="6355080" y="1920240"/>
          <a:ext cx="5212079" cy="1499616"/>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566928">
                <a:tc>
                  <a:txBody>
                    <a:bodyPr/>
                    <a:lstStyle/>
                    <a:p>
                      <a:r>
                        <a:rPr sz="1250" b="1">
                          <a:solidFill>
                            <a:srgbClr val="1A2130"/>
                          </a:solidFill>
                          <a:latin typeface="Calibri"/>
                        </a:rPr>
                        <a:t>Chargeback Reserve</a:t>
                      </a:r>
                    </a:p>
                    <a:p>
                      <a:r>
                        <a:rPr sz="950" i="1">
                          <a:solidFill>
                            <a:srgbClr val="57626B"/>
                          </a:solidFill>
                          <a:latin typeface="Calibri"/>
                        </a:rPr>
                        <a:t>Liability</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 set aside for expected loss</a:t>
                      </a:r>
                    </a:p>
                  </a:txBody>
                  <a:tcPr anchor="ctr">
                    <a:solidFill>
                      <a:srgbClr val="FFFFFF"/>
                    </a:solidFill>
                  </a:tcPr>
                </a:tc>
                <a:extLst>
                  <a:ext uri="{0D108BD9-81ED-4DB2-BD59-A6C34878D82A}">
                    <a16:rowId xmlns:a16="http://schemas.microsoft.com/office/drawing/2014/main" val="10001"/>
                  </a:ext>
                </a:extLst>
              </a:tr>
              <a:tr h="566928">
                <a:tc>
                  <a:txBody>
                    <a:bodyPr/>
                    <a:lstStyle/>
                    <a:p>
                      <a:r>
                        <a:rPr sz="1250" b="1">
                          <a:solidFill>
                            <a:srgbClr val="1A2130"/>
                          </a:solidFill>
                          <a:latin typeface="Calibri"/>
                        </a:rPr>
                        <a:t>Chargeback Loss Expense</a:t>
                      </a:r>
                    </a:p>
                    <a:p>
                      <a:r>
                        <a:rPr sz="950" i="1">
                          <a:solidFill>
                            <a:srgbClr val="57626B"/>
                          </a:solidFill>
                          <a:latin typeface="Calibri"/>
                        </a:rPr>
                        <a:t>Expense</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 reduces profitability</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6355080" y="4160520"/>
            <a:ext cx="5212080" cy="2103120"/>
          </a:xfrm>
          <a:prstGeom prst="rect">
            <a:avLst/>
          </a:prstGeom>
          <a:noFill/>
        </p:spPr>
        <p:txBody>
          <a:bodyPr wrap="square" lIns="0" tIns="0" rIns="0" bIns="0" anchor="t">
            <a:spAutoFit/>
          </a:bodyPr>
          <a:lstStyle/>
          <a:p>
            <a:pPr algn="l">
              <a:lnSpc>
                <a:spcPct val="130000"/>
              </a:lnSpc>
            </a:pPr>
            <a:r>
              <a:rPr sz="1200" b="0" i="1">
                <a:solidFill>
                  <a:srgbClr val="57626B"/>
                </a:solidFill>
                <a:latin typeface="Calibri"/>
              </a:rPr>
              <a:t>Two accounts only — the dispute event is smaller than settlement, but it still touches both a balance-sheet liability and an income-statement expense.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05</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Flow of funds -- issuer to merchant</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Follow the cash, not the clearing record. It shrinks by one deduction at each hop until the merchant is paid.</a:t>
            </a:r>
          </a:p>
        </p:txBody>
      </p:sp>
      <p:cxnSp>
        <p:nvCxnSpPr>
          <p:cNvPr id="5" name="Connector 4"/>
          <p:cNvCxnSpPr/>
          <p:nvPr/>
        </p:nvCxnSpPr>
        <p:spPr>
          <a:xfrm>
            <a:off x="1645920" y="1691640"/>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7" name="TextBox 6"/>
          <p:cNvSpPr txBox="1"/>
          <p:nvPr/>
        </p:nvSpPr>
        <p:spPr>
          <a:xfrm>
            <a:off x="64008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sp>
        <p:nvSpPr>
          <p:cNvPr id="8" name="Oval 7"/>
          <p:cNvSpPr/>
          <p:nvPr/>
        </p:nvSpPr>
        <p:spPr>
          <a:xfrm>
            <a:off x="377190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9" name="TextBox 8"/>
          <p:cNvSpPr txBox="1"/>
          <p:nvPr/>
        </p:nvSpPr>
        <p:spPr>
          <a:xfrm>
            <a:off x="301752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0" name="Oval 9"/>
          <p:cNvSpPr/>
          <p:nvPr/>
        </p:nvSpPr>
        <p:spPr>
          <a:xfrm>
            <a:off x="614934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1" name="TextBox 10"/>
          <p:cNvSpPr txBox="1"/>
          <p:nvPr/>
        </p:nvSpPr>
        <p:spPr>
          <a:xfrm>
            <a:off x="539496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2" name="Oval 11"/>
          <p:cNvSpPr/>
          <p:nvPr/>
        </p:nvSpPr>
        <p:spPr>
          <a:xfrm>
            <a:off x="852678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P</a:t>
            </a:r>
          </a:p>
        </p:txBody>
      </p:sp>
      <p:sp>
        <p:nvSpPr>
          <p:cNvPr id="13" name="TextBox 12"/>
          <p:cNvSpPr txBox="1"/>
          <p:nvPr/>
        </p:nvSpPr>
        <p:spPr>
          <a:xfrm>
            <a:off x="777240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Payment System</a:t>
            </a:r>
          </a:p>
        </p:txBody>
      </p:sp>
      <p:sp>
        <p:nvSpPr>
          <p:cNvPr id="14" name="Oval 13"/>
          <p:cNvSpPr/>
          <p:nvPr/>
        </p:nvSpPr>
        <p:spPr>
          <a:xfrm>
            <a:off x="10904219"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15" name="TextBox 14"/>
          <p:cNvSpPr txBox="1"/>
          <p:nvPr/>
        </p:nvSpPr>
        <p:spPr>
          <a:xfrm>
            <a:off x="1014984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a:t>
            </a:r>
          </a:p>
        </p:txBody>
      </p:sp>
      <p:cxnSp>
        <p:nvCxnSpPr>
          <p:cNvPr id="16" name="Connector 15"/>
          <p:cNvCxnSpPr/>
          <p:nvPr/>
        </p:nvCxnSpPr>
        <p:spPr>
          <a:xfrm>
            <a:off x="164592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2336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0080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778240" y="2606040"/>
            <a:ext cx="2377440" cy="0"/>
          </a:xfrm>
          <a:prstGeom prst="line">
            <a:avLst/>
          </a:prstGeom>
          <a:ln w="31750">
            <a:solidFill>
              <a:srgbClr val="1A21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$100.00</a:t>
            </a:r>
          </a:p>
        </p:txBody>
      </p:sp>
      <p:sp>
        <p:nvSpPr>
          <p:cNvPr id="21" name="TextBox 20"/>
          <p:cNvSpPr txBox="1"/>
          <p:nvPr/>
        </p:nvSpPr>
        <p:spPr>
          <a:xfrm>
            <a:off x="3200400"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$98.20</a:t>
            </a:r>
          </a:p>
        </p:txBody>
      </p:sp>
      <p:sp>
        <p:nvSpPr>
          <p:cNvPr id="22" name="TextBox 21"/>
          <p:cNvSpPr txBox="1"/>
          <p:nvPr/>
        </p:nvSpPr>
        <p:spPr>
          <a:xfrm>
            <a:off x="5577840"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$98.10</a:t>
            </a:r>
          </a:p>
        </p:txBody>
      </p:sp>
      <p:sp>
        <p:nvSpPr>
          <p:cNvPr id="23" name="TextBox 22"/>
          <p:cNvSpPr txBox="1"/>
          <p:nvPr/>
        </p:nvSpPr>
        <p:spPr>
          <a:xfrm>
            <a:off x="7955279"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$97.75</a:t>
            </a:r>
          </a:p>
        </p:txBody>
      </p:sp>
      <p:sp>
        <p:nvSpPr>
          <p:cNvPr id="24" name="TextBox 23"/>
          <p:cNvSpPr txBox="1"/>
          <p:nvPr/>
        </p:nvSpPr>
        <p:spPr>
          <a:xfrm>
            <a:off x="10332719" y="2286000"/>
            <a:ext cx="1645920" cy="274320"/>
          </a:xfrm>
          <a:prstGeom prst="rect">
            <a:avLst/>
          </a:prstGeom>
          <a:noFill/>
        </p:spPr>
        <p:txBody>
          <a:bodyPr wrap="square" lIns="0" tIns="0" rIns="0" bIns="0" anchor="t">
            <a:spAutoFit/>
          </a:bodyPr>
          <a:lstStyle/>
          <a:p>
            <a:pPr algn="ctr"/>
            <a:r>
              <a:rPr sz="1300" b="1" i="0">
                <a:solidFill>
                  <a:srgbClr val="1A2130"/>
                </a:solidFill>
                <a:latin typeface="Courier New"/>
              </a:rPr>
              <a:t>$97.30</a:t>
            </a:r>
          </a:p>
        </p:txBody>
      </p:sp>
      <p:sp>
        <p:nvSpPr>
          <p:cNvPr id="25" name="TextBox 24"/>
          <p:cNvSpPr txBox="1"/>
          <p:nvPr/>
        </p:nvSpPr>
        <p:spPr>
          <a:xfrm>
            <a:off x="640080" y="2880360"/>
            <a:ext cx="2011680" cy="228600"/>
          </a:xfrm>
          <a:prstGeom prst="rect">
            <a:avLst/>
          </a:prstGeom>
          <a:noFill/>
        </p:spPr>
        <p:txBody>
          <a:bodyPr wrap="square" lIns="0" tIns="0" rIns="0" bIns="0" anchor="t">
            <a:spAutoFit/>
          </a:bodyPr>
          <a:lstStyle/>
          <a:p>
            <a:pPr algn="ctr"/>
            <a:r>
              <a:rPr sz="850" b="0" i="0">
                <a:solidFill>
                  <a:srgbClr val="8A9298"/>
                </a:solidFill>
                <a:latin typeface="Courier New"/>
              </a:rPr>
              <a:t>receivable booked</a:t>
            </a:r>
          </a:p>
        </p:txBody>
      </p:sp>
      <p:sp>
        <p:nvSpPr>
          <p:cNvPr id="26" name="TextBox 25"/>
          <p:cNvSpPr txBox="1"/>
          <p:nvPr/>
        </p:nvSpPr>
        <p:spPr>
          <a:xfrm>
            <a:off x="10149840" y="2880360"/>
            <a:ext cx="2011680" cy="228600"/>
          </a:xfrm>
          <a:prstGeom prst="rect">
            <a:avLst/>
          </a:prstGeom>
          <a:noFill/>
        </p:spPr>
        <p:txBody>
          <a:bodyPr wrap="square" lIns="0" tIns="0" rIns="0" bIns="0" anchor="t">
            <a:spAutoFit/>
          </a:bodyPr>
          <a:lstStyle/>
          <a:p>
            <a:pPr algn="ctr"/>
            <a:r>
              <a:rPr sz="850" b="0" i="0">
                <a:solidFill>
                  <a:srgbClr val="8A9298"/>
                </a:solidFill>
                <a:latin typeface="Courier New"/>
              </a:rPr>
              <a:t>net payout received</a:t>
            </a:r>
          </a:p>
        </p:txBody>
      </p:sp>
      <p:sp>
        <p:nvSpPr>
          <p:cNvPr id="27" name="Rounded Rectangle 26"/>
          <p:cNvSpPr/>
          <p:nvPr/>
        </p:nvSpPr>
        <p:spPr>
          <a:xfrm>
            <a:off x="2057400" y="3246120"/>
            <a:ext cx="1554480" cy="384048"/>
          </a:xfrm>
          <a:prstGeom prst="roundRect">
            <a:avLst>
              <a:gd name="adj" fmla="val 50000"/>
            </a:avLst>
          </a:prstGeom>
          <a:solidFill>
            <a:srgbClr val="E2F1EC"/>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0E7C66"/>
                </a:solidFill>
                <a:latin typeface="Courier New"/>
              </a:rPr>
              <a:t>- $1.80 interchange</a:t>
            </a:r>
          </a:p>
        </p:txBody>
      </p:sp>
      <p:sp>
        <p:nvSpPr>
          <p:cNvPr id="28" name="Rounded Rectangle 27"/>
          <p:cNvSpPr/>
          <p:nvPr/>
        </p:nvSpPr>
        <p:spPr>
          <a:xfrm>
            <a:off x="4434840" y="3246120"/>
            <a:ext cx="1554480" cy="384048"/>
          </a:xfrm>
          <a:prstGeom prst="roundRect">
            <a:avLst>
              <a:gd name="adj" fmla="val 50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9A3324"/>
                </a:solidFill>
                <a:latin typeface="Courier New"/>
              </a:rPr>
              <a:t>- $0.10 network fee</a:t>
            </a:r>
          </a:p>
        </p:txBody>
      </p:sp>
      <p:sp>
        <p:nvSpPr>
          <p:cNvPr id="29" name="Rounded Rectangle 28"/>
          <p:cNvSpPr/>
          <p:nvPr/>
        </p:nvSpPr>
        <p:spPr>
          <a:xfrm>
            <a:off x="6812280" y="3246120"/>
            <a:ext cx="1554480" cy="384048"/>
          </a:xfrm>
          <a:prstGeom prst="roundRect">
            <a:avLst>
              <a:gd name="adj" fmla="val 50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9A3324"/>
                </a:solidFill>
                <a:latin typeface="Courier New"/>
              </a:rPr>
              <a:t>- $0.35 acquirer fee</a:t>
            </a:r>
          </a:p>
        </p:txBody>
      </p:sp>
      <p:sp>
        <p:nvSpPr>
          <p:cNvPr id="30" name="Rounded Rectangle 29"/>
          <p:cNvSpPr/>
          <p:nvPr/>
        </p:nvSpPr>
        <p:spPr>
          <a:xfrm>
            <a:off x="9189719" y="3246120"/>
            <a:ext cx="1554480" cy="384048"/>
          </a:xfrm>
          <a:prstGeom prst="roundRect">
            <a:avLst>
              <a:gd name="adj" fmla="val 50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9A3324"/>
                </a:solidFill>
                <a:latin typeface="Courier New"/>
              </a:rPr>
              <a:t>- $0.45 PSP fee</a:t>
            </a:r>
          </a:p>
        </p:txBody>
      </p:sp>
      <p:sp>
        <p:nvSpPr>
          <p:cNvPr id="31" name="TextBox 30"/>
          <p:cNvSpPr txBox="1"/>
          <p:nvPr/>
        </p:nvSpPr>
        <p:spPr>
          <a:xfrm>
            <a:off x="640080" y="3977639"/>
            <a:ext cx="10908792" cy="274320"/>
          </a:xfrm>
          <a:prstGeom prst="rect">
            <a:avLst/>
          </a:prstGeom>
          <a:noFill/>
        </p:spPr>
        <p:txBody>
          <a:bodyPr wrap="square" lIns="0" tIns="0" rIns="0" bIns="0" anchor="t">
            <a:spAutoFit/>
          </a:bodyPr>
          <a:lstStyle/>
          <a:p>
            <a:pPr algn="ctr"/>
            <a:r>
              <a:rPr sz="1200" b="0" i="1">
                <a:solidFill>
                  <a:srgbClr val="57626B"/>
                </a:solidFill>
                <a:latin typeface="Calibri"/>
              </a:rPr>
              <a:t>MDR = $2.70 on a $100.00 sale (2.70%) -- interchange + network fee + acquirer fee + PSP fee</a:t>
            </a:r>
          </a:p>
        </p:txBody>
      </p:sp>
      <p:sp>
        <p:nvSpPr>
          <p:cNvPr id="32" name="TextBox 31"/>
          <p:cNvSpPr txBox="1"/>
          <p:nvPr/>
        </p:nvSpPr>
        <p:spPr>
          <a:xfrm>
            <a:off x="640080" y="4663440"/>
            <a:ext cx="10908792" cy="1371600"/>
          </a:xfrm>
          <a:prstGeom prst="rect">
            <a:avLst/>
          </a:prstGeom>
          <a:noFill/>
        </p:spPr>
        <p:txBody>
          <a:bodyPr wrap="square" lIns="0" tIns="0" rIns="0" bIns="0" anchor="t">
            <a:spAutoFit/>
          </a:bodyPr>
          <a:lstStyle/>
          <a:p>
            <a:pPr algn="l">
              <a:lnSpc>
                <a:spcPct val="135000"/>
              </a:lnSpc>
            </a:pPr>
            <a:r>
              <a:rPr sz="1200" b="0" i="1">
                <a:solidFill>
                  <a:srgbClr val="57626B"/>
                </a:solidFill>
                <a:latin typeface="Calibri"/>
              </a:rPr>
              <a:t>This is a simplified, single-flow teaching model. Real-world network settlement is multilateral and netted across thousands of issuers and acquirers at once, and network fees are often billed separately rather than deducted from the settlement amount itself -- but the direction of the cash, and who keeps what, is accurate.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06</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Flow of funds -- accounting by party</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Pure pass-through settlement. Every panel balances on its own: what comes in (Dr) equals what's kept plus relayed (Cr).</a:t>
            </a:r>
          </a:p>
        </p:txBody>
      </p:sp>
      <p:sp>
        <p:nvSpPr>
          <p:cNvPr id="5" name="TextBox 4"/>
          <p:cNvSpPr txBox="1"/>
          <p:nvPr/>
        </p:nvSpPr>
        <p:spPr>
          <a:xfrm>
            <a:off x="548640" y="1417320"/>
            <a:ext cx="5212080" cy="320040"/>
          </a:xfrm>
          <a:prstGeom prst="rect">
            <a:avLst/>
          </a:prstGeom>
          <a:noFill/>
        </p:spPr>
        <p:txBody>
          <a:bodyPr wrap="square" lIns="0" tIns="0" rIns="0" bIns="0" anchor="t">
            <a:spAutoFit/>
          </a:bodyPr>
          <a:lstStyle/>
          <a:p>
            <a:pPr algn="l"/>
            <a:r>
              <a:rPr sz="1400" b="1" i="0">
                <a:solidFill>
                  <a:srgbClr val="1A2130"/>
                </a:solidFill>
                <a:latin typeface="Cambria"/>
              </a:rPr>
              <a:t>Issuer's books</a:t>
            </a:r>
          </a:p>
        </p:txBody>
      </p:sp>
      <p:graphicFrame>
        <p:nvGraphicFramePr>
          <p:cNvPr id="6" name="Table 5"/>
          <p:cNvGraphicFramePr>
            <a:graphicFrameLocks noGrp="1"/>
          </p:cNvGraphicFramePr>
          <p:nvPr/>
        </p:nvGraphicFramePr>
        <p:xfrm>
          <a:off x="548640" y="182880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Loan Receivable</a:t>
                      </a:r>
                    </a:p>
                    <a:p>
                      <a:r>
                        <a:rPr sz="950" i="1">
                          <a:solidFill>
                            <a:srgbClr val="57626B"/>
                          </a:solidFill>
                          <a:latin typeface="Calibri"/>
                        </a:rPr>
                        <a:t>Asset</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$100.00</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Interchange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$1.80</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Settlement Payable</a:t>
                      </a:r>
                    </a:p>
                    <a:p>
                      <a:r>
                        <a:rPr sz="950" i="1">
                          <a:solidFill>
                            <a:srgbClr val="57626B"/>
                          </a:solidFill>
                          <a:latin typeface="Calibri"/>
                        </a:rPr>
                        <a:t>due to network</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$98.20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355080" y="1417320"/>
            <a:ext cx="5212080" cy="320040"/>
          </a:xfrm>
          <a:prstGeom prst="rect">
            <a:avLst/>
          </a:prstGeom>
          <a:noFill/>
        </p:spPr>
        <p:txBody>
          <a:bodyPr wrap="square" lIns="0" tIns="0" rIns="0" bIns="0" anchor="t">
            <a:spAutoFit/>
          </a:bodyPr>
          <a:lstStyle/>
          <a:p>
            <a:pPr algn="l"/>
            <a:r>
              <a:rPr sz="1400" b="1" i="0">
                <a:solidFill>
                  <a:srgbClr val="1A2130"/>
                </a:solidFill>
                <a:latin typeface="Cambria"/>
              </a:rPr>
              <a:t>Network's books</a:t>
            </a:r>
          </a:p>
        </p:txBody>
      </p:sp>
      <p:graphicFrame>
        <p:nvGraphicFramePr>
          <p:cNvPr id="8" name="Table 7"/>
          <p:cNvGraphicFramePr>
            <a:graphicFrameLocks noGrp="1"/>
          </p:cNvGraphicFramePr>
          <p:nvPr/>
        </p:nvGraphicFramePr>
        <p:xfrm>
          <a:off x="6355080" y="182880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Settlement Receivable</a:t>
                      </a:r>
                    </a:p>
                    <a:p>
                      <a:r>
                        <a:rPr sz="950" i="1">
                          <a:solidFill>
                            <a:srgbClr val="57626B"/>
                          </a:solidFill>
                          <a:latin typeface="Calibri"/>
                        </a:rPr>
                        <a:t>due from issuer</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$98.20</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Network Fee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$0.10</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Settlement Payable</a:t>
                      </a:r>
                    </a:p>
                    <a:p>
                      <a:r>
                        <a:rPr sz="950" i="1">
                          <a:solidFill>
                            <a:srgbClr val="57626B"/>
                          </a:solidFill>
                          <a:latin typeface="Calibri"/>
                        </a:rPr>
                        <a:t>due to acquirer</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$98.10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48640" y="3977639"/>
            <a:ext cx="5212080" cy="320040"/>
          </a:xfrm>
          <a:prstGeom prst="rect">
            <a:avLst/>
          </a:prstGeom>
          <a:noFill/>
        </p:spPr>
        <p:txBody>
          <a:bodyPr wrap="square" lIns="0" tIns="0" rIns="0" bIns="0" anchor="t">
            <a:spAutoFit/>
          </a:bodyPr>
          <a:lstStyle/>
          <a:p>
            <a:pPr algn="l"/>
            <a:r>
              <a:rPr sz="1400" b="1" i="0">
                <a:solidFill>
                  <a:srgbClr val="1A2130"/>
                </a:solidFill>
                <a:latin typeface="Cambria"/>
              </a:rPr>
              <a:t>Acquirer's books</a:t>
            </a:r>
          </a:p>
        </p:txBody>
      </p:sp>
      <p:graphicFrame>
        <p:nvGraphicFramePr>
          <p:cNvPr id="10" name="Table 9"/>
          <p:cNvGraphicFramePr>
            <a:graphicFrameLocks noGrp="1"/>
          </p:cNvGraphicFramePr>
          <p:nvPr/>
        </p:nvGraphicFramePr>
        <p:xfrm>
          <a:off x="548640" y="438912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Settlement Receivable</a:t>
                      </a:r>
                    </a:p>
                    <a:p>
                      <a:r>
                        <a:rPr sz="950" i="1">
                          <a:solidFill>
                            <a:srgbClr val="57626B"/>
                          </a:solidFill>
                          <a:latin typeface="Calibri"/>
                        </a:rPr>
                        <a:t>due from network</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$98.10</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Acquirer Fee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$0.35</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Settlement Payable</a:t>
                      </a:r>
                    </a:p>
                    <a:p>
                      <a:r>
                        <a:rPr sz="950" i="1">
                          <a:solidFill>
                            <a:srgbClr val="57626B"/>
                          </a:solidFill>
                          <a:latin typeface="Calibri"/>
                        </a:rPr>
                        <a:t>due to payment system</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$97.75</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355080" y="3977639"/>
            <a:ext cx="5212080" cy="320040"/>
          </a:xfrm>
          <a:prstGeom prst="rect">
            <a:avLst/>
          </a:prstGeom>
          <a:noFill/>
        </p:spPr>
        <p:txBody>
          <a:bodyPr wrap="square" lIns="0" tIns="0" rIns="0" bIns="0" anchor="t">
            <a:spAutoFit/>
          </a:bodyPr>
          <a:lstStyle/>
          <a:p>
            <a:pPr algn="l"/>
            <a:r>
              <a:rPr sz="1400" b="1" i="0">
                <a:solidFill>
                  <a:srgbClr val="1A2130"/>
                </a:solidFill>
                <a:latin typeface="Cambria"/>
              </a:rPr>
              <a:t>Payment System's books</a:t>
            </a:r>
          </a:p>
        </p:txBody>
      </p:sp>
      <p:graphicFrame>
        <p:nvGraphicFramePr>
          <p:cNvPr id="12" name="Table 11"/>
          <p:cNvGraphicFramePr>
            <a:graphicFrameLocks noGrp="1"/>
          </p:cNvGraphicFramePr>
          <p:nvPr/>
        </p:nvGraphicFramePr>
        <p:xfrm>
          <a:off x="6355080" y="4389120"/>
          <a:ext cx="5212079" cy="1737360"/>
        </p:xfrm>
        <a:graphic>
          <a:graphicData uri="http://schemas.openxmlformats.org/drawingml/2006/table">
            <a:tbl>
              <a:tblPr firstRow="1" bandRow="1">
                <a:tableStyleId>{5C22544A-7EE6-4342-B048-85BDC9FD1C3A}</a:tableStyleId>
              </a:tblPr>
              <a:tblGrid>
                <a:gridCol w="2293315">
                  <a:extLst>
                    <a:ext uri="{9D8B030D-6E8A-4147-A177-3AD203B41FA5}">
                      <a16:colId xmlns:a16="http://schemas.microsoft.com/office/drawing/2014/main" val="20000"/>
                    </a:ext>
                  </a:extLst>
                </a:gridCol>
                <a:gridCol w="833932">
                  <a:extLst>
                    <a:ext uri="{9D8B030D-6E8A-4147-A177-3AD203B41FA5}">
                      <a16:colId xmlns:a16="http://schemas.microsoft.com/office/drawing/2014/main" val="20001"/>
                    </a:ext>
                  </a:extLst>
                </a:gridCol>
                <a:gridCol w="2084832">
                  <a:extLst>
                    <a:ext uri="{9D8B030D-6E8A-4147-A177-3AD203B41FA5}">
                      <a16:colId xmlns:a16="http://schemas.microsoft.com/office/drawing/2014/main" val="20002"/>
                    </a:ext>
                  </a:extLst>
                </a:gridCol>
              </a:tblGrid>
              <a:tr h="365760">
                <a:tc>
                  <a:txBody>
                    <a:bodyPr/>
                    <a:lstStyle/>
                    <a:p>
                      <a:pPr algn="l"/>
                      <a:r>
                        <a:rPr sz="1050" b="1">
                          <a:solidFill>
                            <a:srgbClr val="FFFFFF"/>
                          </a:solidFill>
                          <a:latin typeface="Courier New"/>
                        </a:rPr>
                        <a:t>Account</a:t>
                      </a:r>
                    </a:p>
                  </a:txBody>
                  <a:tcPr marT="36576" marB="36576" anchor="ctr">
                    <a:solidFill>
                      <a:srgbClr val="1A2130"/>
                    </a:solidFill>
                  </a:tcPr>
                </a:tc>
                <a:tc>
                  <a:txBody>
                    <a:bodyPr/>
                    <a:lstStyle/>
                    <a:p>
                      <a:pPr algn="l"/>
                      <a:r>
                        <a:rPr sz="1050" b="1">
                          <a:solidFill>
                            <a:srgbClr val="FFFFFF"/>
                          </a:solidFill>
                          <a:latin typeface="Courier New"/>
                        </a:rPr>
                        <a:t>Dr / Cr</a:t>
                      </a:r>
                    </a:p>
                  </a:txBody>
                  <a:tcPr marT="36576" marB="36576" anchor="ctr">
                    <a:solidFill>
                      <a:srgbClr val="1A2130"/>
                    </a:solidFill>
                  </a:tcPr>
                </a:tc>
                <a:tc>
                  <a:txBody>
                    <a:bodyPr/>
                    <a:lstStyle/>
                    <a:p>
                      <a:pPr algn="l"/>
                      <a:r>
                        <a:rPr sz="1050" b="1">
                          <a:solidFill>
                            <a:srgbClr val="FFFFFF"/>
                          </a:solidFill>
                          <a:latin typeface="Courier New"/>
                        </a:rPr>
                        <a:t>Effect</a:t>
                      </a:r>
                    </a:p>
                  </a:txBody>
                  <a:tcPr marT="36576" marB="36576" anchor="ctr">
                    <a:solidFill>
                      <a:srgbClr val="1A2130"/>
                    </a:solidFill>
                  </a:tcPr>
                </a:tc>
                <a:extLst>
                  <a:ext uri="{0D108BD9-81ED-4DB2-BD59-A6C34878D82A}">
                    <a16:rowId xmlns:a16="http://schemas.microsoft.com/office/drawing/2014/main" val="10000"/>
                  </a:ext>
                </a:extLst>
              </a:tr>
              <a:tr h="457200">
                <a:tc>
                  <a:txBody>
                    <a:bodyPr/>
                    <a:lstStyle/>
                    <a:p>
                      <a:r>
                        <a:rPr sz="1250" b="1">
                          <a:solidFill>
                            <a:srgbClr val="1A2130"/>
                          </a:solidFill>
                          <a:latin typeface="Calibri"/>
                        </a:rPr>
                        <a:t>Settlement Receivable</a:t>
                      </a:r>
                    </a:p>
                    <a:p>
                      <a:r>
                        <a:rPr sz="950" i="1">
                          <a:solidFill>
                            <a:srgbClr val="57626B"/>
                          </a:solidFill>
                          <a:latin typeface="Calibri"/>
                        </a:rPr>
                        <a:t>due from acquirer</a:t>
                      </a:r>
                    </a:p>
                  </a:txBody>
                  <a:tcPr anchor="ctr">
                    <a:solidFill>
                      <a:srgbClr val="FFFFFF"/>
                    </a:solidFill>
                  </a:tcPr>
                </a:tc>
                <a:tc>
                  <a:txBody>
                    <a:bodyPr/>
                    <a:lstStyle/>
                    <a:p>
                      <a:pPr algn="ctr"/>
                      <a:r>
                        <a:rPr sz="1200" b="1">
                          <a:solidFill>
                            <a:srgbClr val="9A3324"/>
                          </a:solidFill>
                          <a:latin typeface="Courier New"/>
                        </a:rPr>
                        <a:t>Dr</a:t>
                      </a:r>
                    </a:p>
                  </a:txBody>
                  <a:tcPr anchor="ctr">
                    <a:solidFill>
                      <a:srgbClr val="FFFFFF"/>
                    </a:solidFill>
                  </a:tcPr>
                </a:tc>
                <a:tc>
                  <a:txBody>
                    <a:bodyPr/>
                    <a:lstStyle/>
                    <a:p>
                      <a:r>
                        <a:rPr sz="1100">
                          <a:solidFill>
                            <a:srgbClr val="57626B"/>
                          </a:solidFill>
                          <a:latin typeface="Courier New"/>
                        </a:rPr>
                        <a:t>$97.75</a:t>
                      </a:r>
                    </a:p>
                  </a:txBody>
                  <a:tcPr anchor="ctr">
                    <a:solidFill>
                      <a:srgbClr val="FFFFFF"/>
                    </a:solidFill>
                  </a:tcPr>
                </a:tc>
                <a:extLst>
                  <a:ext uri="{0D108BD9-81ED-4DB2-BD59-A6C34878D82A}">
                    <a16:rowId xmlns:a16="http://schemas.microsoft.com/office/drawing/2014/main" val="10001"/>
                  </a:ext>
                </a:extLst>
              </a:tr>
              <a:tr h="457200">
                <a:tc>
                  <a:txBody>
                    <a:bodyPr/>
                    <a:lstStyle/>
                    <a:p>
                      <a:r>
                        <a:rPr sz="1250" b="1">
                          <a:solidFill>
                            <a:srgbClr val="1A2130"/>
                          </a:solidFill>
                          <a:latin typeface="Calibri"/>
                        </a:rPr>
                        <a:t>Payment System Fee Revenue</a:t>
                      </a:r>
                    </a:p>
                    <a:p>
                      <a:r>
                        <a:rPr sz="950" i="1">
                          <a:solidFill>
                            <a:srgbClr val="57626B"/>
                          </a:solidFill>
                          <a:latin typeface="Calibri"/>
                        </a:rPr>
                        <a:t>Income</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$0.45</a:t>
                      </a:r>
                    </a:p>
                  </a:txBody>
                  <a:tcPr anchor="ctr">
                    <a:solidFill>
                      <a:srgbClr val="FFFFFF"/>
                    </a:solidFill>
                  </a:tcPr>
                </a:tc>
                <a:extLst>
                  <a:ext uri="{0D108BD9-81ED-4DB2-BD59-A6C34878D82A}">
                    <a16:rowId xmlns:a16="http://schemas.microsoft.com/office/drawing/2014/main" val="10002"/>
                  </a:ext>
                </a:extLst>
              </a:tr>
              <a:tr h="457200">
                <a:tc>
                  <a:txBody>
                    <a:bodyPr/>
                    <a:lstStyle/>
                    <a:p>
                      <a:r>
                        <a:rPr sz="1250" b="1">
                          <a:solidFill>
                            <a:srgbClr val="1A2130"/>
                          </a:solidFill>
                          <a:latin typeface="Calibri"/>
                        </a:rPr>
                        <a:t>Merchant Payable</a:t>
                      </a:r>
                    </a:p>
                    <a:p>
                      <a:r>
                        <a:rPr sz="950" i="1">
                          <a:solidFill>
                            <a:srgbClr val="57626B"/>
                          </a:solidFill>
                          <a:latin typeface="Calibri"/>
                        </a:rPr>
                        <a:t>Liability</a:t>
                      </a:r>
                    </a:p>
                  </a:txBody>
                  <a:tcPr anchor="ctr">
                    <a:solidFill>
                      <a:srgbClr val="FFFFFF"/>
                    </a:solidFill>
                  </a:tcPr>
                </a:tc>
                <a:tc>
                  <a:txBody>
                    <a:bodyPr/>
                    <a:lstStyle/>
                    <a:p>
                      <a:pPr algn="ctr"/>
                      <a:r>
                        <a:rPr sz="1200" b="1">
                          <a:solidFill>
                            <a:srgbClr val="0E7C66"/>
                          </a:solidFill>
                          <a:latin typeface="Courier New"/>
                        </a:rPr>
                        <a:t>Cr</a:t>
                      </a:r>
                    </a:p>
                  </a:txBody>
                  <a:tcPr anchor="ctr">
                    <a:solidFill>
                      <a:srgbClr val="FFFFFF"/>
                    </a:solidFill>
                  </a:tcPr>
                </a:tc>
                <a:tc>
                  <a:txBody>
                    <a:bodyPr/>
                    <a:lstStyle/>
                    <a:p>
                      <a:r>
                        <a:rPr sz="1100">
                          <a:solidFill>
                            <a:srgbClr val="57626B"/>
                          </a:solidFill>
                          <a:latin typeface="Courier New"/>
                        </a:rPr>
                        <a:t>$97.30</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07</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Booking vs. cash settlement</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issuer-to-acquirer cash leg: booking happens when the clearing record posts, cash settlement when money actually moves (Day 1).</a:t>
            </a:r>
          </a:p>
        </p:txBody>
      </p:sp>
      <p:graphicFrame>
        <p:nvGraphicFramePr>
          <p:cNvPr id="5" name="Table 4"/>
          <p:cNvGraphicFramePr>
            <a:graphicFrameLocks noGrp="1"/>
          </p:cNvGraphicFramePr>
          <p:nvPr/>
        </p:nvGraphicFramePr>
        <p:xfrm>
          <a:off x="548640" y="1417320"/>
          <a:ext cx="11091672" cy="425196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365760">
                <a:tc>
                  <a:txBody>
                    <a:bodyPr/>
                    <a:lstStyle/>
                    <a:p>
                      <a:r>
                        <a:rPr sz="1050" b="1">
                          <a:solidFill>
                            <a:srgbClr val="FFFFFF"/>
                          </a:solidFill>
                          <a:latin typeface="Courier New"/>
                        </a:rPr>
                        <a:t>Party</a:t>
                      </a:r>
                    </a:p>
                  </a:txBody>
                  <a:tcPr marL="109728" anchor="ctr">
                    <a:solidFill>
                      <a:srgbClr val="1A2130"/>
                    </a:solidFill>
                  </a:tcPr>
                </a:tc>
                <a:tc>
                  <a:txBody>
                    <a:bodyPr/>
                    <a:lstStyle/>
                    <a:p>
                      <a:r>
                        <a:rPr sz="1050" b="1">
                          <a:solidFill>
                            <a:srgbClr val="FFFFFF"/>
                          </a:solidFill>
                          <a:latin typeface="Courier New"/>
                        </a:rPr>
                        <a:t>Entry when funds move</a:t>
                      </a:r>
                    </a:p>
                  </a:txBody>
                  <a:tcPr marL="109728" anchor="ctr">
                    <a:solidFill>
                      <a:srgbClr val="1A2130"/>
                    </a:solidFill>
                  </a:tcPr>
                </a:tc>
                <a:tc>
                  <a:txBody>
                    <a:bodyPr/>
                    <a:lstStyle/>
                    <a:p>
                      <a:r>
                        <a:rPr sz="1050" b="1">
                          <a:solidFill>
                            <a:srgbClr val="FFFFFF"/>
                          </a:solidFill>
                          <a:latin typeface="Courier New"/>
                        </a:rPr>
                        <a:t>Why</a:t>
                      </a:r>
                    </a:p>
                  </a:txBody>
                  <a:tcPr marL="109728" anchor="ctr">
                    <a:solidFill>
                      <a:srgbClr val="1A2130"/>
                    </a:solidFill>
                  </a:tcPr>
                </a:tc>
                <a:extLst>
                  <a:ext uri="{0D108BD9-81ED-4DB2-BD59-A6C34878D82A}">
                    <a16:rowId xmlns:a16="http://schemas.microsoft.com/office/drawing/2014/main" val="10000"/>
                  </a:ext>
                </a:extLst>
              </a:tr>
              <a:tr h="502920">
                <a:tc>
                  <a:txBody>
                    <a:bodyPr/>
                    <a:lstStyle/>
                    <a:p>
                      <a:r>
                        <a:rPr sz="1200" b="1">
                          <a:solidFill>
                            <a:srgbClr val="1A2130"/>
                          </a:solidFill>
                          <a:latin typeface="Cambria"/>
                        </a:rPr>
                        <a:t>Consumer</a:t>
                      </a:r>
                    </a:p>
                  </a:txBody>
                  <a:tcPr anchor="ctr">
                    <a:solidFill>
                      <a:srgbClr val="FFFFFF"/>
                    </a:solidFill>
                  </a:tcPr>
                </a:tc>
                <a:tc>
                  <a:txBody>
                    <a:bodyPr/>
                    <a:lstStyle/>
                    <a:p>
                      <a:r>
                        <a:rPr sz="950" i="1">
                          <a:solidFill>
                            <a:srgbClr val="8A9298"/>
                          </a:solidFill>
                          <a:latin typeface="Courier New"/>
                        </a:rPr>
                        <a:t>-- none --</a:t>
                      </a:r>
                    </a:p>
                  </a:txBody>
                  <a:tcPr marL="109728" anchor="ctr">
                    <a:solidFill>
                      <a:srgbClr val="FFFFFF"/>
                    </a:solidFill>
                  </a:tcPr>
                </a:tc>
                <a:tc>
                  <a:txBody>
                    <a:bodyPr/>
                    <a:lstStyle/>
                    <a:p>
                      <a:r>
                        <a:rPr sz="1000">
                          <a:solidFill>
                            <a:srgbClr val="57626B"/>
                          </a:solidFill>
                          <a:latin typeface="Calibri"/>
                        </a:rPr>
                        <a:t>Obligation fixed at settlement posting; untouched by how the issuer funds the network.</a:t>
                      </a:r>
                    </a:p>
                  </a:txBody>
                  <a:tcPr marL="109728" anchor="ctr">
                    <a:solidFill>
                      <a:srgbClr val="FFFFFF"/>
                    </a:solidFill>
                  </a:tcPr>
                </a:tc>
                <a:extLst>
                  <a:ext uri="{0D108BD9-81ED-4DB2-BD59-A6C34878D82A}">
                    <a16:rowId xmlns:a16="http://schemas.microsoft.com/office/drawing/2014/main" val="10001"/>
                  </a:ext>
                </a:extLst>
              </a:tr>
              <a:tr h="685800">
                <a:tc>
                  <a:txBody>
                    <a:bodyPr/>
                    <a:lstStyle/>
                    <a:p>
                      <a:r>
                        <a:rPr sz="1200" b="1">
                          <a:solidFill>
                            <a:srgbClr val="1A2130"/>
                          </a:solidFill>
                          <a:latin typeface="Cambria"/>
                        </a:rPr>
                        <a:t>Issuer</a:t>
                      </a:r>
                    </a:p>
                  </a:txBody>
                  <a:tcPr anchor="ctr">
                    <a:solidFill>
                      <a:srgbClr val="FFFFFF"/>
                    </a:solidFill>
                  </a:tcPr>
                </a:tc>
                <a:tc>
                  <a:txBody>
                    <a:bodyPr/>
                    <a:lstStyle/>
                    <a:p>
                      <a:r>
                        <a:rPr sz="950" i="0">
                          <a:solidFill>
                            <a:srgbClr val="1A2130"/>
                          </a:solidFill>
                          <a:latin typeface="Courier New"/>
                        </a:rPr>
                        <a:t>Dr Settlement Payable      $98.20</a:t>
                      </a:r>
                    </a:p>
                    <a:p>
                      <a:r>
                        <a:rPr sz="950" i="0">
                          <a:solidFill>
                            <a:srgbClr val="1A2130"/>
                          </a:solidFill>
                          <a:latin typeface="Courier New"/>
                        </a:rPr>
                        <a:t>Cr Cash                    $98.20</a:t>
                      </a:r>
                    </a:p>
                  </a:txBody>
                  <a:tcPr marL="109728" anchor="ctr">
                    <a:solidFill>
                      <a:srgbClr val="FFFFFF"/>
                    </a:solidFill>
                  </a:tcPr>
                </a:tc>
                <a:tc>
                  <a:txBody>
                    <a:bodyPr/>
                    <a:lstStyle/>
                    <a:p>
                      <a:r>
                        <a:rPr sz="1000">
                          <a:solidFill>
                            <a:srgbClr val="57626B"/>
                          </a:solidFill>
                          <a:latin typeface="Calibri"/>
                        </a:rPr>
                        <a:t>Clears the liability booked at clearing; cash physically leaves.</a:t>
                      </a:r>
                    </a:p>
                  </a:txBody>
                  <a:tcPr marL="109728" anchor="ctr">
                    <a:solidFill>
                      <a:srgbClr val="FFFFFF"/>
                    </a:solidFill>
                  </a:tcPr>
                </a:tc>
                <a:extLst>
                  <a:ext uri="{0D108BD9-81ED-4DB2-BD59-A6C34878D82A}">
                    <a16:rowId xmlns:a16="http://schemas.microsoft.com/office/drawing/2014/main" val="10002"/>
                  </a:ext>
                </a:extLst>
              </a:tr>
              <a:tr h="1005840">
                <a:tc>
                  <a:txBody>
                    <a:bodyPr/>
                    <a:lstStyle/>
                    <a:p>
                      <a:r>
                        <a:rPr sz="1200" b="1">
                          <a:solidFill>
                            <a:srgbClr val="1A2130"/>
                          </a:solidFill>
                          <a:latin typeface="Cambria"/>
                        </a:rPr>
                        <a:t>Network</a:t>
                      </a:r>
                    </a:p>
                  </a:txBody>
                  <a:tcPr anchor="ctr">
                    <a:solidFill>
                      <a:srgbClr val="FFFFFF"/>
                    </a:solidFill>
                  </a:tcPr>
                </a:tc>
                <a:tc>
                  <a:txBody>
                    <a:bodyPr/>
                    <a:lstStyle/>
                    <a:p>
                      <a:r>
                        <a:rPr sz="950" i="0">
                          <a:solidFill>
                            <a:srgbClr val="1A2130"/>
                          </a:solidFill>
                          <a:latin typeface="Courier New"/>
                        </a:rPr>
                        <a:t>Dr Cash                         $98.20</a:t>
                      </a:r>
                    </a:p>
                    <a:p>
                      <a:r>
                        <a:rPr sz="950" i="0">
                          <a:solidFill>
                            <a:srgbClr val="1A2130"/>
                          </a:solidFill>
                          <a:latin typeface="Courier New"/>
                        </a:rPr>
                        <a:t>Cr Settlement Receivable        $98.20</a:t>
                      </a:r>
                    </a:p>
                    <a:p>
                      <a:r>
                        <a:rPr sz="950" i="0">
                          <a:solidFill>
                            <a:srgbClr val="1A2130"/>
                          </a:solidFill>
                          <a:latin typeface="Courier New"/>
                        </a:rPr>
                        <a:t>Dr Settlement Payable           $98.10</a:t>
                      </a:r>
                    </a:p>
                    <a:p>
                      <a:r>
                        <a:rPr sz="950" i="0">
                          <a:solidFill>
                            <a:srgbClr val="1A2130"/>
                          </a:solidFill>
                          <a:latin typeface="Courier New"/>
                        </a:rPr>
                        <a:t>Cr Cash                         $98.10</a:t>
                      </a:r>
                    </a:p>
                  </a:txBody>
                  <a:tcPr marL="109728" anchor="ctr">
                    <a:solidFill>
                      <a:srgbClr val="FFFFFF"/>
                    </a:solidFill>
                  </a:tcPr>
                </a:tc>
                <a:tc>
                  <a:txBody>
                    <a:bodyPr/>
                    <a:lstStyle/>
                    <a:p>
                      <a:r>
                        <a:rPr sz="1000">
                          <a:solidFill>
                            <a:srgbClr val="57626B"/>
                          </a:solidFill>
                          <a:latin typeface="Calibri"/>
                        </a:rPr>
                        <a:t>Pure pass-through, same day. The $0.10 fee isn't recognized again here -- it was already booked as revenue when the clearing record posted.</a:t>
                      </a:r>
                    </a:p>
                  </a:txBody>
                  <a:tcPr marL="109728" anchor="ctr">
                    <a:solidFill>
                      <a:srgbClr val="FFFFFF"/>
                    </a:solidFill>
                  </a:tcPr>
                </a:tc>
                <a:extLst>
                  <a:ext uri="{0D108BD9-81ED-4DB2-BD59-A6C34878D82A}">
                    <a16:rowId xmlns:a16="http://schemas.microsoft.com/office/drawing/2014/main" val="10003"/>
                  </a:ext>
                </a:extLst>
              </a:tr>
              <a:tr h="685800">
                <a:tc>
                  <a:txBody>
                    <a:bodyPr/>
                    <a:lstStyle/>
                    <a:p>
                      <a:r>
                        <a:rPr sz="1200" b="1">
                          <a:solidFill>
                            <a:srgbClr val="1A2130"/>
                          </a:solidFill>
                          <a:latin typeface="Cambria"/>
                        </a:rPr>
                        <a:t>Acquirer</a:t>
                      </a:r>
                    </a:p>
                  </a:txBody>
                  <a:tcPr anchor="ctr">
                    <a:solidFill>
                      <a:srgbClr val="FFFFFF"/>
                    </a:solidFill>
                  </a:tcPr>
                </a:tc>
                <a:tc>
                  <a:txBody>
                    <a:bodyPr/>
                    <a:lstStyle/>
                    <a:p>
                      <a:r>
                        <a:rPr sz="950" i="0">
                          <a:solidFill>
                            <a:srgbClr val="1A2130"/>
                          </a:solidFill>
                          <a:latin typeface="Courier New"/>
                        </a:rPr>
                        <a:t>Dr Cash                         $98.10</a:t>
                      </a:r>
                    </a:p>
                    <a:p>
                      <a:r>
                        <a:rPr sz="950" i="0">
                          <a:solidFill>
                            <a:srgbClr val="1A2130"/>
                          </a:solidFill>
                          <a:latin typeface="Courier New"/>
                        </a:rPr>
                        <a:t>Cr Settlement Receivable        $98.10</a:t>
                      </a:r>
                    </a:p>
                  </a:txBody>
                  <a:tcPr marL="109728" anchor="ctr">
                    <a:solidFill>
                      <a:srgbClr val="FFFFFF"/>
                    </a:solidFill>
                  </a:tcPr>
                </a:tc>
                <a:tc>
                  <a:txBody>
                    <a:bodyPr/>
                    <a:lstStyle/>
                    <a:p>
                      <a:r>
                        <a:rPr sz="1000">
                          <a:solidFill>
                            <a:srgbClr val="57626B"/>
                          </a:solidFill>
                          <a:latin typeface="Calibri"/>
                        </a:rPr>
                        <a:t>Clears the receivable booked at clearing; cash lands in its account.</a:t>
                      </a:r>
                    </a:p>
                  </a:txBody>
                  <a:tcPr marL="109728" anchor="ctr">
                    <a:solidFill>
                      <a:srgbClr val="FFFFFF"/>
                    </a:solidFill>
                  </a:tcPr>
                </a:tc>
                <a:extLst>
                  <a:ext uri="{0D108BD9-81ED-4DB2-BD59-A6C34878D82A}">
                    <a16:rowId xmlns:a16="http://schemas.microsoft.com/office/drawing/2014/main" val="10004"/>
                  </a:ext>
                </a:extLst>
              </a:tr>
              <a:tr h="502920">
                <a:tc>
                  <a:txBody>
                    <a:bodyPr/>
                    <a:lstStyle/>
                    <a:p>
                      <a:r>
                        <a:rPr sz="1200" b="1">
                          <a:solidFill>
                            <a:srgbClr val="1A2130"/>
                          </a:solidFill>
                          <a:latin typeface="Cambria"/>
                        </a:rPr>
                        <a:t>Payment System</a:t>
                      </a:r>
                    </a:p>
                  </a:txBody>
                  <a:tcPr anchor="ctr">
                    <a:solidFill>
                      <a:srgbClr val="FFFFFF"/>
                    </a:solidFill>
                  </a:tcPr>
                </a:tc>
                <a:tc>
                  <a:txBody>
                    <a:bodyPr/>
                    <a:lstStyle/>
                    <a:p>
                      <a:r>
                        <a:rPr sz="950" i="1">
                          <a:solidFill>
                            <a:srgbClr val="8A9298"/>
                          </a:solidFill>
                          <a:latin typeface="Courier New"/>
                        </a:rPr>
                        <a:t>-- none yet --</a:t>
                      </a:r>
                    </a:p>
                  </a:txBody>
                  <a:tcPr marL="109728" anchor="ctr">
                    <a:solidFill>
                      <a:srgbClr val="FFFFFF"/>
                    </a:solidFill>
                  </a:tcPr>
                </a:tc>
                <a:tc>
                  <a:txBody>
                    <a:bodyPr/>
                    <a:lstStyle/>
                    <a:p>
                      <a:r>
                        <a:rPr sz="1000">
                          <a:solidFill>
                            <a:srgbClr val="57626B"/>
                          </a:solidFill>
                          <a:latin typeface="Calibri"/>
                        </a:rPr>
                        <a:t>Gets nothing until the acquirer forwards its share in the next leg.</a:t>
                      </a:r>
                    </a:p>
                  </a:txBody>
                  <a:tcPr marL="109728" anchor="ctr">
                    <a:solidFill>
                      <a:srgbClr val="FFFFFF"/>
                    </a:solidFill>
                  </a:tcPr>
                </a:tc>
                <a:extLst>
                  <a:ext uri="{0D108BD9-81ED-4DB2-BD59-A6C34878D82A}">
                    <a16:rowId xmlns:a16="http://schemas.microsoft.com/office/drawing/2014/main" val="10005"/>
                  </a:ext>
                </a:extLst>
              </a:tr>
              <a:tr h="502920">
                <a:tc>
                  <a:txBody>
                    <a:bodyPr/>
                    <a:lstStyle/>
                    <a:p>
                      <a:r>
                        <a:rPr sz="1200" b="1">
                          <a:solidFill>
                            <a:srgbClr val="1A2130"/>
                          </a:solidFill>
                          <a:latin typeface="Cambria"/>
                        </a:rPr>
                        <a:t>Merchant</a:t>
                      </a:r>
                    </a:p>
                  </a:txBody>
                  <a:tcPr anchor="ctr">
                    <a:solidFill>
                      <a:srgbClr val="FFFFFF"/>
                    </a:solidFill>
                  </a:tcPr>
                </a:tc>
                <a:tc>
                  <a:txBody>
                    <a:bodyPr/>
                    <a:lstStyle/>
                    <a:p>
                      <a:r>
                        <a:rPr sz="950" i="1">
                          <a:solidFill>
                            <a:srgbClr val="8A9298"/>
                          </a:solidFill>
                          <a:latin typeface="Courier New"/>
                        </a:rPr>
                        <a:t>-- none yet --</a:t>
                      </a:r>
                    </a:p>
                  </a:txBody>
                  <a:tcPr marL="109728" anchor="ctr">
                    <a:solidFill>
                      <a:srgbClr val="FFFFFF"/>
                    </a:solidFill>
                  </a:tcPr>
                </a:tc>
                <a:tc>
                  <a:txBody>
                    <a:bodyPr/>
                    <a:lstStyle/>
                    <a:p>
                      <a:r>
                        <a:rPr sz="1000">
                          <a:solidFill>
                            <a:srgbClr val="57626B"/>
                          </a:solidFill>
                          <a:latin typeface="Calibri"/>
                        </a:rPr>
                        <a:t>Two hops downstream -- paid only after acquirer -&gt; payment system -&gt; merchant.</a:t>
                      </a:r>
                    </a:p>
                  </a:txBody>
                  <a:tcPr marL="109728" anchor="ct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48640" y="5833872"/>
            <a:ext cx="11091672" cy="640080"/>
          </a:xfrm>
          <a:prstGeom prst="rect">
            <a:avLst/>
          </a:prstGeom>
          <a:noFill/>
        </p:spPr>
        <p:txBody>
          <a:bodyPr wrap="square" lIns="0" tIns="0" rIns="0" bIns="0" anchor="t">
            <a:spAutoFit/>
          </a:bodyPr>
          <a:lstStyle/>
          <a:p>
            <a:pPr algn="l">
              <a:lnSpc>
                <a:spcPct val="130000"/>
              </a:lnSpc>
            </a:pPr>
            <a:r>
              <a:rPr sz="1150" b="0" i="1">
                <a:solidFill>
                  <a:srgbClr val="57626B"/>
                </a:solidFill>
                <a:latin typeface="Calibri"/>
              </a:rPr>
              <a:t>The pattern to remember: cash-settlement entries are just liability/receivable clearing entries -- Dr the payable to zero it out, Cr cash going out (or the reverse for a receivable coming in). No revenue or expense touches the P&amp;L a second time; only the timing of the cash differs from the timing of the accrual.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08</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Settlement timeline -- from swipe to funded</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The dashed segment is still a promise. Once the line turns solid, real money is in motion.</a:t>
            </a:r>
          </a:p>
        </p:txBody>
      </p:sp>
      <p:cxnSp>
        <p:nvCxnSpPr>
          <p:cNvPr id="5" name="Connector 4"/>
          <p:cNvCxnSpPr/>
          <p:nvPr/>
        </p:nvCxnSpPr>
        <p:spPr>
          <a:xfrm>
            <a:off x="822960" y="2514600"/>
            <a:ext cx="2108606" cy="0"/>
          </a:xfrm>
          <a:prstGeom prst="line">
            <a:avLst/>
          </a:prstGeom>
          <a:ln w="22225">
            <a:solidFill>
              <a:srgbClr val="8A929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931566" y="2514600"/>
            <a:ext cx="8437169" cy="0"/>
          </a:xfrm>
          <a:prstGeom prst="line">
            <a:avLst/>
          </a:prstGeom>
          <a:ln w="28575">
            <a:solidFill>
              <a:srgbClr val="1A2130"/>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40664" y="2432304"/>
            <a:ext cx="164592" cy="164592"/>
          </a:xfrm>
          <a:prstGeom prst="ellipse">
            <a:avLst/>
          </a:prstGeom>
          <a:solidFill>
            <a:srgbClr val="FFFFFF"/>
          </a:solidFill>
          <a:ln w="19050">
            <a:solidFill>
              <a:srgbClr val="8A9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849270" y="2432304"/>
            <a:ext cx="164592" cy="164592"/>
          </a:xfrm>
          <a:prstGeom prst="ellipse">
            <a:avLst/>
          </a:prstGeom>
          <a:solidFill>
            <a:srgbClr val="FFFFFF"/>
          </a:solidFill>
          <a:ln w="19050">
            <a:solidFill>
              <a:srgbClr val="8A92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49647" y="2423160"/>
            <a:ext cx="182880" cy="182880"/>
          </a:xfrm>
          <a:prstGeom prst="ellipse">
            <a:avLst/>
          </a:prstGeom>
          <a:solidFill>
            <a:srgbClr val="1A2130"/>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059168" y="2423160"/>
            <a:ext cx="182880" cy="182880"/>
          </a:xfrm>
          <a:prstGeom prst="ellipse">
            <a:avLst/>
          </a:prstGeom>
          <a:solidFill>
            <a:srgbClr val="1A2130"/>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68688" y="2423160"/>
            <a:ext cx="182880" cy="182880"/>
          </a:xfrm>
          <a:prstGeom prst="ellipse">
            <a:avLst/>
          </a:prstGeom>
          <a:solidFill>
            <a:srgbClr val="1A2130"/>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277295" y="2423160"/>
            <a:ext cx="182880" cy="182880"/>
          </a:xfrm>
          <a:prstGeom prst="ellipse">
            <a:avLst/>
          </a:prstGeom>
          <a:solidFill>
            <a:srgbClr val="0E7C66"/>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0</a:t>
            </a:r>
          </a:p>
        </p:txBody>
      </p:sp>
      <p:sp>
        <p:nvSpPr>
          <p:cNvPr id="14" name="TextBox 13"/>
          <p:cNvSpPr txBox="1"/>
          <p:nvPr/>
        </p:nvSpPr>
        <p:spPr>
          <a:xfrm>
            <a:off x="-137160"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Point of sale</a:t>
            </a:r>
          </a:p>
        </p:txBody>
      </p:sp>
      <p:sp>
        <p:nvSpPr>
          <p:cNvPr id="15" name="TextBox 14"/>
          <p:cNvSpPr txBox="1"/>
          <p:nvPr/>
        </p:nvSpPr>
        <p:spPr>
          <a:xfrm>
            <a:off x="-137160"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Auth hold placed (memo)</a:t>
            </a:r>
          </a:p>
        </p:txBody>
      </p:sp>
      <p:sp>
        <p:nvSpPr>
          <p:cNvPr id="16" name="TextBox 15"/>
          <p:cNvSpPr txBox="1"/>
          <p:nvPr/>
        </p:nvSpPr>
        <p:spPr>
          <a:xfrm>
            <a:off x="1971446"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0 . EOD</a:t>
            </a:r>
          </a:p>
        </p:txBody>
      </p:sp>
      <p:sp>
        <p:nvSpPr>
          <p:cNvPr id="17" name="TextBox 16"/>
          <p:cNvSpPr txBox="1"/>
          <p:nvPr/>
        </p:nvSpPr>
        <p:spPr>
          <a:xfrm>
            <a:off x="1971446"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Batch closed</a:t>
            </a:r>
          </a:p>
        </p:txBody>
      </p:sp>
      <p:sp>
        <p:nvSpPr>
          <p:cNvPr id="18" name="TextBox 17"/>
          <p:cNvSpPr txBox="1"/>
          <p:nvPr/>
        </p:nvSpPr>
        <p:spPr>
          <a:xfrm>
            <a:off x="1971446"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Clearing file sent to acquirer</a:t>
            </a:r>
          </a:p>
        </p:txBody>
      </p:sp>
      <p:sp>
        <p:nvSpPr>
          <p:cNvPr id="19" name="TextBox 18"/>
          <p:cNvSpPr txBox="1"/>
          <p:nvPr/>
        </p:nvSpPr>
        <p:spPr>
          <a:xfrm>
            <a:off x="4080967"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0-1</a:t>
            </a:r>
          </a:p>
        </p:txBody>
      </p:sp>
      <p:sp>
        <p:nvSpPr>
          <p:cNvPr id="20" name="TextBox 19"/>
          <p:cNvSpPr txBox="1"/>
          <p:nvPr/>
        </p:nvSpPr>
        <p:spPr>
          <a:xfrm>
            <a:off x="4080967"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Clearing forwarded</a:t>
            </a:r>
          </a:p>
        </p:txBody>
      </p:sp>
      <p:sp>
        <p:nvSpPr>
          <p:cNvPr id="21" name="TextBox 20"/>
          <p:cNvSpPr txBox="1"/>
          <p:nvPr/>
        </p:nvSpPr>
        <p:spPr>
          <a:xfrm>
            <a:off x="4080967"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Issuer posts &amp; books interchange</a:t>
            </a:r>
          </a:p>
        </p:txBody>
      </p:sp>
      <p:sp>
        <p:nvSpPr>
          <p:cNvPr id="22" name="TextBox 21"/>
          <p:cNvSpPr txBox="1"/>
          <p:nvPr/>
        </p:nvSpPr>
        <p:spPr>
          <a:xfrm>
            <a:off x="6190488"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1</a:t>
            </a:r>
          </a:p>
        </p:txBody>
      </p:sp>
      <p:sp>
        <p:nvSpPr>
          <p:cNvPr id="23" name="TextBox 22"/>
          <p:cNvSpPr txBox="1"/>
          <p:nvPr/>
        </p:nvSpPr>
        <p:spPr>
          <a:xfrm>
            <a:off x="6190488"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Settlement day</a:t>
            </a:r>
          </a:p>
        </p:txBody>
      </p:sp>
      <p:sp>
        <p:nvSpPr>
          <p:cNvPr id="24" name="TextBox 23"/>
          <p:cNvSpPr txBox="1"/>
          <p:nvPr/>
        </p:nvSpPr>
        <p:spPr>
          <a:xfrm>
            <a:off x="6190488"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Network moves funds issuer to acquirer</a:t>
            </a:r>
          </a:p>
        </p:txBody>
      </p:sp>
      <p:sp>
        <p:nvSpPr>
          <p:cNvPr id="25" name="TextBox 24"/>
          <p:cNvSpPr txBox="1"/>
          <p:nvPr/>
        </p:nvSpPr>
        <p:spPr>
          <a:xfrm>
            <a:off x="8300008"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1-2</a:t>
            </a:r>
          </a:p>
        </p:txBody>
      </p:sp>
      <p:sp>
        <p:nvSpPr>
          <p:cNvPr id="26" name="TextBox 25"/>
          <p:cNvSpPr txBox="1"/>
          <p:nvPr/>
        </p:nvSpPr>
        <p:spPr>
          <a:xfrm>
            <a:off x="8300008"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Acquirer funded</a:t>
            </a:r>
          </a:p>
        </p:txBody>
      </p:sp>
      <p:sp>
        <p:nvSpPr>
          <p:cNvPr id="27" name="TextBox 26"/>
          <p:cNvSpPr txBox="1"/>
          <p:nvPr/>
        </p:nvSpPr>
        <p:spPr>
          <a:xfrm>
            <a:off x="8300008"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Deducts fee, forwards via payment system</a:t>
            </a:r>
          </a:p>
        </p:txBody>
      </p:sp>
      <p:sp>
        <p:nvSpPr>
          <p:cNvPr id="28" name="TextBox 27"/>
          <p:cNvSpPr txBox="1"/>
          <p:nvPr/>
        </p:nvSpPr>
        <p:spPr>
          <a:xfrm>
            <a:off x="10408615" y="1965960"/>
            <a:ext cx="1920240" cy="274320"/>
          </a:xfrm>
          <a:prstGeom prst="rect">
            <a:avLst/>
          </a:prstGeom>
          <a:noFill/>
        </p:spPr>
        <p:txBody>
          <a:bodyPr wrap="square" lIns="0" tIns="0" rIns="0" bIns="0" anchor="t">
            <a:spAutoFit/>
          </a:bodyPr>
          <a:lstStyle/>
          <a:p>
            <a:pPr algn="ctr"/>
            <a:r>
              <a:rPr sz="1100" b="1" i="0">
                <a:solidFill>
                  <a:srgbClr val="1A2130"/>
                </a:solidFill>
                <a:latin typeface="Courier New"/>
              </a:rPr>
              <a:t>DAY 2-3</a:t>
            </a:r>
          </a:p>
        </p:txBody>
      </p:sp>
      <p:sp>
        <p:nvSpPr>
          <p:cNvPr id="29" name="TextBox 28"/>
          <p:cNvSpPr txBox="1"/>
          <p:nvPr/>
        </p:nvSpPr>
        <p:spPr>
          <a:xfrm>
            <a:off x="10408615" y="2880360"/>
            <a:ext cx="1920240" cy="274320"/>
          </a:xfrm>
          <a:prstGeom prst="rect">
            <a:avLst/>
          </a:prstGeom>
          <a:noFill/>
        </p:spPr>
        <p:txBody>
          <a:bodyPr wrap="square" lIns="0" tIns="0" rIns="0" bIns="0" anchor="t">
            <a:spAutoFit/>
          </a:bodyPr>
          <a:lstStyle/>
          <a:p>
            <a:pPr algn="ctr"/>
            <a:r>
              <a:rPr sz="1200" b="1" i="0">
                <a:solidFill>
                  <a:srgbClr val="1A2130"/>
                </a:solidFill>
                <a:latin typeface="Calibri"/>
              </a:rPr>
              <a:t>Merchant funded</a:t>
            </a:r>
          </a:p>
        </p:txBody>
      </p:sp>
      <p:sp>
        <p:nvSpPr>
          <p:cNvPr id="30" name="TextBox 29"/>
          <p:cNvSpPr txBox="1"/>
          <p:nvPr/>
        </p:nvSpPr>
        <p:spPr>
          <a:xfrm>
            <a:off x="10408615" y="3200400"/>
            <a:ext cx="1920240" cy="640080"/>
          </a:xfrm>
          <a:prstGeom prst="rect">
            <a:avLst/>
          </a:prstGeom>
          <a:noFill/>
        </p:spPr>
        <p:txBody>
          <a:bodyPr wrap="square" lIns="0" tIns="0" rIns="0" bIns="0" anchor="t">
            <a:spAutoFit/>
          </a:bodyPr>
          <a:lstStyle/>
          <a:p>
            <a:pPr algn="ctr">
              <a:lnSpc>
                <a:spcPct val="115000"/>
              </a:lnSpc>
            </a:pPr>
            <a:r>
              <a:rPr sz="950" b="0" i="0">
                <a:solidFill>
                  <a:srgbClr val="57626B"/>
                </a:solidFill>
                <a:latin typeface="Calibri"/>
              </a:rPr>
              <a:t>Bank account credited</a:t>
            </a:r>
          </a:p>
        </p:txBody>
      </p:sp>
      <p:sp>
        <p:nvSpPr>
          <p:cNvPr id="31" name="TextBox 30"/>
          <p:cNvSpPr txBox="1"/>
          <p:nvPr/>
        </p:nvSpPr>
        <p:spPr>
          <a:xfrm>
            <a:off x="640080" y="5852160"/>
            <a:ext cx="10908792" cy="457200"/>
          </a:xfrm>
          <a:prstGeom prst="rect">
            <a:avLst/>
          </a:prstGeom>
          <a:noFill/>
        </p:spPr>
        <p:txBody>
          <a:bodyPr wrap="square" lIns="0" tIns="0" rIns="0" bIns="0" anchor="t">
            <a:spAutoFit/>
          </a:bodyPr>
          <a:lstStyle/>
          <a:p>
            <a:pPr algn="ctr"/>
            <a:r>
              <a:rPr sz="1150" b="0" i="1">
                <a:solidFill>
                  <a:srgbClr val="8A9298"/>
                </a:solidFill>
                <a:latin typeface="Calibri"/>
              </a:rPr>
              <a:t>Illustrative timing -- actual T+1/T+2/T+3 windows vary by network, acquirer agreement, and country; some processors offer next-day or same-day funding.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09</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Fee glossary — who pays, who receives, and why</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Every fee compensates a specific risk or service. None of them are arbitrary.</a:t>
            </a:r>
          </a:p>
        </p:txBody>
      </p:sp>
      <p:graphicFrame>
        <p:nvGraphicFramePr>
          <p:cNvPr id="5" name="Table 4"/>
          <p:cNvGraphicFramePr>
            <a:graphicFrameLocks noGrp="1"/>
          </p:cNvGraphicFramePr>
          <p:nvPr/>
        </p:nvGraphicFramePr>
        <p:xfrm>
          <a:off x="640080" y="1508760"/>
          <a:ext cx="10908791" cy="48920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56231">
                  <a:extLst>
                    <a:ext uri="{9D8B030D-6E8A-4147-A177-3AD203B41FA5}">
                      <a16:colId xmlns:a16="http://schemas.microsoft.com/office/drawing/2014/main" val="20003"/>
                    </a:ext>
                  </a:extLst>
                </a:gridCol>
              </a:tblGrid>
              <a:tr h="411480">
                <a:tc>
                  <a:txBody>
                    <a:bodyPr/>
                    <a:lstStyle/>
                    <a:p>
                      <a:r>
                        <a:rPr sz="1050" b="1">
                          <a:solidFill>
                            <a:srgbClr val="FFFFFF"/>
                          </a:solidFill>
                          <a:latin typeface="Courier New"/>
                        </a:rPr>
                        <a:t>Fee</a:t>
                      </a:r>
                    </a:p>
                  </a:txBody>
                  <a:tcPr marL="109728" anchor="ctr">
                    <a:solidFill>
                      <a:srgbClr val="1A2130"/>
                    </a:solidFill>
                  </a:tcPr>
                </a:tc>
                <a:tc>
                  <a:txBody>
                    <a:bodyPr/>
                    <a:lstStyle/>
                    <a:p>
                      <a:r>
                        <a:rPr sz="1050" b="1">
                          <a:solidFill>
                            <a:srgbClr val="FFFFFF"/>
                          </a:solidFill>
                          <a:latin typeface="Courier New"/>
                        </a:rPr>
                        <a:t>Compensates the receiver for</a:t>
                      </a:r>
                    </a:p>
                  </a:txBody>
                  <a:tcPr marL="109728" anchor="ctr">
                    <a:solidFill>
                      <a:srgbClr val="1A2130"/>
                    </a:solidFill>
                  </a:tcPr>
                </a:tc>
                <a:tc>
                  <a:txBody>
                    <a:bodyPr/>
                    <a:lstStyle/>
                    <a:p>
                      <a:r>
                        <a:rPr sz="1050" b="1">
                          <a:solidFill>
                            <a:srgbClr val="FFFFFF"/>
                          </a:solidFill>
                          <a:latin typeface="Courier New"/>
                        </a:rPr>
                        <a:t>Paid by</a:t>
                      </a:r>
                    </a:p>
                  </a:txBody>
                  <a:tcPr marL="109728" anchor="ctr">
                    <a:solidFill>
                      <a:srgbClr val="1A2130"/>
                    </a:solidFill>
                  </a:tcPr>
                </a:tc>
                <a:tc>
                  <a:txBody>
                    <a:bodyPr/>
                    <a:lstStyle/>
                    <a:p>
                      <a:r>
                        <a:rPr sz="1050" b="1">
                          <a:solidFill>
                            <a:srgbClr val="FFFFFF"/>
                          </a:solidFill>
                          <a:latin typeface="Courier New"/>
                        </a:rPr>
                        <a:t>Received by</a:t>
                      </a:r>
                    </a:p>
                  </a:txBody>
                  <a:tcPr marL="109728" anchor="ctr">
                    <a:solidFill>
                      <a:srgbClr val="1A2130"/>
                    </a:solidFill>
                  </a:tcPr>
                </a:tc>
                <a:extLst>
                  <a:ext uri="{0D108BD9-81ED-4DB2-BD59-A6C34878D82A}">
                    <a16:rowId xmlns:a16="http://schemas.microsoft.com/office/drawing/2014/main" val="10000"/>
                  </a:ext>
                </a:extLst>
              </a:tr>
              <a:tr h="896112">
                <a:tc>
                  <a:txBody>
                    <a:bodyPr/>
                    <a:lstStyle/>
                    <a:p>
                      <a:r>
                        <a:rPr sz="1300" b="1">
                          <a:solidFill>
                            <a:srgbClr val="1A2130"/>
                          </a:solidFill>
                          <a:latin typeface="Cambria"/>
                        </a:rPr>
                        <a:t>Interchange</a:t>
                      </a:r>
                    </a:p>
                  </a:txBody>
                  <a:tcPr marL="109728" anchor="ctr">
                    <a:solidFill>
                      <a:srgbClr val="FFFFFF"/>
                    </a:solidFill>
                  </a:tcPr>
                </a:tc>
                <a:tc>
                  <a:txBody>
                    <a:bodyPr/>
                    <a:lstStyle/>
                    <a:p>
                      <a:r>
                        <a:rPr sz="1100">
                          <a:solidFill>
                            <a:srgbClr val="57626B"/>
                          </a:solidFill>
                          <a:latin typeface="Calibri"/>
                        </a:rPr>
                        <a:t>Credit risk, fraud risk, funding the float, and operating the card program.</a:t>
                      </a:r>
                    </a:p>
                  </a:txBody>
                  <a:tcPr marL="109728" marR="109728" anchor="ctr">
                    <a:solidFill>
                      <a:srgbClr val="FFFFFF"/>
                    </a:solidFill>
                  </a:tcPr>
                </a:tc>
                <a:tc>
                  <a:txBody>
                    <a:bodyPr/>
                    <a:lstStyle/>
                    <a:p>
                      <a:r>
                        <a:rPr sz="1000">
                          <a:solidFill>
                            <a:srgbClr val="57626B"/>
                          </a:solidFill>
                          <a:latin typeface="Courier New"/>
                        </a:rPr>
                        <a:t>Acquirer (via MDR)</a:t>
                      </a:r>
                    </a:p>
                  </a:txBody>
                  <a:tcPr anchor="ctr">
                    <a:solidFill>
                      <a:srgbClr val="FFFFFF"/>
                    </a:solidFill>
                  </a:tcPr>
                </a:tc>
                <a:tc>
                  <a:txBody>
                    <a:bodyPr/>
                    <a:lstStyle/>
                    <a:p>
                      <a:r>
                        <a:rPr sz="1000">
                          <a:solidFill>
                            <a:srgbClr val="57626B"/>
                          </a:solidFill>
                          <a:latin typeface="Courier New"/>
                        </a:rPr>
                        <a:t>Issuer</a:t>
                      </a:r>
                    </a:p>
                  </a:txBody>
                  <a:tcPr anchor="ctr">
                    <a:solidFill>
                      <a:srgbClr val="FFFFFF"/>
                    </a:solidFill>
                  </a:tcPr>
                </a:tc>
                <a:extLst>
                  <a:ext uri="{0D108BD9-81ED-4DB2-BD59-A6C34878D82A}">
                    <a16:rowId xmlns:a16="http://schemas.microsoft.com/office/drawing/2014/main" val="10001"/>
                  </a:ext>
                </a:extLst>
              </a:tr>
              <a:tr h="896112">
                <a:tc>
                  <a:txBody>
                    <a:bodyPr/>
                    <a:lstStyle/>
                    <a:p>
                      <a:r>
                        <a:rPr sz="1300" b="1">
                          <a:solidFill>
                            <a:srgbClr val="1A2130"/>
                          </a:solidFill>
                          <a:latin typeface="Cambria"/>
                        </a:rPr>
                        <a:t>Network fees</a:t>
                      </a:r>
                    </a:p>
                  </a:txBody>
                  <a:tcPr marL="109728" anchor="ctr">
                    <a:solidFill>
                      <a:srgbClr val="FFFFFF"/>
                    </a:solidFill>
                  </a:tcPr>
                </a:tc>
                <a:tc>
                  <a:txBody>
                    <a:bodyPr/>
                    <a:lstStyle/>
                    <a:p>
                      <a:r>
                        <a:rPr sz="1100">
                          <a:solidFill>
                            <a:srgbClr val="57626B"/>
                          </a:solidFill>
                          <a:latin typeface="Calibri"/>
                        </a:rPr>
                        <a:t>Access to the global payment rails — assessment, network access, cross-border, tokenization, fraud monitoring.</a:t>
                      </a:r>
                    </a:p>
                  </a:txBody>
                  <a:tcPr marL="109728" marR="109728" anchor="ctr">
                    <a:solidFill>
                      <a:srgbClr val="FFFFFF"/>
                    </a:solidFill>
                  </a:tcPr>
                </a:tc>
                <a:tc>
                  <a:txBody>
                    <a:bodyPr/>
                    <a:lstStyle/>
                    <a:p>
                      <a:r>
                        <a:rPr sz="1000">
                          <a:solidFill>
                            <a:srgbClr val="57626B"/>
                          </a:solidFill>
                          <a:latin typeface="Courier New"/>
                        </a:rPr>
                        <a:t>Acquirer &amp; Issuer</a:t>
                      </a:r>
                    </a:p>
                  </a:txBody>
                  <a:tcPr anchor="ctr">
                    <a:solidFill>
                      <a:srgbClr val="FFFFFF"/>
                    </a:solidFill>
                  </a:tcPr>
                </a:tc>
                <a:tc>
                  <a:txBody>
                    <a:bodyPr/>
                    <a:lstStyle/>
                    <a:p>
                      <a:r>
                        <a:rPr sz="1000">
                          <a:solidFill>
                            <a:srgbClr val="57626B"/>
                          </a:solidFill>
                          <a:latin typeface="Courier New"/>
                        </a:rPr>
                        <a:t>Network</a:t>
                      </a:r>
                    </a:p>
                  </a:txBody>
                  <a:tcPr anchor="ctr">
                    <a:solidFill>
                      <a:srgbClr val="FFFFFF"/>
                    </a:solidFill>
                  </a:tcPr>
                </a:tc>
                <a:extLst>
                  <a:ext uri="{0D108BD9-81ED-4DB2-BD59-A6C34878D82A}">
                    <a16:rowId xmlns:a16="http://schemas.microsoft.com/office/drawing/2014/main" val="10002"/>
                  </a:ext>
                </a:extLst>
              </a:tr>
              <a:tr h="896112">
                <a:tc>
                  <a:txBody>
                    <a:bodyPr/>
                    <a:lstStyle/>
                    <a:p>
                      <a:r>
                        <a:rPr sz="1300" b="1">
                          <a:solidFill>
                            <a:srgbClr val="1A2130"/>
                          </a:solidFill>
                          <a:latin typeface="Cambria"/>
                        </a:rPr>
                        <a:t>Acquirer fee</a:t>
                      </a:r>
                    </a:p>
                  </a:txBody>
                  <a:tcPr marL="109728" anchor="ctr">
                    <a:solidFill>
                      <a:srgbClr val="FFFFFF"/>
                    </a:solidFill>
                  </a:tcPr>
                </a:tc>
                <a:tc>
                  <a:txBody>
                    <a:bodyPr/>
                    <a:lstStyle/>
                    <a:p>
                      <a:r>
                        <a:rPr sz="1100">
                          <a:solidFill>
                            <a:srgbClr val="57626B"/>
                          </a:solidFill>
                          <a:latin typeface="Calibri"/>
                        </a:rPr>
                        <a:t>The acquirer's own margin for sponsoring the merchant and moving funds.</a:t>
                      </a:r>
                    </a:p>
                  </a:txBody>
                  <a:tcPr marL="109728" marR="109728" anchor="ctr">
                    <a:solidFill>
                      <a:srgbClr val="FFFFFF"/>
                    </a:solidFill>
                  </a:tcPr>
                </a:tc>
                <a:tc>
                  <a:txBody>
                    <a:bodyPr/>
                    <a:lstStyle/>
                    <a:p>
                      <a:r>
                        <a:rPr sz="1000">
                          <a:solidFill>
                            <a:srgbClr val="57626B"/>
                          </a:solidFill>
                          <a:latin typeface="Courier New"/>
                        </a:rPr>
                        <a:t>Merchant (via MDR)</a:t>
                      </a:r>
                    </a:p>
                  </a:txBody>
                  <a:tcPr anchor="ctr">
                    <a:solidFill>
                      <a:srgbClr val="FFFFFF"/>
                    </a:solidFill>
                  </a:tcPr>
                </a:tc>
                <a:tc>
                  <a:txBody>
                    <a:bodyPr/>
                    <a:lstStyle/>
                    <a:p>
                      <a:r>
                        <a:rPr sz="1000">
                          <a:solidFill>
                            <a:srgbClr val="57626B"/>
                          </a:solidFill>
                          <a:latin typeface="Courier New"/>
                        </a:rPr>
                        <a:t>Acquirer</a:t>
                      </a:r>
                    </a:p>
                  </a:txBody>
                  <a:tcPr anchor="ctr">
                    <a:solidFill>
                      <a:srgbClr val="FFFFFF"/>
                    </a:solidFill>
                  </a:tcPr>
                </a:tc>
                <a:extLst>
                  <a:ext uri="{0D108BD9-81ED-4DB2-BD59-A6C34878D82A}">
                    <a16:rowId xmlns:a16="http://schemas.microsoft.com/office/drawing/2014/main" val="10003"/>
                  </a:ext>
                </a:extLst>
              </a:tr>
              <a:tr h="896112">
                <a:tc>
                  <a:txBody>
                    <a:bodyPr/>
                    <a:lstStyle/>
                    <a:p>
                      <a:r>
                        <a:rPr sz="1300" b="1">
                          <a:solidFill>
                            <a:srgbClr val="1A2130"/>
                          </a:solidFill>
                          <a:latin typeface="Cambria"/>
                        </a:rPr>
                        <a:t>Payment system fee</a:t>
                      </a:r>
                    </a:p>
                  </a:txBody>
                  <a:tcPr marL="109728" anchor="ctr">
                    <a:solidFill>
                      <a:srgbClr val="FFFFFF"/>
                    </a:solidFill>
                  </a:tcPr>
                </a:tc>
                <a:tc>
                  <a:txBody>
                    <a:bodyPr/>
                    <a:lstStyle/>
                    <a:p>
                      <a:r>
                        <a:rPr sz="1100">
                          <a:solidFill>
                            <a:srgbClr val="57626B"/>
                          </a:solidFill>
                          <a:latin typeface="Calibri"/>
                        </a:rPr>
                        <a:t>The gateway / processing layer run by PayPal, Stripe, or Square.</a:t>
                      </a:r>
                    </a:p>
                  </a:txBody>
                  <a:tcPr marL="109728" marR="109728" anchor="ctr">
                    <a:solidFill>
                      <a:srgbClr val="FFFFFF"/>
                    </a:solidFill>
                  </a:tcPr>
                </a:tc>
                <a:tc>
                  <a:txBody>
                    <a:bodyPr/>
                    <a:lstStyle/>
                    <a:p>
                      <a:r>
                        <a:rPr sz="1000">
                          <a:solidFill>
                            <a:srgbClr val="57626B"/>
                          </a:solidFill>
                          <a:latin typeface="Courier New"/>
                        </a:rPr>
                        <a:t>Merchant (via MDR)</a:t>
                      </a:r>
                    </a:p>
                  </a:txBody>
                  <a:tcPr anchor="ctr">
                    <a:solidFill>
                      <a:srgbClr val="FFFFFF"/>
                    </a:solidFill>
                  </a:tcPr>
                </a:tc>
                <a:tc>
                  <a:txBody>
                    <a:bodyPr/>
                    <a:lstStyle/>
                    <a:p>
                      <a:r>
                        <a:rPr sz="1000">
                          <a:solidFill>
                            <a:srgbClr val="57626B"/>
                          </a:solidFill>
                          <a:latin typeface="Courier New"/>
                        </a:rPr>
                        <a:t>Payment system</a:t>
                      </a:r>
                    </a:p>
                  </a:txBody>
                  <a:tcPr anchor="ctr">
                    <a:solidFill>
                      <a:srgbClr val="FFFFFF"/>
                    </a:solidFill>
                  </a:tcPr>
                </a:tc>
                <a:extLst>
                  <a:ext uri="{0D108BD9-81ED-4DB2-BD59-A6C34878D82A}">
                    <a16:rowId xmlns:a16="http://schemas.microsoft.com/office/drawing/2014/main" val="10004"/>
                  </a:ext>
                </a:extLst>
              </a:tr>
              <a:tr h="896112">
                <a:tc>
                  <a:txBody>
                    <a:bodyPr/>
                    <a:lstStyle/>
                    <a:p>
                      <a:r>
                        <a:rPr sz="1300" b="1">
                          <a:solidFill>
                            <a:srgbClr val="1A2130"/>
                          </a:solidFill>
                          <a:latin typeface="Cambria"/>
                        </a:rPr>
                        <a:t>Chargeback reserve</a:t>
                      </a:r>
                    </a:p>
                  </a:txBody>
                  <a:tcPr marL="109728" anchor="ctr">
                    <a:solidFill>
                      <a:srgbClr val="FFFFFF"/>
                    </a:solidFill>
                  </a:tcPr>
                </a:tc>
                <a:tc>
                  <a:txBody>
                    <a:bodyPr/>
                    <a:lstStyle/>
                    <a:p>
                      <a:r>
                        <a:rPr sz="1100">
                          <a:solidFill>
                            <a:srgbClr val="57626B"/>
                          </a:solidFill>
                          <a:latin typeface="Calibri"/>
                        </a:rPr>
                        <a:t>Not a fee to a party — a liability the issuer sets aside for expected dispute losses.</a:t>
                      </a:r>
                    </a:p>
                  </a:txBody>
                  <a:tcPr marL="109728" marR="109728" anchor="ctr">
                    <a:solidFill>
                      <a:srgbClr val="FFFFFF"/>
                    </a:solidFill>
                  </a:tcPr>
                </a:tc>
                <a:tc>
                  <a:txBody>
                    <a:bodyPr/>
                    <a:lstStyle/>
                    <a:p>
                      <a:r>
                        <a:rPr sz="1000">
                          <a:solidFill>
                            <a:srgbClr val="57626B"/>
                          </a:solidFill>
                          <a:latin typeface="Courier New"/>
                        </a:rPr>
                        <a:t>Merchant (on dispute)</a:t>
                      </a:r>
                    </a:p>
                  </a:txBody>
                  <a:tcPr anchor="ctr">
                    <a:solidFill>
                      <a:srgbClr val="FFFFFF"/>
                    </a:solidFill>
                  </a:tcPr>
                </a:tc>
                <a:tc>
                  <a:txBody>
                    <a:bodyPr/>
                    <a:lstStyle/>
                    <a:p>
                      <a:r>
                        <a:rPr sz="1000">
                          <a:solidFill>
                            <a:srgbClr val="57626B"/>
                          </a:solidFill>
                          <a:latin typeface="Courier New"/>
                        </a:rPr>
                        <a:t>Acquirer / Network</a:t>
                      </a:r>
                    </a:p>
                  </a:txBody>
                  <a:tcPr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Oval 1"/>
          <p:cNvSpPr/>
          <p:nvPr/>
        </p:nvSpPr>
        <p:spPr>
          <a:xfrm>
            <a:off x="640080" y="502920"/>
            <a:ext cx="384048" cy="384048"/>
          </a:xfrm>
          <a:prstGeom prst="ellipse">
            <a:avLst/>
          </a:prstGeom>
          <a:solidFill>
            <a:srgbClr val="1A21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ourier New"/>
              </a:rPr>
              <a:t>10</a:t>
            </a:r>
          </a:p>
        </p:txBody>
      </p:sp>
      <p:sp>
        <p:nvSpPr>
          <p:cNvPr id="3" name="TextBox 2"/>
          <p:cNvSpPr txBox="1"/>
          <p:nvPr/>
        </p:nvSpPr>
        <p:spPr>
          <a:xfrm>
            <a:off x="1188720" y="438912"/>
            <a:ext cx="9601200" cy="502920"/>
          </a:xfrm>
          <a:prstGeom prst="rect">
            <a:avLst/>
          </a:prstGeom>
          <a:noFill/>
        </p:spPr>
        <p:txBody>
          <a:bodyPr wrap="square" lIns="0" tIns="0" rIns="0" bIns="0" anchor="t">
            <a:spAutoFit/>
          </a:bodyPr>
          <a:lstStyle/>
          <a:p>
            <a:pPr algn="l"/>
            <a:r>
              <a:rPr sz="2600" b="1" i="0">
                <a:solidFill>
                  <a:srgbClr val="1A2130"/>
                </a:solidFill>
                <a:latin typeface="Cambria"/>
              </a:rPr>
              <a:t>Chargeback flow — when a consumer disputes</a:t>
            </a:r>
          </a:p>
        </p:txBody>
      </p:sp>
      <p:sp>
        <p:nvSpPr>
          <p:cNvPr id="4" name="TextBox 3"/>
          <p:cNvSpPr txBox="1"/>
          <p:nvPr/>
        </p:nvSpPr>
        <p:spPr>
          <a:xfrm>
            <a:off x="1188720" y="914400"/>
            <a:ext cx="10332720" cy="365760"/>
          </a:xfrm>
          <a:prstGeom prst="rect">
            <a:avLst/>
          </a:prstGeom>
          <a:noFill/>
        </p:spPr>
        <p:txBody>
          <a:bodyPr wrap="square" lIns="0" tIns="0" rIns="0" bIns="0" anchor="t">
            <a:spAutoFit/>
          </a:bodyPr>
          <a:lstStyle/>
          <a:p>
            <a:pPr algn="l"/>
            <a:r>
              <a:rPr sz="1250" b="0" i="1">
                <a:solidFill>
                  <a:srgbClr val="57626B"/>
                </a:solidFill>
                <a:latin typeface="Calibri"/>
              </a:rPr>
              <a:t>Fees cascade issuer → network → acquirer → merchant while the issuer books its own reserve.</a:t>
            </a:r>
          </a:p>
        </p:txBody>
      </p:sp>
      <p:cxnSp>
        <p:nvCxnSpPr>
          <p:cNvPr id="5" name="Connector 4"/>
          <p:cNvCxnSpPr/>
          <p:nvPr/>
        </p:nvCxnSpPr>
        <p:spPr>
          <a:xfrm>
            <a:off x="1645920" y="1691640"/>
            <a:ext cx="9509760" cy="0"/>
          </a:xfrm>
          <a:prstGeom prst="line">
            <a:avLst/>
          </a:prstGeom>
          <a:ln w="15875">
            <a:solidFill>
              <a:srgbClr val="D7DCD2"/>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9446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C</a:t>
            </a:r>
          </a:p>
        </p:txBody>
      </p:sp>
      <p:sp>
        <p:nvSpPr>
          <p:cNvPr id="7" name="TextBox 6"/>
          <p:cNvSpPr txBox="1"/>
          <p:nvPr/>
        </p:nvSpPr>
        <p:spPr>
          <a:xfrm>
            <a:off x="64008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Consumer</a:t>
            </a:r>
          </a:p>
        </p:txBody>
      </p:sp>
      <p:sp>
        <p:nvSpPr>
          <p:cNvPr id="8" name="Oval 7"/>
          <p:cNvSpPr/>
          <p:nvPr/>
        </p:nvSpPr>
        <p:spPr>
          <a:xfrm>
            <a:off x="377190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M</a:t>
            </a:r>
          </a:p>
        </p:txBody>
      </p:sp>
      <p:sp>
        <p:nvSpPr>
          <p:cNvPr id="9" name="TextBox 8"/>
          <p:cNvSpPr txBox="1"/>
          <p:nvPr/>
        </p:nvSpPr>
        <p:spPr>
          <a:xfrm>
            <a:off x="301752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Merchant / PSP</a:t>
            </a:r>
          </a:p>
        </p:txBody>
      </p:sp>
      <p:sp>
        <p:nvSpPr>
          <p:cNvPr id="10" name="Oval 9"/>
          <p:cNvSpPr/>
          <p:nvPr/>
        </p:nvSpPr>
        <p:spPr>
          <a:xfrm>
            <a:off x="614934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A</a:t>
            </a:r>
          </a:p>
        </p:txBody>
      </p:sp>
      <p:sp>
        <p:nvSpPr>
          <p:cNvPr id="11" name="TextBox 10"/>
          <p:cNvSpPr txBox="1"/>
          <p:nvPr/>
        </p:nvSpPr>
        <p:spPr>
          <a:xfrm>
            <a:off x="539496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Acquirer</a:t>
            </a:r>
          </a:p>
        </p:txBody>
      </p:sp>
      <p:sp>
        <p:nvSpPr>
          <p:cNvPr id="12" name="Oval 11"/>
          <p:cNvSpPr/>
          <p:nvPr/>
        </p:nvSpPr>
        <p:spPr>
          <a:xfrm>
            <a:off x="8526780"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N</a:t>
            </a:r>
          </a:p>
        </p:txBody>
      </p:sp>
      <p:sp>
        <p:nvSpPr>
          <p:cNvPr id="13" name="TextBox 12"/>
          <p:cNvSpPr txBox="1"/>
          <p:nvPr/>
        </p:nvSpPr>
        <p:spPr>
          <a:xfrm>
            <a:off x="777240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Network</a:t>
            </a:r>
          </a:p>
        </p:txBody>
      </p:sp>
      <p:sp>
        <p:nvSpPr>
          <p:cNvPr id="14" name="Oval 13"/>
          <p:cNvSpPr/>
          <p:nvPr/>
        </p:nvSpPr>
        <p:spPr>
          <a:xfrm>
            <a:off x="10904219" y="1440180"/>
            <a:ext cx="502920" cy="502920"/>
          </a:xfrm>
          <a:prstGeom prst="ellipse">
            <a:avLst/>
          </a:prstGeom>
          <a:solidFill>
            <a:srgbClr val="FFFFFF"/>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A2130"/>
                </a:solidFill>
                <a:latin typeface="Cambria"/>
              </a:rPr>
              <a:t>I</a:t>
            </a:r>
          </a:p>
        </p:txBody>
      </p:sp>
      <p:sp>
        <p:nvSpPr>
          <p:cNvPr id="15" name="TextBox 14"/>
          <p:cNvSpPr txBox="1"/>
          <p:nvPr/>
        </p:nvSpPr>
        <p:spPr>
          <a:xfrm>
            <a:off x="10149840" y="2039112"/>
            <a:ext cx="2011680" cy="274320"/>
          </a:xfrm>
          <a:prstGeom prst="rect">
            <a:avLst/>
          </a:prstGeom>
          <a:noFill/>
        </p:spPr>
        <p:txBody>
          <a:bodyPr wrap="square" lIns="0" tIns="0" rIns="0" bIns="0" anchor="t">
            <a:spAutoFit/>
          </a:bodyPr>
          <a:lstStyle/>
          <a:p>
            <a:pPr algn="ctr"/>
            <a:r>
              <a:rPr sz="1150" b="1" i="0">
                <a:solidFill>
                  <a:srgbClr val="1A2130"/>
                </a:solidFill>
                <a:latin typeface="Calibri"/>
              </a:rPr>
              <a:t>Issuer</a:t>
            </a:r>
          </a:p>
        </p:txBody>
      </p:sp>
      <p:cxnSp>
        <p:nvCxnSpPr>
          <p:cNvPr id="16" name="Connector 15"/>
          <p:cNvCxnSpPr/>
          <p:nvPr/>
        </p:nvCxnSpPr>
        <p:spPr>
          <a:xfrm>
            <a:off x="1645920" y="2697480"/>
            <a:ext cx="9509760" cy="0"/>
          </a:xfrm>
          <a:prstGeom prst="line">
            <a:avLst/>
          </a:prstGeom>
          <a:ln w="19050">
            <a:solidFill>
              <a:srgbClr val="8A92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5920" y="2450592"/>
            <a:ext cx="9509759" cy="274320"/>
          </a:xfrm>
          <a:prstGeom prst="rect">
            <a:avLst/>
          </a:prstGeom>
          <a:noFill/>
        </p:spPr>
        <p:txBody>
          <a:bodyPr wrap="square" lIns="0" tIns="0" rIns="0" bIns="0" anchor="t">
            <a:spAutoFit/>
          </a:bodyPr>
          <a:lstStyle/>
          <a:p>
            <a:pPr algn="ctr"/>
            <a:r>
              <a:rPr sz="1050" b="0" i="0">
                <a:solidFill>
                  <a:srgbClr val="8A9298"/>
                </a:solidFill>
                <a:latin typeface="Courier New"/>
              </a:rPr>
              <a:t>files dispute</a:t>
            </a:r>
          </a:p>
        </p:txBody>
      </p:sp>
      <p:cxnSp>
        <p:nvCxnSpPr>
          <p:cNvPr id="18" name="Connector 17"/>
          <p:cNvCxnSpPr/>
          <p:nvPr/>
        </p:nvCxnSpPr>
        <p:spPr>
          <a:xfrm>
            <a:off x="8778240" y="342900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0" y="3108960"/>
            <a:ext cx="2377439" cy="274320"/>
          </a:xfrm>
          <a:prstGeom prst="rect">
            <a:avLst/>
          </a:prstGeom>
          <a:noFill/>
        </p:spPr>
        <p:txBody>
          <a:bodyPr wrap="square" lIns="0" tIns="0" rIns="0" bIns="0" anchor="t">
            <a:spAutoFit/>
          </a:bodyPr>
          <a:lstStyle/>
          <a:p>
            <a:pPr algn="ctr"/>
            <a:r>
              <a:rPr sz="950" b="0" i="0">
                <a:solidFill>
                  <a:srgbClr val="9A3324"/>
                </a:solidFill>
                <a:latin typeface="Courier New"/>
              </a:rPr>
              <a:t>dispute fee</a:t>
            </a:r>
          </a:p>
        </p:txBody>
      </p:sp>
      <p:cxnSp>
        <p:nvCxnSpPr>
          <p:cNvPr id="20" name="Connector 19"/>
          <p:cNvCxnSpPr/>
          <p:nvPr/>
        </p:nvCxnSpPr>
        <p:spPr>
          <a:xfrm>
            <a:off x="6400800" y="342900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0" y="3108960"/>
            <a:ext cx="2377439" cy="274320"/>
          </a:xfrm>
          <a:prstGeom prst="rect">
            <a:avLst/>
          </a:prstGeom>
          <a:noFill/>
        </p:spPr>
        <p:txBody>
          <a:bodyPr wrap="square" lIns="0" tIns="0" rIns="0" bIns="0" anchor="t">
            <a:spAutoFit/>
          </a:bodyPr>
          <a:lstStyle/>
          <a:p>
            <a:pPr algn="ctr"/>
            <a:r>
              <a:rPr sz="950" b="0" i="0">
                <a:solidFill>
                  <a:srgbClr val="9A3324"/>
                </a:solidFill>
                <a:latin typeface="Courier New"/>
              </a:rPr>
              <a:t>chargeback / representment fee</a:t>
            </a:r>
          </a:p>
        </p:txBody>
      </p:sp>
      <p:cxnSp>
        <p:nvCxnSpPr>
          <p:cNvPr id="22" name="Connector 21"/>
          <p:cNvCxnSpPr/>
          <p:nvPr/>
        </p:nvCxnSpPr>
        <p:spPr>
          <a:xfrm>
            <a:off x="4023360" y="3429000"/>
            <a:ext cx="2377440" cy="0"/>
          </a:xfrm>
          <a:prstGeom prst="line">
            <a:avLst/>
          </a:prstGeom>
          <a:ln w="28575">
            <a:solidFill>
              <a:srgbClr val="9A3324"/>
            </a:solidFill>
            <a:head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023360" y="3108960"/>
            <a:ext cx="2377439" cy="274320"/>
          </a:xfrm>
          <a:prstGeom prst="rect">
            <a:avLst/>
          </a:prstGeom>
          <a:noFill/>
        </p:spPr>
        <p:txBody>
          <a:bodyPr wrap="square" lIns="0" tIns="0" rIns="0" bIns="0" anchor="t">
            <a:spAutoFit/>
          </a:bodyPr>
          <a:lstStyle/>
          <a:p>
            <a:pPr algn="ctr"/>
            <a:r>
              <a:rPr sz="950" b="0" i="0">
                <a:solidFill>
                  <a:srgbClr val="9A3324"/>
                </a:solidFill>
                <a:latin typeface="Courier New"/>
              </a:rPr>
              <a:t>chargeback fee debited</a:t>
            </a:r>
          </a:p>
        </p:txBody>
      </p:sp>
      <p:sp>
        <p:nvSpPr>
          <p:cNvPr id="24" name="Rounded Rectangle 23"/>
          <p:cNvSpPr/>
          <p:nvPr/>
        </p:nvSpPr>
        <p:spPr>
          <a:xfrm>
            <a:off x="10104119" y="4114800"/>
            <a:ext cx="2103120" cy="868680"/>
          </a:xfrm>
          <a:prstGeom prst="roundRect">
            <a:avLst>
              <a:gd name="adj" fmla="val 8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9A3324"/>
                </a:solidFill>
                <a:latin typeface="Courier New"/>
              </a:rPr>
              <a:t>books reserve ↑</a:t>
            </a:r>
          </a:p>
          <a:p>
            <a:pPr algn="ctr"/>
            <a:r>
              <a:rPr sz="1100" b="1">
                <a:solidFill>
                  <a:srgbClr val="9A3324"/>
                </a:solidFill>
                <a:latin typeface="Courier New"/>
              </a:rPr>
              <a:t>+ loss expense ↑</a:t>
            </a:r>
          </a:p>
        </p:txBody>
      </p:sp>
      <p:sp>
        <p:nvSpPr>
          <p:cNvPr id="25" name="Rounded Rectangle 24"/>
          <p:cNvSpPr/>
          <p:nvPr/>
        </p:nvSpPr>
        <p:spPr>
          <a:xfrm>
            <a:off x="2971800" y="4114800"/>
            <a:ext cx="2103120" cy="868680"/>
          </a:xfrm>
          <a:prstGeom prst="roundRect">
            <a:avLst>
              <a:gd name="adj" fmla="val 8000"/>
            </a:avLst>
          </a:prstGeom>
          <a:solidFill>
            <a:srgbClr val="F7E6E0"/>
          </a:solidFill>
          <a:ln w="12700">
            <a:solidFill>
              <a:srgbClr val="9A33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9A3324"/>
                </a:solidFill>
                <a:latin typeface="Courier New"/>
              </a:rPr>
              <a:t>merchant loses revenue</a:t>
            </a:r>
          </a:p>
          <a:p>
            <a:pPr algn="ctr"/>
            <a:r>
              <a:rPr sz="1100" b="1">
                <a:solidFill>
                  <a:srgbClr val="9A3324"/>
                </a:solidFill>
                <a:latin typeface="Courier New"/>
              </a:rPr>
              <a:t>+ pays handling fees</a:t>
            </a:r>
          </a:p>
        </p:txBody>
      </p:sp>
      <p:sp>
        <p:nvSpPr>
          <p:cNvPr id="26" name="TextBox 25"/>
          <p:cNvSpPr txBox="1"/>
          <p:nvPr/>
        </p:nvSpPr>
        <p:spPr>
          <a:xfrm>
            <a:off x="640080" y="5394960"/>
            <a:ext cx="10908792" cy="640080"/>
          </a:xfrm>
          <a:prstGeom prst="rect">
            <a:avLst/>
          </a:prstGeom>
          <a:noFill/>
        </p:spPr>
        <p:txBody>
          <a:bodyPr wrap="square" lIns="0" tIns="0" rIns="0" bIns="0" anchor="t">
            <a:spAutoFit/>
          </a:bodyPr>
          <a:lstStyle/>
          <a:p>
            <a:pPr algn="ctr"/>
            <a:r>
              <a:rPr sz="1300" b="0" i="1">
                <a:solidFill>
                  <a:srgbClr val="57626B"/>
                </a:solidFill>
                <a:latin typeface="Calibri"/>
              </a:rPr>
              <a:t>Chargeback reserves are not a fee to any party — they're a liability the issuer sets aside in anticipation of the losses this whole cascade represents.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1463040" y="777240"/>
            <a:ext cx="9235440" cy="365760"/>
          </a:xfrm>
          <a:prstGeom prst="rect">
            <a:avLst/>
          </a:prstGeom>
          <a:noFill/>
        </p:spPr>
        <p:txBody>
          <a:bodyPr wrap="square" lIns="0" tIns="0" rIns="0" bIns="0" anchor="t">
            <a:spAutoFit/>
          </a:bodyPr>
          <a:lstStyle/>
          <a:p>
            <a:pPr algn="ctr"/>
            <a:r>
              <a:rPr sz="1200" b="1" i="0">
                <a:solidFill>
                  <a:srgbClr val="0E7C66"/>
                </a:solidFill>
                <a:latin typeface="Courier New"/>
              </a:rPr>
              <a:t>EXECUTIVE SUMMARY</a:t>
            </a:r>
          </a:p>
        </p:txBody>
      </p:sp>
      <p:sp>
        <p:nvSpPr>
          <p:cNvPr id="3" name="TextBox 2"/>
          <p:cNvSpPr txBox="1"/>
          <p:nvPr/>
        </p:nvSpPr>
        <p:spPr>
          <a:xfrm>
            <a:off x="1280160" y="1371600"/>
            <a:ext cx="9628632" cy="3566160"/>
          </a:xfrm>
          <a:prstGeom prst="rect">
            <a:avLst/>
          </a:prstGeom>
          <a:noFill/>
        </p:spPr>
        <p:txBody>
          <a:bodyPr wrap="square" lIns="0" tIns="0" rIns="0" bIns="0" anchor="t">
            <a:spAutoFit/>
          </a:bodyPr>
          <a:lstStyle/>
          <a:p>
            <a:pPr algn="ctr">
              <a:lnSpc>
                <a:spcPct val="140000"/>
              </a:lnSpc>
            </a:pPr>
            <a:r>
              <a:rPr sz="1900" b="0" i="1">
                <a:solidFill>
                  <a:srgbClr val="FFFFFF"/>
                </a:solidFill>
                <a:latin typeface="Cambria"/>
              </a:rPr>
              <a:t>“Authorization holds reduce available credit but don’t hit the ledger. Settlement posting is the true financial event — the issuer books a loan receivable and a merchant payable, recognizes interchange revenue, and records network fee expense. The merchant is paid gross minus the merchant discount rate, which bundles interchange to the issuer, the acquirer’s fee, network fees, and the payment system’s fee. Chargeback reserves are liabilities set aside for expected dispute losses. Each fee has a specific purpose, and each party experiences the same transaction differently.”</a:t>
            </a:r>
          </a:p>
        </p:txBody>
      </p:sp>
      <p:sp>
        <p:nvSpPr>
          <p:cNvPr id="4" name="Oval 3"/>
          <p:cNvSpPr/>
          <p:nvPr/>
        </p:nvSpPr>
        <p:spPr>
          <a:xfrm>
            <a:off x="389214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C</a:t>
            </a:r>
          </a:p>
        </p:txBody>
      </p:sp>
      <p:sp>
        <p:nvSpPr>
          <p:cNvPr id="5" name="Oval 4"/>
          <p:cNvSpPr/>
          <p:nvPr/>
        </p:nvSpPr>
        <p:spPr>
          <a:xfrm>
            <a:off x="489798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M</a:t>
            </a:r>
          </a:p>
        </p:txBody>
      </p:sp>
      <p:sp>
        <p:nvSpPr>
          <p:cNvPr id="6" name="Oval 5"/>
          <p:cNvSpPr/>
          <p:nvPr/>
        </p:nvSpPr>
        <p:spPr>
          <a:xfrm>
            <a:off x="590382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A</a:t>
            </a:r>
          </a:p>
        </p:txBody>
      </p:sp>
      <p:sp>
        <p:nvSpPr>
          <p:cNvPr id="7" name="Oval 6"/>
          <p:cNvSpPr/>
          <p:nvPr/>
        </p:nvSpPr>
        <p:spPr>
          <a:xfrm>
            <a:off x="690966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N</a:t>
            </a:r>
          </a:p>
        </p:txBody>
      </p:sp>
      <p:sp>
        <p:nvSpPr>
          <p:cNvPr id="8" name="Oval 7"/>
          <p:cNvSpPr/>
          <p:nvPr/>
        </p:nvSpPr>
        <p:spPr>
          <a:xfrm>
            <a:off x="7915503" y="5157216"/>
            <a:ext cx="384048" cy="384048"/>
          </a:xfrm>
          <a:prstGeom prst="ellipse">
            <a:avLst/>
          </a:prstGeom>
          <a:solidFill>
            <a:srgbClr val="1A2130"/>
          </a:solidFill>
          <a:ln w="15875">
            <a:solidFill>
              <a:srgbClr val="0E7C6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ADCEA"/>
                </a:solidFill>
                <a:latin typeface="Cambria"/>
              </a:rPr>
              <a:t>I</a:t>
            </a:r>
          </a:p>
        </p:txBody>
      </p:sp>
      <p:sp>
        <p:nvSpPr>
          <p:cNvPr id="9" name="TextBox 8"/>
          <p:cNvSpPr txBox="1"/>
          <p:nvPr/>
        </p:nvSpPr>
        <p:spPr>
          <a:xfrm>
            <a:off x="914400" y="5989320"/>
            <a:ext cx="10360152" cy="320040"/>
          </a:xfrm>
          <a:prstGeom prst="rect">
            <a:avLst/>
          </a:prstGeom>
          <a:noFill/>
        </p:spPr>
        <p:txBody>
          <a:bodyPr wrap="square" lIns="0" tIns="0" rIns="0" bIns="0" anchor="t">
            <a:spAutoFit/>
          </a:bodyPr>
          <a:lstStyle/>
          <a:p>
            <a:pPr algn="ctr"/>
            <a:r>
              <a:rPr sz="1150" b="0" i="1">
                <a:solidFill>
                  <a:srgbClr val="8A9298"/>
                </a:solidFill>
                <a:latin typeface="Calibri"/>
              </a:rPr>
              <a:t>— verbal summary, ready to deliver in ~40 seconds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1874</Words>
  <Application>Microsoft Office PowerPoint</Application>
  <PresentationFormat>Widescreen</PresentationFormat>
  <Paragraphs>333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 Franco</dc:creator>
  <cp:keywords/>
  <dc:description>generated using python-pptx</dc:description>
  <cp:lastModifiedBy>Al Franco</cp:lastModifiedBy>
  <cp:revision>1</cp:revision>
  <dcterms:created xsi:type="dcterms:W3CDTF">2013-01-27T09:14:16Z</dcterms:created>
  <dcterms:modified xsi:type="dcterms:W3CDTF">2026-09-15T17:53:02Z</dcterms:modified>
  <cp:category/>
</cp:coreProperties>
</file>