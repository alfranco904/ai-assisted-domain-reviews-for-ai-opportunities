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200" b="1">
                <a:solidFill>
                  <a:srgbClr val="1A2130"/>
                </a:solidFill>
                <a:latin typeface="Calibri"/>
              </a:rPr>
              <a:t>Days past due: weekly DQ score vs threshold (illustrative)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DPD score %</c:v>
                </c:pt>
              </c:strCache>
            </c:strRef>
          </c:tx>
          <c:spPr>
            <a:ln w="28575">
              <a:solidFill>
                <a:srgbClr val="1A2130"/>
              </a:solidFill>
            </a:ln>
          </c:spPr>
          <c:marker>
            <c:spPr>
              <a:solidFill>
                <a:srgbClr val="1A2130"/>
              </a:solidFill>
              <a:ln>
                <a:solidFill>
                  <a:srgbClr val="1A2130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99.2</c:v>
                </c:pt>
                <c:pt idx="1">
                  <c:v>99.4</c:v>
                </c:pt>
                <c:pt idx="2">
                  <c:v>99.1</c:v>
                </c:pt>
                <c:pt idx="3">
                  <c:v>97.8</c:v>
                </c:pt>
                <c:pt idx="4">
                  <c:v>98.6</c:v>
                </c:pt>
                <c:pt idx="5">
                  <c:v>99.5</c:v>
                </c:pt>
                <c:pt idx="6">
                  <c:v>99.7</c:v>
                </c:pt>
                <c:pt idx="7">
                  <c:v>99.8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7-46AA-AE2D-F901924F61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Threshold %</c:v>
                </c:pt>
              </c:strCache>
            </c:strRef>
          </c:tx>
          <c:spPr>
            <a:ln w="19050">
              <a:solidFill>
                <a:srgbClr val="9A3324"/>
              </a:solidFill>
              <a:prstDash val="dash"/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  <c:pt idx="7">
                  <c:v>Wk 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99.5</c:v>
                </c:pt>
                <c:pt idx="1">
                  <c:v>99.5</c:v>
                </c:pt>
                <c:pt idx="2">
                  <c:v>99.5</c:v>
                </c:pt>
                <c:pt idx="3">
                  <c:v>99.5</c:v>
                </c:pt>
                <c:pt idx="4">
                  <c:v>99.5</c:v>
                </c:pt>
                <c:pt idx="5">
                  <c:v>99.5</c:v>
                </c:pt>
                <c:pt idx="6">
                  <c:v>99.5</c:v>
                </c:pt>
                <c:pt idx="7">
                  <c:v>99.5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A7-46AA-AE2D-F901924F6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97"/>
        </c:scaling>
        <c:delete val="0"/>
        <c:axPos val="l"/>
        <c:majorGridlines>
          <c:spPr>
            <a:ln>
              <a:solidFill>
                <a:srgbClr val="C7CDD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7626B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Data Quality Checks in Consumer Lending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CADCEA"/>
                </a:solidFill>
                <a:latin typeface="Cambria"/>
              </a:rPr>
              <a:t>Worked examples and best practices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270248" y="2926080"/>
            <a:ext cx="3657600" cy="0"/>
          </a:xfrm>
          <a:prstGeom prst="line">
            <a:avLst/>
          </a:prstGeom>
          <a:ln w="19050">
            <a:solidFill>
              <a:srgbClr val="CA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ADCEA"/>
                </a:solidFill>
                <a:latin typeface="Calibri"/>
              </a:rPr>
              <a:t>Anatomy of a check · Check catalog · Filters, joins &amp; transforms · SQL examples · Where checks run · Scoring · Handling failures ·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FFFFFF"/>
                </a:solidFill>
                <a:latin typeface="Calibri"/>
              </a:rPr>
              <a:t>Third in the series, after “Consumer Lending Data Flow for Reporting” and “Data Governance for Consumer Lending Reporting.” A learning exercise; all figures are illustrative.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7626B"/>
                </a:solidFill>
                <a:latin typeface="Calibri"/>
              </a:rPr>
              <a:t>Consumer Lending: Data Quality Checks &amp;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Anatomy of a data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check is more than a query: it is a rule with a threshold, an owner and a defined action on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764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Data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loan_master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21991" y="178308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59152" y="1371600"/>
            <a:ext cx="1764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Rule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the 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23944" y="178308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61104" y="1371600"/>
            <a:ext cx="1764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Result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pass / fail per row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25896" y="178308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63056" y="1371600"/>
            <a:ext cx="1764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Score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% passing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7848" y="178308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65008" y="1371600"/>
            <a:ext cx="1764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Threshold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compare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29800" y="178308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1371600"/>
            <a:ext cx="1764792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Action</a:t>
            </a:r>
          </a:p>
          <a:p>
            <a:pPr algn="ctr"/>
            <a:r>
              <a:rPr sz="1050" b="0" i="0">
                <a:solidFill>
                  <a:srgbClr val="CADCEA"/>
                </a:solidFill>
                <a:latin typeface="Calibri"/>
              </a:rPr>
              <a:t>alert, block, log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EXAMPLE CHECK SPECIFICATION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788920"/>
          <a:ext cx="713232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Check ID / name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DQ-LM-007 · Maturity date after origination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element (CDE)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loan_master.maturity_date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Validity (cross-field business rule)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maturity_date &gt; origination_date for every active loan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100% — any failure is an exception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High: feeds CECL remaining life and FR Y-14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Where it runs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Silver (curated) layer, daily after the servicing 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Owner / steward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Head of Loan Operations / lending data steward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On failure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Quarantine rows, alert steward, log issue in the GRC tool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863840" y="2468880"/>
            <a:ext cx="3867912" cy="361188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WHY EACH ATTRIBUTE MATTERS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ID: lets issues, KPIs and audits refer to the same check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CDE and dimension: show coverage gaps across the inventory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Threshold: turns a query into a pass/fail decision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Severity: decides how fast someone must act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Owner: someone accountable for fixing the data, not just the check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On failure: agreed in advance, not decided at 2 a.m.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Check catalog 1 — record-level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Tests on a single field in a single record. The cheapest checks, and the first line of defense.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CHECK TYPE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LENDING EXAMPLE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Not null / required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Every active loan has an origination date, product code and GL account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Completeness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Allowed values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Loan status is one of: CURRENT, DELINQUENT, CHARGED_OFF, PAID_OFF, CLOSED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Loan ID matches the 10-digit pattern; state code is a valid two-letter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APR between 0% and the legal / product maximum; credit score between 300 and 850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Principal balance is never negative; payment amount is greater than zero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Date sanity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date not in the future and not before the bank’s oldest portfolio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Currency amounts carry at most two decimal places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3949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Tip: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enforce these as early as possible, in the origination system’s field edits and at ingestion. A null caught at the front door never becomes a reconciliation break.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Check catalog 2 — cross-field and business-rule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Tests that compare fields within a record or apply lending logic. They catch errors single-field checks miss.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A FAILURE USUALLY MEANS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Date 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Maturity date &gt; origination date; first payment date &gt; funding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Boarding keyed or mapped wrongly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Charge-off consistency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Status CHARGED_OFF → principal balance = 0 and charge-off date populated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Charge-off processed partially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Delinquency consistency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Days past due agrees with next due date and as-of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Stale DPD calculation or late batch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Bucket alignment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DPD 30–59 → bucket ‘30’; DPD 60–89 → bucket ‘60’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Bucket logic out of sync with DPD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Payment allocation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Payment amount = principal + interest + fees + escrow portions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Waterfall or rounding defect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Pricing within product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APR within the approved rate range for the product and score band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Pricing override or wrong product code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Amortization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Scheduled payment reproduces from balance, rate and term (within $0.01)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Terms loaded incorrectly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3949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Tip: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write business rules with the data steward, in plain language first, and only then in SQL. The steward knows the exceptions (e.g., a zero-rate promotional product) that a developer won’t.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Check catalog 3 — cross-system checks, and where they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row is a check type; each column is a hand-off in the lending data flow.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379918"/>
              </p:ext>
            </p:extLst>
          </p:nvPr>
        </p:nvGraphicFramePr>
        <p:xfrm>
          <a:off x="457200" y="1325880"/>
          <a:ext cx="11276376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3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3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31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CHECK TYPE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Origination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→ Boarding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Servicing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→ Subledger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Subledger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→ GL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Source</a:t>
                      </a:r>
                    </a:p>
                    <a:p>
                      <a:pPr algn="l"/>
                      <a:r>
                        <a:rPr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→ Warehouse</a:t>
                      </a:r>
                      <a:r>
                        <a:rPr lang="en-US"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 (Bronze &amp; Silver)</a:t>
                      </a:r>
                      <a:endParaRPr sz="900" b="1" i="0" dirty="0">
                        <a:solidFill>
                          <a:srgbClr val="CADCEA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Warehouse</a:t>
                      </a:r>
                      <a:r>
                        <a:rPr lang="en-US"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 (Silver)</a:t>
                      </a:r>
                      <a:endParaRPr sz="900" b="1" i="0" dirty="0">
                        <a:solidFill>
                          <a:srgbClr val="CADCE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→ Certified</a:t>
                      </a:r>
                      <a:r>
                        <a:rPr lang="en-US"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 (Gold)</a:t>
                      </a:r>
                      <a:endParaRPr sz="900" b="1" i="0" dirty="0">
                        <a:solidFill>
                          <a:srgbClr val="CADCEA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Certified</a:t>
                      </a:r>
                      <a:r>
                        <a:rPr lang="en-US"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 (Gold)</a:t>
                      </a:r>
                      <a:endParaRPr sz="900" b="1" i="0" dirty="0">
                        <a:solidFill>
                          <a:srgbClr val="CADCE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900" b="1" i="0" dirty="0">
                          <a:solidFill>
                            <a:srgbClr val="CADCEA"/>
                          </a:solidFill>
                          <a:latin typeface="Calibri"/>
                        </a:rPr>
                        <a:t>→ Reports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Nothing is duplicated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Each approved application boards as one loan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No payment is posted twice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Each journal batch posts once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Loan ID is unique after the load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One row per loan per day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Each loan counted in exactly one report line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Referential integrity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Every key has a match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Product code exists in the product table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Every transaction belongs to an existing loan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Every transaction code has a GL mapping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Every key resolves in the warehouse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Every lookup finds a match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Every report line maps to a certified field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Control totals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Nothing lost in transit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Loans funded = loans boarded (count)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Transactions sent = received (count and $)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Journal totals = subledger totals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Rows and $ match the source file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Rows match the curated layer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Report lines add up to certified totals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Filter reconciliation</a:t>
                      </a:r>
                    </a:p>
                  </a:txBody>
                  <a:tcPr marL="73152" marR="73152" marT="36576" marB="36576" anchor="ctr">
                    <a:solidFill>
                      <a:srgbClr val="CAD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Every excluded record is accounted for</a:t>
                      </a:r>
                    </a:p>
                  </a:txBody>
                  <a:tcPr marL="73152" marR="73152" marT="36576" marB="36576" anchor="ctr">
                    <a:solidFill>
                      <a:srgbClr val="CAD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Declined and withdrawn apps excluded and counted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Only financial codes post, per an approved code list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Test and closed loans excluded, with a reason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Only in-scope loans promoted; the rest counted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Report scope applied (e.g., consumer loans only)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Join &amp; lookup validation</a:t>
                      </a:r>
                    </a:p>
                  </a:txBody>
                  <a:tcPr marL="73152" marR="73152" marT="36576" marB="36576" anchor="ctr">
                    <a:solidFill>
                      <a:srgbClr val="CAD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Joins neither drop nor multiply rows</a:t>
                      </a:r>
                    </a:p>
                  </a:txBody>
                  <a:tcPr marL="73152" marR="73152" marT="36576" marB="36576" anchor="ctr">
                    <a:solidFill>
                      <a:srgbClr val="CAD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Product, customer and collateral lookups each match once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Txn codes map to one accounting rule; rates as of date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Mapping returns exactly one GL account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Code lookups use values valid on the business date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Joins to the driver keep one row per loan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Report mappings cover every category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Transformation logic</a:t>
                      </a:r>
                    </a:p>
                  </a:txBody>
                  <a:tcPr marL="73152" marR="73152" marT="36576" marB="36576" anchor="ctr">
                    <a:solidFill>
                      <a:srgbClr val="CAD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 values are computed correctly</a:t>
                      </a:r>
                    </a:p>
                  </a:txBody>
                  <a:tcPr marL="73152" marR="73152" marT="36576" marB="36576" anchor="ctr">
                    <a:solidFill>
                      <a:srgbClr val="CADC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Loan terms correctly become a payment schedule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Payment correctly split: principal, interest, fees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Each event produces the right journal entry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Formats standardized without changing values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Derived fields (e.g., DPD bucket) recomputed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Report rules re-derived and tied out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Balance reconciliation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Amounts agree end to 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$ funded = $ boarded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Rollforward: opening + activity = closing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Subledger balance = GL control account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Warehouse balances = subledger (ties to GL)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130"/>
                          </a:solidFill>
                          <a:latin typeface="Calibri"/>
                        </a:rPr>
                        <a:t>Certified balances = warehouse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1A2130"/>
                          </a:solidFill>
                          <a:latin typeface="Calibri"/>
                        </a:rPr>
                        <a:t>Report totals = GL (tie-out)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59552"/>
            <a:ext cx="11247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7626B"/>
                </a:solidFill>
                <a:latin typeface="Calibri"/>
              </a:rPr>
              <a:t>Green cell = what the check confirms at that hand-off  ·  — = not usually needed there  ·  blue rows = checks on the logic between source and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70448"/>
            <a:ext cx="1127455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This page shows where.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How to validate filters, joins and lookups is on p. 6, transformations and complex logic on p. 7, and the SQL on p. 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Filters, joins and lookups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Proving nothing is lost, duplicated or mismatched between source and target, where every row can still look valid.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66744" cy="8686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FILTERS</a:t>
            </a:r>
          </a:p>
          <a:p>
            <a:pPr algn="ctr"/>
            <a:r>
              <a:rPr sz="1050" b="0" i="1">
                <a:solidFill>
                  <a:srgbClr val="CADCEA"/>
                </a:solidFill>
                <a:latin typeface="Calibri"/>
              </a:rPr>
              <a:t>Source rows = target rows + excluded rows (by reason)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66674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Write every excluded record to an exclusion table with a reason code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Filter criteria documented and approved by the data owner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Trend exclusions by reason: a jump means logic or source changed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Test the boundaries (e.g., status exactly ‘CLOSED’)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Review a sample of excluded records each period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325880"/>
            <a:ext cx="3666744" cy="8686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JOINS FROM A DRIVER TABLE</a:t>
            </a:r>
          </a:p>
          <a:p>
            <a:pPr algn="ctr"/>
            <a:r>
              <a:rPr sz="1050" b="0" i="1">
                <a:solidFill>
                  <a:srgbClr val="CADCEA"/>
                </a:solidFill>
                <a:latin typeface="Calibri"/>
              </a:rPr>
              <a:t>Target rows = driver rows (one row per loan)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2286000"/>
            <a:ext cx="366674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Fan-out: a one-to-many join duplicates loans and inflates balances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Drop: an inner join silently loses loans with no match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Check: driver count and $ total preserved in the target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Check: target key unique; unmatched count per join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Use left joins from the driver and count the misses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325880"/>
            <a:ext cx="3666744" cy="8686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LOOKUP TABLES</a:t>
            </a:r>
          </a:p>
          <a:p>
            <a:pPr algn="ctr"/>
            <a:r>
              <a:rPr sz="1050" b="0" i="1">
                <a:solidFill>
                  <a:srgbClr val="CADCEA"/>
                </a:solidFill>
                <a:latin typeface="Calibri"/>
              </a:rPr>
              <a:t>Each code resolves to exactly one value, as of the business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2286000"/>
            <a:ext cx="366674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Coverage: every source code exists in the lookup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Uniqueness: one active row per key per effective date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Effective dating: use the value valid on the business date, not today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No silent defaults (‘UNKNOWN’); unmatched go to suspense and are counted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The lookup table itself has an owner and change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71500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Tip: </a:t>
            </a:r>
            <a:r>
              <a:rPr sz="1100" b="0" i="0">
                <a:solidFill>
                  <a:srgbClr val="57626B"/>
                </a:solidFill>
                <a:latin typeface="Calibri"/>
              </a:rPr>
              <a:t>build these as standard, reusable tests on every pipeline. A join or lookup check written once can guard hundreds of derived fields.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Transformations and complex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Example: a Call Report loan category built from a driver table, three lookups and CASE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loan_master</a:t>
            </a:r>
          </a:p>
          <a:p>
            <a:pPr algn="ctr"/>
            <a:r>
              <a:rPr sz="950" b="0" i="0">
                <a:solidFill>
                  <a:srgbClr val="CADCEA"/>
                </a:solidFill>
                <a:latin typeface="Calibri"/>
              </a:rPr>
              <a:t>driver: one row per loan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630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2130"/>
                </a:solidFill>
                <a:latin typeface="Calibri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25880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product_ref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lookup: product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4630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2130"/>
                </a:solidFill>
                <a:latin typeface="Calibr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collateral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lookup: vehicle /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137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A2130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25880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purpose_ref</a:t>
            </a:r>
          </a:p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lookup: loan purpose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58200" y="166878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32520" y="1325880"/>
            <a:ext cx="1325880" cy="68580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A2130"/>
                </a:solidFill>
                <a:latin typeface="Calibri"/>
              </a:rPr>
              <a:t>CASE logic</a:t>
            </a:r>
          </a:p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rules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0" y="1668780"/>
            <a:ext cx="22860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87000" y="1325880"/>
            <a:ext cx="1444752" cy="685800"/>
          </a:xfrm>
          <a:prstGeom prst="roundRect">
            <a:avLst>
              <a:gd name="adj" fmla="val 10000"/>
            </a:avLst>
          </a:prstGeom>
          <a:solidFill>
            <a:srgbClr val="0E7C66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rc_c_category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target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SIX WAYS TO PROVE TRANSFORMATION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560320"/>
            <a:ext cx="366674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1  Approved mapping spec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The rule written in plain language (source-to-target mapping) and approved by the steward before any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2560320"/>
            <a:ext cx="366674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2  Decision-table tests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Every combination of inputs with its expected output, including nulls, zeros and boundaries (DPD exactly 30).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2560320"/>
            <a:ext cx="366674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3  Independent re-derivation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 separately written calculation compared with the pipeline output, on the full population or a sample.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366674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4  Invariants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Properties that must always hold: totals preserved, exactly one category per loan, no nulls in required outputs.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3886200"/>
            <a:ext cx="366674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5  Parallel run on change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Old and new logic run side by side; every difference explained before release.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886200"/>
            <a:ext cx="366674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6  Review and change control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Peer-reviewed, version-controlled code; lineage records the logic; owner approves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Plus a distribution check: </a:t>
            </a:r>
            <a:r>
              <a:rPr sz="1100" b="0" i="0">
                <a:solidFill>
                  <a:srgbClr val="57626B"/>
                </a:solidFill>
                <a:latin typeface="Calibri"/>
              </a:rPr>
              <a:t>compare the output mix (e.g., % of balances per category) with last period. A sudden shift flags a logic or input change even when every individual test passes.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SQL for filters, driver joins and re-derivation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Checks on the logic between source and target. Same simplified schema; syntax varies by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Filter reconciliation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Every source row is accounted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(SELECT COUNT(*) FROM src_loans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WHERE load_date = :cob) AS src_rows,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(SELECT COUNT(*) FROM wh_loans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WHERE load_date = :cob) AS loaded,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(SELECT COUNT(*) FROM wh_excluded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WHERE load_date = :cob) AS excluded;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Pass when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  src_rows = loaded + excluded.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Then trend excluded rows by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reason_code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 gap means rows vanished without an exclusion record; a jump in one reason means a filter or source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44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Driver join integrity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No fan-out, no drops, no misses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(SELECT COUNT(*) FROM loan_master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WHERE as_of_date = :cob)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               AS driver_rows,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COUNT(*)                AS target_rows,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COUNT(DISTINCT loan_id) AS loans,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SUM(CASE WHEN product_type IS NULL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THEN 1 ELSE 0 END)  AS unmatched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loan_report_base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as_of_date = :cob;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target_rows &gt; loans  : fan-out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target_rows &lt; driver : dropped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unmatched &gt; 0 : lookup miss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all three must be clean: equal row counts, one row per loan, and zero unmatched lookups.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 re-derivation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Recompute the derived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488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 loan_id, dpd, dpd_bucket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wh_loans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as_of_date = :cob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AND dpd_bucket &lt;&gt;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CASE WHEN dpd = 0  THEN 'CURRENT'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WHEN dpd &lt; 30 THEN '1-29'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WHEN dpd &lt; 60 THEN '30-59'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WHEN dpd &lt; 90 THEN '60-89'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ELSE '90+' END;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Written separately from the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pipeline code. Any row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returned is a defect.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5488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zero rows means the pipeline and the independent calculation agree for every loan.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Check catalog 4 — timeliness, volume and anomaly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Tests on the data as a whole. They catch problems where every row looks valid but the load is wrong.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CATCHES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Arrival / freshness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Servicing file lands before the 6 a.m. GL batch; as-of date = yesterday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Late or stale feeds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Today’s transaction count within ±20% of the 30-day average for the weekday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Partial or doubled loads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Balance movement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Portfolio balance moves less than 2% day over day unless explained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Missing or duplicated activity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Distribution drift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Average credit score of new originations within 15 points of last month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Upstream logic or source change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Null-rate drift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null in a field jumps compared with its normal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Broken field mapping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Schema change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Columns, types and order match the expected contract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Unannounced source changes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9204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Why they matter: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a file with half the day’s payments passes every row-level check. Only a volume or balance-movement check notices that half is missing. Tools often call this data observability.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Thresholds here are statistical and illustrative; tune them per feed to avoid alert fatigue.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SQL examples 1 — completeness, business rule,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Written in generic SQL against a simplified lending schema; syntax varies slightly by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Completeness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Is origination_date populated?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COUNT(*)                AS total_loans,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COUNT(origination_date) AS populated,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100.0 * COUNT(origination_date)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/ COUNT(*)        AS pct_complete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loan_master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status &lt;&gt; 'CLOSED';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COUNT(column) skips NULLs,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so the ratio is the pass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compare pct_complete to the 100% threshold; below it, list the loans with a NULL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44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Business rule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Dates in order; charge-offs zeroed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 loan_id, status,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origination_date,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maturity_date,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principal_balance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loan_master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maturity_date &lt;= origination_date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OR (status = 'CHARGED_OFF'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AND principal_balance &lt;&gt; 0);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Exception query: every row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returned is a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zero rows = pass. Rows returned go to quarantine and become an issue for the steward.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Reconciliation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Subledger = GL control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488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 s.gl_account, s.sub_total,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g.gl_balance,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s.sub_total - g.gl_balance AS diff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(SELECT gl_account,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  SUM(principal_balance)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        AS sub_total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FROM loan_master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WHERE as_of_date = :cob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GROUP BY gl_account) s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JOIN gl_balance g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ON g.gl_account = s.gl_account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AND g.as_of_date = :cob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ABS(s.sub_total - g.gl_balance)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&gt; 0.01;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5488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any row is a break by GL account; controllership investigates and signs off the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SQL examples 2 — uniqueness, referential integrity,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Same schema. :cob and :today are parameters for the business date being checked.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Uniqueness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Possible duplicate payments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 loan_id, txn_date, amount,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COUNT(*) AS copies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subledger_txn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txn_type = 'PMT'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GROUP BY loan_id, txn_date, amount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HAVING COUNT(*) &gt; 1;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Two identical payments can be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legitimate, so this is a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'warn' check for review,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not an automatic block.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rows are candidates, not proven errors; operations confirms against the payment 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44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Referential integrity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Product code exists in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 l.loan_id, l.product_code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loan_master l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LEFT JOIN product_ref p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ON p.product_code = l.product_code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p.product_code IS NULL;</a:t>
            </a:r>
          </a:p>
          <a:p>
            <a:pPr algn="l"/>
            <a:endParaRPr sz="900" b="0" i="0">
              <a:solidFill>
                <a:srgbClr val="1A2130"/>
              </a:solidFill>
              <a:latin typeface="Courier New"/>
            </a:endParaRP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Orphan codes cannot map to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the GL and would land in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-- suspense.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any row blocks promotion to the certified layer until the code is added or the loan corrected.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1325880"/>
            <a:ext cx="3636264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Volume anomaly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Today vs 30-day average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488" y="2103120"/>
            <a:ext cx="3636264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WITH daily AS (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SELECT load_date, COUNT(*) AS 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FROM subledger_txn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GROUP BY load_date)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SELECT t.load_date, t.n,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     AVG(h.n) AS avg_30d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FROM daily t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JOIN daily h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ON h.load_date &gt;= t.load_date - 30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AND h.load_date &lt;  t.load_date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WHERE t.load_date = :today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GROUP BY t.load_date, t.n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HAVING t.n NOT BETWEEN</a:t>
            </a:r>
          </a:p>
          <a:p>
            <a:pPr algn="l"/>
            <a:r>
              <a:rPr sz="900" b="0" i="0">
                <a:solidFill>
                  <a:srgbClr val="1A2130"/>
                </a:solidFill>
                <a:latin typeface="Courier New"/>
              </a:rPr>
              <a:t>  0.8 * AVG(h.n) AND 1.2 * AVG(h.n);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5488" y="5458968"/>
            <a:ext cx="36362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Reading the 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 row means today’s load is outside ±20% of normal; hold the GL batch until it is explained.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Where checks run — shift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earlier a check runs, the cheaper the fix. Each layer has its own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SOURCE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Origination &amp; servicing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2108606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Field edits and required fields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Allowed values at entry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Maker-checker on manual 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5806" y="169164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8686" y="132588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INGEST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Landing / raw (bronze)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8686" y="2148840"/>
            <a:ext cx="2108606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Schema contract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Arrival and freshness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Control totals and volume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7292" y="169164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0172" y="132588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CURATE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Conformed (silver)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172" y="2148840"/>
            <a:ext cx="2108606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Record-level and business rules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Uniqueness, referential integrity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Quarantine of failing rows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48779" y="169164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31659" y="132588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CERTIFY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Reporting (gold)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1659" y="2148840"/>
            <a:ext cx="2108606" cy="201168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Reconciliation to GL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Balance movement and drift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Only passing data is promoted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40265" y="169164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23145" y="132588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Filings and dashboards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3145" y="2148840"/>
            <a:ext cx="2108606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Report-to-GL tie-out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Period-over-period variance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Sign-off before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HARD VS SOFT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60"/>
            <a:ext cx="5550408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HARD (BLOCK)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Stop the load or the promotion. Use for failures that would misstate a filing or the GL: schema break, missing file, orphan product codes, subledger ≠ GL.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709160"/>
            <a:ext cx="5541264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SOFT (WARN)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Let data flow, but alert and log an issue. Use where exceptions can be legitimate: possible duplicate payments, drift in averages, low-severity formats.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Scoring and thresholds — turning checks into a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DQ score summarizes many checks into a number that owners and the governance council can track.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10058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1A2130"/>
                </a:solidFill>
                <a:latin typeface="Calibri"/>
              </a:rPr>
              <a:t>DQ score = rows passing ÷ rows evaluated</a:t>
            </a:r>
          </a:p>
          <a:p>
            <a:pPr algn="ctr"/>
            <a:r>
              <a:rPr sz="1200" b="0" i="0">
                <a:solidFill>
                  <a:srgbClr val="1A2130"/>
                </a:solidFill>
                <a:latin typeface="Calibri"/>
              </a:rPr>
              <a:t>Calculated per check, then rolled up per CDE, table and data domain.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54864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ROLL-UP GOOD PRACTICE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Weight by criticality: a failed tier-1 CDE should move the score more than a description field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Show the worst check, not just the average — averages hide a failing CDE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Report trend over time, not only today’s value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617720"/>
          <a:ext cx="548640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EXAMPLE CDEs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Tier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Principal balance, DPD, GL account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≥ 99.9%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Tier 2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Credit score, APR, origination date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≥ 99.5%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Tier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Descriptive and contact fields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≥ 98%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325880"/>
          <a:ext cx="551383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5623560"/>
            <a:ext cx="55138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Week 4 dip: a late servicing batch left DPD stale. Issue logged, root cause fixed, and the score recovered by week 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Handling failures — what to do when a check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Decide the response per check in advance. The worst response is a silent fix downstream.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715768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BLOCK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Stop the load or promotion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50" b="0" i="1">
                <a:solidFill>
                  <a:srgbClr val="0E7C66"/>
                </a:solidFill>
                <a:latin typeface="Calibri"/>
              </a:rPr>
              <a:t>e.g., Schema break, missing file, subledger ≠ GL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325880"/>
            <a:ext cx="2715768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QUARANTINE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Hold failing rows; pass the rest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50" b="0" i="1">
                <a:solidFill>
                  <a:srgbClr val="0E7C66"/>
                </a:solidFill>
                <a:latin typeface="Calibri"/>
              </a:rPr>
              <a:t>e.g., Business-rule failures on individual loans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325880"/>
            <a:ext cx="2715768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WARN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Pass the data; alert and log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ctr"/>
            <a:r>
              <a:rPr sz="1050" b="0" i="1">
                <a:solidFill>
                  <a:srgbClr val="0E7C66"/>
                </a:solidFill>
                <a:latin typeface="Calibri"/>
              </a:rPr>
              <a:t>e.g., Possible duplicates, drift, low-severity formats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325880"/>
            <a:ext cx="2715768" cy="15544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FIX AT SOURCE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Correct in the system of record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050" b="0" i="1">
                <a:solidFill>
                  <a:srgbClr val="CADCEA"/>
                </a:solidFill>
                <a:latin typeface="Calibri"/>
              </a:rPr>
              <a:t>e.g., The only lasting fix for any of the above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THE ISSUE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Check fails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381762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84832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Alert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steward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93592" y="381762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12464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Log issue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in GRC tool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21224" y="381762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40096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Root cause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8856" y="381762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67728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Fix at source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76488" y="381762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95360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Re-run check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3817620"/>
            <a:ext cx="118872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22992" y="342900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Close with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555040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DO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Fix the data where it was created, then let it flow again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Keep an audit trail of every correction and who approved it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Track repeat failures: they point to a process problem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4434840"/>
            <a:ext cx="55412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AVOID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Patching values in the warehouse or a spreadsheet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Manual top-side adjustments with no link to source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Muting a noisy check instead of tuning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quality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Ten habits of DQ programs that actually hold up in an exam or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44168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Start from the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55064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Build checks for the CDEs behind filings and financial statements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32588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1716" y="1344168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Business owns the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1716" y="1655064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Stewards define the rule and threshold; technology implements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3432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Shift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42616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Prevent at source and ingestion rather than detect at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313432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1716" y="233172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Rules as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1716" y="2642616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Version-controlled, tested and deployed with the pipeline, not in spreadsheets.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00984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19272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Every check has an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0168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Plus a severity, a threshold and a predefined action on failure.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00984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1716" y="3319272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Reconcile every hand-off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1716" y="3630168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Control totals at each arrow; balances tied at subledger, GL and reports.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88536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06824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Fix at the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17720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Downstream patches hide the problem and break lineage.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4288536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1716" y="4306824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Measure and 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1716" y="4617720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DQ scores and open issues on a scorecard the council actually reviews.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76088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94376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Tune, don't mute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05272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Adjust noisy thresholds with evidence; alert fatigue kills programs.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5276088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1716" y="5294376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Keep the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1716" y="5605272"/>
            <a:ext cx="48600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Retain check results and sign-offs; auditors test the evidence, not the intent.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Common pitfalls — and what good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Most failed DQ programs run plenty of checks. They fail on ownership, focus and follow-through.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PITFALL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GOOD LOOKS LIKE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Thousands of checks on everything, nobody reads the results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Fewer checks, focused on CDEs, each with an owner and an action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Only null and format checks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 mix: record, business-rule, cross-system, volume and reconciliation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Checks run only at month-end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Daily checks in the pipeline; month-end becomes a confirmation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IT sets the thresholds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Data owners set thresholds based on business impact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Failures fixed quietly in the warehouse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Fixed at source, with an issue record and evidence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A single average DQ score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Scores by tier and CDE, with the worst failures highlighted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Checks break silently after a source change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Schema contracts and change management cover DQ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39496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Test yourself: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for the last data problem you saw, which check type would have caught it, at which layer, and who should have owned the fix?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Quality Checks &amp; Best Practices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1179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Record-level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68499" y="1645920"/>
            <a:ext cx="128016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96515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Business rule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13835" y="1645920"/>
            <a:ext cx="128016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41851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Cross-record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9171" y="1645920"/>
            <a:ext cx="128016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87187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Cross-system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04507" y="1645920"/>
            <a:ext cx="128016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32523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Filters, joins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&amp; logic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49843" y="1645920"/>
            <a:ext cx="128016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77859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Volume &amp;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anomaly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95179" y="1645920"/>
            <a:ext cx="128016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23195" y="12801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2316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A DQ check is a rule plus a threshold, a severity, an owner and an action on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98648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Use all seven check types; row-level checks alone miss partial loads, bad joins and broken hand-offs.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74136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Run checks as early as possible, and block only what would misstate a filing or the GL.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Score by tier and CDE, track the trend, and publish it to the people who own the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25112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Fix at source, log every issue, and keep the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29200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CADCEA"/>
                </a:solidFill>
                <a:latin typeface="Calibri"/>
              </a:rPr>
              <a:t>Good data quality isn't the absence of errors. It's knowing about them first, and fixing them where they start.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CADCEA"/>
                </a:solidFill>
                <a:latin typeface="Calibri"/>
              </a:rPr>
              <a:t>Consumer Lending: Data Quality Checks &amp; Best Practices   · 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4287</Words>
  <Application>Microsoft Office PowerPoint</Application>
  <PresentationFormat>Widescreen</PresentationFormat>
  <Paragraphs>593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2</cp:revision>
  <dcterms:created xsi:type="dcterms:W3CDTF">2013-01-27T09:14:16Z</dcterms:created>
  <dcterms:modified xsi:type="dcterms:W3CDTF">2026-09-24T19:44:03Z</dcterms:modified>
  <cp:category/>
</cp:coreProperties>
</file>