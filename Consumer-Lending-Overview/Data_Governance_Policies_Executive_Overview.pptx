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a:solidFill>
                  <a:srgbClr val="1A2130"/>
                </a:solidFill>
                <a:latin typeface="Calibri"/>
              </a:rPr>
              <a:t>Compliance by standard (illustrative)</a:t>
            </a:r>
          </a:p>
        </c:rich>
      </c:tx>
      <c:overlay val="0"/>
    </c:title>
    <c:autoTitleDeleted val="0"/>
    <c:plotArea>
      <c:layout/>
      <c:barChart>
        <c:barDir val="bar"/>
        <c:grouping val="clustered"/>
        <c:varyColors val="1"/>
        <c:ser>
          <c:idx val="0"/>
          <c:order val="0"/>
          <c:tx>
            <c:strRef>
              <c:f>Sheet1!$B$1</c:f>
              <c:strCache>
                <c:ptCount val="1"/>
                <c:pt idx="0">
                  <c:v>% compliant</c:v>
                </c:pt>
              </c:strCache>
            </c:strRef>
          </c:tx>
          <c:invertIfNegative val="1"/>
          <c:dPt>
            <c:idx val="0"/>
            <c:invertIfNegative val="1"/>
            <c:bubble3D val="0"/>
            <c:spPr>
              <a:solidFill>
                <a:srgbClr val="1A2130"/>
              </a:solidFill>
            </c:spPr>
            <c:extLst>
              <c:ext xmlns:c16="http://schemas.microsoft.com/office/drawing/2014/chart" uri="{C3380CC4-5D6E-409C-BE32-E72D297353CC}">
                <c16:uniqueId val="{00000001-00B2-4870-9212-66148EDCB09A}"/>
              </c:ext>
            </c:extLst>
          </c:dPt>
          <c:dPt>
            <c:idx val="1"/>
            <c:invertIfNegative val="1"/>
            <c:bubble3D val="0"/>
            <c:spPr>
              <a:solidFill>
                <a:srgbClr val="C9A227"/>
              </a:solidFill>
            </c:spPr>
            <c:extLst>
              <c:ext xmlns:c16="http://schemas.microsoft.com/office/drawing/2014/chart" uri="{C3380CC4-5D6E-409C-BE32-E72D297353CC}">
                <c16:uniqueId val="{00000003-00B2-4870-9212-66148EDCB09A}"/>
              </c:ext>
            </c:extLst>
          </c:dPt>
          <c:dPt>
            <c:idx val="2"/>
            <c:invertIfNegative val="1"/>
            <c:bubble3D val="0"/>
            <c:spPr>
              <a:solidFill>
                <a:srgbClr val="1A2130"/>
              </a:solidFill>
            </c:spPr>
            <c:extLst>
              <c:ext xmlns:c16="http://schemas.microsoft.com/office/drawing/2014/chart" uri="{C3380CC4-5D6E-409C-BE32-E72D297353CC}">
                <c16:uniqueId val="{00000005-00B2-4870-9212-66148EDCB09A}"/>
              </c:ext>
            </c:extLst>
          </c:dPt>
          <c:dPt>
            <c:idx val="3"/>
            <c:invertIfNegative val="1"/>
            <c:bubble3D val="0"/>
            <c:spPr>
              <a:solidFill>
                <a:srgbClr val="9A3324"/>
              </a:solidFill>
            </c:spPr>
            <c:extLst>
              <c:ext xmlns:c16="http://schemas.microsoft.com/office/drawing/2014/chart" uri="{C3380CC4-5D6E-409C-BE32-E72D297353CC}">
                <c16:uniqueId val="{00000007-00B2-4870-9212-66148EDCB09A}"/>
              </c:ext>
            </c:extLst>
          </c:dPt>
          <c:dPt>
            <c:idx val="4"/>
            <c:invertIfNegative val="1"/>
            <c:bubble3D val="0"/>
            <c:spPr>
              <a:solidFill>
                <a:srgbClr val="C9A227"/>
              </a:solidFill>
            </c:spPr>
            <c:extLst>
              <c:ext xmlns:c16="http://schemas.microsoft.com/office/drawing/2014/chart" uri="{C3380CC4-5D6E-409C-BE32-E72D297353CC}">
                <c16:uniqueId val="{00000009-00B2-4870-9212-66148EDCB09A}"/>
              </c:ext>
            </c:extLst>
          </c:dPt>
          <c:dPt>
            <c:idx val="5"/>
            <c:invertIfNegative val="1"/>
            <c:bubble3D val="0"/>
            <c:spPr>
              <a:solidFill>
                <a:srgbClr val="1A2130"/>
              </a:solidFill>
            </c:spPr>
            <c:extLst>
              <c:ext xmlns:c16="http://schemas.microsoft.com/office/drawing/2014/chart" uri="{C3380CC4-5D6E-409C-BE32-E72D297353CC}">
                <c16:uniqueId val="{0000000B-00B2-4870-9212-66148EDCB09A}"/>
              </c:ext>
            </c:extLst>
          </c:dPt>
          <c:dPt>
            <c:idx val="6"/>
            <c:invertIfNegative val="1"/>
            <c:bubble3D val="0"/>
            <c:spPr>
              <a:solidFill>
                <a:srgbClr val="1A2130"/>
              </a:solidFill>
            </c:spPr>
            <c:extLst>
              <c:ext xmlns:c16="http://schemas.microsoft.com/office/drawing/2014/chart" uri="{C3380CC4-5D6E-409C-BE32-E72D297353CC}">
                <c16:uniqueId val="{0000000D-00B2-4870-9212-66148EDCB09A}"/>
              </c:ext>
            </c:extLst>
          </c:dPt>
          <c:dPt>
            <c:idx val="7"/>
            <c:invertIfNegative val="1"/>
            <c:bubble3D val="0"/>
            <c:spPr>
              <a:solidFill>
                <a:srgbClr val="9A3324"/>
              </a:solidFill>
            </c:spPr>
            <c:extLst>
              <c:ext xmlns:c16="http://schemas.microsoft.com/office/drawing/2014/chart" uri="{C3380CC4-5D6E-409C-BE32-E72D297353CC}">
                <c16:uniqueId val="{0000000F-00B2-4870-9212-66148EDCB09A}"/>
              </c:ext>
            </c:extLst>
          </c:dPt>
          <c:dLbls>
            <c:numFmt formatCode="0&quot;%&quot;" sourceLinked="0"/>
            <c:spPr>
              <a:noFill/>
              <a:ln>
                <a:noFill/>
              </a:ln>
              <a:effectLst/>
            </c:spPr>
            <c:txPr>
              <a:bodyPr/>
              <a:lstStyle/>
              <a:p>
                <a:pPr>
                  <a:defRPr sz="1000">
                    <a:solidFill>
                      <a:srgbClr val="1A213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Data quality</c:v>
                </c:pt>
                <c:pt idx="1">
                  <c:v>CDEs</c:v>
                </c:pt>
                <c:pt idx="2">
                  <c:v>Glossary</c:v>
                </c:pt>
                <c:pt idx="3">
                  <c:v>Lineage</c:v>
                </c:pt>
                <c:pt idx="4">
                  <c:v>Classification</c:v>
                </c:pt>
                <c:pt idx="5">
                  <c:v>Access reviews</c:v>
                </c:pt>
                <c:pt idx="6">
                  <c:v>Retention</c:v>
                </c:pt>
                <c:pt idx="7">
                  <c:v>EUC</c:v>
                </c:pt>
              </c:strCache>
            </c:strRef>
          </c:cat>
          <c:val>
            <c:numRef>
              <c:f>Sheet1!$B$2:$B$9</c:f>
              <c:numCache>
                <c:formatCode>General</c:formatCode>
                <c:ptCount val="8"/>
                <c:pt idx="0">
                  <c:v>92</c:v>
                </c:pt>
                <c:pt idx="1">
                  <c:v>88</c:v>
                </c:pt>
                <c:pt idx="2">
                  <c:v>95</c:v>
                </c:pt>
                <c:pt idx="3">
                  <c:v>71</c:v>
                </c:pt>
                <c:pt idx="4">
                  <c:v>84</c:v>
                </c:pt>
                <c:pt idx="5">
                  <c:v>97</c:v>
                </c:pt>
                <c:pt idx="6">
                  <c:v>90</c:v>
                </c:pt>
                <c:pt idx="7">
                  <c:v>63</c:v>
                </c:pt>
              </c:numCache>
            </c:numRef>
          </c:val>
          <c:extLst>
            <c:ext xmlns:c16="http://schemas.microsoft.com/office/drawing/2014/chart" uri="{C3380CC4-5D6E-409C-BE32-E72D297353CC}">
              <c16:uniqueId val="{00000010-00B2-4870-9212-66148EDCB09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000">
                <a:solidFill>
                  <a:srgbClr val="1A2130"/>
                </a:solidFill>
              </a:defRPr>
            </a:pPr>
            <a:endParaRPr lang="en-US"/>
          </a:p>
        </c:txPr>
        <c:crossAx val="-2113994440"/>
        <c:crosses val="autoZero"/>
        <c:auto val="1"/>
        <c:lblAlgn val="ctr"/>
        <c:lblOffset val="100"/>
        <c:noMultiLvlLbl val="0"/>
      </c:catAx>
      <c:valAx>
        <c:axId val="-2113994440"/>
        <c:scaling>
          <c:orientation val="minMax"/>
          <c:max val="100"/>
          <c:min val="0"/>
        </c:scaling>
        <c:delete val="0"/>
        <c:axPos val="b"/>
        <c:majorGridlines>
          <c:spPr>
            <a:ln>
              <a:solidFill>
                <a:srgbClr val="C7CDD1"/>
              </a:solidFill>
            </a:ln>
          </c:spPr>
        </c:majorGridlines>
        <c:numFmt formatCode="General" sourceLinked="1"/>
        <c:majorTickMark val="out"/>
        <c:minorTickMark val="none"/>
        <c:tickLblPos val="nextTo"/>
        <c:txPr>
          <a:bodyPr/>
          <a:lstStyle/>
          <a:p>
            <a:pPr>
              <a:defRPr sz="900">
                <a:solidFill>
                  <a:srgbClr val="57626B"/>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914400" y="1188720"/>
            <a:ext cx="10332720" cy="914400"/>
          </a:xfrm>
          <a:prstGeom prst="rect">
            <a:avLst/>
          </a:prstGeom>
          <a:noFill/>
        </p:spPr>
        <p:txBody>
          <a:bodyPr wrap="square" lIns="0" tIns="0" rIns="0" bIns="0" anchor="ctr">
            <a:spAutoFit/>
          </a:bodyPr>
          <a:lstStyle/>
          <a:p>
            <a:pPr algn="ctr"/>
            <a:r>
              <a:rPr sz="3600" b="1" i="0">
                <a:solidFill>
                  <a:srgbClr val="FFFFFF"/>
                </a:solidFill>
                <a:latin typeface="Cambria"/>
              </a:rPr>
              <a:t>Data Governance Policies</a:t>
            </a:r>
          </a:p>
        </p:txBody>
      </p:sp>
      <p:sp>
        <p:nvSpPr>
          <p:cNvPr id="3" name="TextBox 2"/>
          <p:cNvSpPr txBox="1"/>
          <p:nvPr/>
        </p:nvSpPr>
        <p:spPr>
          <a:xfrm>
            <a:off x="914400" y="2148840"/>
            <a:ext cx="10332720" cy="502920"/>
          </a:xfrm>
          <a:prstGeom prst="rect">
            <a:avLst/>
          </a:prstGeom>
          <a:noFill/>
        </p:spPr>
        <p:txBody>
          <a:bodyPr wrap="square" lIns="0" tIns="0" rIns="0" bIns="0" anchor="ctr">
            <a:spAutoFit/>
          </a:bodyPr>
          <a:lstStyle/>
          <a:p>
            <a:pPr algn="ctr"/>
            <a:r>
              <a:rPr sz="1900" b="0" i="0">
                <a:solidFill>
                  <a:srgbClr val="CADCEA"/>
                </a:solidFill>
                <a:latin typeface="Cambria"/>
              </a:rPr>
              <a:t>An executive overview of the rules that make data trustworthy</a:t>
            </a:r>
          </a:p>
        </p:txBody>
      </p:sp>
      <p:cxnSp>
        <p:nvCxnSpPr>
          <p:cNvPr id="4" name="Connector 3"/>
          <p:cNvCxnSpPr/>
          <p:nvPr/>
        </p:nvCxnSpPr>
        <p:spPr>
          <a:xfrm>
            <a:off x="4270248" y="2926080"/>
            <a:ext cx="3657600" cy="0"/>
          </a:xfrm>
          <a:prstGeom prst="line">
            <a:avLst/>
          </a:prstGeom>
          <a:ln w="19050">
            <a:solidFill>
              <a:srgbClr val="CADC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3108960"/>
            <a:ext cx="10332720" cy="457200"/>
          </a:xfrm>
          <a:prstGeom prst="rect">
            <a:avLst/>
          </a:prstGeom>
          <a:noFill/>
        </p:spPr>
        <p:txBody>
          <a:bodyPr wrap="square" lIns="0" tIns="0" rIns="0" bIns="0" anchor="t">
            <a:spAutoFit/>
          </a:bodyPr>
          <a:lstStyle/>
          <a:p>
            <a:pPr algn="ctr"/>
            <a:r>
              <a:rPr sz="1300" b="0" i="0">
                <a:solidFill>
                  <a:srgbClr val="CADCEA"/>
                </a:solidFill>
                <a:latin typeface="Calibri"/>
              </a:rPr>
              <a:t>Why Policies Matter · Policy Framework · Core Policies · Ownership · Lifecycle · Exceptions · Compliance · Where to Start</a:t>
            </a:r>
          </a:p>
        </p:txBody>
      </p:sp>
      <p:sp>
        <p:nvSpPr>
          <p:cNvPr id="6" name="TextBox 5"/>
          <p:cNvSpPr txBox="1"/>
          <p:nvPr/>
        </p:nvSpPr>
        <p:spPr>
          <a:xfrm>
            <a:off x="1371600" y="4206240"/>
            <a:ext cx="9418320" cy="914400"/>
          </a:xfrm>
          <a:prstGeom prst="rect">
            <a:avLst/>
          </a:prstGeom>
          <a:noFill/>
        </p:spPr>
        <p:txBody>
          <a:bodyPr wrap="square" lIns="0" tIns="0" rIns="0" bIns="0" anchor="t">
            <a:spAutoFit/>
          </a:bodyPr>
          <a:lstStyle/>
          <a:p>
            <a:pPr algn="ctr"/>
            <a:r>
              <a:rPr sz="1250" b="0" i="1">
                <a:solidFill>
                  <a:srgbClr val="FFFFFF"/>
                </a:solidFill>
                <a:latin typeface="Calibri"/>
              </a:rPr>
              <a:t>For executives who approve, sponsor and attest to data governance. Examples use consumer lending; requirements vary by firm and are illustrative. Terms are explained in the appendix (p.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Why data governance policies matter</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Policies turn “we care about data” into requirements people must follow and auditors can test.</a:t>
            </a:r>
          </a:p>
        </p:txBody>
      </p:sp>
      <p:sp>
        <p:nvSpPr>
          <p:cNvPr id="5" name="Rounded Rectangle 4"/>
          <p:cNvSpPr/>
          <p:nvPr/>
        </p:nvSpPr>
        <p:spPr>
          <a:xfrm>
            <a:off x="457200" y="1325880"/>
            <a:ext cx="2715768"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REGULATORS EXPECT THEM</a:t>
            </a:r>
          </a:p>
          <a:p>
            <a:pPr algn="l"/>
            <a:r>
              <a:rPr sz="1050" b="0" i="0">
                <a:solidFill>
                  <a:srgbClr val="57626B"/>
                </a:solidFill>
                <a:latin typeface="Calibri"/>
              </a:rPr>
              <a:t>Examiners ask for the policy first, then test whether it is followed.</a:t>
            </a:r>
          </a:p>
        </p:txBody>
      </p:sp>
      <p:sp>
        <p:nvSpPr>
          <p:cNvPr id="6" name="Rounded Rectangle 5"/>
          <p:cNvSpPr/>
          <p:nvPr/>
        </p:nvSpPr>
        <p:spPr>
          <a:xfrm>
            <a:off x="3310128" y="1325880"/>
            <a:ext cx="2715768"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EXECUTIVES ATTEST</a:t>
            </a:r>
          </a:p>
          <a:p>
            <a:pPr algn="l"/>
            <a:r>
              <a:rPr sz="1050" b="0" i="0">
                <a:solidFill>
                  <a:srgbClr val="57626B"/>
                </a:solidFill>
                <a:latin typeface="Calibri"/>
              </a:rPr>
              <a:t>Filings and financial statements are signed; policy is the basis for that confidence.</a:t>
            </a:r>
          </a:p>
        </p:txBody>
      </p:sp>
      <p:sp>
        <p:nvSpPr>
          <p:cNvPr id="7" name="Rounded Rectangle 6"/>
          <p:cNvSpPr/>
          <p:nvPr/>
        </p:nvSpPr>
        <p:spPr>
          <a:xfrm>
            <a:off x="6163056" y="1325880"/>
            <a:ext cx="2715768"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ACCOUNTABILITY</a:t>
            </a:r>
          </a:p>
          <a:p>
            <a:pPr algn="l"/>
            <a:r>
              <a:rPr sz="1050" b="0" i="0">
                <a:solidFill>
                  <a:srgbClr val="57626B"/>
                </a:solidFill>
                <a:latin typeface="Calibri"/>
              </a:rPr>
              <a:t>Policies name who owns data, who decides, and who accepts risk.</a:t>
            </a:r>
          </a:p>
        </p:txBody>
      </p:sp>
      <p:sp>
        <p:nvSpPr>
          <p:cNvPr id="8" name="Rounded Rectangle 7"/>
          <p:cNvSpPr/>
          <p:nvPr/>
        </p:nvSpPr>
        <p:spPr>
          <a:xfrm>
            <a:off x="9015984" y="1325880"/>
            <a:ext cx="2715768" cy="13258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CONSISTENCY</a:t>
            </a:r>
          </a:p>
          <a:p>
            <a:pPr algn="l"/>
            <a:r>
              <a:rPr sz="1050" b="0" i="0">
                <a:solidFill>
                  <a:srgbClr val="57626B"/>
                </a:solidFill>
                <a:latin typeface="Calibri"/>
              </a:rPr>
              <a:t>One set of rules across every business line, system and vendor.</a:t>
            </a:r>
          </a:p>
        </p:txBody>
      </p:sp>
      <p:sp>
        <p:nvSpPr>
          <p:cNvPr id="9" name="TextBox 8"/>
          <p:cNvSpPr txBox="1"/>
          <p:nvPr/>
        </p:nvSpPr>
        <p:spPr>
          <a:xfrm>
            <a:off x="457200" y="2880360"/>
            <a:ext cx="11247120" cy="274320"/>
          </a:xfrm>
          <a:prstGeom prst="rect">
            <a:avLst/>
          </a:prstGeom>
          <a:noFill/>
        </p:spPr>
        <p:txBody>
          <a:bodyPr wrap="square" lIns="0" tIns="0" rIns="0" bIns="0" anchor="t">
            <a:spAutoFit/>
          </a:bodyPr>
          <a:lstStyle/>
          <a:p>
            <a:pPr algn="l"/>
            <a:r>
              <a:rPr sz="1050" b="1" i="0">
                <a:solidFill>
                  <a:srgbClr val="1A2130"/>
                </a:solidFill>
                <a:latin typeface="Courier New"/>
              </a:rPr>
              <a:t>REGULATORY DRIVERS BEHIND DATA POLICIES (US BANKING EXAMPLES)</a:t>
            </a:r>
          </a:p>
        </p:txBody>
      </p:sp>
      <p:graphicFrame>
        <p:nvGraphicFramePr>
          <p:cNvPr id="10" name="Table 9"/>
          <p:cNvGraphicFramePr>
            <a:graphicFrameLocks noGrp="1"/>
          </p:cNvGraphicFramePr>
          <p:nvPr/>
        </p:nvGraphicFramePr>
        <p:xfrm>
          <a:off x="457200" y="3200400"/>
          <a:ext cx="11274552" cy="2249424"/>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329184">
                <a:tc>
                  <a:txBody>
                    <a:bodyPr/>
                    <a:lstStyle/>
                    <a:p>
                      <a:pPr algn="l"/>
                      <a:r>
                        <a:rPr sz="1000" b="1" i="0">
                          <a:solidFill>
                            <a:srgbClr val="CADCEA"/>
                          </a:solidFill>
                          <a:latin typeface="Calibri"/>
                        </a:rPr>
                        <a:t>DRIVER</a:t>
                      </a:r>
                    </a:p>
                  </a:txBody>
                  <a:tcPr marL="73152" marR="73152" marT="36576" marB="36576" anchor="ctr">
                    <a:solidFill>
                      <a:srgbClr val="1A2130"/>
                    </a:solidFill>
                  </a:tcPr>
                </a:tc>
                <a:tc>
                  <a:txBody>
                    <a:bodyPr/>
                    <a:lstStyle/>
                    <a:p>
                      <a:pPr algn="l"/>
                      <a:r>
                        <a:rPr sz="1000" b="1" i="0">
                          <a:solidFill>
                            <a:srgbClr val="CADCEA"/>
                          </a:solidFill>
                          <a:latin typeface="Calibri"/>
                        </a:rPr>
                        <a:t>WHAT IT EXPECTS OF DATA</a:t>
                      </a:r>
                    </a:p>
                  </a:txBody>
                  <a:tcPr marL="73152" marR="73152" marT="36576" marB="36576" anchor="ctr">
                    <a:solidFill>
                      <a:srgbClr val="1A2130"/>
                    </a:solidFill>
                  </a:tcPr>
                </a:tc>
                <a:extLst>
                  <a:ext uri="{0D108BD9-81ED-4DB2-BD59-A6C34878D82A}">
                    <a16:rowId xmlns:a16="http://schemas.microsoft.com/office/drawing/2014/main" val="10000"/>
                  </a:ext>
                </a:extLst>
              </a:tr>
              <a:tr h="384048">
                <a:tc>
                  <a:txBody>
                    <a:bodyPr/>
                    <a:lstStyle/>
                    <a:p>
                      <a:pPr algn="l"/>
                      <a:r>
                        <a:rPr sz="1050" b="1" i="0">
                          <a:solidFill>
                            <a:srgbClr val="1A2130"/>
                          </a:solidFill>
                          <a:latin typeface="Calibri"/>
                        </a:rPr>
                        <a:t>BCBS 239 (risk data aggregation)</a:t>
                      </a:r>
                    </a:p>
                  </a:txBody>
                  <a:tcPr marL="73152" marR="73152" marT="36576" marB="36576" anchor="ctr">
                    <a:solidFill>
                      <a:srgbClr val="FFFFFF"/>
                    </a:solidFill>
                  </a:tcPr>
                </a:tc>
                <a:tc>
                  <a:txBody>
                    <a:bodyPr/>
                    <a:lstStyle/>
                    <a:p>
                      <a:pPr algn="l"/>
                      <a:r>
                        <a:rPr sz="1050" b="0" i="0">
                          <a:solidFill>
                            <a:srgbClr val="57626B"/>
                          </a:solidFill>
                          <a:latin typeface="Calibri"/>
                        </a:rPr>
                        <a:t>Accurate, complete, timely risk data with clear governance (large banks)</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r>
                        <a:rPr sz="1050" b="1" i="0">
                          <a:solidFill>
                            <a:srgbClr val="1A2130"/>
                          </a:solidFill>
                          <a:latin typeface="Calibri"/>
                        </a:rPr>
                        <a:t>SOX</a:t>
                      </a:r>
                    </a:p>
                  </a:txBody>
                  <a:tcPr marL="73152" marR="73152" marT="36576" marB="36576" anchor="ctr">
                    <a:solidFill>
                      <a:srgbClr val="F4F6F2"/>
                    </a:solidFill>
                  </a:tcPr>
                </a:tc>
                <a:tc>
                  <a:txBody>
                    <a:bodyPr/>
                    <a:lstStyle/>
                    <a:p>
                      <a:pPr algn="l"/>
                      <a:r>
                        <a:rPr sz="1050" b="0" i="0">
                          <a:solidFill>
                            <a:srgbClr val="57626B"/>
                          </a:solidFill>
                          <a:latin typeface="Calibri"/>
                        </a:rPr>
                        <a:t>Controls over data that feeds the financial statements</a:t>
                      </a:r>
                    </a:p>
                  </a:txBody>
                  <a:tcPr marL="73152" marR="73152" marT="36576" marB="36576" anchor="ctr">
                    <a:solidFill>
                      <a:srgbClr val="F4F6F2"/>
                    </a:solidFill>
                  </a:tcPr>
                </a:tc>
                <a:extLst>
                  <a:ext uri="{0D108BD9-81ED-4DB2-BD59-A6C34878D82A}">
                    <a16:rowId xmlns:a16="http://schemas.microsoft.com/office/drawing/2014/main" val="10002"/>
                  </a:ext>
                </a:extLst>
              </a:tr>
              <a:tr h="384048">
                <a:tc>
                  <a:txBody>
                    <a:bodyPr/>
                    <a:lstStyle/>
                    <a:p>
                      <a:pPr algn="l"/>
                      <a:r>
                        <a:rPr sz="1050" b="1" i="0">
                          <a:solidFill>
                            <a:srgbClr val="1A2130"/>
                          </a:solidFill>
                          <a:latin typeface="Calibri"/>
                        </a:rPr>
                        <a:t>GLBA</a:t>
                      </a:r>
                    </a:p>
                  </a:txBody>
                  <a:tcPr marL="73152" marR="73152" marT="36576" marB="36576" anchor="ctr">
                    <a:solidFill>
                      <a:srgbClr val="FFFFFF"/>
                    </a:solidFill>
                  </a:tcPr>
                </a:tc>
                <a:tc>
                  <a:txBody>
                    <a:bodyPr/>
                    <a:lstStyle/>
                    <a:p>
                      <a:pPr algn="l"/>
                      <a:r>
                        <a:rPr sz="1050" b="0" i="0">
                          <a:solidFill>
                            <a:srgbClr val="57626B"/>
                          </a:solidFill>
                          <a:latin typeface="Calibri"/>
                        </a:rPr>
                        <a:t>Protection of customers’ personal financial information</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r>
                        <a:rPr sz="1050" b="1" i="0">
                          <a:solidFill>
                            <a:srgbClr val="1A2130"/>
                          </a:solidFill>
                          <a:latin typeface="Calibri"/>
                        </a:rPr>
                        <a:t>SR 11-7 (model risk)</a:t>
                      </a:r>
                    </a:p>
                  </a:txBody>
                  <a:tcPr marL="73152" marR="73152" marT="36576" marB="36576" anchor="ctr">
                    <a:solidFill>
                      <a:srgbClr val="F4F6F2"/>
                    </a:solidFill>
                  </a:tcPr>
                </a:tc>
                <a:tc>
                  <a:txBody>
                    <a:bodyPr/>
                    <a:lstStyle/>
                    <a:p>
                      <a:pPr algn="l"/>
                      <a:r>
                        <a:rPr sz="1050" b="0" i="0">
                          <a:solidFill>
                            <a:srgbClr val="57626B"/>
                          </a:solidFill>
                          <a:latin typeface="Calibri"/>
                        </a:rPr>
                        <a:t>Governed, validated data for models, including CECL and AI</a:t>
                      </a:r>
                    </a:p>
                  </a:txBody>
                  <a:tcPr marL="73152" marR="73152" marT="36576" marB="36576" anchor="ctr">
                    <a:solidFill>
                      <a:srgbClr val="F4F6F2"/>
                    </a:solidFill>
                  </a:tcPr>
                </a:tc>
                <a:extLst>
                  <a:ext uri="{0D108BD9-81ED-4DB2-BD59-A6C34878D82A}">
                    <a16:rowId xmlns:a16="http://schemas.microsoft.com/office/drawing/2014/main" val="10004"/>
                  </a:ext>
                </a:extLst>
              </a:tr>
              <a:tr h="384048">
                <a:tc>
                  <a:txBody>
                    <a:bodyPr/>
                    <a:lstStyle/>
                    <a:p>
                      <a:pPr algn="l"/>
                      <a:r>
                        <a:rPr sz="1050" b="1" i="0">
                          <a:solidFill>
                            <a:srgbClr val="1A2130"/>
                          </a:solidFill>
                          <a:latin typeface="Calibri"/>
                        </a:rPr>
                        <a:t>Reg B / HMDA / fair lending</a:t>
                      </a:r>
                    </a:p>
                  </a:txBody>
                  <a:tcPr marL="73152" marR="73152" marT="36576" marB="36576" anchor="ctr">
                    <a:solidFill>
                      <a:srgbClr val="FFFFFF"/>
                    </a:solidFill>
                  </a:tcPr>
                </a:tc>
                <a:tc>
                  <a:txBody>
                    <a:bodyPr/>
                    <a:lstStyle/>
                    <a:p>
                      <a:pPr algn="l"/>
                      <a:r>
                        <a:rPr sz="1050" b="0" i="0">
                          <a:solidFill>
                            <a:srgbClr val="57626B"/>
                          </a:solidFill>
                          <a:latin typeface="Calibri"/>
                        </a:rPr>
                        <a:t>Accurate application data, retained and available for review</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457200" y="5806440"/>
            <a:ext cx="11247120" cy="502920"/>
          </a:xfrm>
          <a:prstGeom prst="rect">
            <a:avLst/>
          </a:prstGeom>
          <a:noFill/>
        </p:spPr>
        <p:txBody>
          <a:bodyPr wrap="square" lIns="0" tIns="0" rIns="0" bIns="0" anchor="t">
            <a:spAutoFit/>
          </a:bodyPr>
          <a:lstStyle/>
          <a:p>
            <a:pPr algn="l"/>
            <a:r>
              <a:rPr sz="1100" b="1" i="1">
                <a:solidFill>
                  <a:srgbClr val="1A2130"/>
                </a:solidFill>
                <a:latin typeface="Calibri"/>
              </a:rPr>
              <a:t>Without policies, every control, check and report in the earlier decks depends on individuals. Terms explained on p. 18.</a:t>
            </a:r>
          </a:p>
        </p:txBody>
      </p:sp>
      <p:sp>
        <p:nvSpPr>
          <p:cNvPr id="12" name="TextBox 1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Policies, standards, procedures and guidelines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Four levels of document, each with a different job and a different approver. A finished example of each is in the appendix.</a:t>
            </a:r>
          </a:p>
        </p:txBody>
      </p:sp>
      <p:sp>
        <p:nvSpPr>
          <p:cNvPr id="5" name="Rounded Rectangle 4"/>
          <p:cNvSpPr/>
          <p:nvPr/>
        </p:nvSpPr>
        <p:spPr>
          <a:xfrm>
            <a:off x="3122676" y="1371600"/>
            <a:ext cx="5943600" cy="86868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POLICY   </a:t>
            </a:r>
            <a:r>
              <a:rPr sz="1100" b="0" i="0">
                <a:solidFill>
                  <a:srgbClr val="CADCEA"/>
                </a:solidFill>
                <a:latin typeface="Calibri"/>
              </a:rPr>
              <a:t>What must happen, and why</a:t>
            </a:r>
          </a:p>
          <a:p>
            <a:pPr algn="ctr"/>
            <a:r>
              <a:rPr sz="1100" b="1" i="1">
                <a:solidFill>
                  <a:srgbClr val="CADCEA"/>
                </a:solidFill>
                <a:latin typeface="Calibri"/>
              </a:rPr>
              <a:t>Approved by: Board or executive committee</a:t>
            </a:r>
          </a:p>
        </p:txBody>
      </p:sp>
      <p:sp>
        <p:nvSpPr>
          <p:cNvPr id="6" name="Rounded Rectangle 5"/>
          <p:cNvSpPr/>
          <p:nvPr/>
        </p:nvSpPr>
        <p:spPr>
          <a:xfrm>
            <a:off x="2208276" y="2359152"/>
            <a:ext cx="7772400" cy="868680"/>
          </a:xfrm>
          <a:prstGeom prst="roundRect">
            <a:avLst>
              <a:gd name="adj" fmla="val 10000"/>
            </a:avLst>
          </a:prstGeom>
          <a:solidFill>
            <a:srgbClr val="CADCEA"/>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1A2130"/>
                </a:solidFill>
                <a:latin typeface="Calibri"/>
              </a:rPr>
              <a:t>STANDARD   </a:t>
            </a:r>
            <a:r>
              <a:rPr sz="1100" b="0" i="0">
                <a:solidFill>
                  <a:srgbClr val="57626B"/>
                </a:solidFill>
                <a:latin typeface="Calibri"/>
              </a:rPr>
              <a:t>The specific, measurable requirements</a:t>
            </a:r>
          </a:p>
          <a:p>
            <a:pPr algn="ctr"/>
            <a:r>
              <a:rPr sz="1100" b="1" i="1">
                <a:solidFill>
                  <a:srgbClr val="0E7C66"/>
                </a:solidFill>
                <a:latin typeface="Calibri"/>
              </a:rPr>
              <a:t>Approved by: Data Governance Council</a:t>
            </a:r>
          </a:p>
        </p:txBody>
      </p:sp>
      <p:sp>
        <p:nvSpPr>
          <p:cNvPr id="7" name="Rounded Rectangle 6"/>
          <p:cNvSpPr/>
          <p:nvPr/>
        </p:nvSpPr>
        <p:spPr>
          <a:xfrm>
            <a:off x="1293876" y="3346704"/>
            <a:ext cx="9601200"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1A2130"/>
                </a:solidFill>
                <a:latin typeface="Calibri"/>
              </a:rPr>
              <a:t>PROCEDURE   </a:t>
            </a:r>
            <a:r>
              <a:rPr sz="1100" b="0" i="0">
                <a:solidFill>
                  <a:srgbClr val="57626B"/>
                </a:solidFill>
                <a:latin typeface="Calibri"/>
              </a:rPr>
              <a:t>How to do it, step by step</a:t>
            </a:r>
          </a:p>
          <a:p>
            <a:pPr algn="ctr"/>
            <a:r>
              <a:rPr sz="1100" b="1" i="1">
                <a:solidFill>
                  <a:srgbClr val="0E7C66"/>
                </a:solidFill>
                <a:latin typeface="Calibri"/>
              </a:rPr>
              <a:t>Approved by: Process owner / DGO</a:t>
            </a:r>
          </a:p>
        </p:txBody>
      </p:sp>
      <p:sp>
        <p:nvSpPr>
          <p:cNvPr id="8" name="Rounded Rectangle 7"/>
          <p:cNvSpPr/>
          <p:nvPr/>
        </p:nvSpPr>
        <p:spPr>
          <a:xfrm>
            <a:off x="457200" y="4334256"/>
            <a:ext cx="11274552" cy="868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1A2130"/>
                </a:solidFill>
                <a:latin typeface="Calibri"/>
              </a:rPr>
              <a:t>GUIDELINE   </a:t>
            </a:r>
            <a:r>
              <a:rPr sz="1100" b="0" i="0">
                <a:solidFill>
                  <a:srgbClr val="57626B"/>
                </a:solidFill>
                <a:latin typeface="Calibri"/>
              </a:rPr>
              <a:t>Recommended practice, not mandatory</a:t>
            </a:r>
          </a:p>
          <a:p>
            <a:pPr algn="ctr"/>
            <a:r>
              <a:rPr sz="1100" b="1" i="1">
                <a:solidFill>
                  <a:srgbClr val="0E7C66"/>
                </a:solidFill>
                <a:latin typeface="Calibri"/>
              </a:rPr>
              <a:t>Approved by: DGO</a:t>
            </a:r>
          </a:p>
        </p:txBody>
      </p:sp>
      <p:sp>
        <p:nvSpPr>
          <p:cNvPr id="9" name="TextBox 8"/>
          <p:cNvSpPr txBox="1"/>
          <p:nvPr/>
        </p:nvSpPr>
        <p:spPr>
          <a:xfrm>
            <a:off x="457200" y="5394960"/>
            <a:ext cx="11247120" cy="274320"/>
          </a:xfrm>
          <a:prstGeom prst="rect">
            <a:avLst/>
          </a:prstGeom>
          <a:noFill/>
        </p:spPr>
        <p:txBody>
          <a:bodyPr wrap="square" lIns="0" tIns="0" rIns="0" bIns="0" anchor="t">
            <a:spAutoFit/>
          </a:bodyPr>
          <a:lstStyle/>
          <a:p>
            <a:pPr algn="l"/>
            <a:r>
              <a:rPr sz="1050" b="1" i="0">
                <a:solidFill>
                  <a:srgbClr val="1A2130"/>
                </a:solidFill>
                <a:latin typeface="Courier New"/>
              </a:rPr>
              <a:t>EXAMPLE: HOW A POLICY STATEMENT BECOMES A STANDARD</a:t>
            </a:r>
          </a:p>
        </p:txBody>
      </p:sp>
      <p:sp>
        <p:nvSpPr>
          <p:cNvPr id="10" name="TextBox 9"/>
          <p:cNvSpPr txBox="1"/>
          <p:nvPr/>
        </p:nvSpPr>
        <p:spPr>
          <a:xfrm>
            <a:off x="457200" y="5669280"/>
            <a:ext cx="11247120" cy="731520"/>
          </a:xfrm>
          <a:prstGeom prst="rect">
            <a:avLst/>
          </a:prstGeom>
          <a:noFill/>
        </p:spPr>
        <p:txBody>
          <a:bodyPr wrap="square" lIns="0" tIns="0" rIns="0" bIns="0" anchor="t">
            <a:spAutoFit/>
          </a:bodyPr>
          <a:lstStyle/>
          <a:p>
            <a:pPr algn="l"/>
            <a:r>
              <a:rPr sz="1000" b="0" i="1">
                <a:solidFill>
                  <a:srgbClr val="57626B"/>
                </a:solidFill>
                <a:latin typeface="Calibri"/>
              </a:rPr>
              <a:t>“Critical data used in regulatory reporting must be owned, defined and quality-controlled.”  →  “Tier-1 CDEs need DQ rules for completeness, validity and consistency at 99.9% or better.”</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04</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The policy framework at a glance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One umbrella policy and seventeen supporting policies and standards, grouped into five families.</a:t>
            </a:r>
          </a:p>
        </p:txBody>
      </p:sp>
      <p:sp>
        <p:nvSpPr>
          <p:cNvPr id="5" name="Rounded Rectangle 4"/>
          <p:cNvSpPr/>
          <p:nvPr/>
        </p:nvSpPr>
        <p:spPr>
          <a:xfrm>
            <a:off x="457200" y="1325880"/>
            <a:ext cx="11274552" cy="68580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50" b="1" i="0">
                <a:solidFill>
                  <a:srgbClr val="CADCEA"/>
                </a:solidFill>
                <a:latin typeface="Calibri"/>
              </a:rPr>
              <a:t>UMBRELLA  </a:t>
            </a:r>
            <a:r>
              <a:rPr sz="1250" b="0" i="0">
                <a:solidFill>
                  <a:srgbClr val="FFFFFF"/>
                </a:solidFill>
                <a:latin typeface="Calibri"/>
              </a:rPr>
              <a:t>Data Governance Policy: scope, roles, decision rights, forums, exceptions and consequences</a:t>
            </a:r>
          </a:p>
        </p:txBody>
      </p:sp>
      <p:sp>
        <p:nvSpPr>
          <p:cNvPr id="6" name="Rounded Rectangle 5"/>
          <p:cNvSpPr/>
          <p:nvPr/>
        </p:nvSpPr>
        <p:spPr>
          <a:xfrm>
            <a:off x="457200" y="2194560"/>
            <a:ext cx="2145182" cy="5029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1A2130"/>
                </a:solidFill>
                <a:latin typeface="Calibri"/>
              </a:rPr>
              <a:t>MANAGE</a:t>
            </a:r>
          </a:p>
        </p:txBody>
      </p:sp>
      <p:sp>
        <p:nvSpPr>
          <p:cNvPr id="7" name="Rounded Rectangle 6"/>
          <p:cNvSpPr/>
          <p:nvPr/>
        </p:nvSpPr>
        <p:spPr>
          <a:xfrm>
            <a:off x="457200" y="2788920"/>
            <a:ext cx="2145182" cy="2331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 Data quality</a:t>
            </a:r>
          </a:p>
          <a:p>
            <a:pPr algn="l"/>
            <a:r>
              <a:rPr sz="1050" b="0" i="0">
                <a:solidFill>
                  <a:srgbClr val="57626B"/>
                </a:solidFill>
                <a:latin typeface="Calibri"/>
              </a:rPr>
              <a:t>• Critical data elements</a:t>
            </a:r>
          </a:p>
          <a:p>
            <a:pPr algn="l"/>
            <a:r>
              <a:rPr sz="1050" b="0" i="0">
                <a:solidFill>
                  <a:srgbClr val="57626B"/>
                </a:solidFill>
                <a:latin typeface="Calibri"/>
              </a:rPr>
              <a:t>• Metadata &amp; glossary</a:t>
            </a:r>
          </a:p>
          <a:p>
            <a:pPr algn="l"/>
            <a:r>
              <a:rPr sz="1050" b="0" i="0">
                <a:solidFill>
                  <a:srgbClr val="57626B"/>
                </a:solidFill>
                <a:latin typeface="Calibri"/>
              </a:rPr>
              <a:t>• Data lineage</a:t>
            </a:r>
          </a:p>
          <a:p>
            <a:pPr algn="l"/>
            <a:r>
              <a:rPr sz="1050" b="0" i="0">
                <a:solidFill>
                  <a:srgbClr val="57626B"/>
                </a:solidFill>
                <a:latin typeface="Calibri"/>
              </a:rPr>
              <a:t>• Reference &amp; master data</a:t>
            </a:r>
          </a:p>
        </p:txBody>
      </p:sp>
      <p:sp>
        <p:nvSpPr>
          <p:cNvPr id="8" name="TextBox 7"/>
          <p:cNvSpPr txBox="1"/>
          <p:nvPr/>
        </p:nvSpPr>
        <p:spPr>
          <a:xfrm>
            <a:off x="457200" y="5193792"/>
            <a:ext cx="2145182" cy="274320"/>
          </a:xfrm>
          <a:prstGeom prst="rect">
            <a:avLst/>
          </a:prstGeom>
          <a:noFill/>
        </p:spPr>
        <p:txBody>
          <a:bodyPr wrap="square" lIns="0" tIns="0" rIns="0" bIns="0" anchor="t">
            <a:spAutoFit/>
          </a:bodyPr>
          <a:lstStyle/>
          <a:p>
            <a:pPr algn="ctr"/>
            <a:r>
              <a:rPr sz="950" b="1" i="0">
                <a:solidFill>
                  <a:srgbClr val="0E7C66"/>
                </a:solidFill>
                <a:latin typeface="Calibri"/>
              </a:rPr>
              <a:t>Detail: p. 6</a:t>
            </a:r>
          </a:p>
        </p:txBody>
      </p:sp>
      <p:sp>
        <p:nvSpPr>
          <p:cNvPr id="9" name="Rounded Rectangle 8"/>
          <p:cNvSpPr/>
          <p:nvPr/>
        </p:nvSpPr>
        <p:spPr>
          <a:xfrm>
            <a:off x="2739542" y="2194560"/>
            <a:ext cx="2145182" cy="5029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1A2130"/>
                </a:solidFill>
                <a:latin typeface="Calibri"/>
              </a:rPr>
              <a:t>PROTECT</a:t>
            </a:r>
          </a:p>
        </p:txBody>
      </p:sp>
      <p:sp>
        <p:nvSpPr>
          <p:cNvPr id="10" name="Rounded Rectangle 9"/>
          <p:cNvSpPr/>
          <p:nvPr/>
        </p:nvSpPr>
        <p:spPr>
          <a:xfrm>
            <a:off x="2739542" y="2788920"/>
            <a:ext cx="2145182" cy="2331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 Classification &amp; handling</a:t>
            </a:r>
          </a:p>
          <a:p>
            <a:pPr algn="l"/>
            <a:r>
              <a:rPr sz="1050" b="0" i="0">
                <a:solidFill>
                  <a:srgbClr val="57626B"/>
                </a:solidFill>
                <a:latin typeface="Calibri"/>
              </a:rPr>
              <a:t>• Access &amp; entitlements</a:t>
            </a:r>
          </a:p>
          <a:p>
            <a:pPr algn="l"/>
            <a:r>
              <a:rPr sz="1050" b="0" i="0">
                <a:solidFill>
                  <a:srgbClr val="57626B"/>
                </a:solidFill>
                <a:latin typeface="Calibri"/>
              </a:rPr>
              <a:t>• Privacy</a:t>
            </a:r>
          </a:p>
          <a:p>
            <a:pPr algn="l"/>
            <a:r>
              <a:rPr sz="1050" b="0" i="0">
                <a:solidFill>
                  <a:srgbClr val="57626B"/>
                </a:solidFill>
                <a:latin typeface="Calibri"/>
              </a:rPr>
              <a:t>• Retention &amp; destruction</a:t>
            </a:r>
          </a:p>
        </p:txBody>
      </p:sp>
      <p:sp>
        <p:nvSpPr>
          <p:cNvPr id="11" name="TextBox 10"/>
          <p:cNvSpPr txBox="1"/>
          <p:nvPr/>
        </p:nvSpPr>
        <p:spPr>
          <a:xfrm>
            <a:off x="2739542" y="5193792"/>
            <a:ext cx="2145182" cy="274320"/>
          </a:xfrm>
          <a:prstGeom prst="rect">
            <a:avLst/>
          </a:prstGeom>
          <a:noFill/>
        </p:spPr>
        <p:txBody>
          <a:bodyPr wrap="square" lIns="0" tIns="0" rIns="0" bIns="0" anchor="t">
            <a:spAutoFit/>
          </a:bodyPr>
          <a:lstStyle/>
          <a:p>
            <a:pPr algn="ctr"/>
            <a:r>
              <a:rPr sz="950" b="1" i="0">
                <a:solidFill>
                  <a:srgbClr val="0E7C66"/>
                </a:solidFill>
                <a:latin typeface="Calibri"/>
              </a:rPr>
              <a:t>Detail: p. 7</a:t>
            </a:r>
          </a:p>
        </p:txBody>
      </p:sp>
      <p:sp>
        <p:nvSpPr>
          <p:cNvPr id="12" name="Rounded Rectangle 11"/>
          <p:cNvSpPr/>
          <p:nvPr/>
        </p:nvSpPr>
        <p:spPr>
          <a:xfrm>
            <a:off x="5021884" y="2194560"/>
            <a:ext cx="2145182" cy="5029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1A2130"/>
                </a:solidFill>
                <a:latin typeface="Calibri"/>
              </a:rPr>
              <a:t>USE</a:t>
            </a:r>
          </a:p>
        </p:txBody>
      </p:sp>
      <p:sp>
        <p:nvSpPr>
          <p:cNvPr id="13" name="Rounded Rectangle 12"/>
          <p:cNvSpPr/>
          <p:nvPr/>
        </p:nvSpPr>
        <p:spPr>
          <a:xfrm>
            <a:off x="5021884" y="2788920"/>
            <a:ext cx="2145182" cy="2331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 Models, analytics &amp; AI</a:t>
            </a:r>
          </a:p>
          <a:p>
            <a:pPr algn="l"/>
            <a:r>
              <a:rPr sz="1050" b="0" i="0">
                <a:solidFill>
                  <a:srgbClr val="57626B"/>
                </a:solidFill>
                <a:latin typeface="Calibri"/>
              </a:rPr>
              <a:t>• Spreadsheets &amp; end-user tools</a:t>
            </a:r>
          </a:p>
          <a:p>
            <a:pPr algn="l"/>
            <a:r>
              <a:rPr sz="1050" b="0" i="0">
                <a:solidFill>
                  <a:srgbClr val="57626B"/>
                </a:solidFill>
                <a:latin typeface="Calibri"/>
              </a:rPr>
              <a:t>• Regulatory &amp; risk reporting</a:t>
            </a:r>
          </a:p>
          <a:p>
            <a:pPr algn="l"/>
            <a:r>
              <a:rPr sz="1050" b="0" i="0">
                <a:solidFill>
                  <a:srgbClr val="57626B"/>
                </a:solidFill>
                <a:latin typeface="Calibri"/>
              </a:rPr>
              <a:t>• Sharing &amp; external data</a:t>
            </a:r>
          </a:p>
        </p:txBody>
      </p:sp>
      <p:sp>
        <p:nvSpPr>
          <p:cNvPr id="14" name="TextBox 13"/>
          <p:cNvSpPr txBox="1"/>
          <p:nvPr/>
        </p:nvSpPr>
        <p:spPr>
          <a:xfrm>
            <a:off x="5021884" y="5193792"/>
            <a:ext cx="2145182" cy="274320"/>
          </a:xfrm>
          <a:prstGeom prst="rect">
            <a:avLst/>
          </a:prstGeom>
          <a:noFill/>
        </p:spPr>
        <p:txBody>
          <a:bodyPr wrap="square" lIns="0" tIns="0" rIns="0" bIns="0" anchor="t">
            <a:spAutoFit/>
          </a:bodyPr>
          <a:lstStyle/>
          <a:p>
            <a:pPr algn="ctr"/>
            <a:r>
              <a:rPr sz="950" b="1" i="0">
                <a:solidFill>
                  <a:srgbClr val="0E7C66"/>
                </a:solidFill>
                <a:latin typeface="Calibri"/>
              </a:rPr>
              <a:t>Detail: p. 8</a:t>
            </a:r>
          </a:p>
        </p:txBody>
      </p:sp>
      <p:sp>
        <p:nvSpPr>
          <p:cNvPr id="15" name="Rounded Rectangle 14"/>
          <p:cNvSpPr/>
          <p:nvPr/>
        </p:nvSpPr>
        <p:spPr>
          <a:xfrm>
            <a:off x="7304227" y="2194560"/>
            <a:ext cx="2145182" cy="5029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1A2130"/>
                </a:solidFill>
                <a:latin typeface="Calibri"/>
              </a:rPr>
              <a:t>OPERATE</a:t>
            </a:r>
          </a:p>
        </p:txBody>
      </p:sp>
      <p:sp>
        <p:nvSpPr>
          <p:cNvPr id="16" name="Rounded Rectangle 15"/>
          <p:cNvSpPr/>
          <p:nvPr/>
        </p:nvSpPr>
        <p:spPr>
          <a:xfrm>
            <a:off x="7304227" y="2788920"/>
            <a:ext cx="2145182" cy="2331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 Issue management</a:t>
            </a:r>
          </a:p>
          <a:p>
            <a:pPr algn="l"/>
            <a:r>
              <a:rPr sz="1050" b="0" i="0">
                <a:solidFill>
                  <a:srgbClr val="57626B"/>
                </a:solidFill>
                <a:latin typeface="Calibri"/>
              </a:rPr>
              <a:t>• Data change management</a:t>
            </a:r>
          </a:p>
          <a:p>
            <a:pPr algn="l"/>
            <a:r>
              <a:rPr sz="1050" b="0" i="0">
                <a:solidFill>
                  <a:srgbClr val="57626B"/>
                </a:solidFill>
                <a:latin typeface="Calibri"/>
              </a:rPr>
              <a:t>• Exceptions &amp; waivers</a:t>
            </a:r>
          </a:p>
        </p:txBody>
      </p:sp>
      <p:sp>
        <p:nvSpPr>
          <p:cNvPr id="17" name="TextBox 16"/>
          <p:cNvSpPr txBox="1"/>
          <p:nvPr/>
        </p:nvSpPr>
        <p:spPr>
          <a:xfrm>
            <a:off x="7304227" y="5193792"/>
            <a:ext cx="2145182" cy="274320"/>
          </a:xfrm>
          <a:prstGeom prst="rect">
            <a:avLst/>
          </a:prstGeom>
          <a:noFill/>
        </p:spPr>
        <p:txBody>
          <a:bodyPr wrap="square" lIns="0" tIns="0" rIns="0" bIns="0" anchor="t">
            <a:spAutoFit/>
          </a:bodyPr>
          <a:lstStyle/>
          <a:p>
            <a:pPr algn="ctr"/>
            <a:r>
              <a:rPr sz="950" b="1" i="0">
                <a:solidFill>
                  <a:srgbClr val="0E7C66"/>
                </a:solidFill>
                <a:latin typeface="Calibri"/>
              </a:rPr>
              <a:t>Detail: p. 9</a:t>
            </a:r>
          </a:p>
        </p:txBody>
      </p:sp>
      <p:sp>
        <p:nvSpPr>
          <p:cNvPr id="18" name="Rounded Rectangle 17"/>
          <p:cNvSpPr/>
          <p:nvPr/>
        </p:nvSpPr>
        <p:spPr>
          <a:xfrm>
            <a:off x="9586569" y="2194560"/>
            <a:ext cx="2145182" cy="50292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200" b="1" i="0">
                <a:solidFill>
                  <a:srgbClr val="1A2130"/>
                </a:solidFill>
                <a:latin typeface="Calibri"/>
              </a:rPr>
              <a:t>OVERSEE</a:t>
            </a:r>
          </a:p>
        </p:txBody>
      </p:sp>
      <p:sp>
        <p:nvSpPr>
          <p:cNvPr id="19" name="Rounded Rectangle 18"/>
          <p:cNvSpPr/>
          <p:nvPr/>
        </p:nvSpPr>
        <p:spPr>
          <a:xfrm>
            <a:off x="9586569" y="2788920"/>
            <a:ext cx="2145182" cy="23317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0" i="0">
                <a:solidFill>
                  <a:srgbClr val="57626B"/>
                </a:solidFill>
                <a:latin typeface="Calibri"/>
              </a:rPr>
              <a:t>• Monitoring &amp; compliance</a:t>
            </a:r>
          </a:p>
        </p:txBody>
      </p:sp>
      <p:sp>
        <p:nvSpPr>
          <p:cNvPr id="20" name="TextBox 19"/>
          <p:cNvSpPr txBox="1"/>
          <p:nvPr/>
        </p:nvSpPr>
        <p:spPr>
          <a:xfrm>
            <a:off x="9586569" y="5193792"/>
            <a:ext cx="2145182" cy="274320"/>
          </a:xfrm>
          <a:prstGeom prst="rect">
            <a:avLst/>
          </a:prstGeom>
          <a:noFill/>
        </p:spPr>
        <p:txBody>
          <a:bodyPr wrap="square" lIns="0" tIns="0" rIns="0" bIns="0" anchor="t">
            <a:spAutoFit/>
          </a:bodyPr>
          <a:lstStyle/>
          <a:p>
            <a:pPr algn="ctr"/>
            <a:r>
              <a:rPr sz="950" b="1" i="0">
                <a:solidFill>
                  <a:srgbClr val="0E7C66"/>
                </a:solidFill>
                <a:latin typeface="Calibri"/>
              </a:rPr>
              <a:t>Detail: p. 9</a:t>
            </a:r>
          </a:p>
        </p:txBody>
      </p:sp>
      <p:sp>
        <p:nvSpPr>
          <p:cNvPr id="21" name="Rounded Rectangle 20"/>
          <p:cNvSpPr/>
          <p:nvPr/>
        </p:nvSpPr>
        <p:spPr>
          <a:xfrm>
            <a:off x="457200" y="5577840"/>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Start small: </a:t>
            </a:r>
            <a:r>
              <a:rPr sz="1150" b="0" i="0">
                <a:solidFill>
                  <a:srgbClr val="57626B"/>
                </a:solidFill>
                <a:latin typeface="Calibri"/>
              </a:rPr>
              <a:t>not every firm needs all eighteen on day one. A minimum set is suggested on the roadmap page.</a:t>
            </a:r>
          </a:p>
        </p:txBody>
      </p:sp>
      <p:sp>
        <p:nvSpPr>
          <p:cNvPr id="22" name="TextBox 2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05</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The umbrella: the Data Governance Policy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one document every other data policy and standard sits under.</a:t>
            </a:r>
          </a:p>
        </p:txBody>
      </p:sp>
      <p:graphicFrame>
        <p:nvGraphicFramePr>
          <p:cNvPr id="5" name="Table 4"/>
          <p:cNvGraphicFramePr>
            <a:graphicFrameLocks noGrp="1"/>
          </p:cNvGraphicFramePr>
          <p:nvPr/>
        </p:nvGraphicFramePr>
        <p:xfrm>
          <a:off x="457200" y="1325880"/>
          <a:ext cx="11274552" cy="4005072"/>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8348472">
                  <a:extLst>
                    <a:ext uri="{9D8B030D-6E8A-4147-A177-3AD203B41FA5}">
                      <a16:colId xmlns:a16="http://schemas.microsoft.com/office/drawing/2014/main" val="20001"/>
                    </a:ext>
                  </a:extLst>
                </a:gridCol>
              </a:tblGrid>
              <a:tr h="347472">
                <a:tc>
                  <a:txBody>
                    <a:bodyPr/>
                    <a:lstStyle/>
                    <a:p>
                      <a:pPr algn="l"/>
                      <a:r>
                        <a:rPr sz="1000" b="1" i="0">
                          <a:solidFill>
                            <a:srgbClr val="CADCEA"/>
                          </a:solidFill>
                          <a:latin typeface="Calibri"/>
                        </a:rPr>
                        <a:t>SECTION</a:t>
                      </a:r>
                    </a:p>
                  </a:txBody>
                  <a:tcPr marL="73152" marR="73152" marT="36576" marB="36576" anchor="ctr">
                    <a:solidFill>
                      <a:srgbClr val="1A2130"/>
                    </a:solidFill>
                  </a:tcPr>
                </a:tc>
                <a:tc>
                  <a:txBody>
                    <a:bodyPr/>
                    <a:lstStyle/>
                    <a:p>
                      <a:pPr algn="l"/>
                      <a:r>
                        <a:rPr sz="1000" b="1" i="0">
                          <a:solidFill>
                            <a:srgbClr val="CADCEA"/>
                          </a:solidFill>
                          <a:latin typeface="Calibri"/>
                        </a:rPr>
                        <a:t>WHAT IT ESTABLISHES</a:t>
                      </a:r>
                    </a:p>
                  </a:txBody>
                  <a:tcPr marL="73152" marR="73152" marT="36576" marB="36576" anchor="ctr">
                    <a:solidFill>
                      <a:srgbClr val="1A2130"/>
                    </a:solidFill>
                  </a:tcPr>
                </a:tc>
                <a:extLst>
                  <a:ext uri="{0D108BD9-81ED-4DB2-BD59-A6C34878D82A}">
                    <a16:rowId xmlns:a16="http://schemas.microsoft.com/office/drawing/2014/main" val="10000"/>
                  </a:ext>
                </a:extLst>
              </a:tr>
              <a:tr h="457200">
                <a:tc>
                  <a:txBody>
                    <a:bodyPr/>
                    <a:lstStyle/>
                    <a:p>
                      <a:pPr algn="l"/>
                      <a:r>
                        <a:rPr sz="1100" b="1" i="0">
                          <a:solidFill>
                            <a:srgbClr val="1A2130"/>
                          </a:solidFill>
                          <a:latin typeface="Calibri"/>
                        </a:rPr>
                        <a:t>Purpose and scope</a:t>
                      </a:r>
                    </a:p>
                  </a:txBody>
                  <a:tcPr marL="73152" marR="73152" marT="36576" marB="36576" anchor="ctr">
                    <a:solidFill>
                      <a:srgbClr val="FFFFFF"/>
                    </a:solidFill>
                  </a:tcPr>
                </a:tc>
                <a:tc>
                  <a:txBody>
                    <a:bodyPr/>
                    <a:lstStyle/>
                    <a:p>
                      <a:pPr algn="l"/>
                      <a:r>
                        <a:rPr sz="1100" b="0" i="0">
                          <a:solidFill>
                            <a:srgbClr val="57626B"/>
                          </a:solidFill>
                          <a:latin typeface="Calibri"/>
                        </a:rPr>
                        <a:t>Which data, entities, systems and third parties the policy covers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r>
                        <a:rPr sz="1100" b="1" i="0">
                          <a:solidFill>
                            <a:srgbClr val="1A2130"/>
                          </a:solidFill>
                          <a:latin typeface="Calibri"/>
                        </a:rPr>
                        <a:t>Roles and responsibilities</a:t>
                      </a:r>
                    </a:p>
                  </a:txBody>
                  <a:tcPr marL="73152" marR="73152" marT="36576" marB="36576" anchor="ctr">
                    <a:solidFill>
                      <a:srgbClr val="F4F6F2"/>
                    </a:solidFill>
                  </a:tcPr>
                </a:tc>
                <a:tc>
                  <a:txBody>
                    <a:bodyPr/>
                    <a:lstStyle/>
                    <a:p>
                      <a:pPr algn="l"/>
                      <a:r>
                        <a:rPr sz="1100" b="0" i="0">
                          <a:solidFill>
                            <a:srgbClr val="57626B"/>
                          </a:solidFill>
                          <a:latin typeface="Calibri"/>
                        </a:rPr>
                        <a:t>Data owners, stewards, custodians, the DGO, the council and the 2nd line</a:t>
                      </a:r>
                    </a:p>
                  </a:txBody>
                  <a:tcPr marL="73152" marR="73152" marT="36576" marB="36576" anchor="ctr">
                    <a:solidFill>
                      <a:srgbClr val="F4F6F2"/>
                    </a:solidFill>
                  </a:tcPr>
                </a:tc>
                <a:extLst>
                  <a:ext uri="{0D108BD9-81ED-4DB2-BD59-A6C34878D82A}">
                    <a16:rowId xmlns:a16="http://schemas.microsoft.com/office/drawing/2014/main" val="10002"/>
                  </a:ext>
                </a:extLst>
              </a:tr>
              <a:tr h="457200">
                <a:tc>
                  <a:txBody>
                    <a:bodyPr/>
                    <a:lstStyle/>
                    <a:p>
                      <a:pPr algn="l"/>
                      <a:r>
                        <a:rPr sz="1100" b="1" i="0">
                          <a:solidFill>
                            <a:srgbClr val="1A2130"/>
                          </a:solidFill>
                          <a:latin typeface="Calibri"/>
                        </a:rPr>
                        <a:t>Decision rights</a:t>
                      </a:r>
                    </a:p>
                  </a:txBody>
                  <a:tcPr marL="73152" marR="73152" marT="36576" marB="36576" anchor="ctr">
                    <a:solidFill>
                      <a:srgbClr val="FFFFFF"/>
                    </a:solidFill>
                  </a:tcPr>
                </a:tc>
                <a:tc>
                  <a:txBody>
                    <a:bodyPr/>
                    <a:lstStyle/>
                    <a:p>
                      <a:pPr algn="l"/>
                      <a:r>
                        <a:rPr sz="1100" b="0" i="0">
                          <a:solidFill>
                            <a:srgbClr val="57626B"/>
                          </a:solidFill>
                          <a:latin typeface="Calibri"/>
                        </a:rPr>
                        <a:t>Who approves definitions, thresholds, standards and risk acceptance</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r>
                        <a:rPr sz="1100" b="1" i="0">
                          <a:solidFill>
                            <a:srgbClr val="1A2130"/>
                          </a:solidFill>
                          <a:latin typeface="Calibri"/>
                        </a:rPr>
                        <a:t>Governance forums</a:t>
                      </a:r>
                    </a:p>
                  </a:txBody>
                  <a:tcPr marL="73152" marR="73152" marT="36576" marB="36576" anchor="ctr">
                    <a:solidFill>
                      <a:srgbClr val="F4F6F2"/>
                    </a:solidFill>
                  </a:tcPr>
                </a:tc>
                <a:tc>
                  <a:txBody>
                    <a:bodyPr/>
                    <a:lstStyle/>
                    <a:p>
                      <a:pPr algn="l"/>
                      <a:r>
                        <a:rPr sz="1100" b="0" i="0">
                          <a:solidFill>
                            <a:srgbClr val="57626B"/>
                          </a:solidFill>
                          <a:latin typeface="Calibri"/>
                        </a:rPr>
                        <a:t>Council and committee membership, cadence and escalation path</a:t>
                      </a:r>
                    </a:p>
                  </a:txBody>
                  <a:tcPr marL="73152" marR="73152" marT="36576" marB="36576" anchor="ctr">
                    <a:solidFill>
                      <a:srgbClr val="F4F6F2"/>
                    </a:solidFill>
                  </a:tcPr>
                </a:tc>
                <a:extLst>
                  <a:ext uri="{0D108BD9-81ED-4DB2-BD59-A6C34878D82A}">
                    <a16:rowId xmlns:a16="http://schemas.microsoft.com/office/drawing/2014/main" val="10004"/>
                  </a:ext>
                </a:extLst>
              </a:tr>
              <a:tr h="457200">
                <a:tc>
                  <a:txBody>
                    <a:bodyPr/>
                    <a:lstStyle/>
                    <a:p>
                      <a:pPr algn="l"/>
                      <a:r>
                        <a:rPr sz="1100" b="1" i="0">
                          <a:solidFill>
                            <a:srgbClr val="1A2130"/>
                          </a:solidFill>
                          <a:latin typeface="Calibri"/>
                        </a:rPr>
                        <a:t>Supporting standards</a:t>
                      </a:r>
                    </a:p>
                  </a:txBody>
                  <a:tcPr marL="73152" marR="73152" marT="36576" marB="36576" anchor="ctr">
                    <a:solidFill>
                      <a:srgbClr val="FFFFFF"/>
                    </a:solidFill>
                  </a:tcPr>
                </a:tc>
                <a:tc>
                  <a:txBody>
                    <a:bodyPr/>
                    <a:lstStyle/>
                    <a:p>
                      <a:pPr algn="l"/>
                      <a:r>
                        <a:rPr sz="1100" b="0" i="0">
                          <a:solidFill>
                            <a:srgbClr val="57626B"/>
                          </a:solidFill>
                          <a:latin typeface="Calibri"/>
                        </a:rPr>
                        <a:t>The list of standards that make the policy measurable</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pPr algn="l"/>
                      <a:r>
                        <a:rPr sz="1100" b="1" i="0">
                          <a:solidFill>
                            <a:srgbClr val="1A2130"/>
                          </a:solidFill>
                          <a:latin typeface="Calibri"/>
                        </a:rPr>
                        <a:t>Exceptions</a:t>
                      </a:r>
                    </a:p>
                  </a:txBody>
                  <a:tcPr marL="73152" marR="73152" marT="36576" marB="36576" anchor="ctr">
                    <a:solidFill>
                      <a:srgbClr val="F4F6F2"/>
                    </a:solidFill>
                  </a:tcPr>
                </a:tc>
                <a:tc>
                  <a:txBody>
                    <a:bodyPr/>
                    <a:lstStyle/>
                    <a:p>
                      <a:pPr algn="l"/>
                      <a:r>
                        <a:rPr sz="1100" b="0" i="0">
                          <a:solidFill>
                            <a:srgbClr val="57626B"/>
                          </a:solidFill>
                          <a:latin typeface="Calibri"/>
                        </a:rPr>
                        <a:t>How non-compliance is requested, approved, time-limited and tracked</a:t>
                      </a:r>
                    </a:p>
                  </a:txBody>
                  <a:tcPr marL="73152" marR="73152" marT="36576" marB="36576" anchor="ctr">
                    <a:solidFill>
                      <a:srgbClr val="F4F6F2"/>
                    </a:solidFill>
                  </a:tcPr>
                </a:tc>
                <a:extLst>
                  <a:ext uri="{0D108BD9-81ED-4DB2-BD59-A6C34878D82A}">
                    <a16:rowId xmlns:a16="http://schemas.microsoft.com/office/drawing/2014/main" val="10006"/>
                  </a:ext>
                </a:extLst>
              </a:tr>
              <a:tr h="457200">
                <a:tc>
                  <a:txBody>
                    <a:bodyPr/>
                    <a:lstStyle/>
                    <a:p>
                      <a:pPr algn="l"/>
                      <a:r>
                        <a:rPr sz="1100" b="1" i="0">
                          <a:solidFill>
                            <a:srgbClr val="1A2130"/>
                          </a:solidFill>
                          <a:latin typeface="Calibri"/>
                        </a:rPr>
                        <a:t>Monitoring and reporting</a:t>
                      </a:r>
                    </a:p>
                  </a:txBody>
                  <a:tcPr marL="73152" marR="73152" marT="36576" marB="36576" anchor="ctr">
                    <a:solidFill>
                      <a:srgbClr val="FFFFFF"/>
                    </a:solidFill>
                  </a:tcPr>
                </a:tc>
                <a:tc>
                  <a:txBody>
                    <a:bodyPr/>
                    <a:lstStyle/>
                    <a:p>
                      <a:pPr algn="l"/>
                      <a:r>
                        <a:rPr sz="1100" b="0" i="0">
                          <a:solidFill>
                            <a:srgbClr val="57626B"/>
                          </a:solidFill>
                          <a:latin typeface="Calibri"/>
                        </a:rPr>
                        <a:t>How compliance is measured and reported to executives and the board</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pPr algn="l"/>
                      <a:r>
                        <a:rPr sz="1100" b="1" i="0">
                          <a:solidFill>
                            <a:srgbClr val="1A2130"/>
                          </a:solidFill>
                          <a:latin typeface="Calibri"/>
                        </a:rPr>
                        <a:t>Consequences and review</a:t>
                      </a:r>
                    </a:p>
                  </a:txBody>
                  <a:tcPr marL="73152" marR="73152" marT="36576" marB="36576" anchor="ctr">
                    <a:solidFill>
                      <a:srgbClr val="F4F6F2"/>
                    </a:solidFill>
                  </a:tcPr>
                </a:tc>
                <a:tc>
                  <a:txBody>
                    <a:bodyPr/>
                    <a:lstStyle/>
                    <a:p>
                      <a:pPr algn="l"/>
                      <a:r>
                        <a:rPr sz="1100" b="0" i="0">
                          <a:solidFill>
                            <a:srgbClr val="57626B"/>
                          </a:solidFill>
                          <a:latin typeface="Calibri"/>
                        </a:rPr>
                        <a:t>What happens on breach; annual review and re-approval</a:t>
                      </a:r>
                    </a:p>
                  </a:txBody>
                  <a:tcPr marL="73152" marR="73152" marT="36576" marB="36576" anchor="ctr">
                    <a:solidFill>
                      <a:srgbClr val="F4F6F2"/>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457200" y="5440680"/>
            <a:ext cx="11274552" cy="73152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Executive role: </a:t>
            </a:r>
            <a:r>
              <a:rPr sz="1150" b="0" i="0">
                <a:solidFill>
                  <a:srgbClr val="57626B"/>
                </a:solidFill>
                <a:latin typeface="Calibri"/>
              </a:rPr>
              <a:t>the executive committee or board approves this policy, and a named executive sponsors it. Everything else can be approved at council level.</a:t>
            </a:r>
          </a:p>
        </p:txBody>
      </p:sp>
      <p:sp>
        <p:nvSpPr>
          <p:cNvPr id="7" name="TextBox 6"/>
          <p:cNvSpPr txBox="1"/>
          <p:nvPr/>
        </p:nvSpPr>
        <p:spPr>
          <a:xfrm>
            <a:off x="457200" y="6199632"/>
            <a:ext cx="11247120" cy="237744"/>
          </a:xfrm>
          <a:prstGeom prst="rect">
            <a:avLst/>
          </a:prstGeom>
          <a:noFill/>
        </p:spPr>
        <p:txBody>
          <a:bodyPr wrap="square" lIns="0" tIns="0" rIns="0" bIns="0" anchor="t">
            <a:spAutoFit/>
          </a:bodyPr>
          <a:lstStyle/>
          <a:p>
            <a:pPr algn="l"/>
            <a:r>
              <a:rPr sz="1000" b="1" i="1">
                <a:solidFill>
                  <a:srgbClr val="0E7C66"/>
                </a:solidFill>
                <a:latin typeface="Calibri"/>
              </a:rPr>
              <a:t>Finished examples of this policy and the documents beneath it (standard, procedures, guideline) are in Appendices B–F (pp. 19–23).</a:t>
            </a:r>
          </a:p>
        </p:txBody>
      </p:sp>
      <p:sp>
        <p:nvSpPr>
          <p:cNvPr id="8" name="TextBox 7"/>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06</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Family 1 — Manage: making data correct and understood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Policies and standards that define, measure and trace critical data.</a:t>
            </a:r>
          </a:p>
        </p:txBody>
      </p:sp>
      <p:graphicFrame>
        <p:nvGraphicFramePr>
          <p:cNvPr id="5" name="Table 4"/>
          <p:cNvGraphicFramePr>
            <a:graphicFrameLocks noGrp="1"/>
          </p:cNvGraphicFramePr>
          <p:nvPr/>
        </p:nvGraphicFramePr>
        <p:xfrm>
          <a:off x="457200" y="1325880"/>
          <a:ext cx="11274552" cy="409651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347472">
                <a:tc>
                  <a:txBody>
                    <a:bodyPr/>
                    <a:lstStyle/>
                    <a:p>
                      <a:pPr algn="l"/>
                      <a:r>
                        <a:rPr sz="1000" b="1" i="0">
                          <a:solidFill>
                            <a:srgbClr val="CADCEA"/>
                          </a:solidFill>
                          <a:latin typeface="Calibri"/>
                        </a:rPr>
                        <a:t>POLICY</a:t>
                      </a:r>
                    </a:p>
                  </a:txBody>
                  <a:tcPr marL="73152" marR="73152" marT="36576" marB="36576" anchor="ctr">
                    <a:solidFill>
                      <a:srgbClr val="1A2130"/>
                    </a:solidFill>
                  </a:tcPr>
                </a:tc>
                <a:tc>
                  <a:txBody>
                    <a:bodyPr/>
                    <a:lstStyle/>
                    <a:p>
                      <a:pPr algn="l"/>
                      <a:r>
                        <a:rPr sz="1000" b="1" i="0">
                          <a:solidFill>
                            <a:srgbClr val="CADCEA"/>
                          </a:solidFill>
                          <a:latin typeface="Calibri"/>
                        </a:rPr>
                        <a:t>WHAT IT REQUIRES</a:t>
                      </a:r>
                    </a:p>
                  </a:txBody>
                  <a:tcPr marL="73152" marR="73152" marT="36576" marB="36576" anchor="ctr">
                    <a:solidFill>
                      <a:srgbClr val="1A2130"/>
                    </a:solidFill>
                  </a:tcPr>
                </a:tc>
                <a:tc>
                  <a:txBody>
                    <a:bodyPr/>
                    <a:lstStyle/>
                    <a:p>
                      <a:pPr algn="l"/>
                      <a:r>
                        <a:rPr sz="1000" b="1" i="0">
                          <a:solidFill>
                            <a:srgbClr val="CADCEA"/>
                          </a:solidFill>
                          <a:latin typeface="Calibri"/>
                        </a:rPr>
                        <a:t>TYPICAL OWNER</a:t>
                      </a:r>
                    </a:p>
                  </a:txBody>
                  <a:tcPr marL="73152" marR="73152" marT="36576" marB="36576" anchor="ctr">
                    <a:solidFill>
                      <a:srgbClr val="1A2130"/>
                    </a:solidFill>
                  </a:tcPr>
                </a:tc>
                <a:tc>
                  <a:txBody>
                    <a:bodyPr/>
                    <a:lstStyle/>
                    <a:p>
                      <a:pPr algn="l"/>
                      <a:r>
                        <a:rPr sz="1000" b="1" i="0">
                          <a:solidFill>
                            <a:srgbClr val="CADCEA"/>
                          </a:solidFill>
                          <a:latin typeface="Calibri"/>
                        </a:rPr>
                        <a:t>WHY IT MATTERS TO EXECUTIVES</a:t>
                      </a:r>
                    </a:p>
                  </a:txBody>
                  <a:tcPr marL="73152" marR="73152" marT="36576" marB="36576" anchor="ctr">
                    <a:solidFill>
                      <a:srgbClr val="1A2130"/>
                    </a:solidFill>
                  </a:tcPr>
                </a:tc>
                <a:extLst>
                  <a:ext uri="{0D108BD9-81ED-4DB2-BD59-A6C34878D82A}">
                    <a16:rowId xmlns:a16="http://schemas.microsoft.com/office/drawing/2014/main" val="10000"/>
                  </a:ext>
                </a:extLst>
              </a:tr>
              <a:tr h="749808">
                <a:tc>
                  <a:txBody>
                    <a:bodyPr/>
                    <a:lstStyle/>
                    <a:p>
                      <a:pPr algn="l"/>
                      <a:r>
                        <a:rPr sz="1000" b="1" i="0">
                          <a:solidFill>
                            <a:srgbClr val="1A2130"/>
                          </a:solidFill>
                          <a:latin typeface="Calibri"/>
                        </a:rPr>
                        <a:t>Data quality</a:t>
                      </a:r>
                    </a:p>
                  </a:txBody>
                  <a:tcPr marL="73152" marR="73152" marT="36576" marB="36576" anchor="ctr">
                    <a:solidFill>
                      <a:srgbClr val="FFFFFF"/>
                    </a:solidFill>
                  </a:tcPr>
                </a:tc>
                <a:tc>
                  <a:txBody>
                    <a:bodyPr/>
                    <a:lstStyle/>
                    <a:p>
                      <a:pPr algn="l"/>
                      <a:r>
                        <a:rPr sz="1000" b="0" i="0">
                          <a:solidFill>
                            <a:srgbClr val="57626B"/>
                          </a:solidFill>
                          <a:latin typeface="Calibri"/>
                        </a:rPr>
                        <a:t>Defines quality dimensions, rules, thresholds and scoring; requires monitoring of critical data</a:t>
                      </a:r>
                    </a:p>
                  </a:txBody>
                  <a:tcPr marL="73152" marR="73152" marT="36576" marB="36576" anchor="ctr">
                    <a:solidFill>
                      <a:srgbClr val="FFFFFF"/>
                    </a:solidFill>
                  </a:tcPr>
                </a:tc>
                <a:tc>
                  <a:txBody>
                    <a:bodyPr/>
                    <a:lstStyle/>
                    <a:p>
                      <a:pPr algn="l"/>
                      <a:r>
                        <a:rPr sz="1000" b="0" i="0">
                          <a:solidFill>
                            <a:srgbClr val="57626B"/>
                          </a:solidFill>
                          <a:latin typeface="Calibri"/>
                        </a:rPr>
                        <a:t>Chief Data Officer</a:t>
                      </a:r>
                    </a:p>
                  </a:txBody>
                  <a:tcPr marL="73152" marR="73152" marT="36576" marB="36576" anchor="ctr">
                    <a:solidFill>
                      <a:srgbClr val="FFFFFF"/>
                    </a:solidFill>
                  </a:tcPr>
                </a:tc>
                <a:tc>
                  <a:txBody>
                    <a:bodyPr/>
                    <a:lstStyle/>
                    <a:p>
                      <a:pPr algn="l"/>
                      <a:r>
                        <a:rPr sz="1000" b="0" i="0">
                          <a:solidFill>
                            <a:srgbClr val="57626B"/>
                          </a:solidFill>
                          <a:latin typeface="Calibri"/>
                        </a:rPr>
                        <a:t>Measurable quality behind every reported number</a:t>
                      </a:r>
                    </a:p>
                  </a:txBody>
                  <a:tcPr marL="73152" marR="73152" marT="36576" marB="36576" anchor="ctr">
                    <a:solidFill>
                      <a:srgbClr val="FFFFFF"/>
                    </a:solidFill>
                  </a:tcPr>
                </a:tc>
                <a:extLst>
                  <a:ext uri="{0D108BD9-81ED-4DB2-BD59-A6C34878D82A}">
                    <a16:rowId xmlns:a16="http://schemas.microsoft.com/office/drawing/2014/main" val="10001"/>
                  </a:ext>
                </a:extLst>
              </a:tr>
              <a:tr h="749808">
                <a:tc>
                  <a:txBody>
                    <a:bodyPr/>
                    <a:lstStyle/>
                    <a:p>
                      <a:pPr algn="l"/>
                      <a:r>
                        <a:rPr sz="1000" b="1" i="0">
                          <a:solidFill>
                            <a:srgbClr val="1A2130"/>
                          </a:solidFill>
                          <a:latin typeface="Calibri"/>
                        </a:rPr>
                        <a:t>Critical data elements (CDEs)</a:t>
                      </a:r>
                    </a:p>
                  </a:txBody>
                  <a:tcPr marL="73152" marR="73152" marT="36576" marB="36576" anchor="ctr">
                    <a:solidFill>
                      <a:srgbClr val="F4F6F2"/>
                    </a:solidFill>
                  </a:tcPr>
                </a:tc>
                <a:tc>
                  <a:txBody>
                    <a:bodyPr/>
                    <a:lstStyle/>
                    <a:p>
                      <a:pPr algn="l"/>
                      <a:r>
                        <a:rPr sz="1000" b="0" i="0">
                          <a:solidFill>
                            <a:srgbClr val="57626B"/>
                          </a:solidFill>
                          <a:latin typeface="Calibri"/>
                        </a:rPr>
                        <a:t>Criteria for what is critical; every CDE has an owner, definition, lineage and rules; annual certification</a:t>
                      </a:r>
                    </a:p>
                  </a:txBody>
                  <a:tcPr marL="73152" marR="73152" marT="36576" marB="36576" anchor="ctr">
                    <a:solidFill>
                      <a:srgbClr val="F4F6F2"/>
                    </a:solidFill>
                  </a:tcPr>
                </a:tc>
                <a:tc>
                  <a:txBody>
                    <a:bodyPr/>
                    <a:lstStyle/>
                    <a:p>
                      <a:pPr algn="l"/>
                      <a:r>
                        <a:rPr sz="1000" b="0" i="0">
                          <a:solidFill>
                            <a:srgbClr val="57626B"/>
                          </a:solidFill>
                          <a:latin typeface="Calibri"/>
                        </a:rPr>
                        <a:t>Chief Data Officer</a:t>
                      </a:r>
                    </a:p>
                  </a:txBody>
                  <a:tcPr marL="73152" marR="73152" marT="36576" marB="36576" anchor="ctr">
                    <a:solidFill>
                      <a:srgbClr val="F4F6F2"/>
                    </a:solidFill>
                  </a:tcPr>
                </a:tc>
                <a:tc>
                  <a:txBody>
                    <a:bodyPr/>
                    <a:lstStyle/>
                    <a:p>
                      <a:pPr algn="l"/>
                      <a:r>
                        <a:rPr sz="1000" b="0" i="0">
                          <a:solidFill>
                            <a:srgbClr val="57626B"/>
                          </a:solidFill>
                          <a:latin typeface="Calibri"/>
                        </a:rPr>
                        <a:t>Focuses effort on the data regulators and auditors will test</a:t>
                      </a:r>
                    </a:p>
                  </a:txBody>
                  <a:tcPr marL="73152" marR="73152" marT="36576" marB="36576" anchor="ctr">
                    <a:solidFill>
                      <a:srgbClr val="F4F6F2"/>
                    </a:solidFill>
                  </a:tcPr>
                </a:tc>
                <a:extLst>
                  <a:ext uri="{0D108BD9-81ED-4DB2-BD59-A6C34878D82A}">
                    <a16:rowId xmlns:a16="http://schemas.microsoft.com/office/drawing/2014/main" val="10002"/>
                  </a:ext>
                </a:extLst>
              </a:tr>
              <a:tr h="749808">
                <a:tc>
                  <a:txBody>
                    <a:bodyPr/>
                    <a:lstStyle/>
                    <a:p>
                      <a:pPr algn="l"/>
                      <a:r>
                        <a:rPr sz="1000" b="1" i="0">
                          <a:solidFill>
                            <a:srgbClr val="1A2130"/>
                          </a:solidFill>
                          <a:latin typeface="Calibri"/>
                        </a:rPr>
                        <a:t>Metadata &amp; business glossary</a:t>
                      </a:r>
                    </a:p>
                  </a:txBody>
                  <a:tcPr marL="73152" marR="73152" marT="36576" marB="36576" anchor="ctr">
                    <a:solidFill>
                      <a:srgbClr val="FFFFFF"/>
                    </a:solidFill>
                  </a:tcPr>
                </a:tc>
                <a:tc>
                  <a:txBody>
                    <a:bodyPr/>
                    <a:lstStyle/>
                    <a:p>
                      <a:pPr algn="l"/>
                      <a:r>
                        <a:rPr sz="1000" b="0" i="0">
                          <a:solidFill>
                            <a:srgbClr val="57626B"/>
                          </a:solidFill>
                          <a:latin typeface="Calibri"/>
                        </a:rPr>
                        <a:t>Every term has one approved definition, owner and catalog entry</a:t>
                      </a:r>
                    </a:p>
                  </a:txBody>
                  <a:tcPr marL="73152" marR="73152" marT="36576" marB="36576" anchor="ctr">
                    <a:solidFill>
                      <a:srgbClr val="FFFFFF"/>
                    </a:solidFill>
                  </a:tcPr>
                </a:tc>
                <a:tc>
                  <a:txBody>
                    <a:bodyPr/>
                    <a:lstStyle/>
                    <a:p>
                      <a:pPr algn="l"/>
                      <a:r>
                        <a:rPr sz="1000" b="0" i="0">
                          <a:solidFill>
                            <a:srgbClr val="57626B"/>
                          </a:solidFill>
                          <a:latin typeface="Calibri"/>
                        </a:rPr>
                        <a:t>Data Governance Office</a:t>
                      </a:r>
                    </a:p>
                  </a:txBody>
                  <a:tcPr marL="73152" marR="73152" marT="36576" marB="36576" anchor="ctr">
                    <a:solidFill>
                      <a:srgbClr val="FFFFFF"/>
                    </a:solidFill>
                  </a:tcPr>
                </a:tc>
                <a:tc>
                  <a:txBody>
                    <a:bodyPr/>
                    <a:lstStyle/>
                    <a:p>
                      <a:pPr algn="l"/>
                      <a:r>
                        <a:rPr sz="1000" b="0" i="0">
                          <a:solidFill>
                            <a:srgbClr val="57626B"/>
                          </a:solidFill>
                          <a:latin typeface="Calibri"/>
                        </a:rPr>
                        <a:t>Ends “two versions of the truth” in meetings</a:t>
                      </a:r>
                    </a:p>
                  </a:txBody>
                  <a:tcPr marL="73152" marR="73152" marT="36576" marB="36576" anchor="ctr">
                    <a:solidFill>
                      <a:srgbClr val="FFFFFF"/>
                    </a:solidFill>
                  </a:tcPr>
                </a:tc>
                <a:extLst>
                  <a:ext uri="{0D108BD9-81ED-4DB2-BD59-A6C34878D82A}">
                    <a16:rowId xmlns:a16="http://schemas.microsoft.com/office/drawing/2014/main" val="10003"/>
                  </a:ext>
                </a:extLst>
              </a:tr>
              <a:tr h="749808">
                <a:tc>
                  <a:txBody>
                    <a:bodyPr/>
                    <a:lstStyle/>
                    <a:p>
                      <a:pPr algn="l"/>
                      <a:r>
                        <a:rPr sz="1000" b="1" i="0">
                          <a:solidFill>
                            <a:srgbClr val="1A2130"/>
                          </a:solidFill>
                          <a:latin typeface="Calibri"/>
                        </a:rPr>
                        <a:t>Data lineage</a:t>
                      </a:r>
                    </a:p>
                  </a:txBody>
                  <a:tcPr marL="73152" marR="73152" marT="36576" marB="36576" anchor="ctr">
                    <a:solidFill>
                      <a:srgbClr val="F4F6F2"/>
                    </a:solidFill>
                  </a:tcPr>
                </a:tc>
                <a:tc>
                  <a:txBody>
                    <a:bodyPr/>
                    <a:lstStyle/>
                    <a:p>
                      <a:pPr algn="l"/>
                      <a:r>
                        <a:rPr sz="1000" b="0" i="0">
                          <a:solidFill>
                            <a:srgbClr val="57626B"/>
                          </a:solidFill>
                          <a:latin typeface="Calibri"/>
                        </a:rPr>
                        <a:t>Source-to-report lineage for filings and financial statements, at a set level of detail</a:t>
                      </a:r>
                    </a:p>
                  </a:txBody>
                  <a:tcPr marL="73152" marR="73152" marT="36576" marB="36576" anchor="ctr">
                    <a:solidFill>
                      <a:srgbClr val="F4F6F2"/>
                    </a:solidFill>
                  </a:tcPr>
                </a:tc>
                <a:tc>
                  <a:txBody>
                    <a:bodyPr/>
                    <a:lstStyle/>
                    <a:p>
                      <a:pPr algn="l"/>
                      <a:r>
                        <a:rPr sz="1000" b="0" i="0">
                          <a:solidFill>
                            <a:srgbClr val="57626B"/>
                          </a:solidFill>
                          <a:latin typeface="Calibri"/>
                        </a:rPr>
                        <a:t>Chief Data Officer / architecture</a:t>
                      </a:r>
                    </a:p>
                  </a:txBody>
                  <a:tcPr marL="73152" marR="73152" marT="36576" marB="36576" anchor="ctr">
                    <a:solidFill>
                      <a:srgbClr val="F4F6F2"/>
                    </a:solidFill>
                  </a:tcPr>
                </a:tc>
                <a:tc>
                  <a:txBody>
                    <a:bodyPr/>
                    <a:lstStyle/>
                    <a:p>
                      <a:pPr algn="l"/>
                      <a:r>
                        <a:rPr sz="1000" b="0" i="0">
                          <a:solidFill>
                            <a:srgbClr val="57626B"/>
                          </a:solidFill>
                          <a:latin typeface="Calibri"/>
                        </a:rPr>
                        <a:t>Evidence on demand for exams and attestations</a:t>
                      </a:r>
                    </a:p>
                  </a:txBody>
                  <a:tcPr marL="73152" marR="73152" marT="36576" marB="36576" anchor="ctr">
                    <a:solidFill>
                      <a:srgbClr val="F4F6F2"/>
                    </a:solidFill>
                  </a:tcPr>
                </a:tc>
                <a:extLst>
                  <a:ext uri="{0D108BD9-81ED-4DB2-BD59-A6C34878D82A}">
                    <a16:rowId xmlns:a16="http://schemas.microsoft.com/office/drawing/2014/main" val="10004"/>
                  </a:ext>
                </a:extLst>
              </a:tr>
              <a:tr h="749808">
                <a:tc>
                  <a:txBody>
                    <a:bodyPr/>
                    <a:lstStyle/>
                    <a:p>
                      <a:pPr algn="l"/>
                      <a:r>
                        <a:rPr sz="1000" b="1" i="0">
                          <a:solidFill>
                            <a:srgbClr val="1A2130"/>
                          </a:solidFill>
                          <a:latin typeface="Calibri"/>
                        </a:rPr>
                        <a:t>Reference &amp; master data</a:t>
                      </a:r>
                    </a:p>
                  </a:txBody>
                  <a:tcPr marL="73152" marR="73152" marT="36576" marB="36576" anchor="ctr">
                    <a:solidFill>
                      <a:srgbClr val="FFFFFF"/>
                    </a:solidFill>
                  </a:tcPr>
                </a:tc>
                <a:tc>
                  <a:txBody>
                    <a:bodyPr/>
                    <a:lstStyle/>
                    <a:p>
                      <a:pPr algn="l"/>
                      <a:r>
                        <a:rPr sz="1000" b="0" i="0">
                          <a:solidFill>
                            <a:srgbClr val="57626B"/>
                          </a:solidFill>
                          <a:latin typeface="Calibri"/>
                        </a:rPr>
                        <a:t>One authoritative source for product codes, GL mappings and customer records; controlled changes</a:t>
                      </a:r>
                    </a:p>
                  </a:txBody>
                  <a:tcPr marL="73152" marR="73152" marT="36576" marB="36576" anchor="ctr">
                    <a:solidFill>
                      <a:srgbClr val="FFFFFF"/>
                    </a:solidFill>
                  </a:tcPr>
                </a:tc>
                <a:tc>
                  <a:txBody>
                    <a:bodyPr/>
                    <a:lstStyle/>
                    <a:p>
                      <a:pPr algn="l"/>
                      <a:r>
                        <a:rPr sz="1000" b="0" i="0">
                          <a:solidFill>
                            <a:srgbClr val="57626B"/>
                          </a:solidFill>
                          <a:latin typeface="Calibri"/>
                        </a:rPr>
                        <a:t>Controllership / data owners</a:t>
                      </a:r>
                    </a:p>
                  </a:txBody>
                  <a:tcPr marL="73152" marR="73152" marT="36576" marB="36576" anchor="ctr">
                    <a:solidFill>
                      <a:srgbClr val="FFFFFF"/>
                    </a:solidFill>
                  </a:tcPr>
                </a:tc>
                <a:tc>
                  <a:txBody>
                    <a:bodyPr/>
                    <a:lstStyle/>
                    <a:p>
                      <a:pPr algn="l"/>
                      <a:r>
                        <a:rPr sz="1000" b="0" i="0">
                          <a:solidFill>
                            <a:srgbClr val="57626B"/>
                          </a:solidFill>
                          <a:latin typeface="Calibri"/>
                        </a:rPr>
                        <a:t>A wrong code mis-states every report downstream</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457200" y="5605272"/>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In practice: </a:t>
            </a:r>
            <a:r>
              <a:rPr sz="1100" b="0" i="0">
                <a:solidFill>
                  <a:srgbClr val="57626B"/>
                </a:solidFill>
                <a:latin typeface="Calibri"/>
              </a:rPr>
              <a:t>these are the standards behind the CDE, lineage and data quality work in the governance and DQ checks decks.</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07</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Family 2 — Protect: keeping data safe and lawful</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Usually co-owned with Information Security, Privacy, Legal and Records Management.</a:t>
            </a:r>
          </a:p>
        </p:txBody>
      </p:sp>
      <p:graphicFrame>
        <p:nvGraphicFramePr>
          <p:cNvPr id="5" name="Table 4"/>
          <p:cNvGraphicFramePr>
            <a:graphicFrameLocks noGrp="1"/>
          </p:cNvGraphicFramePr>
          <p:nvPr/>
        </p:nvGraphicFramePr>
        <p:xfrm>
          <a:off x="457200" y="1325880"/>
          <a:ext cx="11274552" cy="3346704"/>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347472">
                <a:tc>
                  <a:txBody>
                    <a:bodyPr/>
                    <a:lstStyle/>
                    <a:p>
                      <a:pPr algn="l"/>
                      <a:r>
                        <a:rPr sz="1000" b="1" i="0">
                          <a:solidFill>
                            <a:srgbClr val="CADCEA"/>
                          </a:solidFill>
                          <a:latin typeface="Calibri"/>
                        </a:rPr>
                        <a:t>POLICY</a:t>
                      </a:r>
                    </a:p>
                  </a:txBody>
                  <a:tcPr marL="73152" marR="73152" marT="36576" marB="36576" anchor="ctr">
                    <a:solidFill>
                      <a:srgbClr val="1A2130"/>
                    </a:solidFill>
                  </a:tcPr>
                </a:tc>
                <a:tc>
                  <a:txBody>
                    <a:bodyPr/>
                    <a:lstStyle/>
                    <a:p>
                      <a:pPr algn="l"/>
                      <a:r>
                        <a:rPr sz="1000" b="1" i="0">
                          <a:solidFill>
                            <a:srgbClr val="CADCEA"/>
                          </a:solidFill>
                          <a:latin typeface="Calibri"/>
                        </a:rPr>
                        <a:t>WHAT IT REQUIRES</a:t>
                      </a:r>
                    </a:p>
                  </a:txBody>
                  <a:tcPr marL="73152" marR="73152" marT="36576" marB="36576" anchor="ctr">
                    <a:solidFill>
                      <a:srgbClr val="1A2130"/>
                    </a:solidFill>
                  </a:tcPr>
                </a:tc>
                <a:tc>
                  <a:txBody>
                    <a:bodyPr/>
                    <a:lstStyle/>
                    <a:p>
                      <a:pPr algn="l"/>
                      <a:r>
                        <a:rPr sz="1000" b="1" i="0">
                          <a:solidFill>
                            <a:srgbClr val="CADCEA"/>
                          </a:solidFill>
                          <a:latin typeface="Calibri"/>
                        </a:rPr>
                        <a:t>TYPICAL OWNER</a:t>
                      </a:r>
                    </a:p>
                  </a:txBody>
                  <a:tcPr marL="73152" marR="73152" marT="36576" marB="36576" anchor="ctr">
                    <a:solidFill>
                      <a:srgbClr val="1A2130"/>
                    </a:solidFill>
                  </a:tcPr>
                </a:tc>
                <a:tc>
                  <a:txBody>
                    <a:bodyPr/>
                    <a:lstStyle/>
                    <a:p>
                      <a:pPr algn="l"/>
                      <a:r>
                        <a:rPr sz="1000" b="1" i="0">
                          <a:solidFill>
                            <a:srgbClr val="CADCEA"/>
                          </a:solidFill>
                          <a:latin typeface="Calibri"/>
                        </a:rPr>
                        <a:t>WHY IT MATTERS TO EXECUTIVES</a:t>
                      </a:r>
                    </a:p>
                  </a:txBody>
                  <a:tcPr marL="73152" marR="73152" marT="36576" marB="36576" anchor="ctr">
                    <a:solidFill>
                      <a:srgbClr val="1A2130"/>
                    </a:solidFill>
                  </a:tcPr>
                </a:tc>
                <a:extLst>
                  <a:ext uri="{0D108BD9-81ED-4DB2-BD59-A6C34878D82A}">
                    <a16:rowId xmlns:a16="http://schemas.microsoft.com/office/drawing/2014/main" val="10000"/>
                  </a:ext>
                </a:extLst>
              </a:tr>
              <a:tr h="749808">
                <a:tc>
                  <a:txBody>
                    <a:bodyPr/>
                    <a:lstStyle/>
                    <a:p>
                      <a:pPr algn="l"/>
                      <a:r>
                        <a:rPr sz="1000" b="1" i="0">
                          <a:solidFill>
                            <a:srgbClr val="1A2130"/>
                          </a:solidFill>
                          <a:latin typeface="Calibri"/>
                        </a:rPr>
                        <a:t>Classification &amp; handling</a:t>
                      </a:r>
                    </a:p>
                  </a:txBody>
                  <a:tcPr marL="73152" marR="73152" marT="36576" marB="36576" anchor="ctr">
                    <a:solidFill>
                      <a:srgbClr val="FFFFFF"/>
                    </a:solidFill>
                  </a:tcPr>
                </a:tc>
                <a:tc>
                  <a:txBody>
                    <a:bodyPr/>
                    <a:lstStyle/>
                    <a:p>
                      <a:pPr algn="l"/>
                      <a:r>
                        <a:rPr sz="1000" b="0" i="0">
                          <a:solidFill>
                            <a:srgbClr val="57626B"/>
                          </a:solidFill>
                          <a:latin typeface="Calibri"/>
                        </a:rPr>
                        <a:t>Every dataset labeled (e.g., public, internal, confidential, restricted) with handling rules per label</a:t>
                      </a:r>
                    </a:p>
                  </a:txBody>
                  <a:tcPr marL="73152" marR="73152" marT="36576" marB="36576" anchor="ctr">
                    <a:solidFill>
                      <a:srgbClr val="FFFFFF"/>
                    </a:solidFill>
                  </a:tcPr>
                </a:tc>
                <a:tc>
                  <a:txBody>
                    <a:bodyPr/>
                    <a:lstStyle/>
                    <a:p>
                      <a:pPr algn="l"/>
                      <a:r>
                        <a:rPr sz="1000" b="0" i="0">
                          <a:solidFill>
                            <a:srgbClr val="57626B"/>
                          </a:solidFill>
                          <a:latin typeface="Calibri"/>
                        </a:rPr>
                        <a:t>CISO with CDO</a:t>
                      </a:r>
                    </a:p>
                  </a:txBody>
                  <a:tcPr marL="73152" marR="73152" marT="36576" marB="36576" anchor="ctr">
                    <a:solidFill>
                      <a:srgbClr val="FFFFFF"/>
                    </a:solidFill>
                  </a:tcPr>
                </a:tc>
                <a:tc>
                  <a:txBody>
                    <a:bodyPr/>
                    <a:lstStyle/>
                    <a:p>
                      <a:pPr algn="l"/>
                      <a:r>
                        <a:rPr sz="1000" b="0" i="0">
                          <a:solidFill>
                            <a:srgbClr val="57626B"/>
                          </a:solidFill>
                          <a:latin typeface="Calibri"/>
                        </a:rPr>
                        <a:t>Drives masking, encryption and who may see what</a:t>
                      </a:r>
                    </a:p>
                  </a:txBody>
                  <a:tcPr marL="73152" marR="73152" marT="36576" marB="36576" anchor="ctr">
                    <a:solidFill>
                      <a:srgbClr val="FFFFFF"/>
                    </a:solidFill>
                  </a:tcPr>
                </a:tc>
                <a:extLst>
                  <a:ext uri="{0D108BD9-81ED-4DB2-BD59-A6C34878D82A}">
                    <a16:rowId xmlns:a16="http://schemas.microsoft.com/office/drawing/2014/main" val="10001"/>
                  </a:ext>
                </a:extLst>
              </a:tr>
              <a:tr h="749808">
                <a:tc>
                  <a:txBody>
                    <a:bodyPr/>
                    <a:lstStyle/>
                    <a:p>
                      <a:pPr algn="l"/>
                      <a:r>
                        <a:rPr sz="1000" b="1" i="0">
                          <a:solidFill>
                            <a:srgbClr val="1A2130"/>
                          </a:solidFill>
                          <a:latin typeface="Calibri"/>
                        </a:rPr>
                        <a:t>Access &amp; entitlements</a:t>
                      </a:r>
                    </a:p>
                  </a:txBody>
                  <a:tcPr marL="73152" marR="73152" marT="36576" marB="36576" anchor="ctr">
                    <a:solidFill>
                      <a:srgbClr val="F4F6F2"/>
                    </a:solidFill>
                  </a:tcPr>
                </a:tc>
                <a:tc>
                  <a:txBody>
                    <a:bodyPr/>
                    <a:lstStyle/>
                    <a:p>
                      <a:pPr algn="l"/>
                      <a:r>
                        <a:rPr sz="1000" b="0" i="0">
                          <a:solidFill>
                            <a:srgbClr val="57626B"/>
                          </a:solidFill>
                          <a:latin typeface="Calibri"/>
                        </a:rPr>
                        <a:t>Least-privilege access, approved by data owners, reviewed periodically</a:t>
                      </a:r>
                    </a:p>
                  </a:txBody>
                  <a:tcPr marL="73152" marR="73152" marT="36576" marB="36576" anchor="ctr">
                    <a:solidFill>
                      <a:srgbClr val="F4F6F2"/>
                    </a:solidFill>
                  </a:tcPr>
                </a:tc>
                <a:tc>
                  <a:txBody>
                    <a:bodyPr/>
                    <a:lstStyle/>
                    <a:p>
                      <a:pPr algn="l"/>
                      <a:r>
                        <a:rPr sz="1000" b="0" i="0">
                          <a:solidFill>
                            <a:srgbClr val="57626B"/>
                          </a:solidFill>
                          <a:latin typeface="Calibri"/>
                        </a:rPr>
                        <a:t>CISO</a:t>
                      </a:r>
                    </a:p>
                  </a:txBody>
                  <a:tcPr marL="73152" marR="73152" marT="36576" marB="36576" anchor="ctr">
                    <a:solidFill>
                      <a:srgbClr val="F4F6F2"/>
                    </a:solidFill>
                  </a:tcPr>
                </a:tc>
                <a:tc>
                  <a:txBody>
                    <a:bodyPr/>
                    <a:lstStyle/>
                    <a:p>
                      <a:pPr algn="l"/>
                      <a:r>
                        <a:rPr sz="1000" b="0" i="0">
                          <a:solidFill>
                            <a:srgbClr val="57626B"/>
                          </a:solidFill>
                          <a:latin typeface="Calibri"/>
                        </a:rPr>
                        <a:t>Prevents unauthorized use and supports SOX access controls</a:t>
                      </a:r>
                    </a:p>
                  </a:txBody>
                  <a:tcPr marL="73152" marR="73152" marT="36576" marB="36576" anchor="ctr">
                    <a:solidFill>
                      <a:srgbClr val="F4F6F2"/>
                    </a:solidFill>
                  </a:tcPr>
                </a:tc>
                <a:extLst>
                  <a:ext uri="{0D108BD9-81ED-4DB2-BD59-A6C34878D82A}">
                    <a16:rowId xmlns:a16="http://schemas.microsoft.com/office/drawing/2014/main" val="10002"/>
                  </a:ext>
                </a:extLst>
              </a:tr>
              <a:tr h="749808">
                <a:tc>
                  <a:txBody>
                    <a:bodyPr/>
                    <a:lstStyle/>
                    <a:p>
                      <a:pPr algn="l"/>
                      <a:r>
                        <a:rPr sz="1000" b="1" i="0">
                          <a:solidFill>
                            <a:srgbClr val="1A2130"/>
                          </a:solidFill>
                          <a:latin typeface="Calibri"/>
                        </a:rPr>
                        <a:t>Privacy</a:t>
                      </a:r>
                    </a:p>
                  </a:txBody>
                  <a:tcPr marL="73152" marR="73152" marT="36576" marB="36576" anchor="ctr">
                    <a:solidFill>
                      <a:srgbClr val="FFFFFF"/>
                    </a:solidFill>
                  </a:tcPr>
                </a:tc>
                <a:tc>
                  <a:txBody>
                    <a:bodyPr/>
                    <a:lstStyle/>
                    <a:p>
                      <a:pPr algn="l"/>
                      <a:r>
                        <a:rPr sz="1000" b="0" i="0">
                          <a:solidFill>
                            <a:srgbClr val="57626B"/>
                          </a:solidFill>
                          <a:latin typeface="Calibri"/>
                        </a:rPr>
                        <a:t>Rules for collecting, using and sharing personal data, in line with GLBA and state laws</a:t>
                      </a:r>
                    </a:p>
                  </a:txBody>
                  <a:tcPr marL="73152" marR="73152" marT="36576" marB="36576" anchor="ctr">
                    <a:solidFill>
                      <a:srgbClr val="FFFFFF"/>
                    </a:solidFill>
                  </a:tcPr>
                </a:tc>
                <a:tc>
                  <a:txBody>
                    <a:bodyPr/>
                    <a:lstStyle/>
                    <a:p>
                      <a:pPr algn="l"/>
                      <a:r>
                        <a:rPr sz="1000" b="0" i="0">
                          <a:solidFill>
                            <a:srgbClr val="57626B"/>
                          </a:solidFill>
                          <a:latin typeface="Calibri"/>
                        </a:rPr>
                        <a:t>Chief Privacy Officer</a:t>
                      </a:r>
                    </a:p>
                  </a:txBody>
                  <a:tcPr marL="73152" marR="73152" marT="36576" marB="36576" anchor="ctr">
                    <a:solidFill>
                      <a:srgbClr val="FFFFFF"/>
                    </a:solidFill>
                  </a:tcPr>
                </a:tc>
                <a:tc>
                  <a:txBody>
                    <a:bodyPr/>
                    <a:lstStyle/>
                    <a:p>
                      <a:pPr algn="l"/>
                      <a:r>
                        <a:rPr sz="1000" b="0" i="0">
                          <a:solidFill>
                            <a:srgbClr val="57626B"/>
                          </a:solidFill>
                          <a:latin typeface="Calibri"/>
                        </a:rPr>
                        <a:t>Customer trust; regulatory and reputational risk</a:t>
                      </a:r>
                    </a:p>
                  </a:txBody>
                  <a:tcPr marL="73152" marR="73152" marT="36576" marB="36576" anchor="ctr">
                    <a:solidFill>
                      <a:srgbClr val="FFFFFF"/>
                    </a:solidFill>
                  </a:tcPr>
                </a:tc>
                <a:extLst>
                  <a:ext uri="{0D108BD9-81ED-4DB2-BD59-A6C34878D82A}">
                    <a16:rowId xmlns:a16="http://schemas.microsoft.com/office/drawing/2014/main" val="10003"/>
                  </a:ext>
                </a:extLst>
              </a:tr>
              <a:tr h="749808">
                <a:tc>
                  <a:txBody>
                    <a:bodyPr/>
                    <a:lstStyle/>
                    <a:p>
                      <a:pPr algn="l"/>
                      <a:r>
                        <a:rPr sz="1000" b="1" i="0">
                          <a:solidFill>
                            <a:srgbClr val="1A2130"/>
                          </a:solidFill>
                          <a:latin typeface="Calibri"/>
                        </a:rPr>
                        <a:t>Retention &amp; destruction</a:t>
                      </a:r>
                    </a:p>
                  </a:txBody>
                  <a:tcPr marL="73152" marR="73152" marT="36576" marB="36576" anchor="ctr">
                    <a:solidFill>
                      <a:srgbClr val="F4F6F2"/>
                    </a:solidFill>
                  </a:tcPr>
                </a:tc>
                <a:tc>
                  <a:txBody>
                    <a:bodyPr/>
                    <a:lstStyle/>
                    <a:p>
                      <a:pPr algn="l"/>
                      <a:r>
                        <a:rPr sz="1000" b="0" i="0">
                          <a:solidFill>
                            <a:srgbClr val="57626B"/>
                          </a:solidFill>
                          <a:latin typeface="Calibri"/>
                        </a:rPr>
                        <a:t>How long each record type is kept (e.g., Reg B: applications for 25 months) and how it is destroyed; legal holds</a:t>
                      </a:r>
                    </a:p>
                  </a:txBody>
                  <a:tcPr marL="73152" marR="73152" marT="36576" marB="36576" anchor="ctr">
                    <a:solidFill>
                      <a:srgbClr val="F4F6F2"/>
                    </a:solidFill>
                  </a:tcPr>
                </a:tc>
                <a:tc>
                  <a:txBody>
                    <a:bodyPr/>
                    <a:lstStyle/>
                    <a:p>
                      <a:pPr algn="l"/>
                      <a:r>
                        <a:rPr sz="1000" b="0" i="0">
                          <a:solidFill>
                            <a:srgbClr val="57626B"/>
                          </a:solidFill>
                          <a:latin typeface="Calibri"/>
                        </a:rPr>
                        <a:t>Records management / Legal</a:t>
                      </a:r>
                    </a:p>
                  </a:txBody>
                  <a:tcPr marL="73152" marR="73152" marT="36576" marB="36576" anchor="ctr">
                    <a:solidFill>
                      <a:srgbClr val="F4F6F2"/>
                    </a:solidFill>
                  </a:tcPr>
                </a:tc>
                <a:tc>
                  <a:txBody>
                    <a:bodyPr/>
                    <a:lstStyle/>
                    <a:p>
                      <a:pPr algn="l"/>
                      <a:r>
                        <a:rPr sz="1000" b="0" i="0">
                          <a:solidFill>
                            <a:srgbClr val="57626B"/>
                          </a:solidFill>
                          <a:latin typeface="Calibri"/>
                        </a:rPr>
                        <a:t>Keep what regulators require; don’t keep what creates risk</a:t>
                      </a:r>
                    </a:p>
                  </a:txBody>
                  <a:tcPr marL="73152" marR="73152" marT="36576" marB="36576" anchor="ctr">
                    <a:solidFill>
                      <a:srgbClr val="F4F6F2"/>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57200" y="4855464"/>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In practice: </a:t>
            </a:r>
            <a:r>
              <a:rPr sz="1100" b="0" i="0">
                <a:solidFill>
                  <a:srgbClr val="57626B"/>
                </a:solidFill>
                <a:latin typeface="Calibri"/>
              </a:rPr>
              <a:t>classification is the link between governance and security: once data is labeled, access and masking rules can be applied automatically.</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08</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Family 3 — Use: governing how data is used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Where data leaves the governed platform and drives decisions, models and filings.</a:t>
            </a:r>
          </a:p>
        </p:txBody>
      </p:sp>
      <p:graphicFrame>
        <p:nvGraphicFramePr>
          <p:cNvPr id="5" name="Table 4"/>
          <p:cNvGraphicFramePr>
            <a:graphicFrameLocks noGrp="1"/>
          </p:cNvGraphicFramePr>
          <p:nvPr/>
        </p:nvGraphicFramePr>
        <p:xfrm>
          <a:off x="457200" y="1325880"/>
          <a:ext cx="11274552" cy="3346704"/>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347472">
                <a:tc>
                  <a:txBody>
                    <a:bodyPr/>
                    <a:lstStyle/>
                    <a:p>
                      <a:pPr algn="l"/>
                      <a:r>
                        <a:rPr sz="1000" b="1" i="0">
                          <a:solidFill>
                            <a:srgbClr val="CADCEA"/>
                          </a:solidFill>
                          <a:latin typeface="Calibri"/>
                        </a:rPr>
                        <a:t>POLICY</a:t>
                      </a:r>
                    </a:p>
                  </a:txBody>
                  <a:tcPr marL="73152" marR="73152" marT="36576" marB="36576" anchor="ctr">
                    <a:solidFill>
                      <a:srgbClr val="1A2130"/>
                    </a:solidFill>
                  </a:tcPr>
                </a:tc>
                <a:tc>
                  <a:txBody>
                    <a:bodyPr/>
                    <a:lstStyle/>
                    <a:p>
                      <a:pPr algn="l"/>
                      <a:r>
                        <a:rPr sz="1000" b="1" i="0">
                          <a:solidFill>
                            <a:srgbClr val="CADCEA"/>
                          </a:solidFill>
                          <a:latin typeface="Calibri"/>
                        </a:rPr>
                        <a:t>WHAT IT REQUIRES</a:t>
                      </a:r>
                    </a:p>
                  </a:txBody>
                  <a:tcPr marL="73152" marR="73152" marT="36576" marB="36576" anchor="ctr">
                    <a:solidFill>
                      <a:srgbClr val="1A2130"/>
                    </a:solidFill>
                  </a:tcPr>
                </a:tc>
                <a:tc>
                  <a:txBody>
                    <a:bodyPr/>
                    <a:lstStyle/>
                    <a:p>
                      <a:pPr algn="l"/>
                      <a:r>
                        <a:rPr sz="1000" b="1" i="0">
                          <a:solidFill>
                            <a:srgbClr val="CADCEA"/>
                          </a:solidFill>
                          <a:latin typeface="Calibri"/>
                        </a:rPr>
                        <a:t>TYPICAL OWNER</a:t>
                      </a:r>
                    </a:p>
                  </a:txBody>
                  <a:tcPr marL="73152" marR="73152" marT="36576" marB="36576" anchor="ctr">
                    <a:solidFill>
                      <a:srgbClr val="1A2130"/>
                    </a:solidFill>
                  </a:tcPr>
                </a:tc>
                <a:tc>
                  <a:txBody>
                    <a:bodyPr/>
                    <a:lstStyle/>
                    <a:p>
                      <a:pPr algn="l"/>
                      <a:r>
                        <a:rPr sz="1000" b="1" i="0">
                          <a:solidFill>
                            <a:srgbClr val="CADCEA"/>
                          </a:solidFill>
                          <a:latin typeface="Calibri"/>
                        </a:rPr>
                        <a:t>WHY IT MATTERS TO EXECUTIVES</a:t>
                      </a:r>
                    </a:p>
                  </a:txBody>
                  <a:tcPr marL="73152" marR="73152" marT="36576" marB="36576" anchor="ctr">
                    <a:solidFill>
                      <a:srgbClr val="1A2130"/>
                    </a:solidFill>
                  </a:tcPr>
                </a:tc>
                <a:extLst>
                  <a:ext uri="{0D108BD9-81ED-4DB2-BD59-A6C34878D82A}">
                    <a16:rowId xmlns:a16="http://schemas.microsoft.com/office/drawing/2014/main" val="10000"/>
                  </a:ext>
                </a:extLst>
              </a:tr>
              <a:tr h="749808">
                <a:tc>
                  <a:txBody>
                    <a:bodyPr/>
                    <a:lstStyle/>
                    <a:p>
                      <a:pPr algn="l"/>
                      <a:r>
                        <a:rPr sz="1000" b="1" i="0">
                          <a:solidFill>
                            <a:srgbClr val="1A2130"/>
                          </a:solidFill>
                          <a:latin typeface="Calibri"/>
                        </a:rPr>
                        <a:t>Models, analytics &amp; AI</a:t>
                      </a:r>
                    </a:p>
                  </a:txBody>
                  <a:tcPr marL="73152" marR="73152" marT="36576" marB="36576" anchor="ctr">
                    <a:solidFill>
                      <a:srgbClr val="FFFFFF"/>
                    </a:solidFill>
                  </a:tcPr>
                </a:tc>
                <a:tc>
                  <a:txBody>
                    <a:bodyPr/>
                    <a:lstStyle/>
                    <a:p>
                      <a:pPr algn="l"/>
                      <a:r>
                        <a:rPr sz="1000" b="0" i="0">
                          <a:solidFill>
                            <a:srgbClr val="57626B"/>
                          </a:solidFill>
                          <a:latin typeface="Calibri"/>
                        </a:rPr>
                        <a:t>Approved data sources for models; data quality and bias checks; AI use cases registered and validated</a:t>
                      </a:r>
                    </a:p>
                  </a:txBody>
                  <a:tcPr marL="73152" marR="73152" marT="36576" marB="36576" anchor="ctr">
                    <a:solidFill>
                      <a:srgbClr val="FFFFFF"/>
                    </a:solidFill>
                  </a:tcPr>
                </a:tc>
                <a:tc>
                  <a:txBody>
                    <a:bodyPr/>
                    <a:lstStyle/>
                    <a:p>
                      <a:pPr algn="l"/>
                      <a:r>
                        <a:rPr sz="1000" b="0" i="0">
                          <a:solidFill>
                            <a:srgbClr val="57626B"/>
                          </a:solidFill>
                          <a:latin typeface="Calibri"/>
                        </a:rPr>
                        <a:t>CDO with model risk</a:t>
                      </a:r>
                    </a:p>
                  </a:txBody>
                  <a:tcPr marL="73152" marR="73152" marT="36576" marB="36576" anchor="ctr">
                    <a:solidFill>
                      <a:srgbClr val="FFFFFF"/>
                    </a:solidFill>
                  </a:tcPr>
                </a:tc>
                <a:tc>
                  <a:txBody>
                    <a:bodyPr/>
                    <a:lstStyle/>
                    <a:p>
                      <a:pPr algn="l"/>
                      <a:r>
                        <a:rPr sz="1000" b="0" i="0">
                          <a:solidFill>
                            <a:srgbClr val="57626B"/>
                          </a:solidFill>
                          <a:latin typeface="Calibri"/>
                        </a:rPr>
                        <a:t>CECL, credit and AI decisions are only as good as their data</a:t>
                      </a:r>
                    </a:p>
                  </a:txBody>
                  <a:tcPr marL="73152" marR="73152" marT="36576" marB="36576" anchor="ctr">
                    <a:solidFill>
                      <a:srgbClr val="FFFFFF"/>
                    </a:solidFill>
                  </a:tcPr>
                </a:tc>
                <a:extLst>
                  <a:ext uri="{0D108BD9-81ED-4DB2-BD59-A6C34878D82A}">
                    <a16:rowId xmlns:a16="http://schemas.microsoft.com/office/drawing/2014/main" val="10001"/>
                  </a:ext>
                </a:extLst>
              </a:tr>
              <a:tr h="749808">
                <a:tc>
                  <a:txBody>
                    <a:bodyPr/>
                    <a:lstStyle/>
                    <a:p>
                      <a:pPr algn="l"/>
                      <a:r>
                        <a:rPr sz="1000" b="1" i="0">
                          <a:solidFill>
                            <a:srgbClr val="1A2130"/>
                          </a:solidFill>
                          <a:latin typeface="Calibri"/>
                        </a:rPr>
                        <a:t>Spreadsheets &amp; end-user tools (EUC)</a:t>
                      </a:r>
                    </a:p>
                  </a:txBody>
                  <a:tcPr marL="73152" marR="73152" marT="36576" marB="36576" anchor="ctr">
                    <a:solidFill>
                      <a:srgbClr val="F4F6F2"/>
                    </a:solidFill>
                  </a:tcPr>
                </a:tc>
                <a:tc>
                  <a:txBody>
                    <a:bodyPr/>
                    <a:lstStyle/>
                    <a:p>
                      <a:pPr algn="l"/>
                      <a:r>
                        <a:rPr sz="1000" b="0" i="0">
                          <a:solidFill>
                            <a:srgbClr val="57626B"/>
                          </a:solidFill>
                          <a:latin typeface="Calibri"/>
                        </a:rPr>
                        <a:t>Spreadsheets that feed reports are inventoried, risk-rated and controlled</a:t>
                      </a:r>
                    </a:p>
                  </a:txBody>
                  <a:tcPr marL="73152" marR="73152" marT="36576" marB="36576" anchor="ctr">
                    <a:solidFill>
                      <a:srgbClr val="F4F6F2"/>
                    </a:solidFill>
                  </a:tcPr>
                </a:tc>
                <a:tc>
                  <a:txBody>
                    <a:bodyPr/>
                    <a:lstStyle/>
                    <a:p>
                      <a:pPr algn="l"/>
                      <a:r>
                        <a:rPr sz="1000" b="0" i="0">
                          <a:solidFill>
                            <a:srgbClr val="57626B"/>
                          </a:solidFill>
                          <a:latin typeface="Calibri"/>
                        </a:rPr>
                        <a:t>CFO / Controllership</a:t>
                      </a:r>
                    </a:p>
                  </a:txBody>
                  <a:tcPr marL="73152" marR="73152" marT="36576" marB="36576" anchor="ctr">
                    <a:solidFill>
                      <a:srgbClr val="F4F6F2"/>
                    </a:solidFill>
                  </a:tcPr>
                </a:tc>
                <a:tc>
                  <a:txBody>
                    <a:bodyPr/>
                    <a:lstStyle/>
                    <a:p>
                      <a:pPr algn="l"/>
                      <a:r>
                        <a:rPr sz="1000" b="0" i="0">
                          <a:solidFill>
                            <a:srgbClr val="57626B"/>
                          </a:solidFill>
                          <a:latin typeface="Calibri"/>
                        </a:rPr>
                        <a:t>A hidden spreadsheet is a common source of reporting errors</a:t>
                      </a:r>
                    </a:p>
                  </a:txBody>
                  <a:tcPr marL="73152" marR="73152" marT="36576" marB="36576" anchor="ctr">
                    <a:solidFill>
                      <a:srgbClr val="F4F6F2"/>
                    </a:solidFill>
                  </a:tcPr>
                </a:tc>
                <a:extLst>
                  <a:ext uri="{0D108BD9-81ED-4DB2-BD59-A6C34878D82A}">
                    <a16:rowId xmlns:a16="http://schemas.microsoft.com/office/drawing/2014/main" val="10002"/>
                  </a:ext>
                </a:extLst>
              </a:tr>
              <a:tr h="749808">
                <a:tc>
                  <a:txBody>
                    <a:bodyPr/>
                    <a:lstStyle/>
                    <a:p>
                      <a:pPr algn="l"/>
                      <a:r>
                        <a:rPr sz="1000" b="1" i="0">
                          <a:solidFill>
                            <a:srgbClr val="1A2130"/>
                          </a:solidFill>
                          <a:latin typeface="Calibri"/>
                        </a:rPr>
                        <a:t>Regulatory &amp; risk reporting</a:t>
                      </a:r>
                    </a:p>
                  </a:txBody>
                  <a:tcPr marL="73152" marR="73152" marT="36576" marB="36576" anchor="ctr">
                    <a:solidFill>
                      <a:srgbClr val="FFFFFF"/>
                    </a:solidFill>
                  </a:tcPr>
                </a:tc>
                <a:tc>
                  <a:txBody>
                    <a:bodyPr/>
                    <a:lstStyle/>
                    <a:p>
                      <a:pPr algn="l"/>
                      <a:r>
                        <a:rPr sz="1000" b="0" i="0">
                          <a:solidFill>
                            <a:srgbClr val="57626B"/>
                          </a:solidFill>
                          <a:latin typeface="Calibri"/>
                        </a:rPr>
                        <a:t>Filings built only from certified data, with lineage, tie-outs and sign-off</a:t>
                      </a:r>
                    </a:p>
                  </a:txBody>
                  <a:tcPr marL="73152" marR="73152" marT="36576" marB="36576" anchor="ctr">
                    <a:solidFill>
                      <a:srgbClr val="FFFFFF"/>
                    </a:solidFill>
                  </a:tcPr>
                </a:tc>
                <a:tc>
                  <a:txBody>
                    <a:bodyPr/>
                    <a:lstStyle/>
                    <a:p>
                      <a:pPr algn="l"/>
                      <a:r>
                        <a:rPr sz="1000" b="0" i="0">
                          <a:solidFill>
                            <a:srgbClr val="57626B"/>
                          </a:solidFill>
                          <a:latin typeface="Calibri"/>
                        </a:rPr>
                        <a:t>CFO / Regulatory reporting</a:t>
                      </a:r>
                    </a:p>
                  </a:txBody>
                  <a:tcPr marL="73152" marR="73152" marT="36576" marB="36576" anchor="ctr">
                    <a:solidFill>
                      <a:srgbClr val="FFFFFF"/>
                    </a:solidFill>
                  </a:tcPr>
                </a:tc>
                <a:tc>
                  <a:txBody>
                    <a:bodyPr/>
                    <a:lstStyle/>
                    <a:p>
                      <a:pPr algn="l"/>
                      <a:r>
                        <a:rPr sz="1000" b="0" i="0">
                          <a:solidFill>
                            <a:srgbClr val="57626B"/>
                          </a:solidFill>
                          <a:latin typeface="Calibri"/>
                        </a:rPr>
                        <a:t>Directly supports executive attestation</a:t>
                      </a:r>
                    </a:p>
                  </a:txBody>
                  <a:tcPr marL="73152" marR="73152" marT="36576" marB="36576" anchor="ctr">
                    <a:solidFill>
                      <a:srgbClr val="FFFFFF"/>
                    </a:solidFill>
                  </a:tcPr>
                </a:tc>
                <a:extLst>
                  <a:ext uri="{0D108BD9-81ED-4DB2-BD59-A6C34878D82A}">
                    <a16:rowId xmlns:a16="http://schemas.microsoft.com/office/drawing/2014/main" val="10003"/>
                  </a:ext>
                </a:extLst>
              </a:tr>
              <a:tr h="749808">
                <a:tc>
                  <a:txBody>
                    <a:bodyPr/>
                    <a:lstStyle/>
                    <a:p>
                      <a:pPr algn="l"/>
                      <a:r>
                        <a:rPr sz="1000" b="1" i="0">
                          <a:solidFill>
                            <a:srgbClr val="1A2130"/>
                          </a:solidFill>
                          <a:latin typeface="Calibri"/>
                        </a:rPr>
                        <a:t>Sharing &amp; external data</a:t>
                      </a:r>
                    </a:p>
                  </a:txBody>
                  <a:tcPr marL="73152" marR="73152" marT="36576" marB="36576" anchor="ctr">
                    <a:solidFill>
                      <a:srgbClr val="F4F6F2"/>
                    </a:solidFill>
                  </a:tcPr>
                </a:tc>
                <a:tc>
                  <a:txBody>
                    <a:bodyPr/>
                    <a:lstStyle/>
                    <a:p>
                      <a:pPr algn="l"/>
                      <a:r>
                        <a:rPr sz="1000" b="0" i="0">
                          <a:solidFill>
                            <a:srgbClr val="57626B"/>
                          </a:solidFill>
                          <a:latin typeface="Calibri"/>
                        </a:rPr>
                        <a:t>Approval to share data outside the firm; due diligence and contracts for third-party data</a:t>
                      </a:r>
                    </a:p>
                  </a:txBody>
                  <a:tcPr marL="73152" marR="73152" marT="36576" marB="36576" anchor="ctr">
                    <a:solidFill>
                      <a:srgbClr val="F4F6F2"/>
                    </a:solidFill>
                  </a:tcPr>
                </a:tc>
                <a:tc>
                  <a:txBody>
                    <a:bodyPr/>
                    <a:lstStyle/>
                    <a:p>
                      <a:pPr algn="l"/>
                      <a:r>
                        <a:rPr sz="1000" b="0" i="0">
                          <a:solidFill>
                            <a:srgbClr val="57626B"/>
                          </a:solidFill>
                          <a:latin typeface="Calibri"/>
                        </a:rPr>
                        <a:t>CDO with Legal / Procurement</a:t>
                      </a:r>
                    </a:p>
                  </a:txBody>
                  <a:tcPr marL="73152" marR="73152" marT="36576" marB="36576" anchor="ctr">
                    <a:solidFill>
                      <a:srgbClr val="F4F6F2"/>
                    </a:solidFill>
                  </a:tcPr>
                </a:tc>
                <a:tc>
                  <a:txBody>
                    <a:bodyPr/>
                    <a:lstStyle/>
                    <a:p>
                      <a:pPr algn="l"/>
                      <a:r>
                        <a:rPr sz="1000" b="0" i="0">
                          <a:solidFill>
                            <a:srgbClr val="57626B"/>
                          </a:solidFill>
                          <a:latin typeface="Calibri"/>
                        </a:rPr>
                        <a:t>Controls vendor and data-licensing risk</a:t>
                      </a:r>
                    </a:p>
                  </a:txBody>
                  <a:tcPr marL="73152" marR="73152" marT="36576" marB="36576" anchor="ctr">
                    <a:solidFill>
                      <a:srgbClr val="F4F6F2"/>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57200" y="4855464"/>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In practice: </a:t>
            </a:r>
            <a:r>
              <a:rPr sz="1100" b="0" i="0">
                <a:solidFill>
                  <a:srgbClr val="57626B"/>
                </a:solidFill>
                <a:latin typeface="Calibri"/>
              </a:rPr>
              <a:t>the AI for Data Quality Operations deck shows how the models-and-AI policy works in daily operations.</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09</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Families 4 &amp; 5 — Operate and oversee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policies that keep the framework running and prove it works.</a:t>
            </a:r>
          </a:p>
        </p:txBody>
      </p:sp>
      <p:graphicFrame>
        <p:nvGraphicFramePr>
          <p:cNvPr id="5" name="Table 4"/>
          <p:cNvGraphicFramePr>
            <a:graphicFrameLocks noGrp="1"/>
          </p:cNvGraphicFramePr>
          <p:nvPr/>
        </p:nvGraphicFramePr>
        <p:xfrm>
          <a:off x="457200" y="1325880"/>
          <a:ext cx="11274552" cy="3346704"/>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347472">
                <a:tc>
                  <a:txBody>
                    <a:bodyPr/>
                    <a:lstStyle/>
                    <a:p>
                      <a:pPr algn="l"/>
                      <a:r>
                        <a:rPr sz="1000" b="1" i="0">
                          <a:solidFill>
                            <a:srgbClr val="CADCEA"/>
                          </a:solidFill>
                          <a:latin typeface="Calibri"/>
                        </a:rPr>
                        <a:t>POLICY</a:t>
                      </a:r>
                    </a:p>
                  </a:txBody>
                  <a:tcPr marL="73152" marR="73152" marT="36576" marB="36576" anchor="ctr">
                    <a:solidFill>
                      <a:srgbClr val="1A2130"/>
                    </a:solidFill>
                  </a:tcPr>
                </a:tc>
                <a:tc>
                  <a:txBody>
                    <a:bodyPr/>
                    <a:lstStyle/>
                    <a:p>
                      <a:pPr algn="l"/>
                      <a:r>
                        <a:rPr sz="1000" b="1" i="0">
                          <a:solidFill>
                            <a:srgbClr val="CADCEA"/>
                          </a:solidFill>
                          <a:latin typeface="Calibri"/>
                        </a:rPr>
                        <a:t>WHAT IT REQUIRES</a:t>
                      </a:r>
                    </a:p>
                  </a:txBody>
                  <a:tcPr marL="73152" marR="73152" marT="36576" marB="36576" anchor="ctr">
                    <a:solidFill>
                      <a:srgbClr val="1A2130"/>
                    </a:solidFill>
                  </a:tcPr>
                </a:tc>
                <a:tc>
                  <a:txBody>
                    <a:bodyPr/>
                    <a:lstStyle/>
                    <a:p>
                      <a:pPr algn="l"/>
                      <a:r>
                        <a:rPr sz="1000" b="1" i="0">
                          <a:solidFill>
                            <a:srgbClr val="CADCEA"/>
                          </a:solidFill>
                          <a:latin typeface="Calibri"/>
                        </a:rPr>
                        <a:t>TYPICAL OWNER</a:t>
                      </a:r>
                    </a:p>
                  </a:txBody>
                  <a:tcPr marL="73152" marR="73152" marT="36576" marB="36576" anchor="ctr">
                    <a:solidFill>
                      <a:srgbClr val="1A2130"/>
                    </a:solidFill>
                  </a:tcPr>
                </a:tc>
                <a:tc>
                  <a:txBody>
                    <a:bodyPr/>
                    <a:lstStyle/>
                    <a:p>
                      <a:pPr algn="l"/>
                      <a:r>
                        <a:rPr sz="1000" b="1" i="0">
                          <a:solidFill>
                            <a:srgbClr val="CADCEA"/>
                          </a:solidFill>
                          <a:latin typeface="Calibri"/>
                        </a:rPr>
                        <a:t>WHY IT MATTERS TO EXECUTIVES</a:t>
                      </a:r>
                    </a:p>
                  </a:txBody>
                  <a:tcPr marL="73152" marR="73152" marT="36576" marB="36576" anchor="ctr">
                    <a:solidFill>
                      <a:srgbClr val="1A2130"/>
                    </a:solidFill>
                  </a:tcPr>
                </a:tc>
                <a:extLst>
                  <a:ext uri="{0D108BD9-81ED-4DB2-BD59-A6C34878D82A}">
                    <a16:rowId xmlns:a16="http://schemas.microsoft.com/office/drawing/2014/main" val="10000"/>
                  </a:ext>
                </a:extLst>
              </a:tr>
              <a:tr h="749808">
                <a:tc>
                  <a:txBody>
                    <a:bodyPr/>
                    <a:lstStyle/>
                    <a:p>
                      <a:pPr algn="l"/>
                      <a:r>
                        <a:rPr sz="1000" b="1" i="0">
                          <a:solidFill>
                            <a:srgbClr val="1A2130"/>
                          </a:solidFill>
                          <a:latin typeface="Calibri"/>
                        </a:rPr>
                        <a:t>Issue management</a:t>
                      </a:r>
                    </a:p>
                  </a:txBody>
                  <a:tcPr marL="73152" marR="73152" marT="36576" marB="36576" anchor="ctr">
                    <a:solidFill>
                      <a:srgbClr val="FFFFFF"/>
                    </a:solidFill>
                  </a:tcPr>
                </a:tc>
                <a:tc>
                  <a:txBody>
                    <a:bodyPr/>
                    <a:lstStyle/>
                    <a:p>
                      <a:pPr algn="l"/>
                      <a:r>
                        <a:rPr sz="1000" b="0" i="0">
                          <a:solidFill>
                            <a:srgbClr val="57626B"/>
                          </a:solidFill>
                          <a:latin typeface="Calibri"/>
                        </a:rPr>
                        <a:t>Every data issue logged, rated for severity, owned and fixed within set timeframes</a:t>
                      </a:r>
                    </a:p>
                  </a:txBody>
                  <a:tcPr marL="73152" marR="73152" marT="36576" marB="36576" anchor="ctr">
                    <a:solidFill>
                      <a:srgbClr val="FFFFFF"/>
                    </a:solidFill>
                  </a:tcPr>
                </a:tc>
                <a:tc>
                  <a:txBody>
                    <a:bodyPr/>
                    <a:lstStyle/>
                    <a:p>
                      <a:pPr algn="l"/>
                      <a:r>
                        <a:rPr sz="1000" b="0" i="0">
                          <a:solidFill>
                            <a:srgbClr val="57626B"/>
                          </a:solidFill>
                          <a:latin typeface="Calibri"/>
                        </a:rPr>
                        <a:t>Data Governance Office</a:t>
                      </a:r>
                    </a:p>
                  </a:txBody>
                  <a:tcPr marL="73152" marR="73152" marT="36576" marB="36576" anchor="ctr">
                    <a:solidFill>
                      <a:srgbClr val="FFFFFF"/>
                    </a:solidFill>
                  </a:tcPr>
                </a:tc>
                <a:tc>
                  <a:txBody>
                    <a:bodyPr/>
                    <a:lstStyle/>
                    <a:p>
                      <a:pPr algn="l"/>
                      <a:r>
                        <a:rPr sz="1000" b="0" i="0">
                          <a:solidFill>
                            <a:srgbClr val="57626B"/>
                          </a:solidFill>
                          <a:latin typeface="Calibri"/>
                        </a:rPr>
                        <a:t>No known problem goes untracked</a:t>
                      </a:r>
                    </a:p>
                  </a:txBody>
                  <a:tcPr marL="73152" marR="73152" marT="36576" marB="36576" anchor="ctr">
                    <a:solidFill>
                      <a:srgbClr val="FFFFFF"/>
                    </a:solidFill>
                  </a:tcPr>
                </a:tc>
                <a:extLst>
                  <a:ext uri="{0D108BD9-81ED-4DB2-BD59-A6C34878D82A}">
                    <a16:rowId xmlns:a16="http://schemas.microsoft.com/office/drawing/2014/main" val="10001"/>
                  </a:ext>
                </a:extLst>
              </a:tr>
              <a:tr h="749808">
                <a:tc>
                  <a:txBody>
                    <a:bodyPr/>
                    <a:lstStyle/>
                    <a:p>
                      <a:pPr algn="l"/>
                      <a:r>
                        <a:rPr sz="1000" b="1" i="0">
                          <a:solidFill>
                            <a:srgbClr val="1A2130"/>
                          </a:solidFill>
                          <a:latin typeface="Calibri"/>
                        </a:rPr>
                        <a:t>Data change management</a:t>
                      </a:r>
                    </a:p>
                  </a:txBody>
                  <a:tcPr marL="73152" marR="73152" marT="36576" marB="36576" anchor="ctr">
                    <a:solidFill>
                      <a:srgbClr val="F4F6F2"/>
                    </a:solidFill>
                  </a:tcPr>
                </a:tc>
                <a:tc>
                  <a:txBody>
                    <a:bodyPr/>
                    <a:lstStyle/>
                    <a:p>
                      <a:pPr algn="l"/>
                      <a:r>
                        <a:rPr sz="1000" b="0" i="0">
                          <a:solidFill>
                            <a:srgbClr val="57626B"/>
                          </a:solidFill>
                          <a:latin typeface="Calibri"/>
                        </a:rPr>
                        <a:t>Changes to definitions, mappings, rules and reports are approved, tested and recorded</a:t>
                      </a:r>
                    </a:p>
                  </a:txBody>
                  <a:tcPr marL="73152" marR="73152" marT="36576" marB="36576" anchor="ctr">
                    <a:solidFill>
                      <a:srgbClr val="F4F6F2"/>
                    </a:solidFill>
                  </a:tcPr>
                </a:tc>
                <a:tc>
                  <a:txBody>
                    <a:bodyPr/>
                    <a:lstStyle/>
                    <a:p>
                      <a:pPr algn="l"/>
                      <a:r>
                        <a:rPr sz="1000" b="0" i="0">
                          <a:solidFill>
                            <a:srgbClr val="57626B"/>
                          </a:solidFill>
                          <a:latin typeface="Calibri"/>
                        </a:rPr>
                        <a:t>Data owners / DGO</a:t>
                      </a:r>
                    </a:p>
                  </a:txBody>
                  <a:tcPr marL="73152" marR="73152" marT="36576" marB="36576" anchor="ctr">
                    <a:solidFill>
                      <a:srgbClr val="F4F6F2"/>
                    </a:solidFill>
                  </a:tcPr>
                </a:tc>
                <a:tc>
                  <a:txBody>
                    <a:bodyPr/>
                    <a:lstStyle/>
                    <a:p>
                      <a:pPr algn="l"/>
                      <a:r>
                        <a:rPr sz="1000" b="0" i="0">
                          <a:solidFill>
                            <a:srgbClr val="57626B"/>
                          </a:solidFill>
                          <a:latin typeface="Calibri"/>
                        </a:rPr>
                        <a:t>Prevents silent changes to reported numbers</a:t>
                      </a:r>
                    </a:p>
                  </a:txBody>
                  <a:tcPr marL="73152" marR="73152" marT="36576" marB="36576" anchor="ctr">
                    <a:solidFill>
                      <a:srgbClr val="F4F6F2"/>
                    </a:solidFill>
                  </a:tcPr>
                </a:tc>
                <a:extLst>
                  <a:ext uri="{0D108BD9-81ED-4DB2-BD59-A6C34878D82A}">
                    <a16:rowId xmlns:a16="http://schemas.microsoft.com/office/drawing/2014/main" val="10002"/>
                  </a:ext>
                </a:extLst>
              </a:tr>
              <a:tr h="749808">
                <a:tc>
                  <a:txBody>
                    <a:bodyPr/>
                    <a:lstStyle/>
                    <a:p>
                      <a:pPr algn="l"/>
                      <a:r>
                        <a:rPr sz="1000" b="1" i="0">
                          <a:solidFill>
                            <a:srgbClr val="1A2130"/>
                          </a:solidFill>
                          <a:latin typeface="Calibri"/>
                        </a:rPr>
                        <a:t>Exceptions &amp; waivers</a:t>
                      </a:r>
                    </a:p>
                  </a:txBody>
                  <a:tcPr marL="73152" marR="73152" marT="36576" marB="36576" anchor="ctr">
                    <a:solidFill>
                      <a:srgbClr val="FFFFFF"/>
                    </a:solidFill>
                  </a:tcPr>
                </a:tc>
                <a:tc>
                  <a:txBody>
                    <a:bodyPr/>
                    <a:lstStyle/>
                    <a:p>
                      <a:pPr algn="l"/>
                      <a:r>
                        <a:rPr sz="1000" b="0" i="0">
                          <a:solidFill>
                            <a:srgbClr val="57626B"/>
                          </a:solidFill>
                          <a:latin typeface="Calibri"/>
                        </a:rPr>
                        <a:t>Non-compliance is approved, time-limited, risk-accepted and tracked to closure</a:t>
                      </a:r>
                    </a:p>
                  </a:txBody>
                  <a:tcPr marL="73152" marR="73152" marT="36576" marB="36576" anchor="ctr">
                    <a:solidFill>
                      <a:srgbClr val="FFFFFF"/>
                    </a:solidFill>
                  </a:tcPr>
                </a:tc>
                <a:tc>
                  <a:txBody>
                    <a:bodyPr/>
                    <a:lstStyle/>
                    <a:p>
                      <a:pPr algn="l"/>
                      <a:r>
                        <a:rPr sz="1000" b="0" i="0">
                          <a:solidFill>
                            <a:srgbClr val="57626B"/>
                          </a:solidFill>
                          <a:latin typeface="Calibri"/>
                        </a:rPr>
                        <a:t>Data Governance Office</a:t>
                      </a:r>
                    </a:p>
                  </a:txBody>
                  <a:tcPr marL="73152" marR="73152" marT="36576" marB="36576" anchor="ctr">
                    <a:solidFill>
                      <a:srgbClr val="FFFFFF"/>
                    </a:solidFill>
                  </a:tcPr>
                </a:tc>
                <a:tc>
                  <a:txBody>
                    <a:bodyPr/>
                    <a:lstStyle/>
                    <a:p>
                      <a:pPr algn="l"/>
                      <a:r>
                        <a:rPr sz="1000" b="0" i="0">
                          <a:solidFill>
                            <a:srgbClr val="57626B"/>
                          </a:solidFill>
                          <a:latin typeface="Calibri"/>
                        </a:rPr>
                        <a:t>Makes gaps visible instead of hidden</a:t>
                      </a:r>
                    </a:p>
                  </a:txBody>
                  <a:tcPr marL="73152" marR="73152" marT="36576" marB="36576" anchor="ctr">
                    <a:solidFill>
                      <a:srgbClr val="FFFFFF"/>
                    </a:solidFill>
                  </a:tcPr>
                </a:tc>
                <a:extLst>
                  <a:ext uri="{0D108BD9-81ED-4DB2-BD59-A6C34878D82A}">
                    <a16:rowId xmlns:a16="http://schemas.microsoft.com/office/drawing/2014/main" val="10003"/>
                  </a:ext>
                </a:extLst>
              </a:tr>
              <a:tr h="749808">
                <a:tc>
                  <a:txBody>
                    <a:bodyPr/>
                    <a:lstStyle/>
                    <a:p>
                      <a:pPr algn="l"/>
                      <a:r>
                        <a:rPr sz="1000" b="1" i="0">
                          <a:solidFill>
                            <a:srgbClr val="1A2130"/>
                          </a:solidFill>
                          <a:latin typeface="Calibri"/>
                        </a:rPr>
                        <a:t>Monitoring &amp; compliance</a:t>
                      </a:r>
                    </a:p>
                  </a:txBody>
                  <a:tcPr marL="73152" marR="73152" marT="36576" marB="36576" anchor="ctr">
                    <a:solidFill>
                      <a:srgbClr val="F4F6F2"/>
                    </a:solidFill>
                  </a:tcPr>
                </a:tc>
                <a:tc>
                  <a:txBody>
                    <a:bodyPr/>
                    <a:lstStyle/>
                    <a:p>
                      <a:pPr algn="l"/>
                      <a:r>
                        <a:rPr sz="1000" b="0" i="0">
                          <a:solidFill>
                            <a:srgbClr val="57626B"/>
                          </a:solidFill>
                          <a:latin typeface="Calibri"/>
                        </a:rPr>
                        <a:t>Compliance with each standard measured and reported; annual attestation</a:t>
                      </a:r>
                    </a:p>
                  </a:txBody>
                  <a:tcPr marL="73152" marR="73152" marT="36576" marB="36576" anchor="ctr">
                    <a:solidFill>
                      <a:srgbClr val="F4F6F2"/>
                    </a:solidFill>
                  </a:tcPr>
                </a:tc>
                <a:tc>
                  <a:txBody>
                    <a:bodyPr/>
                    <a:lstStyle/>
                    <a:p>
                      <a:pPr algn="l"/>
                      <a:r>
                        <a:rPr sz="1000" b="0" i="0">
                          <a:solidFill>
                            <a:srgbClr val="57626B"/>
                          </a:solidFill>
                          <a:latin typeface="Calibri"/>
                        </a:rPr>
                        <a:t>Data Governance Office</a:t>
                      </a:r>
                    </a:p>
                  </a:txBody>
                  <a:tcPr marL="73152" marR="73152" marT="36576" marB="36576" anchor="ctr">
                    <a:solidFill>
                      <a:srgbClr val="F4F6F2"/>
                    </a:solidFill>
                  </a:tcPr>
                </a:tc>
                <a:tc>
                  <a:txBody>
                    <a:bodyPr/>
                    <a:lstStyle/>
                    <a:p>
                      <a:pPr algn="l"/>
                      <a:r>
                        <a:rPr sz="1000" b="0" i="0">
                          <a:solidFill>
                            <a:srgbClr val="57626B"/>
                          </a:solidFill>
                          <a:latin typeface="Calibri"/>
                        </a:rPr>
                        <a:t>Tells executives whether the policy actually works</a:t>
                      </a:r>
                    </a:p>
                  </a:txBody>
                  <a:tcPr marL="73152" marR="73152" marT="36576" marB="36576" anchor="ctr">
                    <a:solidFill>
                      <a:srgbClr val="F4F6F2"/>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57200" y="4855464"/>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In practice: </a:t>
            </a:r>
            <a:r>
              <a:rPr sz="1100" b="0" i="0">
                <a:solidFill>
                  <a:srgbClr val="57626B"/>
                </a:solidFill>
                <a:latin typeface="Calibri"/>
              </a:rPr>
              <a:t>these four are what turn a policy document into an operating process.</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10</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Who does what for each policy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Each policy has a named owner and approver, the people who must follow it, and independent checkers.</a:t>
            </a:r>
          </a:p>
        </p:txBody>
      </p:sp>
      <p:graphicFrame>
        <p:nvGraphicFramePr>
          <p:cNvPr id="5" name="Table 4"/>
          <p:cNvGraphicFramePr>
            <a:graphicFrameLocks noGrp="1"/>
          </p:cNvGraphicFramePr>
          <p:nvPr/>
        </p:nvGraphicFramePr>
        <p:xfrm>
          <a:off x="457200" y="1325880"/>
          <a:ext cx="11274552" cy="4151376"/>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347472">
                <a:tc>
                  <a:txBody>
                    <a:bodyPr/>
                    <a:lstStyle/>
                    <a:p>
                      <a:pPr algn="l"/>
                      <a:r>
                        <a:rPr sz="1000" b="1" i="0">
                          <a:solidFill>
                            <a:srgbClr val="CADCEA"/>
                          </a:solidFill>
                          <a:latin typeface="Calibri"/>
                        </a:rPr>
                        <a:t>ROLE</a:t>
                      </a:r>
                    </a:p>
                  </a:txBody>
                  <a:tcPr marL="73152" marR="73152" marT="36576" marB="36576" anchor="ctr">
                    <a:solidFill>
                      <a:srgbClr val="1A2130"/>
                    </a:solidFill>
                  </a:tcPr>
                </a:tc>
                <a:tc>
                  <a:txBody>
                    <a:bodyPr/>
                    <a:lstStyle/>
                    <a:p>
                      <a:pPr algn="l"/>
                      <a:r>
                        <a:rPr sz="1000" b="1" i="0">
                          <a:solidFill>
                            <a:srgbClr val="CADCEA"/>
                          </a:solidFill>
                          <a:latin typeface="Calibri"/>
                        </a:rPr>
                        <a:t>WHAT THEY DO FOR THE POLICY</a:t>
                      </a:r>
                    </a:p>
                  </a:txBody>
                  <a:tcPr marL="73152" marR="73152" marT="36576" marB="36576" anchor="ctr">
                    <a:solidFill>
                      <a:srgbClr val="1A2130"/>
                    </a:solidFill>
                  </a:tcPr>
                </a:tc>
                <a:extLst>
                  <a:ext uri="{0D108BD9-81ED-4DB2-BD59-A6C34878D82A}">
                    <a16:rowId xmlns:a16="http://schemas.microsoft.com/office/drawing/2014/main" val="10000"/>
                  </a:ext>
                </a:extLst>
              </a:tr>
              <a:tr h="475488">
                <a:tc>
                  <a:txBody>
                    <a:bodyPr/>
                    <a:lstStyle/>
                    <a:p>
                      <a:pPr algn="l"/>
                      <a:r>
                        <a:rPr sz="1100" b="1" i="0">
                          <a:solidFill>
                            <a:srgbClr val="1A2130"/>
                          </a:solidFill>
                          <a:latin typeface="Calibri"/>
                        </a:rPr>
                        <a:t>Board / executive committee</a:t>
                      </a:r>
                    </a:p>
                  </a:txBody>
                  <a:tcPr marL="73152" marR="73152" marT="36576" marB="36576" anchor="ctr">
                    <a:solidFill>
                      <a:srgbClr val="FFFFFF"/>
                    </a:solidFill>
                  </a:tcPr>
                </a:tc>
                <a:tc>
                  <a:txBody>
                    <a:bodyPr/>
                    <a:lstStyle/>
                    <a:p>
                      <a:pPr algn="l"/>
                      <a:r>
                        <a:rPr sz="1100" b="0" i="0">
                          <a:solidFill>
                            <a:srgbClr val="57626B"/>
                          </a:solidFill>
                          <a:latin typeface="Calibri"/>
                        </a:rPr>
                        <a:t>Approves the umbrella policy; sets data risk appetite; receives compliance reporting</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pPr algn="l"/>
                      <a:r>
                        <a:rPr sz="1100" b="1" i="0">
                          <a:solidFill>
                            <a:srgbClr val="1A2130"/>
                          </a:solidFill>
                          <a:latin typeface="Calibri"/>
                        </a:rPr>
                        <a:t>Executive sponsor</a:t>
                      </a:r>
                    </a:p>
                  </a:txBody>
                  <a:tcPr marL="73152" marR="73152" marT="36576" marB="36576" anchor="ctr">
                    <a:solidFill>
                      <a:srgbClr val="F4F6F2"/>
                    </a:solidFill>
                  </a:tcPr>
                </a:tc>
                <a:tc>
                  <a:txBody>
                    <a:bodyPr/>
                    <a:lstStyle/>
                    <a:p>
                      <a:pPr algn="l"/>
                      <a:r>
                        <a:rPr sz="1100" b="0" i="0">
                          <a:solidFill>
                            <a:srgbClr val="57626B"/>
                          </a:solidFill>
                          <a:latin typeface="Calibri"/>
                        </a:rPr>
                        <a:t>Champions the policy; resolves escalations the council cannot</a:t>
                      </a:r>
                    </a:p>
                  </a:txBody>
                  <a:tcPr marL="73152" marR="73152" marT="36576" marB="36576" anchor="ctr">
                    <a:solidFill>
                      <a:srgbClr val="F4F6F2"/>
                    </a:solidFill>
                  </a:tcPr>
                </a:tc>
                <a:extLst>
                  <a:ext uri="{0D108BD9-81ED-4DB2-BD59-A6C34878D82A}">
                    <a16:rowId xmlns:a16="http://schemas.microsoft.com/office/drawing/2014/main" val="10002"/>
                  </a:ext>
                </a:extLst>
              </a:tr>
              <a:tr h="475488">
                <a:tc>
                  <a:txBody>
                    <a:bodyPr/>
                    <a:lstStyle/>
                    <a:p>
                      <a:pPr algn="l"/>
                      <a:r>
                        <a:rPr sz="1100" b="1" i="0">
                          <a:solidFill>
                            <a:srgbClr val="1A2130"/>
                          </a:solidFill>
                          <a:latin typeface="Calibri"/>
                        </a:rPr>
                        <a:t>Policy owner (e.g., CDO, CISO, CFO)</a:t>
                      </a:r>
                    </a:p>
                  </a:txBody>
                  <a:tcPr marL="73152" marR="73152" marT="36576" marB="36576" anchor="ctr">
                    <a:solidFill>
                      <a:srgbClr val="FFFFFF"/>
                    </a:solidFill>
                  </a:tcPr>
                </a:tc>
                <a:tc>
                  <a:txBody>
                    <a:bodyPr/>
                    <a:lstStyle/>
                    <a:p>
                      <a:pPr algn="l"/>
                      <a:r>
                        <a:rPr sz="1100" b="0" i="0">
                          <a:solidFill>
                            <a:srgbClr val="57626B"/>
                          </a:solidFill>
                          <a:latin typeface="Calibri"/>
                        </a:rPr>
                        <a:t>Accountable for the policy’s content, currency and compliance</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pPr algn="l"/>
                      <a:r>
                        <a:rPr sz="1100" b="1" i="0">
                          <a:solidFill>
                            <a:srgbClr val="1A2130"/>
                          </a:solidFill>
                          <a:latin typeface="Calibri"/>
                        </a:rPr>
                        <a:t>Data Governance Council</a:t>
                      </a:r>
                    </a:p>
                  </a:txBody>
                  <a:tcPr marL="73152" marR="73152" marT="36576" marB="36576" anchor="ctr">
                    <a:solidFill>
                      <a:srgbClr val="F4F6F2"/>
                    </a:solidFill>
                  </a:tcPr>
                </a:tc>
                <a:tc>
                  <a:txBody>
                    <a:bodyPr/>
                    <a:lstStyle/>
                    <a:p>
                      <a:pPr algn="l"/>
                      <a:r>
                        <a:rPr sz="1100" b="0" i="0">
                          <a:solidFill>
                            <a:srgbClr val="57626B"/>
                          </a:solidFill>
                          <a:latin typeface="Calibri"/>
                        </a:rPr>
                        <a:t>Approves standards; approves material exceptions; reviews compliance monthly</a:t>
                      </a:r>
                    </a:p>
                  </a:txBody>
                  <a:tcPr marL="73152" marR="73152" marT="36576" marB="36576" anchor="ctr">
                    <a:solidFill>
                      <a:srgbClr val="F4F6F2"/>
                    </a:solidFill>
                  </a:tcPr>
                </a:tc>
                <a:extLst>
                  <a:ext uri="{0D108BD9-81ED-4DB2-BD59-A6C34878D82A}">
                    <a16:rowId xmlns:a16="http://schemas.microsoft.com/office/drawing/2014/main" val="10004"/>
                  </a:ext>
                </a:extLst>
              </a:tr>
              <a:tr h="475488">
                <a:tc>
                  <a:txBody>
                    <a:bodyPr/>
                    <a:lstStyle/>
                    <a:p>
                      <a:pPr algn="l"/>
                      <a:r>
                        <a:rPr sz="1100" b="1" i="0">
                          <a:solidFill>
                            <a:srgbClr val="1A2130"/>
                          </a:solidFill>
                          <a:latin typeface="Calibri"/>
                        </a:rPr>
                        <a:t>Data Governance Office</a:t>
                      </a:r>
                    </a:p>
                  </a:txBody>
                  <a:tcPr marL="73152" marR="73152" marT="36576" marB="36576" anchor="ctr">
                    <a:solidFill>
                      <a:srgbClr val="FFFFFF"/>
                    </a:solidFill>
                  </a:tcPr>
                </a:tc>
                <a:tc>
                  <a:txBody>
                    <a:bodyPr/>
                    <a:lstStyle/>
                    <a:p>
                      <a:pPr algn="l"/>
                      <a:r>
                        <a:rPr sz="1100" b="0" i="0">
                          <a:solidFill>
                            <a:srgbClr val="57626B"/>
                          </a:solidFill>
                          <a:latin typeface="Calibri"/>
                        </a:rPr>
                        <a:t>Drafts and maintains policies; runs attestations, exceptions and reporting</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pPr algn="l"/>
                      <a:r>
                        <a:rPr sz="1100" b="1" i="0">
                          <a:solidFill>
                            <a:srgbClr val="1A2130"/>
                          </a:solidFill>
                          <a:latin typeface="Calibri"/>
                        </a:rPr>
                        <a:t>Data owners and stewards</a:t>
                      </a:r>
                    </a:p>
                  </a:txBody>
                  <a:tcPr marL="73152" marR="73152" marT="36576" marB="36576" anchor="ctr">
                    <a:solidFill>
                      <a:srgbClr val="F4F6F2"/>
                    </a:solidFill>
                  </a:tcPr>
                </a:tc>
                <a:tc>
                  <a:txBody>
                    <a:bodyPr/>
                    <a:lstStyle/>
                    <a:p>
                      <a:pPr algn="l"/>
                      <a:r>
                        <a:rPr sz="1100" b="0" i="0">
                          <a:solidFill>
                            <a:srgbClr val="57626B"/>
                          </a:solidFill>
                          <a:latin typeface="Calibri"/>
                        </a:rPr>
                        <a:t>Follow the policy in their domain; attest to compliance; request exceptions</a:t>
                      </a:r>
                    </a:p>
                  </a:txBody>
                  <a:tcPr marL="73152" marR="73152" marT="36576" marB="36576" anchor="ctr">
                    <a:solidFill>
                      <a:srgbClr val="F4F6F2"/>
                    </a:solidFill>
                  </a:tcPr>
                </a:tc>
                <a:extLst>
                  <a:ext uri="{0D108BD9-81ED-4DB2-BD59-A6C34878D82A}">
                    <a16:rowId xmlns:a16="http://schemas.microsoft.com/office/drawing/2014/main" val="10006"/>
                  </a:ext>
                </a:extLst>
              </a:tr>
              <a:tr h="475488">
                <a:tc>
                  <a:txBody>
                    <a:bodyPr/>
                    <a:lstStyle/>
                    <a:p>
                      <a:pPr algn="l"/>
                      <a:r>
                        <a:rPr sz="1100" b="1" i="0">
                          <a:solidFill>
                            <a:srgbClr val="1A2130"/>
                          </a:solidFill>
                          <a:latin typeface="Calibri"/>
                        </a:rPr>
                        <a:t>2nd line (risk and compliance)</a:t>
                      </a:r>
                    </a:p>
                  </a:txBody>
                  <a:tcPr marL="73152" marR="73152" marT="36576" marB="36576" anchor="ctr">
                    <a:solidFill>
                      <a:srgbClr val="FFFFFF"/>
                    </a:solidFill>
                  </a:tcPr>
                </a:tc>
                <a:tc>
                  <a:txBody>
                    <a:bodyPr/>
                    <a:lstStyle/>
                    <a:p>
                      <a:pPr algn="l"/>
                      <a:r>
                        <a:rPr sz="1100" b="0" i="0">
                          <a:solidFill>
                            <a:srgbClr val="57626B"/>
                          </a:solidFill>
                          <a:latin typeface="Calibri"/>
                        </a:rPr>
                        <a:t>Independently challenge the policy and how well it is followed</a:t>
                      </a:r>
                    </a:p>
                  </a:txBody>
                  <a:tcPr marL="73152" marR="73152" marT="36576" marB="36576" anchor="ctr">
                    <a:solidFill>
                      <a:srgbClr val="FFFFFF"/>
                    </a:solidFill>
                  </a:tcPr>
                </a:tc>
                <a:extLst>
                  <a:ext uri="{0D108BD9-81ED-4DB2-BD59-A6C34878D82A}">
                    <a16:rowId xmlns:a16="http://schemas.microsoft.com/office/drawing/2014/main" val="10007"/>
                  </a:ext>
                </a:extLst>
              </a:tr>
              <a:tr h="475488">
                <a:tc>
                  <a:txBody>
                    <a:bodyPr/>
                    <a:lstStyle/>
                    <a:p>
                      <a:pPr algn="l"/>
                      <a:r>
                        <a:rPr sz="1100" b="1" i="0">
                          <a:solidFill>
                            <a:srgbClr val="1A2130"/>
                          </a:solidFill>
                          <a:latin typeface="Calibri"/>
                        </a:rPr>
                        <a:t>Internal audit</a:t>
                      </a:r>
                    </a:p>
                  </a:txBody>
                  <a:tcPr marL="73152" marR="73152" marT="36576" marB="36576" anchor="ctr">
                    <a:solidFill>
                      <a:srgbClr val="F4F6F2"/>
                    </a:solidFill>
                  </a:tcPr>
                </a:tc>
                <a:tc>
                  <a:txBody>
                    <a:bodyPr/>
                    <a:lstStyle/>
                    <a:p>
                      <a:pPr algn="l"/>
                      <a:r>
                        <a:rPr sz="1100" b="0" i="0">
                          <a:solidFill>
                            <a:srgbClr val="57626B"/>
                          </a:solidFill>
                          <a:latin typeface="Calibri"/>
                        </a:rPr>
                        <a:t>Tests whether the policy is designed well and followed in practice</a:t>
                      </a:r>
                    </a:p>
                  </a:txBody>
                  <a:tcPr marL="73152" marR="73152" marT="36576" marB="36576" anchor="ctr">
                    <a:solidFill>
                      <a:srgbClr val="F4F6F2"/>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457200" y="5577840"/>
            <a:ext cx="11274552" cy="6400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Rule of thumb: </a:t>
            </a:r>
            <a:r>
              <a:rPr sz="1150" b="0" i="0">
                <a:solidFill>
                  <a:srgbClr val="57626B"/>
                </a:solidFill>
                <a:latin typeface="Calibri"/>
              </a:rPr>
              <a:t>one owner per policy, one approver per level, and nobody checks their own work.</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11</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The policy lifecycle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Policies are living documents: reviewed at least annually and whenever the business or regulation changes.</a:t>
            </a:r>
          </a:p>
        </p:txBody>
      </p:sp>
      <p:sp>
        <p:nvSpPr>
          <p:cNvPr id="5" name="Rounded Rectangle 4"/>
          <p:cNvSpPr/>
          <p:nvPr/>
        </p:nvSpPr>
        <p:spPr>
          <a:xfrm>
            <a:off x="457200"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Identify</a:t>
            </a:r>
          </a:p>
        </p:txBody>
      </p:sp>
      <p:sp>
        <p:nvSpPr>
          <p:cNvPr id="6" name="Rounded Rectangle 5"/>
          <p:cNvSpPr/>
          <p:nvPr/>
        </p:nvSpPr>
        <p:spPr>
          <a:xfrm>
            <a:off x="457200"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Regulation, audit finding or new risk</a:t>
            </a:r>
          </a:p>
        </p:txBody>
      </p:sp>
      <p:cxnSp>
        <p:nvCxnSpPr>
          <p:cNvPr id="7" name="Connector 6"/>
          <p:cNvCxnSpPr/>
          <p:nvPr/>
        </p:nvCxnSpPr>
        <p:spPr>
          <a:xfrm>
            <a:off x="1770507" y="1623060"/>
            <a:ext cx="109728"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880235"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Draft</a:t>
            </a:r>
          </a:p>
        </p:txBody>
      </p:sp>
      <p:sp>
        <p:nvSpPr>
          <p:cNvPr id="9" name="Rounded Rectangle 8"/>
          <p:cNvSpPr/>
          <p:nvPr/>
        </p:nvSpPr>
        <p:spPr>
          <a:xfrm>
            <a:off x="1880235"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DGO writes testable requirements</a:t>
            </a:r>
          </a:p>
        </p:txBody>
      </p:sp>
      <p:cxnSp>
        <p:nvCxnSpPr>
          <p:cNvPr id="10" name="Connector 9"/>
          <p:cNvCxnSpPr/>
          <p:nvPr/>
        </p:nvCxnSpPr>
        <p:spPr>
          <a:xfrm>
            <a:off x="3193541" y="1623060"/>
            <a:ext cx="109729"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03270"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Consult</a:t>
            </a:r>
          </a:p>
        </p:txBody>
      </p:sp>
      <p:sp>
        <p:nvSpPr>
          <p:cNvPr id="12" name="Rounded Rectangle 11"/>
          <p:cNvSpPr/>
          <p:nvPr/>
        </p:nvSpPr>
        <p:spPr>
          <a:xfrm>
            <a:off x="3303270"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Business, technology, risk, legal</a:t>
            </a:r>
          </a:p>
        </p:txBody>
      </p:sp>
      <p:cxnSp>
        <p:nvCxnSpPr>
          <p:cNvPr id="13" name="Connector 12"/>
          <p:cNvCxnSpPr/>
          <p:nvPr/>
        </p:nvCxnSpPr>
        <p:spPr>
          <a:xfrm>
            <a:off x="4616577" y="1623060"/>
            <a:ext cx="109728"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26304"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Approve</a:t>
            </a:r>
          </a:p>
        </p:txBody>
      </p:sp>
      <p:sp>
        <p:nvSpPr>
          <p:cNvPr id="15" name="Rounded Rectangle 14"/>
          <p:cNvSpPr/>
          <p:nvPr/>
        </p:nvSpPr>
        <p:spPr>
          <a:xfrm>
            <a:off x="4726304"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Right level for the document</a:t>
            </a:r>
          </a:p>
        </p:txBody>
      </p:sp>
      <p:cxnSp>
        <p:nvCxnSpPr>
          <p:cNvPr id="16" name="Connector 15"/>
          <p:cNvCxnSpPr/>
          <p:nvPr/>
        </p:nvCxnSpPr>
        <p:spPr>
          <a:xfrm>
            <a:off x="6039612" y="1623060"/>
            <a:ext cx="109728"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49340"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Publish</a:t>
            </a:r>
          </a:p>
        </p:txBody>
      </p:sp>
      <p:sp>
        <p:nvSpPr>
          <p:cNvPr id="18" name="Rounded Rectangle 17"/>
          <p:cNvSpPr/>
          <p:nvPr/>
        </p:nvSpPr>
        <p:spPr>
          <a:xfrm>
            <a:off x="6149340"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Policy portal, communication, training</a:t>
            </a:r>
          </a:p>
        </p:txBody>
      </p:sp>
      <p:cxnSp>
        <p:nvCxnSpPr>
          <p:cNvPr id="19" name="Connector 18"/>
          <p:cNvCxnSpPr/>
          <p:nvPr/>
        </p:nvCxnSpPr>
        <p:spPr>
          <a:xfrm>
            <a:off x="7462646" y="1623060"/>
            <a:ext cx="109728"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572375"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Attest</a:t>
            </a:r>
          </a:p>
        </p:txBody>
      </p:sp>
      <p:sp>
        <p:nvSpPr>
          <p:cNvPr id="21" name="Rounded Rectangle 20"/>
          <p:cNvSpPr/>
          <p:nvPr/>
        </p:nvSpPr>
        <p:spPr>
          <a:xfrm>
            <a:off x="7572375"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Owners confirm compliance</a:t>
            </a:r>
          </a:p>
        </p:txBody>
      </p:sp>
      <p:cxnSp>
        <p:nvCxnSpPr>
          <p:cNvPr id="22" name="Connector 21"/>
          <p:cNvCxnSpPr/>
          <p:nvPr/>
        </p:nvCxnSpPr>
        <p:spPr>
          <a:xfrm>
            <a:off x="8885682" y="1623060"/>
            <a:ext cx="109727"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995409"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Monitor</a:t>
            </a:r>
          </a:p>
        </p:txBody>
      </p:sp>
      <p:sp>
        <p:nvSpPr>
          <p:cNvPr id="24" name="Rounded Rectangle 23"/>
          <p:cNvSpPr/>
          <p:nvPr/>
        </p:nvSpPr>
        <p:spPr>
          <a:xfrm>
            <a:off x="8995409"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Measure and report compliance</a:t>
            </a:r>
          </a:p>
        </p:txBody>
      </p:sp>
      <p:cxnSp>
        <p:nvCxnSpPr>
          <p:cNvPr id="25" name="Connector 24"/>
          <p:cNvCxnSpPr/>
          <p:nvPr/>
        </p:nvCxnSpPr>
        <p:spPr>
          <a:xfrm>
            <a:off x="10308716" y="1623060"/>
            <a:ext cx="109728"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418444" y="1371600"/>
            <a:ext cx="1313307" cy="5029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00" b="1" i="0">
                <a:solidFill>
                  <a:srgbClr val="FFFFFF"/>
                </a:solidFill>
                <a:latin typeface="Calibri"/>
              </a:rPr>
              <a:t>Review</a:t>
            </a:r>
          </a:p>
        </p:txBody>
      </p:sp>
      <p:sp>
        <p:nvSpPr>
          <p:cNvPr id="27" name="Rounded Rectangle 26"/>
          <p:cNvSpPr/>
          <p:nvPr/>
        </p:nvSpPr>
        <p:spPr>
          <a:xfrm>
            <a:off x="10418444" y="1965960"/>
            <a:ext cx="1313307" cy="105156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00" b="0" i="0">
                <a:solidFill>
                  <a:srgbClr val="1A2130"/>
                </a:solidFill>
                <a:latin typeface="Calibri"/>
              </a:rPr>
              <a:t>Annually, or when triggered</a:t>
            </a:r>
          </a:p>
        </p:txBody>
      </p:sp>
      <p:sp>
        <p:nvSpPr>
          <p:cNvPr id="28" name="TextBox 27"/>
          <p:cNvSpPr txBox="1"/>
          <p:nvPr/>
        </p:nvSpPr>
        <p:spPr>
          <a:xfrm>
            <a:off x="457200" y="3291840"/>
            <a:ext cx="11247120" cy="274320"/>
          </a:xfrm>
          <a:prstGeom prst="rect">
            <a:avLst/>
          </a:prstGeom>
          <a:noFill/>
        </p:spPr>
        <p:txBody>
          <a:bodyPr wrap="square" lIns="0" tIns="0" rIns="0" bIns="0" anchor="t">
            <a:spAutoFit/>
          </a:bodyPr>
          <a:lstStyle/>
          <a:p>
            <a:pPr algn="l"/>
            <a:r>
              <a:rPr sz="1050" b="1" i="0">
                <a:solidFill>
                  <a:srgbClr val="1A2130"/>
                </a:solidFill>
                <a:latin typeface="Courier New"/>
              </a:rPr>
              <a:t>WHAT TRIGGERS AN OFF-CYCLE REVIEW</a:t>
            </a:r>
          </a:p>
        </p:txBody>
      </p:sp>
      <p:sp>
        <p:nvSpPr>
          <p:cNvPr id="29" name="Rounded Rectangle 28"/>
          <p:cNvSpPr/>
          <p:nvPr/>
        </p:nvSpPr>
        <p:spPr>
          <a:xfrm>
            <a:off x="457200" y="3611880"/>
            <a:ext cx="5550408" cy="201168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TRIGGERS</a:t>
            </a:r>
          </a:p>
          <a:p>
            <a:pPr algn="l"/>
            <a:r>
              <a:rPr sz="1050" b="0" i="0">
                <a:solidFill>
                  <a:srgbClr val="57626B"/>
                </a:solidFill>
                <a:latin typeface="Calibri"/>
              </a:rPr>
              <a:t>• New or changed regulation</a:t>
            </a:r>
          </a:p>
          <a:p>
            <a:pPr algn="l"/>
            <a:r>
              <a:rPr sz="1050" b="0" i="0">
                <a:solidFill>
                  <a:srgbClr val="57626B"/>
                </a:solidFill>
                <a:latin typeface="Calibri"/>
              </a:rPr>
              <a:t>• Audit or exam finding</a:t>
            </a:r>
          </a:p>
          <a:p>
            <a:pPr algn="l"/>
            <a:r>
              <a:rPr sz="1050" b="0" i="0">
                <a:solidFill>
                  <a:srgbClr val="57626B"/>
                </a:solidFill>
                <a:latin typeface="Calibri"/>
              </a:rPr>
              <a:t>• Significant incident or data loss</a:t>
            </a:r>
          </a:p>
          <a:p>
            <a:pPr algn="l"/>
            <a:r>
              <a:rPr sz="1050" b="0" i="0">
                <a:solidFill>
                  <a:srgbClr val="57626B"/>
                </a:solidFill>
                <a:latin typeface="Calibri"/>
              </a:rPr>
              <a:t>• New business line, product or system</a:t>
            </a:r>
          </a:p>
          <a:p>
            <a:pPr algn="l"/>
            <a:r>
              <a:rPr sz="1050" b="0" i="0">
                <a:solidFill>
                  <a:srgbClr val="57626B"/>
                </a:solidFill>
                <a:latin typeface="Calibri"/>
              </a:rPr>
              <a:t>• Repeated exceptions against the same requirement</a:t>
            </a:r>
          </a:p>
        </p:txBody>
      </p:sp>
      <p:sp>
        <p:nvSpPr>
          <p:cNvPr id="30" name="Rounded Rectangle 29"/>
          <p:cNvSpPr/>
          <p:nvPr/>
        </p:nvSpPr>
        <p:spPr>
          <a:xfrm>
            <a:off x="6190488" y="3611880"/>
            <a:ext cx="5541264" cy="201168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SIGNS A POLICY NEEDS WORK</a:t>
            </a:r>
          </a:p>
          <a:p>
            <a:pPr algn="l"/>
            <a:r>
              <a:rPr sz="1050" b="0" i="0">
                <a:solidFill>
                  <a:srgbClr val="1A2130"/>
                </a:solidFill>
                <a:latin typeface="Calibri"/>
              </a:rPr>
              <a:t>• Requirements that can’t be tested (“should consider”)</a:t>
            </a:r>
          </a:p>
          <a:p>
            <a:pPr algn="l"/>
            <a:r>
              <a:rPr sz="1050" b="0" i="0">
                <a:solidFill>
                  <a:srgbClr val="1A2130"/>
                </a:solidFill>
                <a:latin typeface="Calibri"/>
              </a:rPr>
              <a:t>• Many open exceptions</a:t>
            </a:r>
          </a:p>
          <a:p>
            <a:pPr algn="l"/>
            <a:r>
              <a:rPr sz="1050" b="0" i="0">
                <a:solidFill>
                  <a:srgbClr val="1A2130"/>
                </a:solidFill>
                <a:latin typeface="Calibri"/>
              </a:rPr>
              <a:t>• Owners can’t say how they comply</a:t>
            </a:r>
          </a:p>
          <a:p>
            <a:pPr algn="l"/>
            <a:r>
              <a:rPr sz="1050" b="0" i="0">
                <a:solidFill>
                  <a:srgbClr val="1A2130"/>
                </a:solidFill>
                <a:latin typeface="Calibri"/>
              </a:rPr>
              <a:t>• Out of date with how systems actually work</a:t>
            </a:r>
          </a:p>
        </p:txBody>
      </p:sp>
      <p:sp>
        <p:nvSpPr>
          <p:cNvPr id="31" name="Rounded Rectangle 30"/>
          <p:cNvSpPr/>
          <p:nvPr/>
        </p:nvSpPr>
        <p:spPr>
          <a:xfrm>
            <a:off x="457200" y="5806440"/>
            <a:ext cx="11274552" cy="5486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00" b="1" i="0">
                <a:solidFill>
                  <a:srgbClr val="1A2130"/>
                </a:solidFill>
                <a:latin typeface="Calibri"/>
              </a:rPr>
              <a:t>Write testable requirements: </a:t>
            </a:r>
            <a:r>
              <a:rPr sz="1100" b="0" i="0">
                <a:solidFill>
                  <a:srgbClr val="57626B"/>
                </a:solidFill>
                <a:latin typeface="Calibri"/>
              </a:rPr>
              <a:t>“must, within 5 business days” can be audited; “should consider” cannot.</a:t>
            </a:r>
          </a:p>
        </p:txBody>
      </p:sp>
      <p:sp>
        <p:nvSpPr>
          <p:cNvPr id="32" name="TextBox 31"/>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Exceptions and waivers — handling non-compliance honestly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Every firm has gaps. The policy question is whether they are visible, approved and temporary.</a:t>
            </a:r>
          </a:p>
        </p:txBody>
      </p:sp>
      <p:sp>
        <p:nvSpPr>
          <p:cNvPr id="5" name="Rounded Rectangle 4"/>
          <p:cNvSpPr/>
          <p:nvPr/>
        </p:nvSpPr>
        <p:spPr>
          <a:xfrm>
            <a:off x="457200" y="1371600"/>
            <a:ext cx="2108606"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50" b="1" i="0">
                <a:solidFill>
                  <a:srgbClr val="1A2130"/>
                </a:solidFill>
                <a:latin typeface="Calibri"/>
              </a:rPr>
              <a:t>Request</a:t>
            </a:r>
          </a:p>
          <a:p>
            <a:pPr algn="ctr"/>
            <a:r>
              <a:rPr sz="1050" b="0" i="0">
                <a:solidFill>
                  <a:srgbClr val="57626B"/>
                </a:solidFill>
                <a:latin typeface="Calibri"/>
              </a:rPr>
              <a:t>owner explains the gap</a:t>
            </a:r>
          </a:p>
        </p:txBody>
      </p:sp>
      <p:cxnSp>
        <p:nvCxnSpPr>
          <p:cNvPr id="6" name="Connector 5"/>
          <p:cNvCxnSpPr/>
          <p:nvPr/>
        </p:nvCxnSpPr>
        <p:spPr>
          <a:xfrm>
            <a:off x="2565806" y="176022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748686" y="1371600"/>
            <a:ext cx="2108606"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50" b="1" i="0">
                <a:solidFill>
                  <a:srgbClr val="1A2130"/>
                </a:solidFill>
                <a:latin typeface="Calibri"/>
              </a:rPr>
              <a:t>Assess</a:t>
            </a:r>
          </a:p>
          <a:p>
            <a:pPr algn="ctr"/>
            <a:r>
              <a:rPr sz="1050" b="0" i="0">
                <a:solidFill>
                  <a:srgbClr val="57626B"/>
                </a:solidFill>
                <a:latin typeface="Calibri"/>
              </a:rPr>
              <a:t>risk and compensating control</a:t>
            </a:r>
          </a:p>
        </p:txBody>
      </p:sp>
      <p:cxnSp>
        <p:nvCxnSpPr>
          <p:cNvPr id="8" name="Connector 7"/>
          <p:cNvCxnSpPr/>
          <p:nvPr/>
        </p:nvCxnSpPr>
        <p:spPr>
          <a:xfrm>
            <a:off x="4857292" y="176022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40172" y="1371600"/>
            <a:ext cx="2108606"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50" b="1" i="0">
                <a:solidFill>
                  <a:srgbClr val="1A2130"/>
                </a:solidFill>
                <a:latin typeface="Calibri"/>
              </a:rPr>
              <a:t>Approve</a:t>
            </a:r>
          </a:p>
          <a:p>
            <a:pPr algn="ctr"/>
            <a:r>
              <a:rPr sz="1050" b="0" i="0">
                <a:solidFill>
                  <a:srgbClr val="57626B"/>
                </a:solidFill>
                <a:latin typeface="Calibri"/>
              </a:rPr>
              <a:t>at the right level</a:t>
            </a:r>
          </a:p>
        </p:txBody>
      </p:sp>
      <p:cxnSp>
        <p:nvCxnSpPr>
          <p:cNvPr id="10" name="Connector 9"/>
          <p:cNvCxnSpPr/>
          <p:nvPr/>
        </p:nvCxnSpPr>
        <p:spPr>
          <a:xfrm>
            <a:off x="7148779" y="176022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31659" y="1371600"/>
            <a:ext cx="2108606"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50" b="1" i="0">
                <a:solidFill>
                  <a:srgbClr val="1A2130"/>
                </a:solidFill>
                <a:latin typeface="Calibri"/>
              </a:rPr>
              <a:t>Track</a:t>
            </a:r>
          </a:p>
          <a:p>
            <a:pPr algn="ctr"/>
            <a:r>
              <a:rPr sz="1050" b="0" i="0">
                <a:solidFill>
                  <a:srgbClr val="57626B"/>
                </a:solidFill>
                <a:latin typeface="Calibri"/>
              </a:rPr>
              <a:t>expiry and progress</a:t>
            </a:r>
          </a:p>
        </p:txBody>
      </p:sp>
      <p:cxnSp>
        <p:nvCxnSpPr>
          <p:cNvPr id="12" name="Connector 11"/>
          <p:cNvCxnSpPr/>
          <p:nvPr/>
        </p:nvCxnSpPr>
        <p:spPr>
          <a:xfrm>
            <a:off x="9440265" y="1760220"/>
            <a:ext cx="182880" cy="0"/>
          </a:xfrm>
          <a:prstGeom prst="line">
            <a:avLst/>
          </a:prstGeom>
          <a:ln w="15875">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23145" y="1371600"/>
            <a:ext cx="2108606"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050" b="1" i="0">
                <a:solidFill>
                  <a:srgbClr val="1A2130"/>
                </a:solidFill>
                <a:latin typeface="Calibri"/>
              </a:rPr>
              <a:t>Close</a:t>
            </a:r>
          </a:p>
          <a:p>
            <a:pPr algn="ctr"/>
            <a:r>
              <a:rPr sz="1050" b="0" i="0">
                <a:solidFill>
                  <a:srgbClr val="57626B"/>
                </a:solidFill>
                <a:latin typeface="Calibri"/>
              </a:rPr>
              <a:t>remediated with evidence</a:t>
            </a:r>
          </a:p>
        </p:txBody>
      </p:sp>
      <p:graphicFrame>
        <p:nvGraphicFramePr>
          <p:cNvPr id="14" name="Table 13"/>
          <p:cNvGraphicFramePr>
            <a:graphicFrameLocks noGrp="1"/>
          </p:cNvGraphicFramePr>
          <p:nvPr/>
        </p:nvGraphicFramePr>
        <p:xfrm>
          <a:off x="457200" y="2423160"/>
          <a:ext cx="11274552" cy="171907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313432">
                  <a:extLst>
                    <a:ext uri="{9D8B030D-6E8A-4147-A177-3AD203B41FA5}">
                      <a16:colId xmlns:a16="http://schemas.microsoft.com/office/drawing/2014/main" val="20003"/>
                    </a:ext>
                  </a:extLst>
                </a:gridCol>
              </a:tblGrid>
              <a:tr h="347472">
                <a:tc>
                  <a:txBody>
                    <a:bodyPr/>
                    <a:lstStyle/>
                    <a:p>
                      <a:pPr algn="l"/>
                      <a:r>
                        <a:rPr sz="1000" b="1" i="0">
                          <a:solidFill>
                            <a:srgbClr val="CADCEA"/>
                          </a:solidFill>
                          <a:latin typeface="Calibri"/>
                        </a:rPr>
                        <a:t>RISK OF THE GAP</a:t>
                      </a:r>
                    </a:p>
                  </a:txBody>
                  <a:tcPr marL="73152" marR="73152" marT="36576" marB="36576" anchor="ctr">
                    <a:solidFill>
                      <a:srgbClr val="1A2130"/>
                    </a:solidFill>
                  </a:tcPr>
                </a:tc>
                <a:tc>
                  <a:txBody>
                    <a:bodyPr/>
                    <a:lstStyle/>
                    <a:p>
                      <a:pPr algn="l"/>
                      <a:r>
                        <a:rPr sz="1000" b="1" i="0">
                          <a:solidFill>
                            <a:srgbClr val="CADCEA"/>
                          </a:solidFill>
                          <a:latin typeface="Calibri"/>
                        </a:rPr>
                        <a:t>EXAMPLE</a:t>
                      </a:r>
                    </a:p>
                  </a:txBody>
                  <a:tcPr marL="73152" marR="73152" marT="36576" marB="36576" anchor="ctr">
                    <a:solidFill>
                      <a:srgbClr val="1A2130"/>
                    </a:solidFill>
                  </a:tcPr>
                </a:tc>
                <a:tc>
                  <a:txBody>
                    <a:bodyPr/>
                    <a:lstStyle/>
                    <a:p>
                      <a:pPr algn="l"/>
                      <a:r>
                        <a:rPr sz="1000" b="1" i="0">
                          <a:solidFill>
                            <a:srgbClr val="CADCEA"/>
                          </a:solidFill>
                          <a:latin typeface="Calibri"/>
                        </a:rPr>
                        <a:t>APPROVED BY</a:t>
                      </a:r>
                    </a:p>
                  </a:txBody>
                  <a:tcPr marL="73152" marR="73152" marT="36576" marB="36576" anchor="ctr">
                    <a:solidFill>
                      <a:srgbClr val="1A2130"/>
                    </a:solidFill>
                  </a:tcPr>
                </a:tc>
                <a:tc>
                  <a:txBody>
                    <a:bodyPr/>
                    <a:lstStyle/>
                    <a:p>
                      <a:pPr algn="l"/>
                      <a:r>
                        <a:rPr sz="1000" b="1" i="0">
                          <a:solidFill>
                            <a:srgbClr val="CADCEA"/>
                          </a:solidFill>
                          <a:latin typeface="Calibri"/>
                        </a:rPr>
                        <a:t>MAXIMUM DURATION</a:t>
                      </a:r>
                    </a:p>
                  </a:txBody>
                  <a:tcPr marL="73152" marR="73152" marT="36576" marB="36576" anchor="ctr">
                    <a:solidFill>
                      <a:srgbClr val="1A2130"/>
                    </a:solidFill>
                  </a:tcPr>
                </a:tc>
                <a:extLst>
                  <a:ext uri="{0D108BD9-81ED-4DB2-BD59-A6C34878D82A}">
                    <a16:rowId xmlns:a16="http://schemas.microsoft.com/office/drawing/2014/main" val="10000"/>
                  </a:ext>
                </a:extLst>
              </a:tr>
              <a:tr h="457200">
                <a:tc>
                  <a:txBody>
                    <a:bodyPr/>
                    <a:lstStyle/>
                    <a:p>
                      <a:pPr algn="l"/>
                      <a:r>
                        <a:rPr sz="1050" b="1" i="0">
                          <a:solidFill>
                            <a:srgbClr val="1A2130"/>
                          </a:solidFill>
                          <a:latin typeface="Calibri"/>
                        </a:rPr>
                        <a:t>Low</a:t>
                      </a:r>
                    </a:p>
                  </a:txBody>
                  <a:tcPr marL="73152" marR="73152" marT="36576" marB="36576" anchor="ctr">
                    <a:solidFill>
                      <a:srgbClr val="DCEFE9"/>
                    </a:solidFill>
                  </a:tcPr>
                </a:tc>
                <a:tc>
                  <a:txBody>
                    <a:bodyPr/>
                    <a:lstStyle/>
                    <a:p>
                      <a:pPr algn="l"/>
                      <a:r>
                        <a:rPr sz="1050" b="0" i="0">
                          <a:solidFill>
                            <a:srgbClr val="57626B"/>
                          </a:solidFill>
                          <a:latin typeface="Calibri"/>
                        </a:rPr>
                        <a:t>A glossary term missing its secondary steward</a:t>
                      </a:r>
                    </a:p>
                  </a:txBody>
                  <a:tcPr marL="73152" marR="73152" marT="36576" marB="36576" anchor="ctr">
                    <a:solidFill>
                      <a:srgbClr val="FFFFFF"/>
                    </a:solidFill>
                  </a:tcPr>
                </a:tc>
                <a:tc>
                  <a:txBody>
                    <a:bodyPr/>
                    <a:lstStyle/>
                    <a:p>
                      <a:pPr algn="l"/>
                      <a:r>
                        <a:rPr sz="1050" b="0" i="0">
                          <a:solidFill>
                            <a:srgbClr val="57626B"/>
                          </a:solidFill>
                          <a:latin typeface="Calibri"/>
                        </a:rPr>
                        <a:t>Data owner</a:t>
                      </a:r>
                    </a:p>
                  </a:txBody>
                  <a:tcPr marL="73152" marR="73152" marT="36576" marB="36576" anchor="ctr">
                    <a:solidFill>
                      <a:srgbClr val="FFFFFF"/>
                    </a:solidFill>
                  </a:tcPr>
                </a:tc>
                <a:tc>
                  <a:txBody>
                    <a:bodyPr/>
                    <a:lstStyle/>
                    <a:p>
                      <a:pPr algn="l"/>
                      <a:r>
                        <a:rPr sz="1050" b="0" i="0">
                          <a:solidFill>
                            <a:srgbClr val="57626B"/>
                          </a:solidFill>
                          <a:latin typeface="Calibri"/>
                        </a:rPr>
                        <a:t>12 months</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r>
                        <a:rPr sz="1050" b="1" i="0">
                          <a:solidFill>
                            <a:srgbClr val="1A2130"/>
                          </a:solidFill>
                          <a:latin typeface="Calibri"/>
                        </a:rPr>
                        <a:t>Medium</a:t>
                      </a:r>
                    </a:p>
                  </a:txBody>
                  <a:tcPr marL="73152" marR="73152" marT="36576" marB="36576" anchor="ctr">
                    <a:solidFill>
                      <a:srgbClr val="FBEBC8"/>
                    </a:solidFill>
                  </a:tcPr>
                </a:tc>
                <a:tc>
                  <a:txBody>
                    <a:bodyPr/>
                    <a:lstStyle/>
                    <a:p>
                      <a:pPr algn="l"/>
                      <a:r>
                        <a:rPr sz="1050" b="0" i="0">
                          <a:solidFill>
                            <a:srgbClr val="57626B"/>
                          </a:solidFill>
                          <a:latin typeface="Calibri"/>
                        </a:rPr>
                        <a:t>A tier-2 CDE without automated DQ rules yet</a:t>
                      </a:r>
                    </a:p>
                  </a:txBody>
                  <a:tcPr marL="73152" marR="73152" marT="36576" marB="36576" anchor="ctr">
                    <a:solidFill>
                      <a:srgbClr val="F4F6F2"/>
                    </a:solidFill>
                  </a:tcPr>
                </a:tc>
                <a:tc>
                  <a:txBody>
                    <a:bodyPr/>
                    <a:lstStyle/>
                    <a:p>
                      <a:pPr algn="l"/>
                      <a:r>
                        <a:rPr sz="1050" b="0" i="0">
                          <a:solidFill>
                            <a:srgbClr val="57626B"/>
                          </a:solidFill>
                          <a:latin typeface="Calibri"/>
                        </a:rPr>
                        <a:t>Data Governance Council</a:t>
                      </a:r>
                    </a:p>
                  </a:txBody>
                  <a:tcPr marL="73152" marR="73152" marT="36576" marB="36576" anchor="ctr">
                    <a:solidFill>
                      <a:srgbClr val="F4F6F2"/>
                    </a:solidFill>
                  </a:tcPr>
                </a:tc>
                <a:tc>
                  <a:txBody>
                    <a:bodyPr/>
                    <a:lstStyle/>
                    <a:p>
                      <a:pPr algn="l"/>
                      <a:r>
                        <a:rPr sz="1050" b="0" i="0">
                          <a:solidFill>
                            <a:srgbClr val="57626B"/>
                          </a:solidFill>
                          <a:latin typeface="Calibri"/>
                        </a:rPr>
                        <a:t>6 months</a:t>
                      </a:r>
                    </a:p>
                  </a:txBody>
                  <a:tcPr marL="73152" marR="73152" marT="36576" marB="36576" anchor="ctr">
                    <a:solidFill>
                      <a:srgbClr val="F4F6F2"/>
                    </a:solidFill>
                  </a:tcPr>
                </a:tc>
                <a:extLst>
                  <a:ext uri="{0D108BD9-81ED-4DB2-BD59-A6C34878D82A}">
                    <a16:rowId xmlns:a16="http://schemas.microsoft.com/office/drawing/2014/main" val="10002"/>
                  </a:ext>
                </a:extLst>
              </a:tr>
              <a:tr h="457200">
                <a:tc>
                  <a:txBody>
                    <a:bodyPr/>
                    <a:lstStyle/>
                    <a:p>
                      <a:pPr algn="l"/>
                      <a:r>
                        <a:rPr sz="1050" b="1" i="0">
                          <a:solidFill>
                            <a:srgbClr val="1A2130"/>
                          </a:solidFill>
                          <a:latin typeface="Calibri"/>
                        </a:rPr>
                        <a:t>High</a:t>
                      </a:r>
                    </a:p>
                  </a:txBody>
                  <a:tcPr marL="73152" marR="73152" marT="36576" marB="36576" anchor="ctr">
                    <a:solidFill>
                      <a:srgbClr val="F5D9D4"/>
                    </a:solidFill>
                  </a:tcPr>
                </a:tc>
                <a:tc>
                  <a:txBody>
                    <a:bodyPr/>
                    <a:lstStyle/>
                    <a:p>
                      <a:pPr algn="l"/>
                      <a:r>
                        <a:rPr sz="1050" b="0" i="0">
                          <a:solidFill>
                            <a:srgbClr val="57626B"/>
                          </a:solidFill>
                          <a:latin typeface="Calibri"/>
                        </a:rPr>
                        <a:t>A regulatory report line without documented lineage</a:t>
                      </a:r>
                    </a:p>
                  </a:txBody>
                  <a:tcPr marL="73152" marR="73152" marT="36576" marB="36576" anchor="ctr">
                    <a:solidFill>
                      <a:srgbClr val="FFFFFF"/>
                    </a:solidFill>
                  </a:tcPr>
                </a:tc>
                <a:tc>
                  <a:txBody>
                    <a:bodyPr/>
                    <a:lstStyle/>
                    <a:p>
                      <a:pPr algn="l"/>
                      <a:r>
                        <a:rPr sz="1050" b="0" i="0">
                          <a:solidFill>
                            <a:srgbClr val="57626B"/>
                          </a:solidFill>
                          <a:latin typeface="Calibri"/>
                        </a:rPr>
                        <a:t>Executive data committee</a:t>
                      </a:r>
                    </a:p>
                  </a:txBody>
                  <a:tcPr marL="73152" marR="73152" marT="36576" marB="36576" anchor="ctr">
                    <a:solidFill>
                      <a:srgbClr val="FFFFFF"/>
                    </a:solidFill>
                  </a:tcPr>
                </a:tc>
                <a:tc>
                  <a:txBody>
                    <a:bodyPr/>
                    <a:lstStyle/>
                    <a:p>
                      <a:pPr algn="l"/>
                      <a:r>
                        <a:rPr sz="1050" b="0" i="0">
                          <a:solidFill>
                            <a:srgbClr val="57626B"/>
                          </a:solidFill>
                          <a:latin typeface="Calibri"/>
                        </a:rPr>
                        <a:t>3 months, renewable once</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15" name="Rounded Rectangle 14"/>
          <p:cNvSpPr/>
          <p:nvPr/>
        </p:nvSpPr>
        <p:spPr>
          <a:xfrm>
            <a:off x="457200" y="4343400"/>
            <a:ext cx="11274552" cy="123444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A2130"/>
                </a:solidFill>
                <a:latin typeface="Calibri"/>
              </a:rPr>
              <a:t>EVERY EXCEPTION RECORDS</a:t>
            </a:r>
          </a:p>
          <a:p>
            <a:pPr algn="l"/>
            <a:r>
              <a:rPr sz="1050" b="0" i="0">
                <a:solidFill>
                  <a:srgbClr val="1A2130"/>
                </a:solidFill>
                <a:latin typeface="Calibri"/>
              </a:rPr>
              <a:t>• The requirement not met · why · the risk · the compensating control · the approver · the expiry date · the remediation plan and owner</a:t>
            </a:r>
          </a:p>
        </p:txBody>
      </p:sp>
      <p:sp>
        <p:nvSpPr>
          <p:cNvPr id="16" name="TextBox 15"/>
          <p:cNvSpPr txBox="1"/>
          <p:nvPr/>
        </p:nvSpPr>
        <p:spPr>
          <a:xfrm>
            <a:off x="457200" y="5760720"/>
            <a:ext cx="11247120" cy="548640"/>
          </a:xfrm>
          <a:prstGeom prst="rect">
            <a:avLst/>
          </a:prstGeom>
          <a:noFill/>
        </p:spPr>
        <p:txBody>
          <a:bodyPr wrap="square" lIns="0" tIns="0" rIns="0" bIns="0" anchor="t">
            <a:spAutoFit/>
          </a:bodyPr>
          <a:lstStyle/>
          <a:p>
            <a:pPr algn="l"/>
            <a:r>
              <a:rPr sz="1050" b="0" i="1">
                <a:solidFill>
                  <a:srgbClr val="57626B"/>
                </a:solidFill>
                <a:latin typeface="Calibri"/>
              </a:rPr>
              <a:t>Approval levels and durations are illustrative. An expired exception is itself a policy breach and is escalated.</a:t>
            </a:r>
          </a:p>
        </p:txBody>
      </p:sp>
      <p:sp>
        <p:nvSpPr>
          <p:cNvPr id="17" name="TextBox 1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Measuring policy compliance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What executives should see each quarter.</a:t>
            </a:r>
          </a:p>
        </p:txBody>
      </p:sp>
      <p:graphicFrame>
        <p:nvGraphicFramePr>
          <p:cNvPr id="5" name="Chart 4"/>
          <p:cNvGraphicFramePr>
            <a:graphicFrameLocks noGrp="1"/>
          </p:cNvGraphicFramePr>
          <p:nvPr/>
        </p:nvGraphicFramePr>
        <p:xfrm>
          <a:off x="457200" y="1325880"/>
          <a:ext cx="576072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p:cNvGraphicFramePr>
            <a:graphicFrameLocks noGrp="1"/>
          </p:cNvGraphicFramePr>
          <p:nvPr/>
        </p:nvGraphicFramePr>
        <p:xfrm>
          <a:off x="6492240" y="1325880"/>
          <a:ext cx="5239512" cy="286207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tblGrid>
              <a:tr h="347472">
                <a:tc>
                  <a:txBody>
                    <a:bodyPr/>
                    <a:lstStyle/>
                    <a:p>
                      <a:pPr algn="l"/>
                      <a:r>
                        <a:rPr sz="1000" b="1" i="0">
                          <a:solidFill>
                            <a:srgbClr val="CADCEA"/>
                          </a:solidFill>
                          <a:latin typeface="Calibri"/>
                        </a:rPr>
                        <a:t>MEASURE</a:t>
                      </a:r>
                    </a:p>
                  </a:txBody>
                  <a:tcPr marL="73152" marR="73152" marT="36576" marB="36576" anchor="ctr">
                    <a:solidFill>
                      <a:srgbClr val="1A2130"/>
                    </a:solidFill>
                  </a:tcPr>
                </a:tc>
                <a:tc>
                  <a:txBody>
                    <a:bodyPr/>
                    <a:lstStyle/>
                    <a:p>
                      <a:pPr algn="l"/>
                      <a:r>
                        <a:rPr sz="1000" b="1" i="0">
                          <a:solidFill>
                            <a:srgbClr val="CADCEA"/>
                          </a:solidFill>
                          <a:latin typeface="Calibri"/>
                        </a:rPr>
                        <a:t>WHAT IT TELLS YOU</a:t>
                      </a:r>
                    </a:p>
                  </a:txBody>
                  <a:tcPr marL="73152" marR="73152" marT="36576" marB="36576" anchor="ctr">
                    <a:solidFill>
                      <a:srgbClr val="1A2130"/>
                    </a:solidFill>
                  </a:tcPr>
                </a:tc>
                <a:extLst>
                  <a:ext uri="{0D108BD9-81ED-4DB2-BD59-A6C34878D82A}">
                    <a16:rowId xmlns:a16="http://schemas.microsoft.com/office/drawing/2014/main" val="10000"/>
                  </a:ext>
                </a:extLst>
              </a:tr>
              <a:tr h="502920">
                <a:tc>
                  <a:txBody>
                    <a:bodyPr/>
                    <a:lstStyle/>
                    <a:p>
                      <a:pPr algn="l"/>
                      <a:r>
                        <a:rPr sz="1050" b="1" i="0">
                          <a:solidFill>
                            <a:srgbClr val="1A2130"/>
                          </a:solidFill>
                          <a:latin typeface="Calibri"/>
                        </a:rPr>
                        <a:t>Compliance by standard</a:t>
                      </a:r>
                    </a:p>
                  </a:txBody>
                  <a:tcPr marL="73152" marR="73152" marT="36576" marB="36576" anchor="ctr">
                    <a:solidFill>
                      <a:srgbClr val="FFFFFF"/>
                    </a:solidFill>
                  </a:tcPr>
                </a:tc>
                <a:tc>
                  <a:txBody>
                    <a:bodyPr/>
                    <a:lstStyle/>
                    <a:p>
                      <a:pPr algn="l"/>
                      <a:r>
                        <a:rPr sz="1050" b="0" i="0">
                          <a:solidFill>
                            <a:srgbClr val="57626B"/>
                          </a:solidFill>
                          <a:latin typeface="Calibri"/>
                        </a:rPr>
                        <a:t>Where the policy is and isn’t followed</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pPr algn="l"/>
                      <a:r>
                        <a:rPr sz="1050" b="1" i="0">
                          <a:solidFill>
                            <a:srgbClr val="1A2130"/>
                          </a:solidFill>
                          <a:latin typeface="Calibri"/>
                        </a:rPr>
                        <a:t>Attestation completion</a:t>
                      </a:r>
                    </a:p>
                  </a:txBody>
                  <a:tcPr marL="73152" marR="73152" marT="36576" marB="36576" anchor="ctr">
                    <a:solidFill>
                      <a:srgbClr val="F4F6F2"/>
                    </a:solidFill>
                  </a:tcPr>
                </a:tc>
                <a:tc>
                  <a:txBody>
                    <a:bodyPr/>
                    <a:lstStyle/>
                    <a:p>
                      <a:pPr algn="l"/>
                      <a:r>
                        <a:rPr sz="1050" b="0" i="0">
                          <a:solidFill>
                            <a:srgbClr val="57626B"/>
                          </a:solidFill>
                          <a:latin typeface="Calibri"/>
                        </a:rPr>
                        <a:t>Whether owners have confirmed compliance</a:t>
                      </a:r>
                    </a:p>
                  </a:txBody>
                  <a:tcPr marL="73152" marR="73152" marT="36576" marB="36576" anchor="ctr">
                    <a:solidFill>
                      <a:srgbClr val="F4F6F2"/>
                    </a:solidFill>
                  </a:tcPr>
                </a:tc>
                <a:extLst>
                  <a:ext uri="{0D108BD9-81ED-4DB2-BD59-A6C34878D82A}">
                    <a16:rowId xmlns:a16="http://schemas.microsoft.com/office/drawing/2014/main" val="10002"/>
                  </a:ext>
                </a:extLst>
              </a:tr>
              <a:tr h="502920">
                <a:tc>
                  <a:txBody>
                    <a:bodyPr/>
                    <a:lstStyle/>
                    <a:p>
                      <a:pPr algn="l"/>
                      <a:r>
                        <a:rPr sz="1050" b="1" i="0">
                          <a:solidFill>
                            <a:srgbClr val="1A2130"/>
                          </a:solidFill>
                          <a:latin typeface="Calibri"/>
                        </a:rPr>
                        <a:t>Policies past review date</a:t>
                      </a:r>
                    </a:p>
                  </a:txBody>
                  <a:tcPr marL="73152" marR="73152" marT="36576" marB="36576" anchor="ctr">
                    <a:solidFill>
                      <a:srgbClr val="FFFFFF"/>
                    </a:solidFill>
                  </a:tcPr>
                </a:tc>
                <a:tc>
                  <a:txBody>
                    <a:bodyPr/>
                    <a:lstStyle/>
                    <a:p>
                      <a:pPr algn="l"/>
                      <a:r>
                        <a:rPr sz="1050" b="0" i="0">
                          <a:solidFill>
                            <a:srgbClr val="57626B"/>
                          </a:solidFill>
                          <a:latin typeface="Calibri"/>
                        </a:rPr>
                        <a:t>Whether the rulebook is current</a:t>
                      </a:r>
                    </a:p>
                  </a:txBody>
                  <a:tcPr marL="73152" marR="73152" marT="36576" marB="36576" anchor="ctr">
                    <a:solidFill>
                      <a:srgbClr val="FFFFFF"/>
                    </a:solidFill>
                  </a:tcPr>
                </a:tc>
                <a:extLst>
                  <a:ext uri="{0D108BD9-81ED-4DB2-BD59-A6C34878D82A}">
                    <a16:rowId xmlns:a16="http://schemas.microsoft.com/office/drawing/2014/main" val="10003"/>
                  </a:ext>
                </a:extLst>
              </a:tr>
              <a:tr h="502920">
                <a:tc>
                  <a:txBody>
                    <a:bodyPr/>
                    <a:lstStyle/>
                    <a:p>
                      <a:pPr algn="l"/>
                      <a:r>
                        <a:rPr sz="1050" b="1" i="0">
                          <a:solidFill>
                            <a:srgbClr val="1A2130"/>
                          </a:solidFill>
                          <a:latin typeface="Calibri"/>
                        </a:rPr>
                        <a:t>Open and expired exceptions</a:t>
                      </a:r>
                    </a:p>
                  </a:txBody>
                  <a:tcPr marL="73152" marR="73152" marT="36576" marB="36576" anchor="ctr">
                    <a:solidFill>
                      <a:srgbClr val="F4F6F2"/>
                    </a:solidFill>
                  </a:tcPr>
                </a:tc>
                <a:tc>
                  <a:txBody>
                    <a:bodyPr/>
                    <a:lstStyle/>
                    <a:p>
                      <a:pPr algn="l"/>
                      <a:r>
                        <a:rPr sz="1050" b="0" i="0">
                          <a:solidFill>
                            <a:srgbClr val="57626B"/>
                          </a:solidFill>
                          <a:latin typeface="Calibri"/>
                        </a:rPr>
                        <a:t>Size and age of known gaps</a:t>
                      </a:r>
                    </a:p>
                  </a:txBody>
                  <a:tcPr marL="73152" marR="73152" marT="36576" marB="36576" anchor="ctr">
                    <a:solidFill>
                      <a:srgbClr val="F4F6F2"/>
                    </a:solidFill>
                  </a:tcPr>
                </a:tc>
                <a:extLst>
                  <a:ext uri="{0D108BD9-81ED-4DB2-BD59-A6C34878D82A}">
                    <a16:rowId xmlns:a16="http://schemas.microsoft.com/office/drawing/2014/main" val="10004"/>
                  </a:ext>
                </a:extLst>
              </a:tr>
              <a:tr h="502920">
                <a:tc>
                  <a:txBody>
                    <a:bodyPr/>
                    <a:lstStyle/>
                    <a:p>
                      <a:pPr algn="l"/>
                      <a:r>
                        <a:rPr sz="1050" b="1" i="0">
                          <a:solidFill>
                            <a:srgbClr val="1A2130"/>
                          </a:solidFill>
                          <a:latin typeface="Calibri"/>
                        </a:rPr>
                        <a:t>Findings on data</a:t>
                      </a:r>
                    </a:p>
                  </a:txBody>
                  <a:tcPr marL="73152" marR="73152" marT="36576" marB="36576" anchor="ctr">
                    <a:solidFill>
                      <a:srgbClr val="FFFFFF"/>
                    </a:solidFill>
                  </a:tcPr>
                </a:tc>
                <a:tc>
                  <a:txBody>
                    <a:bodyPr/>
                    <a:lstStyle/>
                    <a:p>
                      <a:pPr algn="l"/>
                      <a:r>
                        <a:rPr sz="1050" b="0" i="0">
                          <a:solidFill>
                            <a:srgbClr val="57626B"/>
                          </a:solidFill>
                          <a:latin typeface="Calibri"/>
                        </a:rPr>
                        <a:t>Audit and exam findings open and overdue</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492240" y="4343400"/>
            <a:ext cx="5239512" cy="1371600"/>
          </a:xfrm>
          <a:prstGeom prst="rect">
            <a:avLst/>
          </a:prstGeom>
          <a:noFill/>
        </p:spPr>
        <p:txBody>
          <a:bodyPr wrap="square" lIns="0" tIns="0" rIns="0" bIns="0" anchor="t">
            <a:spAutoFit/>
          </a:bodyPr>
          <a:lstStyle/>
          <a:p>
            <a:pPr algn="l"/>
            <a:r>
              <a:rPr sz="1100" b="1" i="1">
                <a:solidFill>
                  <a:srgbClr val="1A2130"/>
                </a:solidFill>
                <a:latin typeface="Calibri"/>
              </a:rPr>
              <a:t>Here, lineage (71%) and spreadsheet controls (63%) are the gaps to fund first — both sit directly behind regulatory reporting.</a:t>
            </a:r>
          </a:p>
        </p:txBody>
      </p:sp>
      <p:sp>
        <p:nvSpPr>
          <p:cNvPr id="8" name="TextBox 7"/>
          <p:cNvSpPr txBox="1"/>
          <p:nvPr/>
        </p:nvSpPr>
        <p:spPr>
          <a:xfrm>
            <a:off x="457200" y="5852160"/>
            <a:ext cx="11247120" cy="457200"/>
          </a:xfrm>
          <a:prstGeom prst="rect">
            <a:avLst/>
          </a:prstGeom>
          <a:noFill/>
        </p:spPr>
        <p:txBody>
          <a:bodyPr wrap="square" lIns="0" tIns="0" rIns="0" bIns="0" anchor="t">
            <a:spAutoFit/>
          </a:bodyPr>
          <a:lstStyle/>
          <a:p>
            <a:pPr algn="l"/>
            <a:r>
              <a:rPr sz="1000" b="0" i="1">
                <a:solidFill>
                  <a:srgbClr val="57626B"/>
                </a:solidFill>
                <a:latin typeface="Calibri"/>
              </a:rPr>
              <a:t>Figures are illustrative.</a:t>
            </a:r>
          </a:p>
        </p:txBody>
      </p:sp>
      <p:sp>
        <p:nvSpPr>
          <p:cNvPr id="9" name="TextBox 8"/>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14</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One data element through every policy: Days Past Due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How the policy set applies to a single lending data element.</a:t>
            </a:r>
          </a:p>
        </p:txBody>
      </p:sp>
      <p:graphicFrame>
        <p:nvGraphicFramePr>
          <p:cNvPr id="5" name="Table 4"/>
          <p:cNvGraphicFramePr>
            <a:graphicFrameLocks noGrp="1"/>
          </p:cNvGraphicFramePr>
          <p:nvPr/>
        </p:nvGraphicFramePr>
        <p:xfrm>
          <a:off x="457200" y="1325880"/>
          <a:ext cx="11274552" cy="413308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531352">
                  <a:extLst>
                    <a:ext uri="{9D8B030D-6E8A-4147-A177-3AD203B41FA5}">
                      <a16:colId xmlns:a16="http://schemas.microsoft.com/office/drawing/2014/main" val="20001"/>
                    </a:ext>
                  </a:extLst>
                </a:gridCol>
              </a:tblGrid>
              <a:tr h="347472">
                <a:tc>
                  <a:txBody>
                    <a:bodyPr/>
                    <a:lstStyle/>
                    <a:p>
                      <a:pPr algn="l"/>
                      <a:r>
                        <a:rPr sz="1000" b="1" i="0">
                          <a:solidFill>
                            <a:srgbClr val="CADCEA"/>
                          </a:solidFill>
                          <a:latin typeface="Calibri"/>
                        </a:rPr>
                        <a:t>POLICY</a:t>
                      </a:r>
                    </a:p>
                  </a:txBody>
                  <a:tcPr marL="73152" marR="73152" marT="36576" marB="36576" anchor="ctr">
                    <a:solidFill>
                      <a:srgbClr val="1A2130"/>
                    </a:solidFill>
                  </a:tcPr>
                </a:tc>
                <a:tc>
                  <a:txBody>
                    <a:bodyPr/>
                    <a:lstStyle/>
                    <a:p>
                      <a:pPr algn="l"/>
                      <a:r>
                        <a:rPr sz="1000" b="1" i="0">
                          <a:solidFill>
                            <a:srgbClr val="CADCEA"/>
                          </a:solidFill>
                          <a:latin typeface="Calibri"/>
                        </a:rPr>
                        <a:t>WHAT IT REQUIRES FOR DAYS PAST DUE (DPD)</a:t>
                      </a:r>
                    </a:p>
                  </a:txBody>
                  <a:tcPr marL="73152" marR="73152" marT="36576" marB="36576" anchor="ctr">
                    <a:solidFill>
                      <a:srgbClr val="1A2130"/>
                    </a:solidFill>
                  </a:tcPr>
                </a:tc>
                <a:extLst>
                  <a:ext uri="{0D108BD9-81ED-4DB2-BD59-A6C34878D82A}">
                    <a16:rowId xmlns:a16="http://schemas.microsoft.com/office/drawing/2014/main" val="10000"/>
                  </a:ext>
                </a:extLst>
              </a:tr>
              <a:tr h="420624">
                <a:tc>
                  <a:txBody>
                    <a:bodyPr/>
                    <a:lstStyle/>
                    <a:p>
                      <a:pPr algn="l"/>
                      <a:r>
                        <a:rPr sz="1050" b="1" i="0">
                          <a:solidFill>
                            <a:srgbClr val="1A2130"/>
                          </a:solidFill>
                          <a:latin typeface="Calibri"/>
                        </a:rPr>
                        <a:t>Data governance</a:t>
                      </a:r>
                    </a:p>
                  </a:txBody>
                  <a:tcPr marL="73152" marR="73152" marT="36576" marB="36576" anchor="ctr">
                    <a:solidFill>
                      <a:srgbClr val="FFFFFF"/>
                    </a:solidFill>
                  </a:tcPr>
                </a:tc>
                <a:tc>
                  <a:txBody>
                    <a:bodyPr/>
                    <a:lstStyle/>
                    <a:p>
                      <a:pPr algn="l"/>
                      <a:r>
                        <a:rPr sz="1050" b="0" i="0">
                          <a:solidFill>
                            <a:srgbClr val="57626B"/>
                          </a:solidFill>
                          <a:latin typeface="Calibri"/>
                        </a:rPr>
                        <a:t>The Head of Consumer Lending owns DPD; the lending data steward maintains it</a:t>
                      </a:r>
                    </a:p>
                  </a:txBody>
                  <a:tcPr marL="73152" marR="73152" marT="36576" marB="36576" anchor="ctr">
                    <a:solidFill>
                      <a:srgbClr val="FFFFFF"/>
                    </a:solidFill>
                  </a:tcPr>
                </a:tc>
                <a:extLst>
                  <a:ext uri="{0D108BD9-81ED-4DB2-BD59-A6C34878D82A}">
                    <a16:rowId xmlns:a16="http://schemas.microsoft.com/office/drawing/2014/main" val="10001"/>
                  </a:ext>
                </a:extLst>
              </a:tr>
              <a:tr h="420624">
                <a:tc>
                  <a:txBody>
                    <a:bodyPr/>
                    <a:lstStyle/>
                    <a:p>
                      <a:pPr algn="l"/>
                      <a:r>
                        <a:rPr sz="1050" b="1" i="0">
                          <a:solidFill>
                            <a:srgbClr val="1A2130"/>
                          </a:solidFill>
                          <a:latin typeface="Calibri"/>
                        </a:rPr>
                        <a:t>Critical data elements</a:t>
                      </a:r>
                    </a:p>
                  </a:txBody>
                  <a:tcPr marL="73152" marR="73152" marT="36576" marB="36576" anchor="ctr">
                    <a:solidFill>
                      <a:srgbClr val="F4F6F2"/>
                    </a:solidFill>
                  </a:tcPr>
                </a:tc>
                <a:tc>
                  <a:txBody>
                    <a:bodyPr/>
                    <a:lstStyle/>
                    <a:p>
                      <a:pPr algn="l"/>
                      <a:r>
                        <a:rPr sz="1050" b="0" i="0">
                          <a:solidFill>
                            <a:srgbClr val="57626B"/>
                          </a:solidFill>
                          <a:latin typeface="Calibri"/>
                        </a:rPr>
                        <a:t>DPD is a tier-1 CDE: it feeds past-due reporting, CECL and roll rates</a:t>
                      </a:r>
                    </a:p>
                  </a:txBody>
                  <a:tcPr marL="73152" marR="73152" marT="36576" marB="36576" anchor="ctr">
                    <a:solidFill>
                      <a:srgbClr val="F4F6F2"/>
                    </a:solidFill>
                  </a:tcPr>
                </a:tc>
                <a:extLst>
                  <a:ext uri="{0D108BD9-81ED-4DB2-BD59-A6C34878D82A}">
                    <a16:rowId xmlns:a16="http://schemas.microsoft.com/office/drawing/2014/main" val="10002"/>
                  </a:ext>
                </a:extLst>
              </a:tr>
              <a:tr h="420624">
                <a:tc>
                  <a:txBody>
                    <a:bodyPr/>
                    <a:lstStyle/>
                    <a:p>
                      <a:pPr algn="l"/>
                      <a:r>
                        <a:rPr sz="1050" b="1" i="0">
                          <a:solidFill>
                            <a:srgbClr val="1A2130"/>
                          </a:solidFill>
                          <a:latin typeface="Calibri"/>
                        </a:rPr>
                        <a:t>Metadata &amp; glossary</a:t>
                      </a:r>
                    </a:p>
                  </a:txBody>
                  <a:tcPr marL="73152" marR="73152" marT="36576" marB="36576" anchor="ctr">
                    <a:solidFill>
                      <a:srgbClr val="FFFFFF"/>
                    </a:solidFill>
                  </a:tcPr>
                </a:tc>
                <a:tc>
                  <a:txBody>
                    <a:bodyPr/>
                    <a:lstStyle/>
                    <a:p>
                      <a:pPr algn="l"/>
                      <a:r>
                        <a:rPr sz="1050" b="0" i="0">
                          <a:solidFill>
                            <a:srgbClr val="57626B"/>
                          </a:solidFill>
                          <a:latin typeface="Calibri"/>
                        </a:rPr>
                        <a:t>One approved definition: days since the oldest unpaid due date</a:t>
                      </a:r>
                    </a:p>
                  </a:txBody>
                  <a:tcPr marL="73152" marR="73152" marT="36576" marB="36576" anchor="ctr">
                    <a:solidFill>
                      <a:srgbClr val="FFFFFF"/>
                    </a:solidFill>
                  </a:tcPr>
                </a:tc>
                <a:extLst>
                  <a:ext uri="{0D108BD9-81ED-4DB2-BD59-A6C34878D82A}">
                    <a16:rowId xmlns:a16="http://schemas.microsoft.com/office/drawing/2014/main" val="10003"/>
                  </a:ext>
                </a:extLst>
              </a:tr>
              <a:tr h="420624">
                <a:tc>
                  <a:txBody>
                    <a:bodyPr/>
                    <a:lstStyle/>
                    <a:p>
                      <a:pPr algn="l"/>
                      <a:r>
                        <a:rPr sz="1050" b="1" i="0">
                          <a:solidFill>
                            <a:srgbClr val="1A2130"/>
                          </a:solidFill>
                          <a:latin typeface="Calibri"/>
                        </a:rPr>
                        <a:t>Data quality</a:t>
                      </a:r>
                    </a:p>
                  </a:txBody>
                  <a:tcPr marL="73152" marR="73152" marT="36576" marB="36576" anchor="ctr">
                    <a:solidFill>
                      <a:srgbClr val="F4F6F2"/>
                    </a:solidFill>
                  </a:tcPr>
                </a:tc>
                <a:tc>
                  <a:txBody>
                    <a:bodyPr/>
                    <a:lstStyle/>
                    <a:p>
                      <a:pPr algn="l"/>
                      <a:r>
                        <a:rPr sz="1050" b="0" i="0">
                          <a:solidFill>
                            <a:srgbClr val="57626B"/>
                          </a:solidFill>
                          <a:latin typeface="Calibri"/>
                        </a:rPr>
                        <a:t>Rules for validity and consistency with servicing, at 99.9% or better, monitored daily</a:t>
                      </a:r>
                    </a:p>
                  </a:txBody>
                  <a:tcPr marL="73152" marR="73152" marT="36576" marB="36576" anchor="ctr">
                    <a:solidFill>
                      <a:srgbClr val="F4F6F2"/>
                    </a:solidFill>
                  </a:tcPr>
                </a:tc>
                <a:extLst>
                  <a:ext uri="{0D108BD9-81ED-4DB2-BD59-A6C34878D82A}">
                    <a16:rowId xmlns:a16="http://schemas.microsoft.com/office/drawing/2014/main" val="10004"/>
                  </a:ext>
                </a:extLst>
              </a:tr>
              <a:tr h="420624">
                <a:tc>
                  <a:txBody>
                    <a:bodyPr/>
                    <a:lstStyle/>
                    <a:p>
                      <a:pPr algn="l"/>
                      <a:r>
                        <a:rPr sz="1050" b="1" i="0">
                          <a:solidFill>
                            <a:srgbClr val="1A2130"/>
                          </a:solidFill>
                          <a:latin typeface="Calibri"/>
                        </a:rPr>
                        <a:t>Data lineage</a:t>
                      </a:r>
                    </a:p>
                  </a:txBody>
                  <a:tcPr marL="73152" marR="73152" marT="36576" marB="36576" anchor="ctr">
                    <a:solidFill>
                      <a:srgbClr val="FFFFFF"/>
                    </a:solidFill>
                  </a:tcPr>
                </a:tc>
                <a:tc>
                  <a:txBody>
                    <a:bodyPr/>
                    <a:lstStyle/>
                    <a:p>
                      <a:pPr algn="l"/>
                      <a:r>
                        <a:rPr sz="1050" b="0" i="0">
                          <a:solidFill>
                            <a:srgbClr val="57626B"/>
                          </a:solidFill>
                          <a:latin typeface="Calibri"/>
                        </a:rPr>
                        <a:t>Documented from servicing through the warehouse to the Call Report</a:t>
                      </a:r>
                    </a:p>
                  </a:txBody>
                  <a:tcPr marL="73152" marR="73152" marT="36576" marB="36576" anchor="ctr">
                    <a:solidFill>
                      <a:srgbClr val="FFFFFF"/>
                    </a:solidFill>
                  </a:tcPr>
                </a:tc>
                <a:extLst>
                  <a:ext uri="{0D108BD9-81ED-4DB2-BD59-A6C34878D82A}">
                    <a16:rowId xmlns:a16="http://schemas.microsoft.com/office/drawing/2014/main" val="10005"/>
                  </a:ext>
                </a:extLst>
              </a:tr>
              <a:tr h="420624">
                <a:tc>
                  <a:txBody>
                    <a:bodyPr/>
                    <a:lstStyle/>
                    <a:p>
                      <a:pPr algn="l"/>
                      <a:r>
                        <a:rPr sz="1050" b="1" i="0">
                          <a:solidFill>
                            <a:srgbClr val="1A2130"/>
                          </a:solidFill>
                          <a:latin typeface="Calibri"/>
                        </a:rPr>
                        <a:t>Classification &amp; access</a:t>
                      </a:r>
                    </a:p>
                  </a:txBody>
                  <a:tcPr marL="73152" marR="73152" marT="36576" marB="36576" anchor="ctr">
                    <a:solidFill>
                      <a:srgbClr val="F4F6F2"/>
                    </a:solidFill>
                  </a:tcPr>
                </a:tc>
                <a:tc>
                  <a:txBody>
                    <a:bodyPr/>
                    <a:lstStyle/>
                    <a:p>
                      <a:pPr algn="l"/>
                      <a:r>
                        <a:rPr sz="1050" b="0" i="0">
                          <a:solidFill>
                            <a:srgbClr val="57626B"/>
                          </a:solidFill>
                          <a:latin typeface="Calibri"/>
                        </a:rPr>
                        <a:t>Confidential: visible only to approved roles; masked in test environments</a:t>
                      </a:r>
                    </a:p>
                  </a:txBody>
                  <a:tcPr marL="73152" marR="73152" marT="36576" marB="36576" anchor="ctr">
                    <a:solidFill>
                      <a:srgbClr val="F4F6F2"/>
                    </a:solidFill>
                  </a:tcPr>
                </a:tc>
                <a:extLst>
                  <a:ext uri="{0D108BD9-81ED-4DB2-BD59-A6C34878D82A}">
                    <a16:rowId xmlns:a16="http://schemas.microsoft.com/office/drawing/2014/main" val="10006"/>
                  </a:ext>
                </a:extLst>
              </a:tr>
              <a:tr h="420624">
                <a:tc>
                  <a:txBody>
                    <a:bodyPr/>
                    <a:lstStyle/>
                    <a:p>
                      <a:pPr algn="l"/>
                      <a:r>
                        <a:rPr sz="1050" b="1" i="0">
                          <a:solidFill>
                            <a:srgbClr val="1A2130"/>
                          </a:solidFill>
                          <a:latin typeface="Calibri"/>
                        </a:rPr>
                        <a:t>Models &amp; AI</a:t>
                      </a:r>
                    </a:p>
                  </a:txBody>
                  <a:tcPr marL="73152" marR="73152" marT="36576" marB="36576" anchor="ctr">
                    <a:solidFill>
                      <a:srgbClr val="FFFFFF"/>
                    </a:solidFill>
                  </a:tcPr>
                </a:tc>
                <a:tc>
                  <a:txBody>
                    <a:bodyPr/>
                    <a:lstStyle/>
                    <a:p>
                      <a:pPr algn="l"/>
                      <a:r>
                        <a:rPr sz="1050" b="0" i="0">
                          <a:solidFill>
                            <a:srgbClr val="57626B"/>
                          </a:solidFill>
                          <a:latin typeface="Calibri"/>
                        </a:rPr>
                        <a:t>Approved input to the CECL model; changes trigger model review</a:t>
                      </a:r>
                    </a:p>
                  </a:txBody>
                  <a:tcPr marL="73152" marR="73152" marT="36576" marB="36576" anchor="ctr">
                    <a:solidFill>
                      <a:srgbClr val="FFFFFF"/>
                    </a:solidFill>
                  </a:tcPr>
                </a:tc>
                <a:extLst>
                  <a:ext uri="{0D108BD9-81ED-4DB2-BD59-A6C34878D82A}">
                    <a16:rowId xmlns:a16="http://schemas.microsoft.com/office/drawing/2014/main" val="10007"/>
                  </a:ext>
                </a:extLst>
              </a:tr>
              <a:tr h="420624">
                <a:tc>
                  <a:txBody>
                    <a:bodyPr/>
                    <a:lstStyle/>
                    <a:p>
                      <a:pPr algn="l"/>
                      <a:r>
                        <a:rPr sz="1050" b="1" i="0">
                          <a:solidFill>
                            <a:srgbClr val="1A2130"/>
                          </a:solidFill>
                          <a:latin typeface="Calibri"/>
                        </a:rPr>
                        <a:t>Change management</a:t>
                      </a:r>
                    </a:p>
                  </a:txBody>
                  <a:tcPr marL="73152" marR="73152" marT="36576" marB="36576" anchor="ctr">
                    <a:solidFill>
                      <a:srgbClr val="F4F6F2"/>
                    </a:solidFill>
                  </a:tcPr>
                </a:tc>
                <a:tc>
                  <a:txBody>
                    <a:bodyPr/>
                    <a:lstStyle/>
                    <a:p>
                      <a:pPr algn="l"/>
                      <a:r>
                        <a:rPr sz="1050" b="0" i="0">
                          <a:solidFill>
                            <a:srgbClr val="57626B"/>
                          </a:solidFill>
                          <a:latin typeface="Calibri"/>
                        </a:rPr>
                        <a:t>Any change to the DPD calculation is approved, tested and recorded</a:t>
                      </a:r>
                    </a:p>
                  </a:txBody>
                  <a:tcPr marL="73152" marR="73152" marT="36576" marB="36576" anchor="ctr">
                    <a:solidFill>
                      <a:srgbClr val="F4F6F2"/>
                    </a:solidFill>
                  </a:tcPr>
                </a:tc>
                <a:extLst>
                  <a:ext uri="{0D108BD9-81ED-4DB2-BD59-A6C34878D82A}">
                    <a16:rowId xmlns:a16="http://schemas.microsoft.com/office/drawing/2014/main" val="10008"/>
                  </a:ext>
                </a:extLst>
              </a:tr>
              <a:tr h="420624">
                <a:tc>
                  <a:txBody>
                    <a:bodyPr/>
                    <a:lstStyle/>
                    <a:p>
                      <a:pPr algn="l"/>
                      <a:r>
                        <a:rPr sz="1050" b="1" i="0">
                          <a:solidFill>
                            <a:srgbClr val="1A2130"/>
                          </a:solidFill>
                          <a:latin typeface="Calibri"/>
                        </a:rPr>
                        <a:t>Issue management</a:t>
                      </a:r>
                    </a:p>
                  </a:txBody>
                  <a:tcPr marL="73152" marR="73152" marT="36576" marB="36576" anchor="ctr">
                    <a:solidFill>
                      <a:srgbClr val="FFFFFF"/>
                    </a:solidFill>
                  </a:tcPr>
                </a:tc>
                <a:tc>
                  <a:txBody>
                    <a:bodyPr/>
                    <a:lstStyle/>
                    <a:p>
                      <a:pPr algn="l"/>
                      <a:r>
                        <a:rPr sz="1050" b="0" i="0">
                          <a:solidFill>
                            <a:srgbClr val="57626B"/>
                          </a:solidFill>
                          <a:latin typeface="Calibri"/>
                        </a:rPr>
                        <a:t>A DPD break is logged as high severity with a named owner and deadline</a:t>
                      </a:r>
                    </a:p>
                  </a:txBody>
                  <a:tcPr marL="73152" marR="73152" marT="36576" marB="36576" anchor="ctr">
                    <a:solidFill>
                      <a:srgbClr val="FFFFFF"/>
                    </a:solidFill>
                  </a:tcPr>
                </a:tc>
                <a:extLst>
                  <a:ext uri="{0D108BD9-81ED-4DB2-BD59-A6C34878D82A}">
                    <a16:rowId xmlns:a16="http://schemas.microsoft.com/office/drawing/2014/main" val="10009"/>
                  </a:ext>
                </a:extLst>
              </a:tr>
            </a:tbl>
          </a:graphicData>
        </a:graphic>
      </p:graphicFrame>
      <p:sp>
        <p:nvSpPr>
          <p:cNvPr id="6" name="Rounded Rectangle 5"/>
          <p:cNvSpPr/>
          <p:nvPr/>
        </p:nvSpPr>
        <p:spPr>
          <a:xfrm>
            <a:off x="457200" y="5623560"/>
            <a:ext cx="11274552" cy="6858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The point: </a:t>
            </a:r>
            <a:r>
              <a:rPr sz="1150" b="0" i="0">
                <a:solidFill>
                  <a:srgbClr val="57626B"/>
                </a:solidFill>
                <a:latin typeface="Calibri"/>
              </a:rPr>
              <a:t>no single policy protects DPD. Together they make sure it is owned, defined, measured, traced, protected and changed safely.</a:t>
            </a:r>
          </a:p>
        </p:txBody>
      </p:sp>
      <p:sp>
        <p:nvSpPr>
          <p:cNvPr id="7" name="TextBox 6"/>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15</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Where to start — a phased policy roadmap</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Begin with the minimum set that protects regulatory reporting, then build out.</a:t>
            </a:r>
          </a:p>
        </p:txBody>
      </p:sp>
      <p:sp>
        <p:nvSpPr>
          <p:cNvPr id="5" name="Rounded Rectangle 4"/>
          <p:cNvSpPr/>
          <p:nvPr/>
        </p:nvSpPr>
        <p:spPr>
          <a:xfrm>
            <a:off x="457200" y="137160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PHASE 1 · MINIMUM SET</a:t>
            </a:r>
          </a:p>
          <a:p>
            <a:pPr algn="ctr"/>
            <a:r>
              <a:rPr sz="1150" b="0" i="0">
                <a:solidFill>
                  <a:srgbClr val="CADCEA"/>
                </a:solidFill>
                <a:latin typeface="Calibri"/>
              </a:rPr>
              <a:t>Months 0–6</a:t>
            </a:r>
          </a:p>
        </p:txBody>
      </p:sp>
      <p:sp>
        <p:nvSpPr>
          <p:cNvPr id="6" name="Rounded Rectangle 5"/>
          <p:cNvSpPr/>
          <p:nvPr/>
        </p:nvSpPr>
        <p:spPr>
          <a:xfrm>
            <a:off x="457200" y="2194560"/>
            <a:ext cx="3575304" cy="2514600"/>
          </a:xfrm>
          <a:prstGeom prst="roundRect">
            <a:avLst>
              <a:gd name="adj" fmla="val 10000"/>
            </a:avLst>
          </a:prstGeom>
          <a:solidFill>
            <a:srgbClr val="CADCEA"/>
          </a:solidFill>
          <a:ln w="12700">
            <a:solidFill>
              <a:srgbClr val="CADCEA"/>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0" i="0">
                <a:solidFill>
                  <a:srgbClr val="1A2130"/>
                </a:solidFill>
                <a:latin typeface="Calibri"/>
              </a:rPr>
              <a:t>• Data Governance Policy approved</a:t>
            </a:r>
          </a:p>
          <a:p>
            <a:pPr algn="l"/>
            <a:r>
              <a:rPr sz="1100" b="0" i="0">
                <a:solidFill>
                  <a:srgbClr val="1A2130"/>
                </a:solidFill>
                <a:latin typeface="Calibri"/>
              </a:rPr>
              <a:t>• Data quality and CDE standards</a:t>
            </a:r>
          </a:p>
          <a:p>
            <a:pPr algn="l"/>
            <a:r>
              <a:rPr sz="1100" b="0" i="0">
                <a:solidFill>
                  <a:srgbClr val="1A2130"/>
                </a:solidFill>
                <a:latin typeface="Calibri"/>
              </a:rPr>
              <a:t>• Classification and access (with InfoSec)</a:t>
            </a:r>
          </a:p>
          <a:p>
            <a:pPr algn="l"/>
            <a:r>
              <a:rPr sz="1100" b="0" i="0">
                <a:solidFill>
                  <a:srgbClr val="1A2130"/>
                </a:solidFill>
                <a:latin typeface="Calibri"/>
              </a:rPr>
              <a:t>• Issue management and exceptions</a:t>
            </a:r>
          </a:p>
        </p:txBody>
      </p:sp>
      <p:cxnSp>
        <p:nvCxnSpPr>
          <p:cNvPr id="7" name="Connector 6"/>
          <p:cNvCxnSpPr/>
          <p:nvPr/>
        </p:nvCxnSpPr>
        <p:spPr>
          <a:xfrm>
            <a:off x="4032504" y="1737360"/>
            <a:ext cx="27432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06824" y="137160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PHASE 2 · CORE</a:t>
            </a:r>
          </a:p>
          <a:p>
            <a:pPr algn="ctr"/>
            <a:r>
              <a:rPr sz="1150" b="0" i="0">
                <a:solidFill>
                  <a:srgbClr val="CADCEA"/>
                </a:solidFill>
                <a:latin typeface="Calibri"/>
              </a:rPr>
              <a:t>Months 6–18</a:t>
            </a:r>
          </a:p>
        </p:txBody>
      </p:sp>
      <p:sp>
        <p:nvSpPr>
          <p:cNvPr id="9" name="Rounded Rectangle 8"/>
          <p:cNvSpPr/>
          <p:nvPr/>
        </p:nvSpPr>
        <p:spPr>
          <a:xfrm>
            <a:off x="4306824" y="2194560"/>
            <a:ext cx="3575304" cy="25146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0" i="0">
                <a:solidFill>
                  <a:srgbClr val="57626B"/>
                </a:solidFill>
                <a:latin typeface="Calibri"/>
              </a:rPr>
              <a:t>• Metadata and glossary standard</a:t>
            </a:r>
          </a:p>
          <a:p>
            <a:pPr algn="l"/>
            <a:r>
              <a:rPr sz="1100" b="0" i="0">
                <a:solidFill>
                  <a:srgbClr val="57626B"/>
                </a:solidFill>
                <a:latin typeface="Calibri"/>
              </a:rPr>
              <a:t>• Lineage standard</a:t>
            </a:r>
          </a:p>
          <a:p>
            <a:pPr algn="l"/>
            <a:r>
              <a:rPr sz="1100" b="0" i="0">
                <a:solidFill>
                  <a:srgbClr val="57626B"/>
                </a:solidFill>
                <a:latin typeface="Calibri"/>
              </a:rPr>
              <a:t>• Data change management</a:t>
            </a:r>
          </a:p>
          <a:p>
            <a:pPr algn="l"/>
            <a:r>
              <a:rPr sz="1100" b="0" i="0">
                <a:solidFill>
                  <a:srgbClr val="57626B"/>
                </a:solidFill>
                <a:latin typeface="Calibri"/>
              </a:rPr>
              <a:t>• Spreadsheet (EUC) controls</a:t>
            </a:r>
          </a:p>
          <a:p>
            <a:pPr algn="l"/>
            <a:r>
              <a:rPr sz="1100" b="0" i="0">
                <a:solidFill>
                  <a:srgbClr val="57626B"/>
                </a:solidFill>
                <a:latin typeface="Calibri"/>
              </a:rPr>
              <a:t>• Regulatory reporting data standard</a:t>
            </a:r>
          </a:p>
        </p:txBody>
      </p:sp>
      <p:cxnSp>
        <p:nvCxnSpPr>
          <p:cNvPr id="10" name="Connector 9"/>
          <p:cNvCxnSpPr/>
          <p:nvPr/>
        </p:nvCxnSpPr>
        <p:spPr>
          <a:xfrm>
            <a:off x="7882128" y="1737360"/>
            <a:ext cx="274320" cy="0"/>
          </a:xfrm>
          <a:prstGeom prst="line">
            <a:avLst/>
          </a:prstGeom>
          <a:ln w="19050">
            <a:solidFill>
              <a:srgbClr val="5762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56448" y="1371600"/>
            <a:ext cx="3575304" cy="73152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150" b="1" i="0">
                <a:solidFill>
                  <a:srgbClr val="FFFFFF"/>
                </a:solidFill>
                <a:latin typeface="Calibri"/>
              </a:rPr>
              <a:t>PHASE 3 · COMPLETE</a:t>
            </a:r>
          </a:p>
          <a:p>
            <a:pPr algn="ctr"/>
            <a:r>
              <a:rPr sz="1150" b="0" i="0">
                <a:solidFill>
                  <a:srgbClr val="CADCEA"/>
                </a:solidFill>
                <a:latin typeface="Calibri"/>
              </a:rPr>
              <a:t>Months 18+</a:t>
            </a:r>
          </a:p>
        </p:txBody>
      </p:sp>
      <p:sp>
        <p:nvSpPr>
          <p:cNvPr id="12" name="Rounded Rectangle 11"/>
          <p:cNvSpPr/>
          <p:nvPr/>
        </p:nvSpPr>
        <p:spPr>
          <a:xfrm>
            <a:off x="8156448" y="2194560"/>
            <a:ext cx="3575304" cy="25146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0" i="0">
                <a:solidFill>
                  <a:srgbClr val="57626B"/>
                </a:solidFill>
                <a:latin typeface="Calibri"/>
              </a:rPr>
              <a:t>• Models, analytics and AI data standard</a:t>
            </a:r>
          </a:p>
          <a:p>
            <a:pPr algn="l"/>
            <a:r>
              <a:rPr sz="1100" b="0" i="0">
                <a:solidFill>
                  <a:srgbClr val="57626B"/>
                </a:solidFill>
                <a:latin typeface="Calibri"/>
              </a:rPr>
              <a:t>• Reference and master data</a:t>
            </a:r>
          </a:p>
          <a:p>
            <a:pPr algn="l"/>
            <a:r>
              <a:rPr sz="1100" b="0" i="0">
                <a:solidFill>
                  <a:srgbClr val="57626B"/>
                </a:solidFill>
                <a:latin typeface="Calibri"/>
              </a:rPr>
              <a:t>• Sharing and external data</a:t>
            </a:r>
          </a:p>
          <a:p>
            <a:pPr algn="l"/>
            <a:r>
              <a:rPr sz="1100" b="0" i="0">
                <a:solidFill>
                  <a:srgbClr val="57626B"/>
                </a:solidFill>
                <a:latin typeface="Calibri"/>
              </a:rPr>
              <a:t>• Retention alignment</a:t>
            </a:r>
          </a:p>
          <a:p>
            <a:pPr algn="l"/>
            <a:r>
              <a:rPr sz="1100" b="0" i="0">
                <a:solidFill>
                  <a:srgbClr val="57626B"/>
                </a:solidFill>
                <a:latin typeface="Calibri"/>
              </a:rPr>
              <a:t>• Automated compliance monitoring</a:t>
            </a:r>
          </a:p>
        </p:txBody>
      </p:sp>
      <p:sp>
        <p:nvSpPr>
          <p:cNvPr id="13" name="Rounded Rectangle 12"/>
          <p:cNvSpPr/>
          <p:nvPr/>
        </p:nvSpPr>
        <p:spPr>
          <a:xfrm>
            <a:off x="457200" y="4983480"/>
            <a:ext cx="11274552" cy="91440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Why this order: </a:t>
            </a:r>
            <a:r>
              <a:rPr sz="1150" b="0" i="0">
                <a:solidFill>
                  <a:srgbClr val="57626B"/>
                </a:solidFill>
                <a:latin typeface="Calibri"/>
              </a:rPr>
              <a:t>phase 1 gives every data issue an owner, a way to be raised and a way to be excepted; later policies depend on that machinery. Privacy and retention often already exist — align them rather than rewrite them.</a:t>
            </a:r>
          </a:p>
        </p:txBody>
      </p:sp>
      <p:sp>
        <p:nvSpPr>
          <p:cNvPr id="14" name="TextBox 13"/>
          <p:cNvSpPr txBox="1"/>
          <p:nvPr/>
        </p:nvSpPr>
        <p:spPr>
          <a:xfrm>
            <a:off x="457200" y="6035040"/>
            <a:ext cx="11247120" cy="320040"/>
          </a:xfrm>
          <a:prstGeom prst="rect">
            <a:avLst/>
          </a:prstGeom>
          <a:noFill/>
        </p:spPr>
        <p:txBody>
          <a:bodyPr wrap="square" lIns="0" tIns="0" rIns="0" bIns="0" anchor="t">
            <a:spAutoFit/>
          </a:bodyPr>
          <a:lstStyle/>
          <a:p>
            <a:pPr algn="l"/>
            <a:r>
              <a:rPr sz="1000" b="0" i="1">
                <a:solidFill>
                  <a:srgbClr val="57626B"/>
                </a:solidFill>
                <a:latin typeface="Calibri"/>
              </a:rPr>
              <a:t>Timelines are illustrative.</a:t>
            </a:r>
          </a:p>
        </p:txBody>
      </p:sp>
      <p:sp>
        <p:nvSpPr>
          <p:cNvPr id="15" name="TextBox 14"/>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16</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What we need from executives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Six decisions and commitments that make the policy set work.</a:t>
            </a:r>
          </a:p>
        </p:txBody>
      </p:sp>
      <p:sp>
        <p:nvSpPr>
          <p:cNvPr id="5" name="Rounded Rectangle 4"/>
          <p:cNvSpPr/>
          <p:nvPr/>
        </p:nvSpPr>
        <p:spPr>
          <a:xfrm>
            <a:off x="457200" y="1371600"/>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1</a:t>
            </a:r>
          </a:p>
        </p:txBody>
      </p:sp>
      <p:sp>
        <p:nvSpPr>
          <p:cNvPr id="6" name="TextBox 5"/>
          <p:cNvSpPr txBox="1"/>
          <p:nvPr/>
        </p:nvSpPr>
        <p:spPr>
          <a:xfrm>
            <a:off x="1097280" y="1417320"/>
            <a:ext cx="4860036" cy="292608"/>
          </a:xfrm>
          <a:prstGeom prst="rect">
            <a:avLst/>
          </a:prstGeom>
          <a:noFill/>
        </p:spPr>
        <p:txBody>
          <a:bodyPr wrap="square" lIns="0" tIns="0" rIns="0" bIns="0" anchor="t">
            <a:spAutoFit/>
          </a:bodyPr>
          <a:lstStyle/>
          <a:p>
            <a:pPr algn="l"/>
            <a:r>
              <a:rPr sz="1250" b="1" i="0">
                <a:solidFill>
                  <a:srgbClr val="1A2130"/>
                </a:solidFill>
                <a:latin typeface="Cambria"/>
              </a:rPr>
              <a:t>Approve the umbrella policy</a:t>
            </a:r>
          </a:p>
        </p:txBody>
      </p:sp>
      <p:sp>
        <p:nvSpPr>
          <p:cNvPr id="7" name="TextBox 6"/>
          <p:cNvSpPr txBox="1"/>
          <p:nvPr/>
        </p:nvSpPr>
        <p:spPr>
          <a:xfrm>
            <a:off x="1097280" y="1755648"/>
            <a:ext cx="4860036" cy="594360"/>
          </a:xfrm>
          <a:prstGeom prst="rect">
            <a:avLst/>
          </a:prstGeom>
          <a:noFill/>
        </p:spPr>
        <p:txBody>
          <a:bodyPr wrap="square" lIns="0" tIns="0" rIns="0" bIns="0" anchor="t">
            <a:spAutoFit/>
          </a:bodyPr>
          <a:lstStyle/>
          <a:p>
            <a:pPr algn="l"/>
            <a:r>
              <a:rPr sz="1100" b="0" i="0">
                <a:solidFill>
                  <a:srgbClr val="57626B"/>
                </a:solidFill>
                <a:latin typeface="Calibri"/>
              </a:rPr>
              <a:t>At board or executive committee level, with an annual review.</a:t>
            </a:r>
          </a:p>
        </p:txBody>
      </p:sp>
      <p:sp>
        <p:nvSpPr>
          <p:cNvPr id="8" name="Rounded Rectangle 7"/>
          <p:cNvSpPr/>
          <p:nvPr/>
        </p:nvSpPr>
        <p:spPr>
          <a:xfrm>
            <a:off x="6231636" y="1371600"/>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2</a:t>
            </a:r>
          </a:p>
        </p:txBody>
      </p:sp>
      <p:sp>
        <p:nvSpPr>
          <p:cNvPr id="9" name="TextBox 8"/>
          <p:cNvSpPr txBox="1"/>
          <p:nvPr/>
        </p:nvSpPr>
        <p:spPr>
          <a:xfrm>
            <a:off x="6871716" y="1417320"/>
            <a:ext cx="4860036" cy="292608"/>
          </a:xfrm>
          <a:prstGeom prst="rect">
            <a:avLst/>
          </a:prstGeom>
          <a:noFill/>
        </p:spPr>
        <p:txBody>
          <a:bodyPr wrap="square" lIns="0" tIns="0" rIns="0" bIns="0" anchor="t">
            <a:spAutoFit/>
          </a:bodyPr>
          <a:lstStyle/>
          <a:p>
            <a:pPr algn="l"/>
            <a:r>
              <a:rPr sz="1250" b="1" i="0">
                <a:solidFill>
                  <a:srgbClr val="1A2130"/>
                </a:solidFill>
                <a:latin typeface="Cambria"/>
              </a:rPr>
              <a:t>Name a sponsor and policy owners</a:t>
            </a:r>
          </a:p>
        </p:txBody>
      </p:sp>
      <p:sp>
        <p:nvSpPr>
          <p:cNvPr id="10" name="TextBox 9"/>
          <p:cNvSpPr txBox="1"/>
          <p:nvPr/>
        </p:nvSpPr>
        <p:spPr>
          <a:xfrm>
            <a:off x="6871716" y="1755648"/>
            <a:ext cx="4860036" cy="594360"/>
          </a:xfrm>
          <a:prstGeom prst="rect">
            <a:avLst/>
          </a:prstGeom>
          <a:noFill/>
        </p:spPr>
        <p:txBody>
          <a:bodyPr wrap="square" lIns="0" tIns="0" rIns="0" bIns="0" anchor="t">
            <a:spAutoFit/>
          </a:bodyPr>
          <a:lstStyle/>
          <a:p>
            <a:pPr algn="l"/>
            <a:r>
              <a:rPr sz="1100" b="0" i="0">
                <a:solidFill>
                  <a:srgbClr val="57626B"/>
                </a:solidFill>
                <a:latin typeface="Calibri"/>
              </a:rPr>
              <a:t>One accountable executive per policy family.</a:t>
            </a:r>
          </a:p>
        </p:txBody>
      </p:sp>
      <p:sp>
        <p:nvSpPr>
          <p:cNvPr id="11" name="Rounded Rectangle 10"/>
          <p:cNvSpPr/>
          <p:nvPr/>
        </p:nvSpPr>
        <p:spPr>
          <a:xfrm>
            <a:off x="457200" y="2560320"/>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3</a:t>
            </a:r>
          </a:p>
        </p:txBody>
      </p:sp>
      <p:sp>
        <p:nvSpPr>
          <p:cNvPr id="12" name="TextBox 11"/>
          <p:cNvSpPr txBox="1"/>
          <p:nvPr/>
        </p:nvSpPr>
        <p:spPr>
          <a:xfrm>
            <a:off x="1097280" y="2606039"/>
            <a:ext cx="4860036" cy="292608"/>
          </a:xfrm>
          <a:prstGeom prst="rect">
            <a:avLst/>
          </a:prstGeom>
          <a:noFill/>
        </p:spPr>
        <p:txBody>
          <a:bodyPr wrap="square" lIns="0" tIns="0" rIns="0" bIns="0" anchor="t">
            <a:spAutoFit/>
          </a:bodyPr>
          <a:lstStyle/>
          <a:p>
            <a:pPr algn="l"/>
            <a:r>
              <a:rPr sz="1250" b="1" i="0">
                <a:solidFill>
                  <a:srgbClr val="1A2130"/>
                </a:solidFill>
                <a:latin typeface="Cambria"/>
              </a:rPr>
              <a:t>Set the data risk appetite</a:t>
            </a:r>
          </a:p>
        </p:txBody>
      </p:sp>
      <p:sp>
        <p:nvSpPr>
          <p:cNvPr id="13" name="TextBox 12"/>
          <p:cNvSpPr txBox="1"/>
          <p:nvPr/>
        </p:nvSpPr>
        <p:spPr>
          <a:xfrm>
            <a:off x="1097280" y="2944368"/>
            <a:ext cx="4860036" cy="594360"/>
          </a:xfrm>
          <a:prstGeom prst="rect">
            <a:avLst/>
          </a:prstGeom>
          <a:noFill/>
        </p:spPr>
        <p:txBody>
          <a:bodyPr wrap="square" lIns="0" tIns="0" rIns="0" bIns="0" anchor="t">
            <a:spAutoFit/>
          </a:bodyPr>
          <a:lstStyle/>
          <a:p>
            <a:pPr algn="l"/>
            <a:r>
              <a:rPr sz="1100" b="0" i="0">
                <a:solidFill>
                  <a:srgbClr val="57626B"/>
                </a:solidFill>
                <a:latin typeface="Calibri"/>
              </a:rPr>
              <a:t>How much data risk the firm will accept, and where it will not.</a:t>
            </a:r>
          </a:p>
        </p:txBody>
      </p:sp>
      <p:sp>
        <p:nvSpPr>
          <p:cNvPr id="14" name="Rounded Rectangle 13"/>
          <p:cNvSpPr/>
          <p:nvPr/>
        </p:nvSpPr>
        <p:spPr>
          <a:xfrm>
            <a:off x="6231636" y="2560320"/>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4</a:t>
            </a:r>
          </a:p>
        </p:txBody>
      </p:sp>
      <p:sp>
        <p:nvSpPr>
          <p:cNvPr id="15" name="TextBox 14"/>
          <p:cNvSpPr txBox="1"/>
          <p:nvPr/>
        </p:nvSpPr>
        <p:spPr>
          <a:xfrm>
            <a:off x="6871716" y="2606039"/>
            <a:ext cx="4860036" cy="292608"/>
          </a:xfrm>
          <a:prstGeom prst="rect">
            <a:avLst/>
          </a:prstGeom>
          <a:noFill/>
        </p:spPr>
        <p:txBody>
          <a:bodyPr wrap="square" lIns="0" tIns="0" rIns="0" bIns="0" anchor="t">
            <a:spAutoFit/>
          </a:bodyPr>
          <a:lstStyle/>
          <a:p>
            <a:pPr algn="l"/>
            <a:r>
              <a:rPr sz="1250" b="1" i="0">
                <a:solidFill>
                  <a:srgbClr val="1A2130"/>
                </a:solidFill>
                <a:latin typeface="Cambria"/>
              </a:rPr>
              <a:t>Hold owners to account</a:t>
            </a:r>
          </a:p>
        </p:txBody>
      </p:sp>
      <p:sp>
        <p:nvSpPr>
          <p:cNvPr id="16" name="TextBox 15"/>
          <p:cNvSpPr txBox="1"/>
          <p:nvPr/>
        </p:nvSpPr>
        <p:spPr>
          <a:xfrm>
            <a:off x="6871716" y="2944368"/>
            <a:ext cx="4860036" cy="594360"/>
          </a:xfrm>
          <a:prstGeom prst="rect">
            <a:avLst/>
          </a:prstGeom>
          <a:noFill/>
        </p:spPr>
        <p:txBody>
          <a:bodyPr wrap="square" lIns="0" tIns="0" rIns="0" bIns="0" anchor="t">
            <a:spAutoFit/>
          </a:bodyPr>
          <a:lstStyle/>
          <a:p>
            <a:pPr algn="l"/>
            <a:r>
              <a:rPr sz="1100" b="0" i="0">
                <a:solidFill>
                  <a:srgbClr val="57626B"/>
                </a:solidFill>
                <a:latin typeface="Calibri"/>
              </a:rPr>
              <a:t>Data ownership in goals and performance reviews.</a:t>
            </a:r>
          </a:p>
        </p:txBody>
      </p:sp>
      <p:sp>
        <p:nvSpPr>
          <p:cNvPr id="17" name="Rounded Rectangle 16"/>
          <p:cNvSpPr/>
          <p:nvPr/>
        </p:nvSpPr>
        <p:spPr>
          <a:xfrm>
            <a:off x="457200" y="3749039"/>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5</a:t>
            </a:r>
          </a:p>
        </p:txBody>
      </p:sp>
      <p:sp>
        <p:nvSpPr>
          <p:cNvPr id="18" name="TextBox 17"/>
          <p:cNvSpPr txBox="1"/>
          <p:nvPr/>
        </p:nvSpPr>
        <p:spPr>
          <a:xfrm>
            <a:off x="1097280" y="3794759"/>
            <a:ext cx="4860036" cy="292608"/>
          </a:xfrm>
          <a:prstGeom prst="rect">
            <a:avLst/>
          </a:prstGeom>
          <a:noFill/>
        </p:spPr>
        <p:txBody>
          <a:bodyPr wrap="square" lIns="0" tIns="0" rIns="0" bIns="0" anchor="t">
            <a:spAutoFit/>
          </a:bodyPr>
          <a:lstStyle/>
          <a:p>
            <a:pPr algn="l"/>
            <a:r>
              <a:rPr sz="1250" b="1" i="0">
                <a:solidFill>
                  <a:srgbClr val="1A2130"/>
                </a:solidFill>
                <a:latin typeface="Cambria"/>
              </a:rPr>
              <a:t>Fund remediation</a:t>
            </a:r>
          </a:p>
        </p:txBody>
      </p:sp>
      <p:sp>
        <p:nvSpPr>
          <p:cNvPr id="19" name="TextBox 18"/>
          <p:cNvSpPr txBox="1"/>
          <p:nvPr/>
        </p:nvSpPr>
        <p:spPr>
          <a:xfrm>
            <a:off x="1097280" y="4133087"/>
            <a:ext cx="4860036" cy="594360"/>
          </a:xfrm>
          <a:prstGeom prst="rect">
            <a:avLst/>
          </a:prstGeom>
          <a:noFill/>
        </p:spPr>
        <p:txBody>
          <a:bodyPr wrap="square" lIns="0" tIns="0" rIns="0" bIns="0" anchor="t">
            <a:spAutoFit/>
          </a:bodyPr>
          <a:lstStyle/>
          <a:p>
            <a:pPr algn="l"/>
            <a:r>
              <a:rPr sz="1100" b="0" i="0">
                <a:solidFill>
                  <a:srgbClr val="57626B"/>
                </a:solidFill>
                <a:latin typeface="Calibri"/>
              </a:rPr>
              <a:t>Closing gaps is usually a business cost, not a DGO cost.</a:t>
            </a:r>
          </a:p>
        </p:txBody>
      </p:sp>
      <p:sp>
        <p:nvSpPr>
          <p:cNvPr id="20" name="Rounded Rectangle 19"/>
          <p:cNvSpPr/>
          <p:nvPr/>
        </p:nvSpPr>
        <p:spPr>
          <a:xfrm>
            <a:off x="6231636" y="3749039"/>
            <a:ext cx="502920" cy="1005840"/>
          </a:xfrm>
          <a:prstGeom prst="roundRect">
            <a:avLst>
              <a:gd name="adj" fmla="val 10000"/>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400" b="1" i="0">
                <a:solidFill>
                  <a:srgbClr val="FFFFFF"/>
                </a:solidFill>
                <a:latin typeface="Courier New"/>
              </a:rPr>
              <a:t>6</a:t>
            </a:r>
          </a:p>
        </p:txBody>
      </p:sp>
      <p:sp>
        <p:nvSpPr>
          <p:cNvPr id="21" name="TextBox 20"/>
          <p:cNvSpPr txBox="1"/>
          <p:nvPr/>
        </p:nvSpPr>
        <p:spPr>
          <a:xfrm>
            <a:off x="6871716" y="3794759"/>
            <a:ext cx="4860036" cy="292608"/>
          </a:xfrm>
          <a:prstGeom prst="rect">
            <a:avLst/>
          </a:prstGeom>
          <a:noFill/>
        </p:spPr>
        <p:txBody>
          <a:bodyPr wrap="square" lIns="0" tIns="0" rIns="0" bIns="0" anchor="t">
            <a:spAutoFit/>
          </a:bodyPr>
          <a:lstStyle/>
          <a:p>
            <a:pPr algn="l"/>
            <a:r>
              <a:rPr sz="1250" b="1" i="0">
                <a:solidFill>
                  <a:srgbClr val="1A2130"/>
                </a:solidFill>
                <a:latin typeface="Cambria"/>
              </a:rPr>
              <a:t>Review compliance quarterly</a:t>
            </a:r>
          </a:p>
        </p:txBody>
      </p:sp>
      <p:sp>
        <p:nvSpPr>
          <p:cNvPr id="22" name="TextBox 21"/>
          <p:cNvSpPr txBox="1"/>
          <p:nvPr/>
        </p:nvSpPr>
        <p:spPr>
          <a:xfrm>
            <a:off x="6871716" y="4133087"/>
            <a:ext cx="4860036" cy="594360"/>
          </a:xfrm>
          <a:prstGeom prst="rect">
            <a:avLst/>
          </a:prstGeom>
          <a:noFill/>
        </p:spPr>
        <p:txBody>
          <a:bodyPr wrap="square" lIns="0" tIns="0" rIns="0" bIns="0" anchor="t">
            <a:spAutoFit/>
          </a:bodyPr>
          <a:lstStyle/>
          <a:p>
            <a:pPr algn="l"/>
            <a:r>
              <a:rPr sz="1100" b="0" i="0">
                <a:solidFill>
                  <a:srgbClr val="57626B"/>
                </a:solidFill>
                <a:latin typeface="Calibri"/>
              </a:rPr>
              <a:t>Use the compliance measures to steer investment.</a:t>
            </a:r>
          </a:p>
        </p:txBody>
      </p:sp>
      <p:sp>
        <p:nvSpPr>
          <p:cNvPr id="23" name="Rounded Rectangle 22"/>
          <p:cNvSpPr/>
          <p:nvPr/>
        </p:nvSpPr>
        <p:spPr>
          <a:xfrm>
            <a:off x="457200" y="5074920"/>
            <a:ext cx="11274552" cy="777240"/>
          </a:xfrm>
          <a:prstGeom prst="roundRect">
            <a:avLst>
              <a:gd name="adj" fmla="val 10000"/>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A2130"/>
                </a:solidFill>
                <a:latin typeface="Calibri"/>
              </a:rPr>
              <a:t>Why it matters: </a:t>
            </a:r>
            <a:r>
              <a:rPr sz="1150" b="0" i="0">
                <a:solidFill>
                  <a:srgbClr val="57626B"/>
                </a:solidFill>
                <a:latin typeface="Calibri"/>
              </a:rPr>
              <a:t>policies without executive ownership become shelf documents. The strongest signal to the organization is an executive asking about the compliance measures every quarter.</a:t>
            </a:r>
          </a:p>
        </p:txBody>
      </p:sp>
      <p:sp>
        <p:nvSpPr>
          <p:cNvPr id="24" name="TextBox 23"/>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2130"/>
        </a:solidFill>
        <a:effectLst/>
      </p:bgPr>
    </p:bg>
    <p:spTree>
      <p:nvGrpSpPr>
        <p:cNvPr id="1" name=""/>
        <p:cNvGrpSpPr/>
        <p:nvPr/>
      </p:nvGrpSpPr>
      <p:grpSpPr>
        <a:xfrm>
          <a:off x="0" y="0"/>
          <a:ext cx="0" cy="0"/>
          <a:chOff x="0" y="0"/>
          <a:chExt cx="0" cy="0"/>
        </a:xfrm>
      </p:grpSpPr>
      <p:sp>
        <p:nvSpPr>
          <p:cNvPr id="2" name="TextBox 1"/>
          <p:cNvSpPr txBox="1"/>
          <p:nvPr/>
        </p:nvSpPr>
        <p:spPr>
          <a:xfrm>
            <a:off x="914400" y="502920"/>
            <a:ext cx="10332720" cy="502920"/>
          </a:xfrm>
          <a:prstGeom prst="rect">
            <a:avLst/>
          </a:prstGeom>
          <a:noFill/>
        </p:spPr>
        <p:txBody>
          <a:bodyPr wrap="square" lIns="0" tIns="0" rIns="0" bIns="0" anchor="t">
            <a:spAutoFit/>
          </a:bodyPr>
          <a:lstStyle/>
          <a:p>
            <a:pPr algn="ctr"/>
            <a:r>
              <a:rPr sz="2800" b="1" i="0">
                <a:solidFill>
                  <a:srgbClr val="FFFFFF"/>
                </a:solidFill>
                <a:latin typeface="Cambria"/>
              </a:rPr>
              <a:t>Summary</a:t>
            </a:r>
          </a:p>
        </p:txBody>
      </p:sp>
      <p:sp>
        <p:nvSpPr>
          <p:cNvPr id="3" name="TextBox 2"/>
          <p:cNvSpPr txBox="1"/>
          <p:nvPr/>
        </p:nvSpPr>
        <p:spPr>
          <a:xfrm>
            <a:off x="1188720" y="1371600"/>
            <a:ext cx="9784080" cy="548640"/>
          </a:xfrm>
          <a:prstGeom prst="rect">
            <a:avLst/>
          </a:prstGeom>
          <a:noFill/>
        </p:spPr>
        <p:txBody>
          <a:bodyPr wrap="square" lIns="0" tIns="0" rIns="0" bIns="0" anchor="t">
            <a:spAutoFit/>
          </a:bodyPr>
          <a:lstStyle/>
          <a:p>
            <a:pPr algn="l"/>
            <a:r>
              <a:rPr sz="1350" b="0" i="0">
                <a:solidFill>
                  <a:srgbClr val="FFFFFF"/>
                </a:solidFill>
                <a:latin typeface="Calibri"/>
              </a:rPr>
              <a:t>• Policies say what must happen; standards make it measurable; procedures say how.</a:t>
            </a:r>
          </a:p>
        </p:txBody>
      </p:sp>
      <p:sp>
        <p:nvSpPr>
          <p:cNvPr id="4" name="TextBox 3"/>
          <p:cNvSpPr txBox="1"/>
          <p:nvPr/>
        </p:nvSpPr>
        <p:spPr>
          <a:xfrm>
            <a:off x="1188720" y="1993392"/>
            <a:ext cx="9784080" cy="548640"/>
          </a:xfrm>
          <a:prstGeom prst="rect">
            <a:avLst/>
          </a:prstGeom>
          <a:noFill/>
        </p:spPr>
        <p:txBody>
          <a:bodyPr wrap="square" lIns="0" tIns="0" rIns="0" bIns="0" anchor="t">
            <a:spAutoFit/>
          </a:bodyPr>
          <a:lstStyle/>
          <a:p>
            <a:pPr algn="l"/>
            <a:r>
              <a:rPr sz="1350" b="0" i="0">
                <a:solidFill>
                  <a:srgbClr val="FFFFFF"/>
                </a:solidFill>
                <a:latin typeface="Calibri"/>
              </a:rPr>
              <a:t>• One umbrella Data Governance Policy, with supporting policies in five families: manage, protect, use, operate, oversee.</a:t>
            </a:r>
          </a:p>
        </p:txBody>
      </p:sp>
      <p:sp>
        <p:nvSpPr>
          <p:cNvPr id="5" name="TextBox 4"/>
          <p:cNvSpPr txBox="1"/>
          <p:nvPr/>
        </p:nvSpPr>
        <p:spPr>
          <a:xfrm>
            <a:off x="1188720" y="2615184"/>
            <a:ext cx="9784080" cy="548640"/>
          </a:xfrm>
          <a:prstGeom prst="rect">
            <a:avLst/>
          </a:prstGeom>
          <a:noFill/>
        </p:spPr>
        <p:txBody>
          <a:bodyPr wrap="square" lIns="0" tIns="0" rIns="0" bIns="0" anchor="t">
            <a:spAutoFit/>
          </a:bodyPr>
          <a:lstStyle/>
          <a:p>
            <a:pPr algn="l"/>
            <a:r>
              <a:rPr sz="1350" b="0" i="0">
                <a:solidFill>
                  <a:srgbClr val="FFFFFF"/>
                </a:solidFill>
                <a:latin typeface="Calibri"/>
              </a:rPr>
              <a:t>• Every policy has one owner, a clear approver, and independent checkers.</a:t>
            </a:r>
          </a:p>
        </p:txBody>
      </p:sp>
      <p:sp>
        <p:nvSpPr>
          <p:cNvPr id="6" name="TextBox 5"/>
          <p:cNvSpPr txBox="1"/>
          <p:nvPr/>
        </p:nvSpPr>
        <p:spPr>
          <a:xfrm>
            <a:off x="1188720" y="3236976"/>
            <a:ext cx="9784080" cy="548640"/>
          </a:xfrm>
          <a:prstGeom prst="rect">
            <a:avLst/>
          </a:prstGeom>
          <a:noFill/>
        </p:spPr>
        <p:txBody>
          <a:bodyPr wrap="square" lIns="0" tIns="0" rIns="0" bIns="0" anchor="t">
            <a:spAutoFit/>
          </a:bodyPr>
          <a:lstStyle/>
          <a:p>
            <a:pPr algn="l"/>
            <a:r>
              <a:rPr sz="1350" b="0" i="0">
                <a:solidFill>
                  <a:srgbClr val="FFFFFF"/>
                </a:solidFill>
                <a:latin typeface="Calibri"/>
              </a:rPr>
              <a:t>• Exceptions are allowed, but visible, approved, time-limited and tracked.</a:t>
            </a:r>
          </a:p>
        </p:txBody>
      </p:sp>
      <p:sp>
        <p:nvSpPr>
          <p:cNvPr id="7" name="TextBox 6"/>
          <p:cNvSpPr txBox="1"/>
          <p:nvPr/>
        </p:nvSpPr>
        <p:spPr>
          <a:xfrm>
            <a:off x="1188720" y="3858768"/>
            <a:ext cx="9784080" cy="548640"/>
          </a:xfrm>
          <a:prstGeom prst="rect">
            <a:avLst/>
          </a:prstGeom>
          <a:noFill/>
        </p:spPr>
        <p:txBody>
          <a:bodyPr wrap="square" lIns="0" tIns="0" rIns="0" bIns="0" anchor="t">
            <a:spAutoFit/>
          </a:bodyPr>
          <a:lstStyle/>
          <a:p>
            <a:pPr algn="l"/>
            <a:r>
              <a:rPr sz="1350" b="0" i="0">
                <a:solidFill>
                  <a:srgbClr val="FFFFFF"/>
                </a:solidFill>
                <a:latin typeface="Calibri"/>
              </a:rPr>
              <a:t>• Compliance is measured and reported to executives every quarter.</a:t>
            </a:r>
          </a:p>
        </p:txBody>
      </p:sp>
      <p:sp>
        <p:nvSpPr>
          <p:cNvPr id="8" name="TextBox 7"/>
          <p:cNvSpPr txBox="1"/>
          <p:nvPr/>
        </p:nvSpPr>
        <p:spPr>
          <a:xfrm>
            <a:off x="1188720" y="4480560"/>
            <a:ext cx="9784080" cy="548640"/>
          </a:xfrm>
          <a:prstGeom prst="rect">
            <a:avLst/>
          </a:prstGeom>
          <a:noFill/>
        </p:spPr>
        <p:txBody>
          <a:bodyPr wrap="square" lIns="0" tIns="0" rIns="0" bIns="0" anchor="t">
            <a:spAutoFit/>
          </a:bodyPr>
          <a:lstStyle/>
          <a:p>
            <a:pPr algn="l"/>
            <a:r>
              <a:rPr sz="1350" b="0" i="0">
                <a:solidFill>
                  <a:srgbClr val="FFFFFF"/>
                </a:solidFill>
                <a:latin typeface="Calibri"/>
              </a:rPr>
              <a:t>• Start with the minimum set that protects regulatory reporting, then build out.</a:t>
            </a:r>
          </a:p>
        </p:txBody>
      </p:sp>
      <p:sp>
        <p:nvSpPr>
          <p:cNvPr id="9" name="TextBox 8"/>
          <p:cNvSpPr txBox="1"/>
          <p:nvPr/>
        </p:nvSpPr>
        <p:spPr>
          <a:xfrm>
            <a:off x="914400" y="5376672"/>
            <a:ext cx="10332720" cy="822960"/>
          </a:xfrm>
          <a:prstGeom prst="rect">
            <a:avLst/>
          </a:prstGeom>
          <a:noFill/>
        </p:spPr>
        <p:txBody>
          <a:bodyPr wrap="square" lIns="0" tIns="0" rIns="0" bIns="0" anchor="t">
            <a:spAutoFit/>
          </a:bodyPr>
          <a:lstStyle/>
          <a:p>
            <a:pPr algn="ctr"/>
            <a:r>
              <a:rPr sz="1300" b="1" i="1">
                <a:solidFill>
                  <a:srgbClr val="CADCEA"/>
                </a:solidFill>
                <a:latin typeface="Calibri"/>
              </a:rPr>
              <a:t>Good policy doesn’t make data governance bureaucratic. It makes accountability clear, so the firm can trust and sign its numbers.</a:t>
            </a:r>
          </a:p>
        </p:txBody>
      </p:sp>
      <p:sp>
        <p:nvSpPr>
          <p:cNvPr id="10" name="TextBox 9"/>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CADCEA"/>
                </a:solidFill>
                <a:latin typeface="Calibri"/>
              </a:rPr>
              <a:t>Data Governance Policies: Executive Overview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18</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A — key terms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Plain-language explanations of terms used in this deck.</a:t>
            </a:r>
          </a:p>
        </p:txBody>
      </p:sp>
      <p:graphicFrame>
        <p:nvGraphicFramePr>
          <p:cNvPr id="5" name="Table 4"/>
          <p:cNvGraphicFramePr>
            <a:graphicFrameLocks noGrp="1"/>
          </p:cNvGraphicFramePr>
          <p:nvPr/>
        </p:nvGraphicFramePr>
        <p:xfrm>
          <a:off x="457200" y="1325880"/>
          <a:ext cx="11274552" cy="455371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8714232">
                  <a:extLst>
                    <a:ext uri="{9D8B030D-6E8A-4147-A177-3AD203B41FA5}">
                      <a16:colId xmlns:a16="http://schemas.microsoft.com/office/drawing/2014/main" val="20001"/>
                    </a:ext>
                  </a:extLst>
                </a:gridCol>
              </a:tblGrid>
              <a:tr h="347472">
                <a:tc>
                  <a:txBody>
                    <a:bodyPr/>
                    <a:lstStyle/>
                    <a:p>
                      <a:pPr algn="l"/>
                      <a:r>
                        <a:rPr sz="1000" b="1" i="0">
                          <a:solidFill>
                            <a:srgbClr val="CADCEA"/>
                          </a:solidFill>
                          <a:latin typeface="Calibri"/>
                        </a:rPr>
                        <a:t>TERM</a:t>
                      </a:r>
                    </a:p>
                  </a:txBody>
                  <a:tcPr marL="73152" marR="73152" marT="36576" marB="36576" anchor="ctr">
                    <a:solidFill>
                      <a:srgbClr val="1A2130"/>
                    </a:solidFill>
                  </a:tcPr>
                </a:tc>
                <a:tc>
                  <a:txBody>
                    <a:bodyPr/>
                    <a:lstStyle/>
                    <a:p>
                      <a:pPr algn="l"/>
                      <a:r>
                        <a:rPr sz="1000" b="1" i="0">
                          <a:solidFill>
                            <a:srgbClr val="CADCEA"/>
                          </a:solidFill>
                          <a:latin typeface="Calibri"/>
                        </a:rPr>
                        <a:t>WHAT IT MEANS</a:t>
                      </a:r>
                    </a:p>
                  </a:txBody>
                  <a:tcPr marL="73152" marR="73152" marT="36576" marB="36576" anchor="ctr">
                    <a:solidFill>
                      <a:srgbClr val="1A2130"/>
                    </a:solidFill>
                  </a:tcPr>
                </a:tc>
                <a:extLst>
                  <a:ext uri="{0D108BD9-81ED-4DB2-BD59-A6C34878D82A}">
                    <a16:rowId xmlns:a16="http://schemas.microsoft.com/office/drawing/2014/main" val="10000"/>
                  </a:ext>
                </a:extLst>
              </a:tr>
              <a:tr h="420624">
                <a:tc>
                  <a:txBody>
                    <a:bodyPr/>
                    <a:lstStyle/>
                    <a:p>
                      <a:pPr algn="l"/>
                      <a:r>
                        <a:rPr sz="1050" b="1" i="0">
                          <a:solidFill>
                            <a:srgbClr val="1A2130"/>
                          </a:solidFill>
                          <a:latin typeface="Calibri"/>
                        </a:rPr>
                        <a:t>BCBS 239</a:t>
                      </a:r>
                    </a:p>
                  </a:txBody>
                  <a:tcPr marL="73152" marR="73152" marT="36576" marB="36576" anchor="ctr">
                    <a:solidFill>
                      <a:srgbClr val="FFFFFF"/>
                    </a:solidFill>
                  </a:tcPr>
                </a:tc>
                <a:tc>
                  <a:txBody>
                    <a:bodyPr/>
                    <a:lstStyle/>
                    <a:p>
                      <a:pPr algn="l"/>
                      <a:r>
                        <a:rPr sz="1050" b="0" i="0">
                          <a:solidFill>
                            <a:srgbClr val="57626B"/>
                          </a:solidFill>
                          <a:latin typeface="Calibri"/>
                        </a:rPr>
                        <a:t>Basel Committee principles for risk data aggregation and reporting, expected of large banks</a:t>
                      </a:r>
                    </a:p>
                  </a:txBody>
                  <a:tcPr marL="73152" marR="73152" marT="36576" marB="36576" anchor="ctr">
                    <a:solidFill>
                      <a:srgbClr val="FFFFFF"/>
                    </a:solidFill>
                  </a:tcPr>
                </a:tc>
                <a:extLst>
                  <a:ext uri="{0D108BD9-81ED-4DB2-BD59-A6C34878D82A}">
                    <a16:rowId xmlns:a16="http://schemas.microsoft.com/office/drawing/2014/main" val="10001"/>
                  </a:ext>
                </a:extLst>
              </a:tr>
              <a:tr h="420624">
                <a:tc>
                  <a:txBody>
                    <a:bodyPr/>
                    <a:lstStyle/>
                    <a:p>
                      <a:pPr algn="l"/>
                      <a:r>
                        <a:rPr sz="1050" b="1" i="0">
                          <a:solidFill>
                            <a:srgbClr val="1A2130"/>
                          </a:solidFill>
                          <a:latin typeface="Calibri"/>
                        </a:rPr>
                        <a:t>SOX</a:t>
                      </a:r>
                    </a:p>
                  </a:txBody>
                  <a:tcPr marL="73152" marR="73152" marT="36576" marB="36576" anchor="ctr">
                    <a:solidFill>
                      <a:srgbClr val="F4F6F2"/>
                    </a:solidFill>
                  </a:tcPr>
                </a:tc>
                <a:tc>
                  <a:txBody>
                    <a:bodyPr/>
                    <a:lstStyle/>
                    <a:p>
                      <a:pPr algn="l"/>
                      <a:r>
                        <a:rPr sz="1050" b="0" i="0">
                          <a:solidFill>
                            <a:srgbClr val="57626B"/>
                          </a:solidFill>
                          <a:latin typeface="Calibri"/>
                        </a:rPr>
                        <a:t>Sarbanes-Oxley Act: requires controls over financial reporting and their testing</a:t>
                      </a:r>
                    </a:p>
                  </a:txBody>
                  <a:tcPr marL="73152" marR="73152" marT="36576" marB="36576" anchor="ctr">
                    <a:solidFill>
                      <a:srgbClr val="F4F6F2"/>
                    </a:solidFill>
                  </a:tcPr>
                </a:tc>
                <a:extLst>
                  <a:ext uri="{0D108BD9-81ED-4DB2-BD59-A6C34878D82A}">
                    <a16:rowId xmlns:a16="http://schemas.microsoft.com/office/drawing/2014/main" val="10002"/>
                  </a:ext>
                </a:extLst>
              </a:tr>
              <a:tr h="420624">
                <a:tc>
                  <a:txBody>
                    <a:bodyPr/>
                    <a:lstStyle/>
                    <a:p>
                      <a:pPr algn="l"/>
                      <a:r>
                        <a:rPr sz="1050" b="1" i="0">
                          <a:solidFill>
                            <a:srgbClr val="1A2130"/>
                          </a:solidFill>
                          <a:latin typeface="Calibri"/>
                        </a:rPr>
                        <a:t>GLBA</a:t>
                      </a:r>
                    </a:p>
                  </a:txBody>
                  <a:tcPr marL="73152" marR="73152" marT="36576" marB="36576" anchor="ctr">
                    <a:solidFill>
                      <a:srgbClr val="FFFFFF"/>
                    </a:solidFill>
                  </a:tcPr>
                </a:tc>
                <a:tc>
                  <a:txBody>
                    <a:bodyPr/>
                    <a:lstStyle/>
                    <a:p>
                      <a:pPr algn="l"/>
                      <a:r>
                        <a:rPr sz="1050" b="0" i="0">
                          <a:solidFill>
                            <a:srgbClr val="57626B"/>
                          </a:solidFill>
                          <a:latin typeface="Calibri"/>
                        </a:rPr>
                        <a:t>Gramm-Leach-Bliley Act: protects consumers’ personal financial information</a:t>
                      </a:r>
                    </a:p>
                  </a:txBody>
                  <a:tcPr marL="73152" marR="73152" marT="36576" marB="36576" anchor="ctr">
                    <a:solidFill>
                      <a:srgbClr val="FFFFFF"/>
                    </a:solidFill>
                  </a:tcPr>
                </a:tc>
                <a:extLst>
                  <a:ext uri="{0D108BD9-81ED-4DB2-BD59-A6C34878D82A}">
                    <a16:rowId xmlns:a16="http://schemas.microsoft.com/office/drawing/2014/main" val="10003"/>
                  </a:ext>
                </a:extLst>
              </a:tr>
              <a:tr h="420624">
                <a:tc>
                  <a:txBody>
                    <a:bodyPr/>
                    <a:lstStyle/>
                    <a:p>
                      <a:pPr algn="l"/>
                      <a:r>
                        <a:rPr sz="1050" b="1" i="0">
                          <a:solidFill>
                            <a:srgbClr val="1A2130"/>
                          </a:solidFill>
                          <a:latin typeface="Calibri"/>
                        </a:rPr>
                        <a:t>SR 11-7</a:t>
                      </a:r>
                    </a:p>
                  </a:txBody>
                  <a:tcPr marL="73152" marR="73152" marT="36576" marB="36576" anchor="ctr">
                    <a:solidFill>
                      <a:srgbClr val="F4F6F2"/>
                    </a:solidFill>
                  </a:tcPr>
                </a:tc>
                <a:tc>
                  <a:txBody>
                    <a:bodyPr/>
                    <a:lstStyle/>
                    <a:p>
                      <a:pPr algn="l"/>
                      <a:r>
                        <a:rPr sz="1050" b="0" i="0">
                          <a:solidFill>
                            <a:srgbClr val="57626B"/>
                          </a:solidFill>
                          <a:latin typeface="Calibri"/>
                        </a:rPr>
                        <a:t>US banking guidance on model risk management, including model data</a:t>
                      </a:r>
                    </a:p>
                  </a:txBody>
                  <a:tcPr marL="73152" marR="73152" marT="36576" marB="36576" anchor="ctr">
                    <a:solidFill>
                      <a:srgbClr val="F4F6F2"/>
                    </a:solidFill>
                  </a:tcPr>
                </a:tc>
                <a:extLst>
                  <a:ext uri="{0D108BD9-81ED-4DB2-BD59-A6C34878D82A}">
                    <a16:rowId xmlns:a16="http://schemas.microsoft.com/office/drawing/2014/main" val="10004"/>
                  </a:ext>
                </a:extLst>
              </a:tr>
              <a:tr h="420624">
                <a:tc>
                  <a:txBody>
                    <a:bodyPr/>
                    <a:lstStyle/>
                    <a:p>
                      <a:pPr algn="l"/>
                      <a:r>
                        <a:rPr sz="1050" b="1" i="0">
                          <a:solidFill>
                            <a:srgbClr val="1A2130"/>
                          </a:solidFill>
                          <a:latin typeface="Calibri"/>
                        </a:rPr>
                        <a:t>Reg B / HMDA</a:t>
                      </a:r>
                    </a:p>
                  </a:txBody>
                  <a:tcPr marL="73152" marR="73152" marT="36576" marB="36576" anchor="ctr">
                    <a:solidFill>
                      <a:srgbClr val="FFFFFF"/>
                    </a:solidFill>
                  </a:tcPr>
                </a:tc>
                <a:tc>
                  <a:txBody>
                    <a:bodyPr/>
                    <a:lstStyle/>
                    <a:p>
                      <a:pPr algn="l"/>
                      <a:r>
                        <a:rPr sz="1050" b="0" i="0">
                          <a:solidFill>
                            <a:srgbClr val="57626B"/>
                          </a:solidFill>
                          <a:latin typeface="Calibri"/>
                        </a:rPr>
                        <a:t>Fair lending rules: equal credit opportunity; mortgage application reporting</a:t>
                      </a:r>
                    </a:p>
                  </a:txBody>
                  <a:tcPr marL="73152" marR="73152" marT="36576" marB="36576" anchor="ctr">
                    <a:solidFill>
                      <a:srgbClr val="FFFFFF"/>
                    </a:solidFill>
                  </a:tcPr>
                </a:tc>
                <a:extLst>
                  <a:ext uri="{0D108BD9-81ED-4DB2-BD59-A6C34878D82A}">
                    <a16:rowId xmlns:a16="http://schemas.microsoft.com/office/drawing/2014/main" val="10005"/>
                  </a:ext>
                </a:extLst>
              </a:tr>
              <a:tr h="420624">
                <a:tc>
                  <a:txBody>
                    <a:bodyPr/>
                    <a:lstStyle/>
                    <a:p>
                      <a:pPr algn="l"/>
                      <a:r>
                        <a:rPr sz="1050" b="1" i="0">
                          <a:solidFill>
                            <a:srgbClr val="1A2130"/>
                          </a:solidFill>
                          <a:latin typeface="Calibri"/>
                        </a:rPr>
                        <a:t>CDE</a:t>
                      </a:r>
                    </a:p>
                  </a:txBody>
                  <a:tcPr marL="73152" marR="73152" marT="36576" marB="36576" anchor="ctr">
                    <a:solidFill>
                      <a:srgbClr val="F4F6F2"/>
                    </a:solidFill>
                  </a:tcPr>
                </a:tc>
                <a:tc>
                  <a:txBody>
                    <a:bodyPr/>
                    <a:lstStyle/>
                    <a:p>
                      <a:pPr algn="l"/>
                      <a:r>
                        <a:rPr sz="1050" b="0" i="0">
                          <a:solidFill>
                            <a:srgbClr val="57626B"/>
                          </a:solidFill>
                          <a:latin typeface="Calibri"/>
                        </a:rPr>
                        <a:t>Critical data element: data whose errors would materially mislead</a:t>
                      </a:r>
                    </a:p>
                  </a:txBody>
                  <a:tcPr marL="73152" marR="73152" marT="36576" marB="36576" anchor="ctr">
                    <a:solidFill>
                      <a:srgbClr val="F4F6F2"/>
                    </a:solidFill>
                  </a:tcPr>
                </a:tc>
                <a:extLst>
                  <a:ext uri="{0D108BD9-81ED-4DB2-BD59-A6C34878D82A}">
                    <a16:rowId xmlns:a16="http://schemas.microsoft.com/office/drawing/2014/main" val="10006"/>
                  </a:ext>
                </a:extLst>
              </a:tr>
              <a:tr h="420624">
                <a:tc>
                  <a:txBody>
                    <a:bodyPr/>
                    <a:lstStyle/>
                    <a:p>
                      <a:pPr algn="l"/>
                      <a:r>
                        <a:rPr sz="1050" b="1" i="0">
                          <a:solidFill>
                            <a:srgbClr val="1A2130"/>
                          </a:solidFill>
                          <a:latin typeface="Calibri"/>
                        </a:rPr>
                        <a:t>EUC</a:t>
                      </a:r>
                    </a:p>
                  </a:txBody>
                  <a:tcPr marL="73152" marR="73152" marT="36576" marB="36576" anchor="ctr">
                    <a:solidFill>
                      <a:srgbClr val="FFFFFF"/>
                    </a:solidFill>
                  </a:tcPr>
                </a:tc>
                <a:tc>
                  <a:txBody>
                    <a:bodyPr/>
                    <a:lstStyle/>
                    <a:p>
                      <a:pPr algn="l"/>
                      <a:r>
                        <a:rPr sz="1050" b="0" i="0">
                          <a:solidFill>
                            <a:srgbClr val="57626B"/>
                          </a:solidFill>
                          <a:latin typeface="Calibri"/>
                        </a:rPr>
                        <a:t>End-user computing: spreadsheets and desktop tools built outside IT</a:t>
                      </a:r>
                    </a:p>
                  </a:txBody>
                  <a:tcPr marL="73152" marR="73152" marT="36576" marB="36576" anchor="ctr">
                    <a:solidFill>
                      <a:srgbClr val="FFFFFF"/>
                    </a:solidFill>
                  </a:tcPr>
                </a:tc>
                <a:extLst>
                  <a:ext uri="{0D108BD9-81ED-4DB2-BD59-A6C34878D82A}">
                    <a16:rowId xmlns:a16="http://schemas.microsoft.com/office/drawing/2014/main" val="10007"/>
                  </a:ext>
                </a:extLst>
              </a:tr>
              <a:tr h="420624">
                <a:tc>
                  <a:txBody>
                    <a:bodyPr/>
                    <a:lstStyle/>
                    <a:p>
                      <a:pPr algn="l"/>
                      <a:r>
                        <a:rPr sz="1050" b="1" i="0">
                          <a:solidFill>
                            <a:srgbClr val="1A2130"/>
                          </a:solidFill>
                          <a:latin typeface="Calibri"/>
                        </a:rPr>
                        <a:t>Attestation</a:t>
                      </a:r>
                    </a:p>
                  </a:txBody>
                  <a:tcPr marL="73152" marR="73152" marT="36576" marB="36576" anchor="ctr">
                    <a:solidFill>
                      <a:srgbClr val="F4F6F2"/>
                    </a:solidFill>
                  </a:tcPr>
                </a:tc>
                <a:tc>
                  <a:txBody>
                    <a:bodyPr/>
                    <a:lstStyle/>
                    <a:p>
                      <a:pPr algn="l"/>
                      <a:r>
                        <a:rPr sz="1050" b="0" i="0">
                          <a:solidFill>
                            <a:srgbClr val="57626B"/>
                          </a:solidFill>
                          <a:latin typeface="Calibri"/>
                        </a:rPr>
                        <a:t>A formal statement by an owner that they comply with a policy</a:t>
                      </a:r>
                    </a:p>
                  </a:txBody>
                  <a:tcPr marL="73152" marR="73152" marT="36576" marB="36576" anchor="ctr">
                    <a:solidFill>
                      <a:srgbClr val="F4F6F2"/>
                    </a:solidFill>
                  </a:tcPr>
                </a:tc>
                <a:extLst>
                  <a:ext uri="{0D108BD9-81ED-4DB2-BD59-A6C34878D82A}">
                    <a16:rowId xmlns:a16="http://schemas.microsoft.com/office/drawing/2014/main" val="10008"/>
                  </a:ext>
                </a:extLst>
              </a:tr>
              <a:tr h="420624">
                <a:tc>
                  <a:txBody>
                    <a:bodyPr/>
                    <a:lstStyle/>
                    <a:p>
                      <a:pPr algn="l"/>
                      <a:r>
                        <a:rPr sz="1050" b="1" i="0">
                          <a:solidFill>
                            <a:srgbClr val="1A2130"/>
                          </a:solidFill>
                          <a:latin typeface="Calibri"/>
                        </a:rPr>
                        <a:t>Compensating control</a:t>
                      </a:r>
                    </a:p>
                  </a:txBody>
                  <a:tcPr marL="73152" marR="73152" marT="36576" marB="36576" anchor="ctr">
                    <a:solidFill>
                      <a:srgbClr val="FFFFFF"/>
                    </a:solidFill>
                  </a:tcPr>
                </a:tc>
                <a:tc>
                  <a:txBody>
                    <a:bodyPr/>
                    <a:lstStyle/>
                    <a:p>
                      <a:pPr algn="l"/>
                      <a:r>
                        <a:rPr sz="1050" b="0" i="0">
                          <a:solidFill>
                            <a:srgbClr val="57626B"/>
                          </a:solidFill>
                          <a:latin typeface="Calibri"/>
                        </a:rPr>
                        <a:t>A temporary alternative control that reduces risk while a gap is fixed</a:t>
                      </a:r>
                    </a:p>
                  </a:txBody>
                  <a:tcPr marL="73152" marR="73152" marT="36576" marB="36576" anchor="ctr">
                    <a:solidFill>
                      <a:srgbClr val="FFFFFF"/>
                    </a:solidFill>
                  </a:tcPr>
                </a:tc>
                <a:extLst>
                  <a:ext uri="{0D108BD9-81ED-4DB2-BD59-A6C34878D82A}">
                    <a16:rowId xmlns:a16="http://schemas.microsoft.com/office/drawing/2014/main" val="10009"/>
                  </a:ext>
                </a:extLst>
              </a:tr>
              <a:tr h="420624">
                <a:tc>
                  <a:txBody>
                    <a:bodyPr/>
                    <a:lstStyle/>
                    <a:p>
                      <a:pPr algn="l"/>
                      <a:r>
                        <a:rPr sz="1050" b="1" i="0">
                          <a:solidFill>
                            <a:srgbClr val="1A2130"/>
                          </a:solidFill>
                          <a:latin typeface="Calibri"/>
                        </a:rPr>
                        <a:t>Legal hold</a:t>
                      </a:r>
                    </a:p>
                  </a:txBody>
                  <a:tcPr marL="73152" marR="73152" marT="36576" marB="36576" anchor="ctr">
                    <a:solidFill>
                      <a:srgbClr val="F4F6F2"/>
                    </a:solidFill>
                  </a:tcPr>
                </a:tc>
                <a:tc>
                  <a:txBody>
                    <a:bodyPr/>
                    <a:lstStyle/>
                    <a:p>
                      <a:pPr algn="l"/>
                      <a:r>
                        <a:rPr sz="1050" b="0" i="0">
                          <a:solidFill>
                            <a:srgbClr val="57626B"/>
                          </a:solidFill>
                          <a:latin typeface="Calibri"/>
                        </a:rPr>
                        <a:t>An instruction to keep records beyond their normal retention because of litigation</a:t>
                      </a:r>
                    </a:p>
                  </a:txBody>
                  <a:tcPr marL="73152" marR="73152" marT="36576" marB="36576" anchor="ctr">
                    <a:solidFill>
                      <a:srgbClr val="F4F6F2"/>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19</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B — Example policy: Data Governance Policy</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A finished umbrella policy for Fictitia Bank (fictitious). Wording and requirements are illustrative.</a:t>
            </a:r>
          </a:p>
        </p:txBody>
      </p:sp>
      <p:sp>
        <p:nvSpPr>
          <p:cNvPr id="5" name="Rectangle 4"/>
          <p:cNvSpPr/>
          <p:nvPr/>
        </p:nvSpPr>
        <p:spPr>
          <a:xfrm>
            <a:off x="320040" y="1234440"/>
            <a:ext cx="11548872" cy="51663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graphicFrame>
        <p:nvGraphicFramePr>
          <p:cNvPr id="6" name="Table 5"/>
          <p:cNvGraphicFramePr>
            <a:graphicFrameLocks noGrp="1"/>
          </p:cNvGraphicFramePr>
          <p:nvPr/>
        </p:nvGraphicFramePr>
        <p:xfrm>
          <a:off x="457200" y="1325880"/>
          <a:ext cx="11274552" cy="685800"/>
        </p:xfrm>
        <a:graphic>
          <a:graphicData uri="http://schemas.openxmlformats.org/drawingml/2006/table">
            <a:tbl>
              <a:tblPr firstRow="1" bandRow="1">
                <a:tableStyleId>{5C22544A-7EE6-4342-B048-85BDC9FD1C3A}</a:tableStyleId>
              </a:tblPr>
              <a:tblGrid>
                <a:gridCol w="1879092">
                  <a:extLst>
                    <a:ext uri="{9D8B030D-6E8A-4147-A177-3AD203B41FA5}">
                      <a16:colId xmlns:a16="http://schemas.microsoft.com/office/drawing/2014/main" val="20000"/>
                    </a:ext>
                  </a:extLst>
                </a:gridCol>
                <a:gridCol w="1879092">
                  <a:extLst>
                    <a:ext uri="{9D8B030D-6E8A-4147-A177-3AD203B41FA5}">
                      <a16:colId xmlns:a16="http://schemas.microsoft.com/office/drawing/2014/main" val="20001"/>
                    </a:ext>
                  </a:extLst>
                </a:gridCol>
                <a:gridCol w="1879092">
                  <a:extLst>
                    <a:ext uri="{9D8B030D-6E8A-4147-A177-3AD203B41FA5}">
                      <a16:colId xmlns:a16="http://schemas.microsoft.com/office/drawing/2014/main" val="20002"/>
                    </a:ext>
                  </a:extLst>
                </a:gridCol>
                <a:gridCol w="1879092">
                  <a:extLst>
                    <a:ext uri="{9D8B030D-6E8A-4147-A177-3AD203B41FA5}">
                      <a16:colId xmlns:a16="http://schemas.microsoft.com/office/drawing/2014/main" val="20003"/>
                    </a:ext>
                  </a:extLst>
                </a:gridCol>
                <a:gridCol w="1879092">
                  <a:extLst>
                    <a:ext uri="{9D8B030D-6E8A-4147-A177-3AD203B41FA5}">
                      <a16:colId xmlns:a16="http://schemas.microsoft.com/office/drawing/2014/main" val="20004"/>
                    </a:ext>
                  </a:extLst>
                </a:gridCol>
                <a:gridCol w="1879092">
                  <a:extLst>
                    <a:ext uri="{9D8B030D-6E8A-4147-A177-3AD203B41FA5}">
                      <a16:colId xmlns:a16="http://schemas.microsoft.com/office/drawing/2014/main" val="20005"/>
                    </a:ext>
                  </a:extLst>
                </a:gridCol>
              </a:tblGrid>
              <a:tr h="274320">
                <a:tc>
                  <a:txBody>
                    <a:bodyPr/>
                    <a:lstStyle/>
                    <a:p>
                      <a:pPr algn="l"/>
                      <a:r>
                        <a:rPr sz="850" b="1" i="0">
                          <a:solidFill>
                            <a:srgbClr val="CADCEA"/>
                          </a:solidFill>
                          <a:latin typeface="Calibri"/>
                        </a:rPr>
                        <a:t>DOCUMENT</a:t>
                      </a:r>
                    </a:p>
                  </a:txBody>
                  <a:tcPr marL="73152" marR="73152" marT="36576" marB="36576" anchor="ctr">
                    <a:solidFill>
                      <a:srgbClr val="1A2130"/>
                    </a:solidFill>
                  </a:tcPr>
                </a:tc>
                <a:tc>
                  <a:txBody>
                    <a:bodyPr/>
                    <a:lstStyle/>
                    <a:p>
                      <a:pPr algn="l"/>
                      <a:r>
                        <a:rPr sz="850" b="1" i="0">
                          <a:solidFill>
                            <a:srgbClr val="CADCEA"/>
                          </a:solidFill>
                          <a:latin typeface="Calibri"/>
                        </a:rPr>
                        <a:t>VERSION</a:t>
                      </a:r>
                    </a:p>
                  </a:txBody>
                  <a:tcPr marL="73152" marR="73152" marT="36576" marB="36576" anchor="ctr">
                    <a:solidFill>
                      <a:srgbClr val="1A2130"/>
                    </a:solidFill>
                  </a:tcPr>
                </a:tc>
                <a:tc>
                  <a:txBody>
                    <a:bodyPr/>
                    <a:lstStyle/>
                    <a:p>
                      <a:pPr algn="l"/>
                      <a:r>
                        <a:rPr sz="850" b="1" i="0">
                          <a:solidFill>
                            <a:srgbClr val="CADCEA"/>
                          </a:solidFill>
                          <a:latin typeface="Calibri"/>
                        </a:rPr>
                        <a:t>POLICY OWNER</a:t>
                      </a:r>
                    </a:p>
                  </a:txBody>
                  <a:tcPr marL="73152" marR="73152" marT="36576" marB="36576" anchor="ctr">
                    <a:solidFill>
                      <a:srgbClr val="1A2130"/>
                    </a:solidFill>
                  </a:tcPr>
                </a:tc>
                <a:tc>
                  <a:txBody>
                    <a:bodyPr/>
                    <a:lstStyle/>
                    <a:p>
                      <a:pPr algn="l"/>
                      <a:r>
                        <a:rPr sz="850" b="1" i="0">
                          <a:solidFill>
                            <a:srgbClr val="CADCEA"/>
                          </a:solidFill>
                          <a:latin typeface="Calibri"/>
                        </a:rPr>
                        <a:t>APPROVED BY</a:t>
                      </a:r>
                    </a:p>
                  </a:txBody>
                  <a:tcPr marL="73152" marR="73152" marT="36576" marB="36576" anchor="ctr">
                    <a:solidFill>
                      <a:srgbClr val="1A2130"/>
                    </a:solidFill>
                  </a:tcPr>
                </a:tc>
                <a:tc>
                  <a:txBody>
                    <a:bodyPr/>
                    <a:lstStyle/>
                    <a:p>
                      <a:pPr algn="l"/>
                      <a:r>
                        <a:rPr sz="850" b="1" i="0">
                          <a:solidFill>
                            <a:srgbClr val="CADCEA"/>
                          </a:solidFill>
                          <a:latin typeface="Calibri"/>
                        </a:rPr>
                        <a:t>EFFECTIVE</a:t>
                      </a:r>
                    </a:p>
                  </a:txBody>
                  <a:tcPr marL="73152" marR="73152" marT="36576" marB="36576" anchor="ctr">
                    <a:solidFill>
                      <a:srgbClr val="1A2130"/>
                    </a:solidFill>
                  </a:tcPr>
                </a:tc>
                <a:tc>
                  <a:txBody>
                    <a:bodyPr/>
                    <a:lstStyle/>
                    <a:p>
                      <a:pPr algn="l"/>
                      <a:r>
                        <a:rPr sz="850" b="1" i="0">
                          <a:solidFill>
                            <a:srgbClr val="CADCEA"/>
                          </a:solidFill>
                          <a:latin typeface="Calibri"/>
                        </a:rPr>
                        <a:t>NEXT REVIEW</a:t>
                      </a:r>
                    </a:p>
                  </a:txBody>
                  <a:tcPr marL="73152" marR="73152" marT="36576" marB="36576" anchor="ctr">
                    <a:solidFill>
                      <a:srgbClr val="1A2130"/>
                    </a:solidFill>
                  </a:tcPr>
                </a:tc>
                <a:extLst>
                  <a:ext uri="{0D108BD9-81ED-4DB2-BD59-A6C34878D82A}">
                    <a16:rowId xmlns:a16="http://schemas.microsoft.com/office/drawing/2014/main" val="10000"/>
                  </a:ext>
                </a:extLst>
              </a:tr>
              <a:tr h="411480">
                <a:tc>
                  <a:txBody>
                    <a:bodyPr/>
                    <a:lstStyle/>
                    <a:p>
                      <a:pPr algn="l"/>
                      <a:r>
                        <a:rPr sz="950" b="0" i="0">
                          <a:solidFill>
                            <a:srgbClr val="57626B"/>
                          </a:solidFill>
                          <a:latin typeface="Calibri"/>
                        </a:rPr>
                        <a:t>DG-POL-001  Data Governance Policy</a:t>
                      </a:r>
                    </a:p>
                  </a:txBody>
                  <a:tcPr marL="73152" marR="73152" marT="36576" marB="36576" anchor="ctr">
                    <a:solidFill>
                      <a:srgbClr val="FFFFFF"/>
                    </a:solidFill>
                  </a:tcPr>
                </a:tc>
                <a:tc>
                  <a:txBody>
                    <a:bodyPr/>
                    <a:lstStyle/>
                    <a:p>
                      <a:pPr algn="l"/>
                      <a:r>
                        <a:rPr sz="950" b="0" i="0">
                          <a:solidFill>
                            <a:srgbClr val="57626B"/>
                          </a:solidFill>
                          <a:latin typeface="Calibri"/>
                        </a:rPr>
                        <a:t>2.0</a:t>
                      </a:r>
                    </a:p>
                  </a:txBody>
                  <a:tcPr marL="73152" marR="73152" marT="36576" marB="36576" anchor="ctr">
                    <a:solidFill>
                      <a:srgbClr val="FFFFFF"/>
                    </a:solidFill>
                  </a:tcPr>
                </a:tc>
                <a:tc>
                  <a:txBody>
                    <a:bodyPr/>
                    <a:lstStyle/>
                    <a:p>
                      <a:pPr algn="l"/>
                      <a:r>
                        <a:rPr sz="950" b="0" i="0">
                          <a:solidFill>
                            <a:srgbClr val="57626B"/>
                          </a:solidFill>
                          <a:latin typeface="Calibri"/>
                        </a:rPr>
                        <a:t>Chief Data Officer</a:t>
                      </a:r>
                    </a:p>
                  </a:txBody>
                  <a:tcPr marL="73152" marR="73152" marT="36576" marB="36576" anchor="ctr">
                    <a:solidFill>
                      <a:srgbClr val="FFFFFF"/>
                    </a:solidFill>
                  </a:tcPr>
                </a:tc>
                <a:tc>
                  <a:txBody>
                    <a:bodyPr/>
                    <a:lstStyle/>
                    <a:p>
                      <a:pPr algn="l"/>
                      <a:r>
                        <a:rPr sz="950" b="0" i="0">
                          <a:solidFill>
                            <a:srgbClr val="57626B"/>
                          </a:solidFill>
                          <a:latin typeface="Calibri"/>
                        </a:rPr>
                        <a:t>Board Risk Committee</a:t>
                      </a:r>
                    </a:p>
                  </a:txBody>
                  <a:tcPr marL="73152" marR="73152" marT="36576" marB="36576" anchor="ctr">
                    <a:solidFill>
                      <a:srgbClr val="FFFFFF"/>
                    </a:solidFill>
                  </a:tcPr>
                </a:tc>
                <a:tc>
                  <a:txBody>
                    <a:bodyPr/>
                    <a:lstStyle/>
                    <a:p>
                      <a:pPr algn="l"/>
                      <a:r>
                        <a:rPr sz="950" b="0" i="0">
                          <a:solidFill>
                            <a:srgbClr val="57626B"/>
                          </a:solidFill>
                          <a:latin typeface="Calibri"/>
                        </a:rPr>
                        <a:t>1 January 2026</a:t>
                      </a:r>
                    </a:p>
                  </a:txBody>
                  <a:tcPr marL="73152" marR="73152" marT="36576" marB="36576" anchor="ctr">
                    <a:solidFill>
                      <a:srgbClr val="FFFFFF"/>
                    </a:solidFill>
                  </a:tcPr>
                </a:tc>
                <a:tc>
                  <a:txBody>
                    <a:bodyPr/>
                    <a:lstStyle/>
                    <a:p>
                      <a:pPr algn="l"/>
                      <a:r>
                        <a:rPr sz="950" b="0" i="0">
                          <a:solidFill>
                            <a:srgbClr val="57626B"/>
                          </a:solidFill>
                          <a:latin typeface="Calibri"/>
                        </a:rPr>
                        <a:t>December 2026</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48640" y="2103120"/>
            <a:ext cx="5486400" cy="4206240"/>
          </a:xfrm>
          <a:prstGeom prst="rect">
            <a:avLst/>
          </a:prstGeom>
          <a:noFill/>
        </p:spPr>
        <p:txBody>
          <a:bodyPr wrap="square" lIns="0" tIns="0" rIns="0" bIns="0" anchor="t">
            <a:spAutoFit/>
          </a:bodyPr>
          <a:lstStyle/>
          <a:p>
            <a:pPr algn="l"/>
            <a:r>
              <a:rPr sz="950" b="1" i="0">
                <a:solidFill>
                  <a:srgbClr val="1A2130"/>
                </a:solidFill>
                <a:latin typeface="Calibri"/>
              </a:rPr>
              <a:t>1  Purpose</a:t>
            </a:r>
          </a:p>
          <a:p>
            <a:pPr algn="l"/>
            <a:r>
              <a:rPr sz="950" b="0" i="0">
                <a:solidFill>
                  <a:srgbClr val="57626B"/>
                </a:solidFill>
                <a:latin typeface="Calibri"/>
              </a:rPr>
              <a:t>This policy sets out how Fictitia Bank governs data, so that data used for financial, regulatory, risk and management reporting is accurate, complete, timely and controlled.</a:t>
            </a:r>
          </a:p>
          <a:p>
            <a:pPr algn="l"/>
            <a:r>
              <a:rPr sz="950" b="0" i="0">
                <a:solidFill>
                  <a:srgbClr val="57626B"/>
                </a:solidFill>
                <a:latin typeface="Calibri"/>
              </a:rPr>
              <a:t> </a:t>
            </a:r>
          </a:p>
          <a:p>
            <a:pPr algn="l"/>
            <a:r>
              <a:rPr sz="950" b="1" i="0">
                <a:solidFill>
                  <a:srgbClr val="1A2130"/>
                </a:solidFill>
                <a:latin typeface="Calibri"/>
              </a:rPr>
              <a:t>2  Scope</a:t>
            </a:r>
          </a:p>
          <a:p>
            <a:pPr algn="l"/>
            <a:r>
              <a:rPr sz="950" b="0" i="0">
                <a:solidFill>
                  <a:srgbClr val="57626B"/>
                </a:solidFill>
                <a:latin typeface="Calibri"/>
              </a:rPr>
              <a:t>Applies to all employees, contractors and third parties who create, maintain or use Bank data, in every business line, legal entity and system, including data held by vendors on the Bank’s behalf.</a:t>
            </a:r>
          </a:p>
          <a:p>
            <a:pPr algn="l"/>
            <a:r>
              <a:rPr sz="950" b="0" i="0">
                <a:solidFill>
                  <a:srgbClr val="57626B"/>
                </a:solidFill>
                <a:latin typeface="Calibri"/>
              </a:rPr>
              <a:t> </a:t>
            </a:r>
          </a:p>
          <a:p>
            <a:pPr algn="l"/>
            <a:r>
              <a:rPr sz="950" b="1" i="0">
                <a:solidFill>
                  <a:srgbClr val="1A2130"/>
                </a:solidFill>
                <a:latin typeface="Calibri"/>
              </a:rPr>
              <a:t>3  Policy statements</a:t>
            </a:r>
          </a:p>
          <a:p>
            <a:pPr algn="l"/>
            <a:r>
              <a:rPr sz="950" b="0" i="0">
                <a:solidFill>
                  <a:srgbClr val="57626B"/>
                </a:solidFill>
                <a:latin typeface="Calibri"/>
              </a:rPr>
              <a:t>3.1  Every critical data element (CDE) must have a named Data Owner and Data Steward.</a:t>
            </a:r>
          </a:p>
          <a:p>
            <a:pPr algn="l"/>
            <a:r>
              <a:rPr sz="950" b="0" i="0">
                <a:solidFill>
                  <a:srgbClr val="57626B"/>
                </a:solidFill>
                <a:latin typeface="Calibri"/>
              </a:rPr>
              <a:t>3.2  CDEs must be defined in the business glossary before use in regulatory or financial reporting.</a:t>
            </a:r>
          </a:p>
          <a:p>
            <a:pPr algn="l"/>
            <a:r>
              <a:rPr sz="950" b="0" i="0">
                <a:solidFill>
                  <a:srgbClr val="57626B"/>
                </a:solidFill>
                <a:latin typeface="Calibri"/>
              </a:rPr>
              <a:t>3.3  CDEs must have data quality rules and thresholds, monitored as set out in DG-STD-002.</a:t>
            </a:r>
          </a:p>
          <a:p>
            <a:pPr algn="l"/>
            <a:r>
              <a:rPr sz="950" b="0" i="0">
                <a:solidFill>
                  <a:srgbClr val="57626B"/>
                </a:solidFill>
                <a:latin typeface="Calibri"/>
              </a:rPr>
              <a:t>3.4  Regulatory reports must be produced only from certified data with documented source-to-report lineage.</a:t>
            </a:r>
          </a:p>
          <a:p>
            <a:pPr algn="l"/>
            <a:r>
              <a:rPr sz="950" b="0" i="0">
                <a:solidFill>
                  <a:srgbClr val="57626B"/>
                </a:solidFill>
                <a:latin typeface="Calibri"/>
              </a:rPr>
              <a:t>3.5  Data issues must be logged in the issue management system within 1 business day of being found.</a:t>
            </a:r>
          </a:p>
          <a:p>
            <a:pPr algn="l"/>
            <a:r>
              <a:rPr sz="950" b="0" i="0">
                <a:solidFill>
                  <a:srgbClr val="57626B"/>
                </a:solidFill>
                <a:latin typeface="Calibri"/>
              </a:rPr>
              <a:t>3.6  Changes to definitions, mappings, rules and report logic must be approved and tested before release.</a:t>
            </a:r>
          </a:p>
        </p:txBody>
      </p:sp>
      <p:sp>
        <p:nvSpPr>
          <p:cNvPr id="8" name="TextBox 7"/>
          <p:cNvSpPr txBox="1"/>
          <p:nvPr/>
        </p:nvSpPr>
        <p:spPr>
          <a:xfrm>
            <a:off x="6309360" y="2103120"/>
            <a:ext cx="5394960" cy="4206240"/>
          </a:xfrm>
          <a:prstGeom prst="rect">
            <a:avLst/>
          </a:prstGeom>
          <a:noFill/>
        </p:spPr>
        <p:txBody>
          <a:bodyPr wrap="square" lIns="0" tIns="0" rIns="0" bIns="0" anchor="t">
            <a:spAutoFit/>
          </a:bodyPr>
          <a:lstStyle/>
          <a:p>
            <a:pPr algn="l"/>
            <a:r>
              <a:rPr sz="950" b="1" i="0">
                <a:solidFill>
                  <a:srgbClr val="1A2130"/>
                </a:solidFill>
                <a:latin typeface="Calibri"/>
              </a:rPr>
              <a:t>4  Roles</a:t>
            </a:r>
          </a:p>
          <a:p>
            <a:pPr algn="l"/>
            <a:r>
              <a:rPr sz="950" b="0" i="0">
                <a:solidFill>
                  <a:srgbClr val="57626B"/>
                </a:solidFill>
                <a:latin typeface="Calibri"/>
              </a:rPr>
              <a:t>Board Risk Committee: approves this policy.</a:t>
            </a:r>
          </a:p>
          <a:p>
            <a:pPr algn="l"/>
            <a:r>
              <a:rPr sz="950" b="0" i="0">
                <a:solidFill>
                  <a:srgbClr val="57626B"/>
                </a:solidFill>
                <a:latin typeface="Calibri"/>
              </a:rPr>
              <a:t>Chief Data Officer: owns this policy.</a:t>
            </a:r>
          </a:p>
          <a:p>
            <a:pPr algn="l"/>
            <a:r>
              <a:rPr sz="950" b="0" i="0">
                <a:solidFill>
                  <a:srgbClr val="57626B"/>
                </a:solidFill>
                <a:latin typeface="Calibri"/>
              </a:rPr>
              <a:t>Data Governance Council: approves standards and material exceptions.</a:t>
            </a:r>
          </a:p>
          <a:p>
            <a:pPr algn="l"/>
            <a:r>
              <a:rPr sz="950" b="0" i="0">
                <a:solidFill>
                  <a:srgbClr val="57626B"/>
                </a:solidFill>
                <a:latin typeface="Calibri"/>
              </a:rPr>
              <a:t>Data Owners: accountable for data in their domain.</a:t>
            </a:r>
          </a:p>
          <a:p>
            <a:pPr algn="l"/>
            <a:r>
              <a:rPr sz="950" b="0" i="0">
                <a:solidFill>
                  <a:srgbClr val="57626B"/>
                </a:solidFill>
                <a:latin typeface="Calibri"/>
              </a:rPr>
              <a:t>Data Stewards: maintain definitions and rules.</a:t>
            </a:r>
          </a:p>
          <a:p>
            <a:pPr algn="l"/>
            <a:r>
              <a:rPr sz="950" b="0" i="0">
                <a:solidFill>
                  <a:srgbClr val="57626B"/>
                </a:solidFill>
                <a:latin typeface="Calibri"/>
              </a:rPr>
              <a:t>Internal Audit: provides independent assurance.</a:t>
            </a:r>
          </a:p>
          <a:p>
            <a:pPr algn="l"/>
            <a:r>
              <a:rPr sz="950" b="0" i="0">
                <a:solidFill>
                  <a:srgbClr val="57626B"/>
                </a:solidFill>
                <a:latin typeface="Calibri"/>
              </a:rPr>
              <a:t> </a:t>
            </a:r>
          </a:p>
          <a:p>
            <a:pPr algn="l"/>
            <a:r>
              <a:rPr sz="950" b="1" i="0">
                <a:solidFill>
                  <a:srgbClr val="1A2130"/>
                </a:solidFill>
                <a:latin typeface="Calibri"/>
              </a:rPr>
              <a:t>5  Exceptions</a:t>
            </a:r>
          </a:p>
          <a:p>
            <a:pPr algn="l"/>
            <a:r>
              <a:rPr sz="950" b="0" i="0">
                <a:solidFill>
                  <a:srgbClr val="57626B"/>
                </a:solidFill>
                <a:latin typeface="Calibri"/>
              </a:rPr>
              <a:t>Requested through DG-PRO-004; must be time-limited, risk-accepted at the required level, and tracked to closure.</a:t>
            </a:r>
          </a:p>
          <a:p>
            <a:pPr algn="l"/>
            <a:r>
              <a:rPr sz="950" b="0" i="0">
                <a:solidFill>
                  <a:srgbClr val="57626B"/>
                </a:solidFill>
                <a:latin typeface="Calibri"/>
              </a:rPr>
              <a:t> </a:t>
            </a:r>
          </a:p>
          <a:p>
            <a:pPr algn="l"/>
            <a:r>
              <a:rPr sz="950" b="1" i="0">
                <a:solidFill>
                  <a:srgbClr val="1A2130"/>
                </a:solidFill>
                <a:latin typeface="Calibri"/>
              </a:rPr>
              <a:t>6  Monitoring and reporting</a:t>
            </a:r>
          </a:p>
          <a:p>
            <a:pPr algn="l"/>
            <a:r>
              <a:rPr sz="950" b="0" i="0">
                <a:solidFill>
                  <a:srgbClr val="57626B"/>
                </a:solidFill>
                <a:latin typeface="Calibri"/>
              </a:rPr>
              <a:t>Compliance is reported quarterly to the Executive Data Committee and annually to the Board Risk Committee. Data Owners attest annually.</a:t>
            </a:r>
          </a:p>
          <a:p>
            <a:pPr algn="l"/>
            <a:r>
              <a:rPr sz="950" b="0" i="0">
                <a:solidFill>
                  <a:srgbClr val="57626B"/>
                </a:solidFill>
                <a:latin typeface="Calibri"/>
              </a:rPr>
              <a:t> </a:t>
            </a:r>
          </a:p>
          <a:p>
            <a:pPr algn="l"/>
            <a:r>
              <a:rPr sz="950" b="1" i="0">
                <a:solidFill>
                  <a:srgbClr val="1A2130"/>
                </a:solidFill>
                <a:latin typeface="Calibri"/>
              </a:rPr>
              <a:t>7  Consequences</a:t>
            </a:r>
          </a:p>
          <a:p>
            <a:pPr algn="l"/>
            <a:r>
              <a:rPr sz="950" b="0" i="0">
                <a:solidFill>
                  <a:srgbClr val="57626B"/>
                </a:solidFill>
                <a:latin typeface="Calibri"/>
              </a:rPr>
              <a:t>Non-compliance may lead to escalation, restricted use of the data concerned, and disciplinary action.</a:t>
            </a:r>
          </a:p>
          <a:p>
            <a:pPr algn="l"/>
            <a:r>
              <a:rPr sz="950" b="0" i="0">
                <a:solidFill>
                  <a:srgbClr val="57626B"/>
                </a:solidFill>
                <a:latin typeface="Calibri"/>
              </a:rPr>
              <a:t> </a:t>
            </a:r>
          </a:p>
          <a:p>
            <a:pPr algn="l"/>
            <a:r>
              <a:rPr sz="950" b="1" i="0">
                <a:solidFill>
                  <a:srgbClr val="1A2130"/>
                </a:solidFill>
                <a:latin typeface="Calibri"/>
              </a:rPr>
              <a:t>8  Related documents</a:t>
            </a:r>
          </a:p>
          <a:p>
            <a:pPr algn="l"/>
            <a:r>
              <a:rPr sz="950" b="0" i="0">
                <a:solidFill>
                  <a:srgbClr val="57626B"/>
                </a:solidFill>
                <a:latin typeface="Calibri"/>
              </a:rPr>
              <a:t>DG-STD-002 Data Quality Standard · DG-STD-003 CDE Standard · DG-PRO-004 Exception Procedure · IS-POL-010 Information Classification Policy</a:t>
            </a:r>
          </a:p>
        </p:txBody>
      </p:sp>
      <p:sp>
        <p:nvSpPr>
          <p:cNvPr id="9" name="TextBox 8"/>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20</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C — Example standard: Data Quality Standard</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standard that makes policy statement 3.3 measurable. Thresholds and timeframes are illustrative.</a:t>
            </a:r>
          </a:p>
        </p:txBody>
      </p:sp>
      <p:sp>
        <p:nvSpPr>
          <p:cNvPr id="5" name="Rectangle 4"/>
          <p:cNvSpPr/>
          <p:nvPr/>
        </p:nvSpPr>
        <p:spPr>
          <a:xfrm>
            <a:off x="320040" y="1234440"/>
            <a:ext cx="11548872" cy="51663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graphicFrame>
        <p:nvGraphicFramePr>
          <p:cNvPr id="6" name="Table 5"/>
          <p:cNvGraphicFramePr>
            <a:graphicFrameLocks noGrp="1"/>
          </p:cNvGraphicFramePr>
          <p:nvPr/>
        </p:nvGraphicFramePr>
        <p:xfrm>
          <a:off x="457200" y="1325880"/>
          <a:ext cx="11274552" cy="685800"/>
        </p:xfrm>
        <a:graphic>
          <a:graphicData uri="http://schemas.openxmlformats.org/drawingml/2006/table">
            <a:tbl>
              <a:tblPr firstRow="1" bandRow="1">
                <a:tableStyleId>{5C22544A-7EE6-4342-B048-85BDC9FD1C3A}</a:tableStyleId>
              </a:tblPr>
              <a:tblGrid>
                <a:gridCol w="1879092">
                  <a:extLst>
                    <a:ext uri="{9D8B030D-6E8A-4147-A177-3AD203B41FA5}">
                      <a16:colId xmlns:a16="http://schemas.microsoft.com/office/drawing/2014/main" val="20000"/>
                    </a:ext>
                  </a:extLst>
                </a:gridCol>
                <a:gridCol w="1879092">
                  <a:extLst>
                    <a:ext uri="{9D8B030D-6E8A-4147-A177-3AD203B41FA5}">
                      <a16:colId xmlns:a16="http://schemas.microsoft.com/office/drawing/2014/main" val="20001"/>
                    </a:ext>
                  </a:extLst>
                </a:gridCol>
                <a:gridCol w="1879092">
                  <a:extLst>
                    <a:ext uri="{9D8B030D-6E8A-4147-A177-3AD203B41FA5}">
                      <a16:colId xmlns:a16="http://schemas.microsoft.com/office/drawing/2014/main" val="20002"/>
                    </a:ext>
                  </a:extLst>
                </a:gridCol>
                <a:gridCol w="1879092">
                  <a:extLst>
                    <a:ext uri="{9D8B030D-6E8A-4147-A177-3AD203B41FA5}">
                      <a16:colId xmlns:a16="http://schemas.microsoft.com/office/drawing/2014/main" val="20003"/>
                    </a:ext>
                  </a:extLst>
                </a:gridCol>
                <a:gridCol w="1879092">
                  <a:extLst>
                    <a:ext uri="{9D8B030D-6E8A-4147-A177-3AD203B41FA5}">
                      <a16:colId xmlns:a16="http://schemas.microsoft.com/office/drawing/2014/main" val="20004"/>
                    </a:ext>
                  </a:extLst>
                </a:gridCol>
                <a:gridCol w="1879092">
                  <a:extLst>
                    <a:ext uri="{9D8B030D-6E8A-4147-A177-3AD203B41FA5}">
                      <a16:colId xmlns:a16="http://schemas.microsoft.com/office/drawing/2014/main" val="20005"/>
                    </a:ext>
                  </a:extLst>
                </a:gridCol>
              </a:tblGrid>
              <a:tr h="274320">
                <a:tc>
                  <a:txBody>
                    <a:bodyPr/>
                    <a:lstStyle/>
                    <a:p>
                      <a:pPr algn="l"/>
                      <a:r>
                        <a:rPr sz="850" b="1" i="0">
                          <a:solidFill>
                            <a:srgbClr val="CADCEA"/>
                          </a:solidFill>
                          <a:latin typeface="Calibri"/>
                        </a:rPr>
                        <a:t>DOCUMENT</a:t>
                      </a:r>
                    </a:p>
                  </a:txBody>
                  <a:tcPr marL="73152" marR="73152" marT="36576" marB="36576" anchor="ctr">
                    <a:solidFill>
                      <a:srgbClr val="1A2130"/>
                    </a:solidFill>
                  </a:tcPr>
                </a:tc>
                <a:tc>
                  <a:txBody>
                    <a:bodyPr/>
                    <a:lstStyle/>
                    <a:p>
                      <a:pPr algn="l"/>
                      <a:r>
                        <a:rPr sz="850" b="1" i="0">
                          <a:solidFill>
                            <a:srgbClr val="CADCEA"/>
                          </a:solidFill>
                          <a:latin typeface="Calibri"/>
                        </a:rPr>
                        <a:t>VERSION</a:t>
                      </a:r>
                    </a:p>
                  </a:txBody>
                  <a:tcPr marL="73152" marR="73152" marT="36576" marB="36576" anchor="ctr">
                    <a:solidFill>
                      <a:srgbClr val="1A2130"/>
                    </a:solidFill>
                  </a:tcPr>
                </a:tc>
                <a:tc>
                  <a:txBody>
                    <a:bodyPr/>
                    <a:lstStyle/>
                    <a:p>
                      <a:pPr algn="l"/>
                      <a:r>
                        <a:rPr sz="850" b="1" i="0">
                          <a:solidFill>
                            <a:srgbClr val="CADCEA"/>
                          </a:solidFill>
                          <a:latin typeface="Calibri"/>
                        </a:rPr>
                        <a:t>OWNER</a:t>
                      </a:r>
                    </a:p>
                  </a:txBody>
                  <a:tcPr marL="73152" marR="73152" marT="36576" marB="36576" anchor="ctr">
                    <a:solidFill>
                      <a:srgbClr val="1A2130"/>
                    </a:solidFill>
                  </a:tcPr>
                </a:tc>
                <a:tc>
                  <a:txBody>
                    <a:bodyPr/>
                    <a:lstStyle/>
                    <a:p>
                      <a:pPr algn="l"/>
                      <a:r>
                        <a:rPr sz="850" b="1" i="0">
                          <a:solidFill>
                            <a:srgbClr val="CADCEA"/>
                          </a:solidFill>
                          <a:latin typeface="Calibri"/>
                        </a:rPr>
                        <a:t>APPROVED BY</a:t>
                      </a:r>
                    </a:p>
                  </a:txBody>
                  <a:tcPr marL="73152" marR="73152" marT="36576" marB="36576" anchor="ctr">
                    <a:solidFill>
                      <a:srgbClr val="1A2130"/>
                    </a:solidFill>
                  </a:tcPr>
                </a:tc>
                <a:tc>
                  <a:txBody>
                    <a:bodyPr/>
                    <a:lstStyle/>
                    <a:p>
                      <a:pPr algn="l"/>
                      <a:r>
                        <a:rPr sz="850" b="1" i="0">
                          <a:solidFill>
                            <a:srgbClr val="CADCEA"/>
                          </a:solidFill>
                          <a:latin typeface="Calibri"/>
                        </a:rPr>
                        <a:t>PARENT POLICY</a:t>
                      </a:r>
                    </a:p>
                  </a:txBody>
                  <a:tcPr marL="73152" marR="73152" marT="36576" marB="36576" anchor="ctr">
                    <a:solidFill>
                      <a:srgbClr val="1A2130"/>
                    </a:solidFill>
                  </a:tcPr>
                </a:tc>
                <a:tc>
                  <a:txBody>
                    <a:bodyPr/>
                    <a:lstStyle/>
                    <a:p>
                      <a:pPr algn="l"/>
                      <a:r>
                        <a:rPr sz="850" b="1" i="0">
                          <a:solidFill>
                            <a:srgbClr val="CADCEA"/>
                          </a:solidFill>
                          <a:latin typeface="Calibri"/>
                        </a:rPr>
                        <a:t>NEXT REVIEW</a:t>
                      </a:r>
                    </a:p>
                  </a:txBody>
                  <a:tcPr marL="73152" marR="73152" marT="36576" marB="36576" anchor="ctr">
                    <a:solidFill>
                      <a:srgbClr val="1A2130"/>
                    </a:solidFill>
                  </a:tcPr>
                </a:tc>
                <a:extLst>
                  <a:ext uri="{0D108BD9-81ED-4DB2-BD59-A6C34878D82A}">
                    <a16:rowId xmlns:a16="http://schemas.microsoft.com/office/drawing/2014/main" val="10000"/>
                  </a:ext>
                </a:extLst>
              </a:tr>
              <a:tr h="411480">
                <a:tc>
                  <a:txBody>
                    <a:bodyPr/>
                    <a:lstStyle/>
                    <a:p>
                      <a:pPr algn="l"/>
                      <a:r>
                        <a:rPr sz="950" b="0" i="0">
                          <a:solidFill>
                            <a:srgbClr val="57626B"/>
                          </a:solidFill>
                          <a:latin typeface="Calibri"/>
                        </a:rPr>
                        <a:t>DG-STD-002  Data Quality Standard</a:t>
                      </a:r>
                    </a:p>
                  </a:txBody>
                  <a:tcPr marL="73152" marR="73152" marT="36576" marB="36576" anchor="ctr">
                    <a:solidFill>
                      <a:srgbClr val="FFFFFF"/>
                    </a:solidFill>
                  </a:tcPr>
                </a:tc>
                <a:tc>
                  <a:txBody>
                    <a:bodyPr/>
                    <a:lstStyle/>
                    <a:p>
                      <a:pPr algn="l"/>
                      <a:r>
                        <a:rPr sz="950" b="0" i="0">
                          <a:solidFill>
                            <a:srgbClr val="57626B"/>
                          </a:solidFill>
                          <a:latin typeface="Calibri"/>
                        </a:rPr>
                        <a:t>1.3</a:t>
                      </a:r>
                    </a:p>
                  </a:txBody>
                  <a:tcPr marL="73152" marR="73152" marT="36576" marB="36576" anchor="ctr">
                    <a:solidFill>
                      <a:srgbClr val="FFFFFF"/>
                    </a:solidFill>
                  </a:tcPr>
                </a:tc>
                <a:tc>
                  <a:txBody>
                    <a:bodyPr/>
                    <a:lstStyle/>
                    <a:p>
                      <a:pPr algn="l"/>
                      <a:r>
                        <a:rPr sz="950" b="0" i="0">
                          <a:solidFill>
                            <a:srgbClr val="57626B"/>
                          </a:solidFill>
                          <a:latin typeface="Calibri"/>
                        </a:rPr>
                        <a:t>Chief Data Officer</a:t>
                      </a:r>
                    </a:p>
                  </a:txBody>
                  <a:tcPr marL="73152" marR="73152" marT="36576" marB="36576" anchor="ctr">
                    <a:solidFill>
                      <a:srgbClr val="FFFFFF"/>
                    </a:solidFill>
                  </a:tcPr>
                </a:tc>
                <a:tc>
                  <a:txBody>
                    <a:bodyPr/>
                    <a:lstStyle/>
                    <a:p>
                      <a:pPr algn="l"/>
                      <a:r>
                        <a:rPr sz="950" b="0" i="0">
                          <a:solidFill>
                            <a:srgbClr val="57626B"/>
                          </a:solidFill>
                          <a:latin typeface="Calibri"/>
                        </a:rPr>
                        <a:t>Data Governance Council</a:t>
                      </a:r>
                    </a:p>
                  </a:txBody>
                  <a:tcPr marL="73152" marR="73152" marT="36576" marB="36576" anchor="ctr">
                    <a:solidFill>
                      <a:srgbClr val="FFFFFF"/>
                    </a:solidFill>
                  </a:tcPr>
                </a:tc>
                <a:tc>
                  <a:txBody>
                    <a:bodyPr/>
                    <a:lstStyle/>
                    <a:p>
                      <a:pPr algn="l"/>
                      <a:r>
                        <a:rPr sz="950" b="0" i="0">
                          <a:solidFill>
                            <a:srgbClr val="57626B"/>
                          </a:solidFill>
                          <a:latin typeface="Calibri"/>
                        </a:rPr>
                        <a:t>DG-POL-001, statement 3.3</a:t>
                      </a:r>
                    </a:p>
                  </a:txBody>
                  <a:tcPr marL="73152" marR="73152" marT="36576" marB="36576" anchor="ctr">
                    <a:solidFill>
                      <a:srgbClr val="FFFFFF"/>
                    </a:solidFill>
                  </a:tcPr>
                </a:tc>
                <a:tc>
                  <a:txBody>
                    <a:bodyPr/>
                    <a:lstStyle/>
                    <a:p>
                      <a:pPr algn="l"/>
                      <a:r>
                        <a:rPr sz="950" b="0" i="0">
                          <a:solidFill>
                            <a:srgbClr val="57626B"/>
                          </a:solidFill>
                          <a:latin typeface="Calibri"/>
                        </a:rPr>
                        <a:t>June 2026</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48640" y="2103120"/>
            <a:ext cx="11064240" cy="502920"/>
          </a:xfrm>
          <a:prstGeom prst="rect">
            <a:avLst/>
          </a:prstGeom>
          <a:noFill/>
        </p:spPr>
        <p:txBody>
          <a:bodyPr wrap="square" lIns="0" tIns="0" rIns="0" bIns="0" anchor="t">
            <a:spAutoFit/>
          </a:bodyPr>
          <a:lstStyle/>
          <a:p>
            <a:pPr algn="l"/>
            <a:r>
              <a:rPr sz="950" b="1" i="0">
                <a:solidFill>
                  <a:srgbClr val="1A2130"/>
                </a:solidFill>
                <a:latin typeface="Calibri"/>
              </a:rPr>
              <a:t>1  Purpose  </a:t>
            </a:r>
            <a:r>
              <a:rPr sz="950" b="0" i="0">
                <a:solidFill>
                  <a:srgbClr val="57626B"/>
                </a:solidFill>
                <a:latin typeface="Calibri"/>
              </a:rPr>
              <a:t>Sets the minimum, measurable data quality requirements for CDEs. Requirements depend on the CDE’s tier, set under DG-STD-003 (tier 1 = feeds regulatory filings or financial statements).</a:t>
            </a:r>
          </a:p>
        </p:txBody>
      </p:sp>
      <p:sp>
        <p:nvSpPr>
          <p:cNvPr id="8" name="TextBox 7"/>
          <p:cNvSpPr txBox="1"/>
          <p:nvPr/>
        </p:nvSpPr>
        <p:spPr>
          <a:xfrm>
            <a:off x="548640" y="2606040"/>
            <a:ext cx="11064240" cy="256032"/>
          </a:xfrm>
          <a:prstGeom prst="rect">
            <a:avLst/>
          </a:prstGeom>
          <a:noFill/>
        </p:spPr>
        <p:txBody>
          <a:bodyPr wrap="square" lIns="0" tIns="0" rIns="0" bIns="0" anchor="t">
            <a:spAutoFit/>
          </a:bodyPr>
          <a:lstStyle/>
          <a:p>
            <a:pPr algn="l"/>
            <a:r>
              <a:rPr sz="950" b="1" i="0">
                <a:solidFill>
                  <a:srgbClr val="1A2130"/>
                </a:solidFill>
                <a:latin typeface="Calibri"/>
              </a:rPr>
              <a:t>2  Requirements by CDE tier</a:t>
            </a:r>
          </a:p>
        </p:txBody>
      </p:sp>
      <p:graphicFrame>
        <p:nvGraphicFramePr>
          <p:cNvPr id="9" name="Table 8"/>
          <p:cNvGraphicFramePr>
            <a:graphicFrameLocks noGrp="1"/>
          </p:cNvGraphicFramePr>
          <p:nvPr/>
        </p:nvGraphicFramePr>
        <p:xfrm>
          <a:off x="548640" y="2880360"/>
          <a:ext cx="11091672" cy="2578608"/>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221992">
                  <a:extLst>
                    <a:ext uri="{9D8B030D-6E8A-4147-A177-3AD203B41FA5}">
                      <a16:colId xmlns:a16="http://schemas.microsoft.com/office/drawing/2014/main" val="20004"/>
                    </a:ext>
                  </a:extLst>
                </a:gridCol>
              </a:tblGrid>
              <a:tr h="274320">
                <a:tc>
                  <a:txBody>
                    <a:bodyPr/>
                    <a:lstStyle/>
                    <a:p>
                      <a:pPr algn="l"/>
                      <a:r>
                        <a:rPr sz="900" b="1" i="0">
                          <a:solidFill>
                            <a:srgbClr val="CADCEA"/>
                          </a:solidFill>
                          <a:latin typeface="Calibri"/>
                        </a:rPr>
                        <a:t>ID</a:t>
                      </a:r>
                    </a:p>
                  </a:txBody>
                  <a:tcPr marL="73152" marR="73152" marT="36576" marB="36576" anchor="ctr">
                    <a:solidFill>
                      <a:srgbClr val="1A2130"/>
                    </a:solidFill>
                  </a:tcPr>
                </a:tc>
                <a:tc>
                  <a:txBody>
                    <a:bodyPr/>
                    <a:lstStyle/>
                    <a:p>
                      <a:pPr algn="l"/>
                      <a:r>
                        <a:rPr sz="900" b="1" i="0">
                          <a:solidFill>
                            <a:srgbClr val="CADCEA"/>
                          </a:solidFill>
                          <a:latin typeface="Calibri"/>
                        </a:rPr>
                        <a:t>REQUIREMENT</a:t>
                      </a:r>
                    </a:p>
                  </a:txBody>
                  <a:tcPr marL="73152" marR="73152" marT="36576" marB="36576" anchor="ctr">
                    <a:solidFill>
                      <a:srgbClr val="1A2130"/>
                    </a:solidFill>
                  </a:tcPr>
                </a:tc>
                <a:tc>
                  <a:txBody>
                    <a:bodyPr/>
                    <a:lstStyle/>
                    <a:p>
                      <a:pPr algn="l"/>
                      <a:r>
                        <a:rPr sz="900" b="1" i="0">
                          <a:solidFill>
                            <a:srgbClr val="CADCEA"/>
                          </a:solidFill>
                          <a:latin typeface="Calibri"/>
                        </a:rPr>
                        <a:t>TIER 1</a:t>
                      </a:r>
                    </a:p>
                  </a:txBody>
                  <a:tcPr marL="73152" marR="73152" marT="36576" marB="36576" anchor="ctr">
                    <a:solidFill>
                      <a:srgbClr val="1A2130"/>
                    </a:solidFill>
                  </a:tcPr>
                </a:tc>
                <a:tc>
                  <a:txBody>
                    <a:bodyPr/>
                    <a:lstStyle/>
                    <a:p>
                      <a:pPr algn="l"/>
                      <a:r>
                        <a:rPr sz="900" b="1" i="0">
                          <a:solidFill>
                            <a:srgbClr val="CADCEA"/>
                          </a:solidFill>
                          <a:latin typeface="Calibri"/>
                        </a:rPr>
                        <a:t>TIER 2</a:t>
                      </a:r>
                    </a:p>
                  </a:txBody>
                  <a:tcPr marL="73152" marR="73152" marT="36576" marB="36576" anchor="ctr">
                    <a:solidFill>
                      <a:srgbClr val="1A2130"/>
                    </a:solidFill>
                  </a:tcPr>
                </a:tc>
                <a:tc>
                  <a:txBody>
                    <a:bodyPr/>
                    <a:lstStyle/>
                    <a:p>
                      <a:pPr algn="l"/>
                      <a:r>
                        <a:rPr sz="900" b="1" i="0">
                          <a:solidFill>
                            <a:srgbClr val="CADCEA"/>
                          </a:solidFill>
                          <a:latin typeface="Calibri"/>
                        </a:rPr>
                        <a:t>TIER 3</a:t>
                      </a:r>
                    </a:p>
                  </a:txBody>
                  <a:tcPr marL="73152" marR="73152" marT="36576" marB="36576" anchor="ctr">
                    <a:solidFill>
                      <a:srgbClr val="1A2130"/>
                    </a:solidFill>
                  </a:tcPr>
                </a:tc>
                <a:extLst>
                  <a:ext uri="{0D108BD9-81ED-4DB2-BD59-A6C34878D82A}">
                    <a16:rowId xmlns:a16="http://schemas.microsoft.com/office/drawing/2014/main" val="10000"/>
                  </a:ext>
                </a:extLst>
              </a:tr>
              <a:tr h="384048">
                <a:tc>
                  <a:txBody>
                    <a:bodyPr/>
                    <a:lstStyle/>
                    <a:p>
                      <a:pPr algn="l"/>
                      <a:r>
                        <a:rPr sz="950" b="1" i="0">
                          <a:solidFill>
                            <a:srgbClr val="1A2130"/>
                          </a:solidFill>
                          <a:latin typeface="Calibri"/>
                        </a:rPr>
                        <a:t>DQ-1</a:t>
                      </a:r>
                    </a:p>
                  </a:txBody>
                  <a:tcPr marL="73152" marR="73152" marT="36576" marB="36576" anchor="ctr">
                    <a:solidFill>
                      <a:srgbClr val="FFFFFF"/>
                    </a:solidFill>
                  </a:tcPr>
                </a:tc>
                <a:tc>
                  <a:txBody>
                    <a:bodyPr/>
                    <a:lstStyle/>
                    <a:p>
                      <a:pPr algn="l"/>
                      <a:r>
                        <a:rPr sz="950" b="0" i="0">
                          <a:solidFill>
                            <a:srgbClr val="57626B"/>
                          </a:solidFill>
                          <a:latin typeface="Calibri"/>
                        </a:rPr>
                        <a:t>Dimensions with active rules</a:t>
                      </a:r>
                    </a:p>
                  </a:txBody>
                  <a:tcPr marL="73152" marR="73152" marT="36576" marB="36576" anchor="ctr">
                    <a:solidFill>
                      <a:srgbClr val="FFFFFF"/>
                    </a:solidFill>
                  </a:tcPr>
                </a:tc>
                <a:tc>
                  <a:txBody>
                    <a:bodyPr/>
                    <a:lstStyle/>
                    <a:p>
                      <a:pPr algn="l"/>
                      <a:r>
                        <a:rPr sz="950" b="0" i="0">
                          <a:solidFill>
                            <a:srgbClr val="57626B"/>
                          </a:solidFill>
                          <a:latin typeface="Calibri"/>
                        </a:rPr>
                        <a:t>Completeness, validity, consistency, accuracy</a:t>
                      </a:r>
                    </a:p>
                  </a:txBody>
                  <a:tcPr marL="73152" marR="73152" marT="36576" marB="36576" anchor="ctr">
                    <a:solidFill>
                      <a:srgbClr val="FFFFFF"/>
                    </a:solidFill>
                  </a:tcPr>
                </a:tc>
                <a:tc>
                  <a:txBody>
                    <a:bodyPr/>
                    <a:lstStyle/>
                    <a:p>
                      <a:pPr algn="l"/>
                      <a:r>
                        <a:rPr sz="950" b="0" i="0">
                          <a:solidFill>
                            <a:srgbClr val="57626B"/>
                          </a:solidFill>
                          <a:latin typeface="Calibri"/>
                        </a:rPr>
                        <a:t>Completeness, validity</a:t>
                      </a:r>
                    </a:p>
                  </a:txBody>
                  <a:tcPr marL="73152" marR="73152" marT="36576" marB="36576" anchor="ctr">
                    <a:solidFill>
                      <a:srgbClr val="FFFFFF"/>
                    </a:solidFill>
                  </a:tcPr>
                </a:tc>
                <a:tc>
                  <a:txBody>
                    <a:bodyPr/>
                    <a:lstStyle/>
                    <a:p>
                      <a:pPr algn="l"/>
                      <a:r>
                        <a:rPr sz="950" b="0" i="0">
                          <a:solidFill>
                            <a:srgbClr val="57626B"/>
                          </a:solidFill>
                          <a:latin typeface="Calibri"/>
                        </a:rPr>
                        <a:t>Completeness</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r>
                        <a:rPr sz="950" b="1" i="0">
                          <a:solidFill>
                            <a:srgbClr val="1A2130"/>
                          </a:solidFill>
                          <a:latin typeface="Calibri"/>
                        </a:rPr>
                        <a:t>DQ-2</a:t>
                      </a:r>
                    </a:p>
                  </a:txBody>
                  <a:tcPr marL="73152" marR="73152" marT="36576" marB="36576" anchor="ctr">
                    <a:solidFill>
                      <a:srgbClr val="F4F6F2"/>
                    </a:solidFill>
                  </a:tcPr>
                </a:tc>
                <a:tc>
                  <a:txBody>
                    <a:bodyPr/>
                    <a:lstStyle/>
                    <a:p>
                      <a:pPr algn="l"/>
                      <a:r>
                        <a:rPr sz="950" b="0" i="0">
                          <a:solidFill>
                            <a:srgbClr val="57626B"/>
                          </a:solidFill>
                          <a:latin typeface="Calibri"/>
                        </a:rPr>
                        <a:t>Minimum pass rate</a:t>
                      </a:r>
                    </a:p>
                  </a:txBody>
                  <a:tcPr marL="73152" marR="73152" marT="36576" marB="36576" anchor="ctr">
                    <a:solidFill>
                      <a:srgbClr val="F4F6F2"/>
                    </a:solidFill>
                  </a:tcPr>
                </a:tc>
                <a:tc>
                  <a:txBody>
                    <a:bodyPr/>
                    <a:lstStyle/>
                    <a:p>
                      <a:pPr algn="l"/>
                      <a:r>
                        <a:rPr sz="950" b="0" i="0">
                          <a:solidFill>
                            <a:srgbClr val="57626B"/>
                          </a:solidFill>
                          <a:latin typeface="Calibri"/>
                        </a:rPr>
                        <a:t>99.9%</a:t>
                      </a:r>
                    </a:p>
                  </a:txBody>
                  <a:tcPr marL="73152" marR="73152" marT="36576" marB="36576" anchor="ctr">
                    <a:solidFill>
                      <a:srgbClr val="F4F6F2"/>
                    </a:solidFill>
                  </a:tcPr>
                </a:tc>
                <a:tc>
                  <a:txBody>
                    <a:bodyPr/>
                    <a:lstStyle/>
                    <a:p>
                      <a:pPr algn="l"/>
                      <a:r>
                        <a:rPr sz="950" b="0" i="0">
                          <a:solidFill>
                            <a:srgbClr val="57626B"/>
                          </a:solidFill>
                          <a:latin typeface="Calibri"/>
                        </a:rPr>
                        <a:t>99.5%</a:t>
                      </a:r>
                    </a:p>
                  </a:txBody>
                  <a:tcPr marL="73152" marR="73152" marT="36576" marB="36576" anchor="ctr">
                    <a:solidFill>
                      <a:srgbClr val="F4F6F2"/>
                    </a:solidFill>
                  </a:tcPr>
                </a:tc>
                <a:tc>
                  <a:txBody>
                    <a:bodyPr/>
                    <a:lstStyle/>
                    <a:p>
                      <a:pPr algn="l"/>
                      <a:r>
                        <a:rPr sz="950" b="0" i="0">
                          <a:solidFill>
                            <a:srgbClr val="57626B"/>
                          </a:solidFill>
                          <a:latin typeface="Calibri"/>
                        </a:rPr>
                        <a:t>98%</a:t>
                      </a:r>
                    </a:p>
                  </a:txBody>
                  <a:tcPr marL="73152" marR="73152" marT="36576" marB="36576" anchor="ctr">
                    <a:solidFill>
                      <a:srgbClr val="F4F6F2"/>
                    </a:solidFill>
                  </a:tcPr>
                </a:tc>
                <a:extLst>
                  <a:ext uri="{0D108BD9-81ED-4DB2-BD59-A6C34878D82A}">
                    <a16:rowId xmlns:a16="http://schemas.microsoft.com/office/drawing/2014/main" val="10002"/>
                  </a:ext>
                </a:extLst>
              </a:tr>
              <a:tr h="384048">
                <a:tc>
                  <a:txBody>
                    <a:bodyPr/>
                    <a:lstStyle/>
                    <a:p>
                      <a:pPr algn="l"/>
                      <a:r>
                        <a:rPr sz="950" b="1" i="0">
                          <a:solidFill>
                            <a:srgbClr val="1A2130"/>
                          </a:solidFill>
                          <a:latin typeface="Calibri"/>
                        </a:rPr>
                        <a:t>DQ-3</a:t>
                      </a:r>
                    </a:p>
                  </a:txBody>
                  <a:tcPr marL="73152" marR="73152" marT="36576" marB="36576" anchor="ctr">
                    <a:solidFill>
                      <a:srgbClr val="FFFFFF"/>
                    </a:solidFill>
                  </a:tcPr>
                </a:tc>
                <a:tc>
                  <a:txBody>
                    <a:bodyPr/>
                    <a:lstStyle/>
                    <a:p>
                      <a:pPr algn="l"/>
                      <a:r>
                        <a:rPr sz="950" b="0" i="0">
                          <a:solidFill>
                            <a:srgbClr val="57626B"/>
                          </a:solidFill>
                          <a:latin typeface="Calibri"/>
                        </a:rPr>
                        <a:t>Monitoring frequency</a:t>
                      </a:r>
                    </a:p>
                  </a:txBody>
                  <a:tcPr marL="73152" marR="73152" marT="36576" marB="36576" anchor="ctr">
                    <a:solidFill>
                      <a:srgbClr val="FFFFFF"/>
                    </a:solidFill>
                  </a:tcPr>
                </a:tc>
                <a:tc>
                  <a:txBody>
                    <a:bodyPr/>
                    <a:lstStyle/>
                    <a:p>
                      <a:pPr algn="l"/>
                      <a:r>
                        <a:rPr sz="950" b="0" i="0">
                          <a:solidFill>
                            <a:srgbClr val="57626B"/>
                          </a:solidFill>
                          <a:latin typeface="Calibri"/>
                        </a:rPr>
                        <a:t>Daily</a:t>
                      </a:r>
                    </a:p>
                  </a:txBody>
                  <a:tcPr marL="73152" marR="73152" marT="36576" marB="36576" anchor="ctr">
                    <a:solidFill>
                      <a:srgbClr val="FFFFFF"/>
                    </a:solidFill>
                  </a:tcPr>
                </a:tc>
                <a:tc>
                  <a:txBody>
                    <a:bodyPr/>
                    <a:lstStyle/>
                    <a:p>
                      <a:pPr algn="l"/>
                      <a:r>
                        <a:rPr sz="950" b="0" i="0">
                          <a:solidFill>
                            <a:srgbClr val="57626B"/>
                          </a:solidFill>
                          <a:latin typeface="Calibri"/>
                        </a:rPr>
                        <a:t>Weekly</a:t>
                      </a:r>
                    </a:p>
                  </a:txBody>
                  <a:tcPr marL="73152" marR="73152" marT="36576" marB="36576" anchor="ctr">
                    <a:solidFill>
                      <a:srgbClr val="FFFFFF"/>
                    </a:solidFill>
                  </a:tcPr>
                </a:tc>
                <a:tc>
                  <a:txBody>
                    <a:bodyPr/>
                    <a:lstStyle/>
                    <a:p>
                      <a:pPr algn="l"/>
                      <a:r>
                        <a:rPr sz="950" b="0" i="0">
                          <a:solidFill>
                            <a:srgbClr val="57626B"/>
                          </a:solidFill>
                          <a:latin typeface="Calibri"/>
                        </a:rPr>
                        <a:t>Monthly</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r>
                        <a:rPr sz="950" b="1" i="0">
                          <a:solidFill>
                            <a:srgbClr val="1A2130"/>
                          </a:solidFill>
                          <a:latin typeface="Calibri"/>
                        </a:rPr>
                        <a:t>DQ-4</a:t>
                      </a:r>
                    </a:p>
                  </a:txBody>
                  <a:tcPr marL="73152" marR="73152" marT="36576" marB="36576" anchor="ctr">
                    <a:solidFill>
                      <a:srgbClr val="F4F6F2"/>
                    </a:solidFill>
                  </a:tcPr>
                </a:tc>
                <a:tc>
                  <a:txBody>
                    <a:bodyPr/>
                    <a:lstStyle/>
                    <a:p>
                      <a:pPr algn="l"/>
                      <a:r>
                        <a:rPr sz="950" b="0" i="0">
                          <a:solidFill>
                            <a:srgbClr val="57626B"/>
                          </a:solidFill>
                          <a:latin typeface="Calibri"/>
                        </a:rPr>
                        <a:t>Accuracy testing against source</a:t>
                      </a:r>
                    </a:p>
                  </a:txBody>
                  <a:tcPr marL="73152" marR="73152" marT="36576" marB="36576" anchor="ctr">
                    <a:solidFill>
                      <a:srgbClr val="F4F6F2"/>
                    </a:solidFill>
                  </a:tcPr>
                </a:tc>
                <a:tc>
                  <a:txBody>
                    <a:bodyPr/>
                    <a:lstStyle/>
                    <a:p>
                      <a:pPr algn="l"/>
                      <a:r>
                        <a:rPr sz="950" b="0" i="0">
                          <a:solidFill>
                            <a:srgbClr val="57626B"/>
                          </a:solidFill>
                          <a:latin typeface="Calibri"/>
                        </a:rPr>
                        <a:t>Monthly sample, or 100% where automated</a:t>
                      </a:r>
                    </a:p>
                  </a:txBody>
                  <a:tcPr marL="73152" marR="73152" marT="36576" marB="36576" anchor="ctr">
                    <a:solidFill>
                      <a:srgbClr val="F4F6F2"/>
                    </a:solidFill>
                  </a:tcPr>
                </a:tc>
                <a:tc>
                  <a:txBody>
                    <a:bodyPr/>
                    <a:lstStyle/>
                    <a:p>
                      <a:pPr algn="l"/>
                      <a:r>
                        <a:rPr sz="950" b="0" i="0">
                          <a:solidFill>
                            <a:srgbClr val="57626B"/>
                          </a:solidFill>
                          <a:latin typeface="Calibri"/>
                        </a:rPr>
                        <a:t>Quarterly sample</a:t>
                      </a:r>
                    </a:p>
                  </a:txBody>
                  <a:tcPr marL="73152" marR="73152" marT="36576" marB="36576" anchor="ctr">
                    <a:solidFill>
                      <a:srgbClr val="F4F6F2"/>
                    </a:solidFill>
                  </a:tcPr>
                </a:tc>
                <a:tc>
                  <a:txBody>
                    <a:bodyPr/>
                    <a:lstStyle/>
                    <a:p>
                      <a:pPr algn="l"/>
                      <a:r>
                        <a:rPr sz="950" b="0" i="0">
                          <a:solidFill>
                            <a:srgbClr val="57626B"/>
                          </a:solidFill>
                          <a:latin typeface="Calibri"/>
                        </a:rPr>
                        <a:t>Not required</a:t>
                      </a:r>
                    </a:p>
                  </a:txBody>
                  <a:tcPr marL="73152" marR="73152" marT="36576" marB="36576" anchor="ctr">
                    <a:solidFill>
                      <a:srgbClr val="F4F6F2"/>
                    </a:solidFill>
                  </a:tcPr>
                </a:tc>
                <a:extLst>
                  <a:ext uri="{0D108BD9-81ED-4DB2-BD59-A6C34878D82A}">
                    <a16:rowId xmlns:a16="http://schemas.microsoft.com/office/drawing/2014/main" val="10004"/>
                  </a:ext>
                </a:extLst>
              </a:tr>
              <a:tr h="384048">
                <a:tc>
                  <a:txBody>
                    <a:bodyPr/>
                    <a:lstStyle/>
                    <a:p>
                      <a:pPr algn="l"/>
                      <a:r>
                        <a:rPr sz="950" b="1" i="0">
                          <a:solidFill>
                            <a:srgbClr val="1A2130"/>
                          </a:solidFill>
                          <a:latin typeface="Calibri"/>
                        </a:rPr>
                        <a:t>DQ-5</a:t>
                      </a:r>
                    </a:p>
                  </a:txBody>
                  <a:tcPr marL="73152" marR="73152" marT="36576" marB="36576" anchor="ctr">
                    <a:solidFill>
                      <a:srgbClr val="FFFFFF"/>
                    </a:solidFill>
                  </a:tcPr>
                </a:tc>
                <a:tc>
                  <a:txBody>
                    <a:bodyPr/>
                    <a:lstStyle/>
                    <a:p>
                      <a:pPr algn="l"/>
                      <a:r>
                        <a:rPr sz="950" b="0" i="0">
                          <a:solidFill>
                            <a:srgbClr val="57626B"/>
                          </a:solidFill>
                          <a:latin typeface="Calibri"/>
                        </a:rPr>
                        <a:t>Escalation on breach</a:t>
                      </a:r>
                    </a:p>
                  </a:txBody>
                  <a:tcPr marL="73152" marR="73152" marT="36576" marB="36576" anchor="ctr">
                    <a:solidFill>
                      <a:srgbClr val="FFFFFF"/>
                    </a:solidFill>
                  </a:tcPr>
                </a:tc>
                <a:tc>
                  <a:txBody>
                    <a:bodyPr/>
                    <a:lstStyle/>
                    <a:p>
                      <a:pPr algn="l"/>
                      <a:r>
                        <a:rPr sz="950" b="0" i="0">
                          <a:solidFill>
                            <a:srgbClr val="57626B"/>
                          </a:solidFill>
                          <a:latin typeface="Calibri"/>
                        </a:rPr>
                        <a:t>Steward same day; Data Owner within 1 business day</a:t>
                      </a:r>
                    </a:p>
                  </a:txBody>
                  <a:tcPr marL="73152" marR="73152" marT="36576" marB="36576" anchor="ctr">
                    <a:solidFill>
                      <a:srgbClr val="FFFFFF"/>
                    </a:solidFill>
                  </a:tcPr>
                </a:tc>
                <a:tc>
                  <a:txBody>
                    <a:bodyPr/>
                    <a:lstStyle/>
                    <a:p>
                      <a:pPr algn="l"/>
                      <a:r>
                        <a:rPr sz="950" b="0" i="0">
                          <a:solidFill>
                            <a:srgbClr val="57626B"/>
                          </a:solidFill>
                          <a:latin typeface="Calibri"/>
                        </a:rPr>
                        <a:t>Steward within 2 business days</a:t>
                      </a:r>
                    </a:p>
                  </a:txBody>
                  <a:tcPr marL="73152" marR="73152" marT="36576" marB="36576" anchor="ctr">
                    <a:solidFill>
                      <a:srgbClr val="FFFFFF"/>
                    </a:solidFill>
                  </a:tcPr>
                </a:tc>
                <a:tc>
                  <a:txBody>
                    <a:bodyPr/>
                    <a:lstStyle/>
                    <a:p>
                      <a:pPr algn="l"/>
                      <a:r>
                        <a:rPr sz="950" b="0" i="0">
                          <a:solidFill>
                            <a:srgbClr val="57626B"/>
                          </a:solidFill>
                          <a:latin typeface="Calibri"/>
                        </a:rPr>
                        <a:t>Steward at monthly review</a:t>
                      </a:r>
                    </a:p>
                  </a:txBody>
                  <a:tcPr marL="73152" marR="73152" marT="36576" marB="36576" anchor="ctr">
                    <a:solidFill>
                      <a:srgbClr val="FFFFFF"/>
                    </a:solidFill>
                  </a:tcPr>
                </a:tc>
                <a:extLst>
                  <a:ext uri="{0D108BD9-81ED-4DB2-BD59-A6C34878D82A}">
                    <a16:rowId xmlns:a16="http://schemas.microsoft.com/office/drawing/2014/main" val="10005"/>
                  </a:ext>
                </a:extLst>
              </a:tr>
              <a:tr h="384048">
                <a:tc>
                  <a:txBody>
                    <a:bodyPr/>
                    <a:lstStyle/>
                    <a:p>
                      <a:pPr algn="l"/>
                      <a:r>
                        <a:rPr sz="950" b="1" i="0">
                          <a:solidFill>
                            <a:srgbClr val="1A2130"/>
                          </a:solidFill>
                          <a:latin typeface="Calibri"/>
                        </a:rPr>
                        <a:t>DQ-6</a:t>
                      </a:r>
                    </a:p>
                  </a:txBody>
                  <a:tcPr marL="73152" marR="73152" marT="36576" marB="36576" anchor="ctr">
                    <a:solidFill>
                      <a:srgbClr val="F4F6F2"/>
                    </a:solidFill>
                  </a:tcPr>
                </a:tc>
                <a:tc>
                  <a:txBody>
                    <a:bodyPr/>
                    <a:lstStyle/>
                    <a:p>
                      <a:pPr algn="l"/>
                      <a:r>
                        <a:rPr sz="950" b="0" i="0">
                          <a:solidFill>
                            <a:srgbClr val="57626B"/>
                          </a:solidFill>
                          <a:latin typeface="Calibri"/>
                        </a:rPr>
                        <a:t>Issue fix target</a:t>
                      </a:r>
                    </a:p>
                  </a:txBody>
                  <a:tcPr marL="73152" marR="73152" marT="36576" marB="36576" anchor="ctr">
                    <a:solidFill>
                      <a:srgbClr val="F4F6F2"/>
                    </a:solidFill>
                  </a:tcPr>
                </a:tc>
                <a:tc>
                  <a:txBody>
                    <a:bodyPr/>
                    <a:lstStyle/>
                    <a:p>
                      <a:pPr algn="l"/>
                      <a:r>
                        <a:rPr sz="950" b="0" i="0">
                          <a:solidFill>
                            <a:srgbClr val="57626B"/>
                          </a:solidFill>
                          <a:latin typeface="Calibri"/>
                        </a:rPr>
                        <a:t>Critical: before next filing; High: 30 days</a:t>
                      </a:r>
                    </a:p>
                  </a:txBody>
                  <a:tcPr marL="73152" marR="73152" marT="36576" marB="36576" anchor="ctr">
                    <a:solidFill>
                      <a:srgbClr val="F4F6F2"/>
                    </a:solidFill>
                  </a:tcPr>
                </a:tc>
                <a:tc>
                  <a:txBody>
                    <a:bodyPr/>
                    <a:lstStyle/>
                    <a:p>
                      <a:pPr algn="l"/>
                      <a:r>
                        <a:rPr sz="950" b="0" i="0">
                          <a:solidFill>
                            <a:srgbClr val="57626B"/>
                          </a:solidFill>
                          <a:latin typeface="Calibri"/>
                        </a:rPr>
                        <a:t>60 days</a:t>
                      </a:r>
                    </a:p>
                  </a:txBody>
                  <a:tcPr marL="73152" marR="73152" marT="36576" marB="36576" anchor="ctr">
                    <a:solidFill>
                      <a:srgbClr val="F4F6F2"/>
                    </a:solidFill>
                  </a:tcPr>
                </a:tc>
                <a:tc>
                  <a:txBody>
                    <a:bodyPr/>
                    <a:lstStyle/>
                    <a:p>
                      <a:pPr algn="l"/>
                      <a:r>
                        <a:rPr sz="950" b="0" i="0">
                          <a:solidFill>
                            <a:srgbClr val="57626B"/>
                          </a:solidFill>
                          <a:latin typeface="Calibri"/>
                        </a:rPr>
                        <a:t>90 days</a:t>
                      </a:r>
                    </a:p>
                  </a:txBody>
                  <a:tcPr marL="73152" marR="73152" marT="36576" marB="36576" anchor="ctr">
                    <a:solidFill>
                      <a:srgbClr val="F4F6F2"/>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548640" y="5550408"/>
            <a:ext cx="11064240" cy="777240"/>
          </a:xfrm>
          <a:prstGeom prst="rect">
            <a:avLst/>
          </a:prstGeom>
          <a:noFill/>
        </p:spPr>
        <p:txBody>
          <a:bodyPr wrap="square" lIns="0" tIns="0" rIns="0" bIns="0" anchor="t">
            <a:spAutoFit/>
          </a:bodyPr>
          <a:lstStyle/>
          <a:p>
            <a:pPr algn="l"/>
            <a:r>
              <a:rPr sz="950" b="1" i="0">
                <a:solidFill>
                  <a:srgbClr val="1A2130"/>
                </a:solidFill>
                <a:latin typeface="Calibri"/>
              </a:rPr>
              <a:t>3  Rule management  </a:t>
            </a:r>
            <a:r>
              <a:rPr sz="950" b="0" i="0">
                <a:solidFill>
                  <a:srgbClr val="57626B"/>
                </a:solidFill>
                <a:latin typeface="Calibri"/>
              </a:rPr>
              <a:t>Every rule has an ID, owner, threshold and action on failure; rules are stored as code under version control; changes follow DG-PRO-006 Data Change Procedure.</a:t>
            </a:r>
          </a:p>
          <a:p>
            <a:pPr algn="l"/>
            <a:r>
              <a:rPr sz="950" b="1" i="0">
                <a:solidFill>
                  <a:srgbClr val="1A2130"/>
                </a:solidFill>
                <a:latin typeface="Calibri"/>
              </a:rPr>
              <a:t>4  Evidence  </a:t>
            </a:r>
            <a:r>
              <a:rPr sz="950" b="0" i="0">
                <a:solidFill>
                  <a:srgbClr val="57626B"/>
                </a:solidFill>
                <a:latin typeface="Calibri"/>
              </a:rPr>
              <a:t>Rule inventory, daily results, issue records and the monthly scorecard, kept for the period in the Records Retention Schedule.</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21</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D — Example procedure: Exception Procedure</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The step-by-step process behind section 5 of the example policy. Timings are illustrative.</a:t>
            </a:r>
          </a:p>
        </p:txBody>
      </p:sp>
      <p:sp>
        <p:nvSpPr>
          <p:cNvPr id="5" name="Rectangle 4"/>
          <p:cNvSpPr/>
          <p:nvPr/>
        </p:nvSpPr>
        <p:spPr>
          <a:xfrm>
            <a:off x="320040" y="1234440"/>
            <a:ext cx="11548872" cy="51663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graphicFrame>
        <p:nvGraphicFramePr>
          <p:cNvPr id="6" name="Table 5"/>
          <p:cNvGraphicFramePr>
            <a:graphicFrameLocks noGrp="1"/>
          </p:cNvGraphicFramePr>
          <p:nvPr/>
        </p:nvGraphicFramePr>
        <p:xfrm>
          <a:off x="457200" y="1325880"/>
          <a:ext cx="11274552" cy="685800"/>
        </p:xfrm>
        <a:graphic>
          <a:graphicData uri="http://schemas.openxmlformats.org/drawingml/2006/table">
            <a:tbl>
              <a:tblPr firstRow="1" bandRow="1">
                <a:tableStyleId>{5C22544A-7EE6-4342-B048-85BDC9FD1C3A}</a:tableStyleId>
              </a:tblPr>
              <a:tblGrid>
                <a:gridCol w="1879092">
                  <a:extLst>
                    <a:ext uri="{9D8B030D-6E8A-4147-A177-3AD203B41FA5}">
                      <a16:colId xmlns:a16="http://schemas.microsoft.com/office/drawing/2014/main" val="20000"/>
                    </a:ext>
                  </a:extLst>
                </a:gridCol>
                <a:gridCol w="1879092">
                  <a:extLst>
                    <a:ext uri="{9D8B030D-6E8A-4147-A177-3AD203B41FA5}">
                      <a16:colId xmlns:a16="http://schemas.microsoft.com/office/drawing/2014/main" val="20001"/>
                    </a:ext>
                  </a:extLst>
                </a:gridCol>
                <a:gridCol w="1879092">
                  <a:extLst>
                    <a:ext uri="{9D8B030D-6E8A-4147-A177-3AD203B41FA5}">
                      <a16:colId xmlns:a16="http://schemas.microsoft.com/office/drawing/2014/main" val="20002"/>
                    </a:ext>
                  </a:extLst>
                </a:gridCol>
                <a:gridCol w="1879092">
                  <a:extLst>
                    <a:ext uri="{9D8B030D-6E8A-4147-A177-3AD203B41FA5}">
                      <a16:colId xmlns:a16="http://schemas.microsoft.com/office/drawing/2014/main" val="20003"/>
                    </a:ext>
                  </a:extLst>
                </a:gridCol>
                <a:gridCol w="1879092">
                  <a:extLst>
                    <a:ext uri="{9D8B030D-6E8A-4147-A177-3AD203B41FA5}">
                      <a16:colId xmlns:a16="http://schemas.microsoft.com/office/drawing/2014/main" val="20004"/>
                    </a:ext>
                  </a:extLst>
                </a:gridCol>
                <a:gridCol w="1879092">
                  <a:extLst>
                    <a:ext uri="{9D8B030D-6E8A-4147-A177-3AD203B41FA5}">
                      <a16:colId xmlns:a16="http://schemas.microsoft.com/office/drawing/2014/main" val="20005"/>
                    </a:ext>
                  </a:extLst>
                </a:gridCol>
              </a:tblGrid>
              <a:tr h="274320">
                <a:tc>
                  <a:txBody>
                    <a:bodyPr/>
                    <a:lstStyle/>
                    <a:p>
                      <a:pPr algn="l"/>
                      <a:r>
                        <a:rPr sz="850" b="1" i="0">
                          <a:solidFill>
                            <a:srgbClr val="CADCEA"/>
                          </a:solidFill>
                          <a:latin typeface="Calibri"/>
                        </a:rPr>
                        <a:t>DOCUMENT</a:t>
                      </a:r>
                    </a:p>
                  </a:txBody>
                  <a:tcPr marL="73152" marR="73152" marT="36576" marB="36576" anchor="ctr">
                    <a:solidFill>
                      <a:srgbClr val="1A2130"/>
                    </a:solidFill>
                  </a:tcPr>
                </a:tc>
                <a:tc>
                  <a:txBody>
                    <a:bodyPr/>
                    <a:lstStyle/>
                    <a:p>
                      <a:pPr algn="l"/>
                      <a:r>
                        <a:rPr sz="850" b="1" i="0">
                          <a:solidFill>
                            <a:srgbClr val="CADCEA"/>
                          </a:solidFill>
                          <a:latin typeface="Calibri"/>
                        </a:rPr>
                        <a:t>VERSION</a:t>
                      </a:r>
                    </a:p>
                  </a:txBody>
                  <a:tcPr marL="73152" marR="73152" marT="36576" marB="36576" anchor="ctr">
                    <a:solidFill>
                      <a:srgbClr val="1A2130"/>
                    </a:solidFill>
                  </a:tcPr>
                </a:tc>
                <a:tc>
                  <a:txBody>
                    <a:bodyPr/>
                    <a:lstStyle/>
                    <a:p>
                      <a:pPr algn="l"/>
                      <a:r>
                        <a:rPr sz="850" b="1" i="0">
                          <a:solidFill>
                            <a:srgbClr val="CADCEA"/>
                          </a:solidFill>
                          <a:latin typeface="Calibri"/>
                        </a:rPr>
                        <a:t>OWNER</a:t>
                      </a:r>
                    </a:p>
                  </a:txBody>
                  <a:tcPr marL="73152" marR="73152" marT="36576" marB="36576" anchor="ctr">
                    <a:solidFill>
                      <a:srgbClr val="1A2130"/>
                    </a:solidFill>
                  </a:tcPr>
                </a:tc>
                <a:tc>
                  <a:txBody>
                    <a:bodyPr/>
                    <a:lstStyle/>
                    <a:p>
                      <a:pPr algn="l"/>
                      <a:r>
                        <a:rPr sz="850" b="1" i="0">
                          <a:solidFill>
                            <a:srgbClr val="CADCEA"/>
                          </a:solidFill>
                          <a:latin typeface="Calibri"/>
                        </a:rPr>
                        <a:t>APPROVED BY</a:t>
                      </a:r>
                    </a:p>
                  </a:txBody>
                  <a:tcPr marL="73152" marR="73152" marT="36576" marB="36576" anchor="ctr">
                    <a:solidFill>
                      <a:srgbClr val="1A2130"/>
                    </a:solidFill>
                  </a:tcPr>
                </a:tc>
                <a:tc>
                  <a:txBody>
                    <a:bodyPr/>
                    <a:lstStyle/>
                    <a:p>
                      <a:pPr algn="l"/>
                      <a:r>
                        <a:rPr sz="850" b="1" i="0">
                          <a:solidFill>
                            <a:srgbClr val="CADCEA"/>
                          </a:solidFill>
                          <a:latin typeface="Calibri"/>
                        </a:rPr>
                        <a:t>PARENT</a:t>
                      </a:r>
                    </a:p>
                  </a:txBody>
                  <a:tcPr marL="73152" marR="73152" marT="36576" marB="36576" anchor="ctr">
                    <a:solidFill>
                      <a:srgbClr val="1A2130"/>
                    </a:solidFill>
                  </a:tcPr>
                </a:tc>
                <a:tc>
                  <a:txBody>
                    <a:bodyPr/>
                    <a:lstStyle/>
                    <a:p>
                      <a:pPr algn="l"/>
                      <a:r>
                        <a:rPr sz="850" b="1" i="0">
                          <a:solidFill>
                            <a:srgbClr val="CADCEA"/>
                          </a:solidFill>
                          <a:latin typeface="Calibri"/>
                        </a:rPr>
                        <a:t>NEXT REVIEW</a:t>
                      </a:r>
                    </a:p>
                  </a:txBody>
                  <a:tcPr marL="73152" marR="73152" marT="36576" marB="36576" anchor="ctr">
                    <a:solidFill>
                      <a:srgbClr val="1A2130"/>
                    </a:solidFill>
                  </a:tcPr>
                </a:tc>
                <a:extLst>
                  <a:ext uri="{0D108BD9-81ED-4DB2-BD59-A6C34878D82A}">
                    <a16:rowId xmlns:a16="http://schemas.microsoft.com/office/drawing/2014/main" val="10000"/>
                  </a:ext>
                </a:extLst>
              </a:tr>
              <a:tr h="411480">
                <a:tc>
                  <a:txBody>
                    <a:bodyPr/>
                    <a:lstStyle/>
                    <a:p>
                      <a:pPr algn="l"/>
                      <a:r>
                        <a:rPr sz="950" b="0" i="0">
                          <a:solidFill>
                            <a:srgbClr val="57626B"/>
                          </a:solidFill>
                          <a:latin typeface="Calibri"/>
                        </a:rPr>
                        <a:t>DG-PRO-004  Data Policy Exception Procedure</a:t>
                      </a:r>
                    </a:p>
                  </a:txBody>
                  <a:tcPr marL="73152" marR="73152" marT="36576" marB="36576" anchor="ctr">
                    <a:solidFill>
                      <a:srgbClr val="FFFFFF"/>
                    </a:solidFill>
                  </a:tcPr>
                </a:tc>
                <a:tc>
                  <a:txBody>
                    <a:bodyPr/>
                    <a:lstStyle/>
                    <a:p>
                      <a:pPr algn="l"/>
                      <a:r>
                        <a:rPr sz="950" b="0" i="0">
                          <a:solidFill>
                            <a:srgbClr val="57626B"/>
                          </a:solidFill>
                          <a:latin typeface="Calibri"/>
                        </a:rPr>
                        <a:t>1.1</a:t>
                      </a:r>
                    </a:p>
                  </a:txBody>
                  <a:tcPr marL="73152" marR="73152" marT="36576" marB="36576" anchor="ctr">
                    <a:solidFill>
                      <a:srgbClr val="FFFFFF"/>
                    </a:solidFill>
                  </a:tcPr>
                </a:tc>
                <a:tc>
                  <a:txBody>
                    <a:bodyPr/>
                    <a:lstStyle/>
                    <a:p>
                      <a:pPr algn="l"/>
                      <a:r>
                        <a:rPr sz="950" b="0" i="0">
                          <a:solidFill>
                            <a:srgbClr val="57626B"/>
                          </a:solidFill>
                          <a:latin typeface="Calibri"/>
                        </a:rPr>
                        <a:t>Head of Data Governance</a:t>
                      </a:r>
                    </a:p>
                  </a:txBody>
                  <a:tcPr marL="73152" marR="73152" marT="36576" marB="36576" anchor="ctr">
                    <a:solidFill>
                      <a:srgbClr val="FFFFFF"/>
                    </a:solidFill>
                  </a:tcPr>
                </a:tc>
                <a:tc>
                  <a:txBody>
                    <a:bodyPr/>
                    <a:lstStyle/>
                    <a:p>
                      <a:pPr algn="l"/>
                      <a:r>
                        <a:rPr sz="950" b="0" i="0">
                          <a:solidFill>
                            <a:srgbClr val="57626B"/>
                          </a:solidFill>
                          <a:latin typeface="Calibri"/>
                        </a:rPr>
                        <a:t>Chief Data Officer</a:t>
                      </a:r>
                    </a:p>
                  </a:txBody>
                  <a:tcPr marL="73152" marR="73152" marT="36576" marB="36576" anchor="ctr">
                    <a:solidFill>
                      <a:srgbClr val="FFFFFF"/>
                    </a:solidFill>
                  </a:tcPr>
                </a:tc>
                <a:tc>
                  <a:txBody>
                    <a:bodyPr/>
                    <a:lstStyle/>
                    <a:p>
                      <a:pPr algn="l"/>
                      <a:r>
                        <a:rPr sz="950" b="0" i="0">
                          <a:solidFill>
                            <a:srgbClr val="57626B"/>
                          </a:solidFill>
                          <a:latin typeface="Calibri"/>
                        </a:rPr>
                        <a:t>DG-POL-001, section 5</a:t>
                      </a:r>
                    </a:p>
                  </a:txBody>
                  <a:tcPr marL="73152" marR="73152" marT="36576" marB="36576" anchor="ctr">
                    <a:solidFill>
                      <a:srgbClr val="FFFFFF"/>
                    </a:solidFill>
                  </a:tcPr>
                </a:tc>
                <a:tc>
                  <a:txBody>
                    <a:bodyPr/>
                    <a:lstStyle/>
                    <a:p>
                      <a:pPr algn="l"/>
                      <a:r>
                        <a:rPr sz="950" b="0" i="0">
                          <a:solidFill>
                            <a:srgbClr val="57626B"/>
                          </a:solidFill>
                          <a:latin typeface="Calibri"/>
                        </a:rPr>
                        <a:t>March 2026</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48640" y="2103120"/>
            <a:ext cx="11064240" cy="457200"/>
          </a:xfrm>
          <a:prstGeom prst="rect">
            <a:avLst/>
          </a:prstGeom>
          <a:noFill/>
        </p:spPr>
        <p:txBody>
          <a:bodyPr wrap="square" lIns="0" tIns="0" rIns="0" bIns="0" anchor="t">
            <a:spAutoFit/>
          </a:bodyPr>
          <a:lstStyle/>
          <a:p>
            <a:pPr algn="l"/>
            <a:r>
              <a:rPr sz="950" b="1" i="0">
                <a:solidFill>
                  <a:srgbClr val="1A2130"/>
                </a:solidFill>
                <a:latin typeface="Calibri"/>
              </a:rPr>
              <a:t>1  Purpose  </a:t>
            </a:r>
            <a:r>
              <a:rPr sz="950" b="0" i="0">
                <a:solidFill>
                  <a:srgbClr val="57626B"/>
                </a:solidFill>
                <a:latin typeface="Calibri"/>
              </a:rPr>
              <a:t>How a Data Owner requests, and the Bank approves, tracks and closes, an exception to any data governance policy or standard.</a:t>
            </a:r>
          </a:p>
        </p:txBody>
      </p:sp>
      <p:sp>
        <p:nvSpPr>
          <p:cNvPr id="8" name="TextBox 7"/>
          <p:cNvSpPr txBox="1"/>
          <p:nvPr/>
        </p:nvSpPr>
        <p:spPr>
          <a:xfrm>
            <a:off x="548640" y="2560320"/>
            <a:ext cx="11064240" cy="256032"/>
          </a:xfrm>
          <a:prstGeom prst="rect">
            <a:avLst/>
          </a:prstGeom>
          <a:noFill/>
        </p:spPr>
        <p:txBody>
          <a:bodyPr wrap="square" lIns="0" tIns="0" rIns="0" bIns="0" anchor="t">
            <a:spAutoFit/>
          </a:bodyPr>
          <a:lstStyle/>
          <a:p>
            <a:pPr algn="l"/>
            <a:r>
              <a:rPr sz="950" b="1" i="0">
                <a:solidFill>
                  <a:srgbClr val="1A2130"/>
                </a:solidFill>
                <a:latin typeface="Calibri"/>
              </a:rPr>
              <a:t>2  Steps</a:t>
            </a:r>
          </a:p>
        </p:txBody>
      </p:sp>
      <p:graphicFrame>
        <p:nvGraphicFramePr>
          <p:cNvPr id="9" name="Table 8"/>
          <p:cNvGraphicFramePr>
            <a:graphicFrameLocks noGrp="1"/>
          </p:cNvGraphicFramePr>
          <p:nvPr/>
        </p:nvGraphicFramePr>
        <p:xfrm>
          <a:off x="548640" y="2834640"/>
          <a:ext cx="11091672" cy="3026664"/>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274320">
                <a:tc>
                  <a:txBody>
                    <a:bodyPr/>
                    <a:lstStyle/>
                    <a:p>
                      <a:pPr algn="l"/>
                      <a:r>
                        <a:rPr sz="850" b="1" i="0">
                          <a:solidFill>
                            <a:srgbClr val="CADCEA"/>
                          </a:solidFill>
                          <a:latin typeface="Calibri"/>
                        </a:rPr>
                        <a:t>STEP</a:t>
                      </a:r>
                    </a:p>
                  </a:txBody>
                  <a:tcPr marL="73152" marR="73152" marT="36576" marB="36576" anchor="ctr">
                    <a:solidFill>
                      <a:srgbClr val="1A2130"/>
                    </a:solidFill>
                  </a:tcPr>
                </a:tc>
                <a:tc>
                  <a:txBody>
                    <a:bodyPr/>
                    <a:lstStyle/>
                    <a:p>
                      <a:pPr algn="l"/>
                      <a:r>
                        <a:rPr sz="850" b="1" i="0">
                          <a:solidFill>
                            <a:srgbClr val="CADCEA"/>
                          </a:solidFill>
                          <a:latin typeface="Calibri"/>
                        </a:rPr>
                        <a:t>ACTION</a:t>
                      </a:r>
                    </a:p>
                  </a:txBody>
                  <a:tcPr marL="73152" marR="73152" marT="36576" marB="36576" anchor="ctr">
                    <a:solidFill>
                      <a:srgbClr val="1A2130"/>
                    </a:solidFill>
                  </a:tcPr>
                </a:tc>
                <a:tc>
                  <a:txBody>
                    <a:bodyPr/>
                    <a:lstStyle/>
                    <a:p>
                      <a:pPr algn="l"/>
                      <a:r>
                        <a:rPr sz="850" b="1" i="0">
                          <a:solidFill>
                            <a:srgbClr val="CADCEA"/>
                          </a:solidFill>
                          <a:latin typeface="Calibri"/>
                        </a:rPr>
                        <a:t>RESPONSIBLE</a:t>
                      </a:r>
                    </a:p>
                  </a:txBody>
                  <a:tcPr marL="73152" marR="73152" marT="36576" marB="36576" anchor="ctr">
                    <a:solidFill>
                      <a:srgbClr val="1A2130"/>
                    </a:solidFill>
                  </a:tcPr>
                </a:tc>
                <a:tc>
                  <a:txBody>
                    <a:bodyPr/>
                    <a:lstStyle/>
                    <a:p>
                      <a:pPr algn="l"/>
                      <a:r>
                        <a:rPr sz="850" b="1" i="0">
                          <a:solidFill>
                            <a:srgbClr val="CADCEA"/>
                          </a:solidFill>
                          <a:latin typeface="Calibri"/>
                        </a:rPr>
                        <a:t>TIMING</a:t>
                      </a:r>
                    </a:p>
                  </a:txBody>
                  <a:tcPr marL="73152" marR="73152" marT="36576" marB="36576" anchor="ctr">
                    <a:solidFill>
                      <a:srgbClr val="1A2130"/>
                    </a:solidFill>
                  </a:tcPr>
                </a:tc>
                <a:tc>
                  <a:txBody>
                    <a:bodyPr/>
                    <a:lstStyle/>
                    <a:p>
                      <a:pPr algn="l"/>
                      <a:r>
                        <a:rPr sz="850" b="1" i="0">
                          <a:solidFill>
                            <a:srgbClr val="CADCEA"/>
                          </a:solidFill>
                          <a:latin typeface="Calibri"/>
                        </a:rPr>
                        <a:t>RECORD</a:t>
                      </a:r>
                    </a:p>
                  </a:txBody>
                  <a:tcPr marL="73152" marR="73152" marT="36576" marB="36576" anchor="ctr">
                    <a:solidFill>
                      <a:srgbClr val="1A2130"/>
                    </a:solidFill>
                  </a:tcPr>
                </a:tc>
                <a:extLst>
                  <a:ext uri="{0D108BD9-81ED-4DB2-BD59-A6C34878D82A}">
                    <a16:rowId xmlns:a16="http://schemas.microsoft.com/office/drawing/2014/main" val="10000"/>
                  </a:ext>
                </a:extLst>
              </a:tr>
              <a:tr h="393192">
                <a:tc>
                  <a:txBody>
                    <a:bodyPr/>
                    <a:lstStyle/>
                    <a:p>
                      <a:pPr algn="l"/>
                      <a:r>
                        <a:rPr sz="900" b="1" i="0">
                          <a:solidFill>
                            <a:srgbClr val="1A2130"/>
                          </a:solidFill>
                          <a:latin typeface="Calibri"/>
                        </a:rPr>
                        <a:t>1</a:t>
                      </a:r>
                    </a:p>
                  </a:txBody>
                  <a:tcPr marL="73152" marR="73152" marT="36576" marB="36576" anchor="ctr">
                    <a:solidFill>
                      <a:srgbClr val="FFFFFF"/>
                    </a:solidFill>
                  </a:tcPr>
                </a:tc>
                <a:tc>
                  <a:txBody>
                    <a:bodyPr/>
                    <a:lstStyle/>
                    <a:p>
                      <a:pPr algn="l"/>
                      <a:r>
                        <a:rPr sz="900" b="0" i="0">
                          <a:solidFill>
                            <a:srgbClr val="57626B"/>
                          </a:solidFill>
                          <a:latin typeface="Calibri"/>
                        </a:rPr>
                        <a:t>Identify a requirement that cannot be met; do not wait for an audit to find it</a:t>
                      </a:r>
                    </a:p>
                  </a:txBody>
                  <a:tcPr marL="73152" marR="73152" marT="36576" marB="36576" anchor="ctr">
                    <a:solidFill>
                      <a:srgbClr val="FFFFFF"/>
                    </a:solidFill>
                  </a:tcPr>
                </a:tc>
                <a:tc>
                  <a:txBody>
                    <a:bodyPr/>
                    <a:lstStyle/>
                    <a:p>
                      <a:pPr algn="l"/>
                      <a:r>
                        <a:rPr sz="900" b="0" i="0">
                          <a:solidFill>
                            <a:srgbClr val="57626B"/>
                          </a:solidFill>
                          <a:latin typeface="Calibri"/>
                        </a:rPr>
                        <a:t>Data Owner</a:t>
                      </a:r>
                    </a:p>
                  </a:txBody>
                  <a:tcPr marL="73152" marR="73152" marT="36576" marB="36576" anchor="ctr">
                    <a:solidFill>
                      <a:srgbClr val="FFFFFF"/>
                    </a:solidFill>
                  </a:tcPr>
                </a:tc>
                <a:tc>
                  <a:txBody>
                    <a:bodyPr/>
                    <a:lstStyle/>
                    <a:p>
                      <a:pPr algn="l"/>
                      <a:r>
                        <a:rPr sz="900" b="0" i="0">
                          <a:solidFill>
                            <a:srgbClr val="57626B"/>
                          </a:solidFill>
                          <a:latin typeface="Calibri"/>
                        </a:rPr>
                        <a:t>When the gap is known</a:t>
                      </a:r>
                    </a:p>
                  </a:txBody>
                  <a:tcPr marL="73152" marR="73152" marT="36576" marB="36576" anchor="ctr">
                    <a:solidFill>
                      <a:srgbClr val="FFFFFF"/>
                    </a:solidFill>
                  </a:tcPr>
                </a:tc>
                <a:tc>
                  <a:txBody>
                    <a:bodyPr/>
                    <a:lstStyle/>
                    <a:p>
                      <a:pPr algn="l"/>
                      <a:r>
                        <a:rPr sz="900" b="0" i="0">
                          <a:solidFill>
                            <a:srgbClr val="57626B"/>
                          </a:solidFill>
                          <a:latin typeface="Calibri"/>
                        </a:rPr>
                        <a:t>—</a:t>
                      </a:r>
                    </a:p>
                  </a:txBody>
                  <a:tcPr marL="73152" marR="73152" marT="36576" marB="36576" anchor="ctr">
                    <a:solidFill>
                      <a:srgbClr val="FFFFFF"/>
                    </a:solidFill>
                  </a:tcPr>
                </a:tc>
                <a:extLst>
                  <a:ext uri="{0D108BD9-81ED-4DB2-BD59-A6C34878D82A}">
                    <a16:rowId xmlns:a16="http://schemas.microsoft.com/office/drawing/2014/main" val="10001"/>
                  </a:ext>
                </a:extLst>
              </a:tr>
              <a:tr h="393192">
                <a:tc>
                  <a:txBody>
                    <a:bodyPr/>
                    <a:lstStyle/>
                    <a:p>
                      <a:pPr algn="l"/>
                      <a:r>
                        <a:rPr sz="900" b="1" i="0">
                          <a:solidFill>
                            <a:srgbClr val="1A2130"/>
                          </a:solidFill>
                          <a:latin typeface="Calibri"/>
                        </a:rPr>
                        <a:t>2</a:t>
                      </a:r>
                    </a:p>
                  </a:txBody>
                  <a:tcPr marL="73152" marR="73152" marT="36576" marB="36576" anchor="ctr">
                    <a:solidFill>
                      <a:srgbClr val="F4F6F2"/>
                    </a:solidFill>
                  </a:tcPr>
                </a:tc>
                <a:tc>
                  <a:txBody>
                    <a:bodyPr/>
                    <a:lstStyle/>
                    <a:p>
                      <a:pPr algn="l"/>
                      <a:r>
                        <a:rPr sz="900" b="0" i="0">
                          <a:solidFill>
                            <a:srgbClr val="57626B"/>
                          </a:solidFill>
                          <a:latin typeface="Calibri"/>
                        </a:rPr>
                        <a:t>Complete the exception form: requirement, reason, risk, compensating control, remediation plan, expiry date</a:t>
                      </a:r>
                    </a:p>
                  </a:txBody>
                  <a:tcPr marL="73152" marR="73152" marT="36576" marB="36576" anchor="ctr">
                    <a:solidFill>
                      <a:srgbClr val="F4F6F2"/>
                    </a:solidFill>
                  </a:tcPr>
                </a:tc>
                <a:tc>
                  <a:txBody>
                    <a:bodyPr/>
                    <a:lstStyle/>
                    <a:p>
                      <a:pPr algn="l"/>
                      <a:r>
                        <a:rPr sz="900" b="0" i="0">
                          <a:solidFill>
                            <a:srgbClr val="57626B"/>
                          </a:solidFill>
                          <a:latin typeface="Calibri"/>
                        </a:rPr>
                        <a:t>Data Owner / Steward</a:t>
                      </a:r>
                    </a:p>
                  </a:txBody>
                  <a:tcPr marL="73152" marR="73152" marT="36576" marB="36576" anchor="ctr">
                    <a:solidFill>
                      <a:srgbClr val="F4F6F2"/>
                    </a:solidFill>
                  </a:tcPr>
                </a:tc>
                <a:tc>
                  <a:txBody>
                    <a:bodyPr/>
                    <a:lstStyle/>
                    <a:p>
                      <a:pPr algn="l"/>
                      <a:r>
                        <a:rPr sz="900" b="0" i="0">
                          <a:solidFill>
                            <a:srgbClr val="57626B"/>
                          </a:solidFill>
                          <a:latin typeface="Calibri"/>
                        </a:rPr>
                        <a:t>Within 5 business days</a:t>
                      </a:r>
                    </a:p>
                  </a:txBody>
                  <a:tcPr marL="73152" marR="73152" marT="36576" marB="36576" anchor="ctr">
                    <a:solidFill>
                      <a:srgbClr val="F4F6F2"/>
                    </a:solidFill>
                  </a:tcPr>
                </a:tc>
                <a:tc>
                  <a:txBody>
                    <a:bodyPr/>
                    <a:lstStyle/>
                    <a:p>
                      <a:pPr algn="l"/>
                      <a:r>
                        <a:rPr sz="900" b="0" i="0">
                          <a:solidFill>
                            <a:srgbClr val="57626B"/>
                          </a:solidFill>
                          <a:latin typeface="Calibri"/>
                        </a:rPr>
                        <a:t>GRC exception form</a:t>
                      </a:r>
                    </a:p>
                  </a:txBody>
                  <a:tcPr marL="73152" marR="73152" marT="36576" marB="36576" anchor="ctr">
                    <a:solidFill>
                      <a:srgbClr val="F4F6F2"/>
                    </a:solidFill>
                  </a:tcPr>
                </a:tc>
                <a:extLst>
                  <a:ext uri="{0D108BD9-81ED-4DB2-BD59-A6C34878D82A}">
                    <a16:rowId xmlns:a16="http://schemas.microsoft.com/office/drawing/2014/main" val="10002"/>
                  </a:ext>
                </a:extLst>
              </a:tr>
              <a:tr h="393192">
                <a:tc>
                  <a:txBody>
                    <a:bodyPr/>
                    <a:lstStyle/>
                    <a:p>
                      <a:pPr algn="l"/>
                      <a:r>
                        <a:rPr sz="900" b="1" i="0">
                          <a:solidFill>
                            <a:srgbClr val="1A2130"/>
                          </a:solidFill>
                          <a:latin typeface="Calibri"/>
                        </a:rPr>
                        <a:t>3</a:t>
                      </a:r>
                    </a:p>
                  </a:txBody>
                  <a:tcPr marL="73152" marR="73152" marT="36576" marB="36576" anchor="ctr">
                    <a:solidFill>
                      <a:srgbClr val="FFFFFF"/>
                    </a:solidFill>
                  </a:tcPr>
                </a:tc>
                <a:tc>
                  <a:txBody>
                    <a:bodyPr/>
                    <a:lstStyle/>
                    <a:p>
                      <a:pPr algn="l"/>
                      <a:r>
                        <a:rPr sz="900" b="0" i="0">
                          <a:solidFill>
                            <a:srgbClr val="57626B"/>
                          </a:solidFill>
                          <a:latin typeface="Calibri"/>
                        </a:rPr>
                        <a:t>Rate the risk (low, medium, high) and test the compensating control</a:t>
                      </a:r>
                    </a:p>
                  </a:txBody>
                  <a:tcPr marL="73152" marR="73152" marT="36576" marB="36576" anchor="ctr">
                    <a:solidFill>
                      <a:srgbClr val="FFFFFF"/>
                    </a:solidFill>
                  </a:tcPr>
                </a:tc>
                <a:tc>
                  <a:txBody>
                    <a:bodyPr/>
                    <a:lstStyle/>
                    <a:p>
                      <a:pPr algn="l"/>
                      <a:r>
                        <a:rPr sz="900" b="0" i="0">
                          <a:solidFill>
                            <a:srgbClr val="57626B"/>
                          </a:solidFill>
                          <a:latin typeface="Calibri"/>
                        </a:rPr>
                        <a:t>Data Governance Office</a:t>
                      </a:r>
                    </a:p>
                  </a:txBody>
                  <a:tcPr marL="73152" marR="73152" marT="36576" marB="36576" anchor="ctr">
                    <a:solidFill>
                      <a:srgbClr val="FFFFFF"/>
                    </a:solidFill>
                  </a:tcPr>
                </a:tc>
                <a:tc>
                  <a:txBody>
                    <a:bodyPr/>
                    <a:lstStyle/>
                    <a:p>
                      <a:pPr algn="l"/>
                      <a:r>
                        <a:rPr sz="900" b="0" i="0">
                          <a:solidFill>
                            <a:srgbClr val="57626B"/>
                          </a:solidFill>
                          <a:latin typeface="Calibri"/>
                        </a:rPr>
                        <a:t>Within 5 business days</a:t>
                      </a:r>
                    </a:p>
                  </a:txBody>
                  <a:tcPr marL="73152" marR="73152" marT="36576" marB="36576" anchor="ctr">
                    <a:solidFill>
                      <a:srgbClr val="FFFFFF"/>
                    </a:solidFill>
                  </a:tcPr>
                </a:tc>
                <a:tc>
                  <a:txBody>
                    <a:bodyPr/>
                    <a:lstStyle/>
                    <a:p>
                      <a:pPr algn="l"/>
                      <a:r>
                        <a:rPr sz="900" b="0" i="0">
                          <a:solidFill>
                            <a:srgbClr val="57626B"/>
                          </a:solidFill>
                          <a:latin typeface="Calibri"/>
                        </a:rPr>
                        <a:t>GRC risk assessment</a:t>
                      </a:r>
                    </a:p>
                  </a:txBody>
                  <a:tcPr marL="73152" marR="73152" marT="36576" marB="36576" anchor="ctr">
                    <a:solidFill>
                      <a:srgbClr val="FFFFFF"/>
                    </a:solidFill>
                  </a:tcPr>
                </a:tc>
                <a:extLst>
                  <a:ext uri="{0D108BD9-81ED-4DB2-BD59-A6C34878D82A}">
                    <a16:rowId xmlns:a16="http://schemas.microsoft.com/office/drawing/2014/main" val="10003"/>
                  </a:ext>
                </a:extLst>
              </a:tr>
              <a:tr h="393192">
                <a:tc>
                  <a:txBody>
                    <a:bodyPr/>
                    <a:lstStyle/>
                    <a:p>
                      <a:pPr algn="l"/>
                      <a:r>
                        <a:rPr sz="900" b="1" i="0">
                          <a:solidFill>
                            <a:srgbClr val="1A2130"/>
                          </a:solidFill>
                          <a:latin typeface="Calibri"/>
                        </a:rPr>
                        <a:t>4</a:t>
                      </a:r>
                    </a:p>
                  </a:txBody>
                  <a:tcPr marL="73152" marR="73152" marT="36576" marB="36576" anchor="ctr">
                    <a:solidFill>
                      <a:srgbClr val="F4F6F2"/>
                    </a:solidFill>
                  </a:tcPr>
                </a:tc>
                <a:tc>
                  <a:txBody>
                    <a:bodyPr/>
                    <a:lstStyle/>
                    <a:p>
                      <a:pPr algn="l"/>
                      <a:r>
                        <a:rPr sz="900" b="0" i="0">
                          <a:solidFill>
                            <a:srgbClr val="57626B"/>
                          </a:solidFill>
                          <a:latin typeface="Calibri"/>
                        </a:rPr>
                        <a:t>For high risk only: independent review</a:t>
                      </a:r>
                    </a:p>
                  </a:txBody>
                  <a:tcPr marL="73152" marR="73152" marT="36576" marB="36576" anchor="ctr">
                    <a:solidFill>
                      <a:srgbClr val="F4F6F2"/>
                    </a:solidFill>
                  </a:tcPr>
                </a:tc>
                <a:tc>
                  <a:txBody>
                    <a:bodyPr/>
                    <a:lstStyle/>
                    <a:p>
                      <a:pPr algn="l"/>
                      <a:r>
                        <a:rPr sz="900" b="0" i="0">
                          <a:solidFill>
                            <a:srgbClr val="57626B"/>
                          </a:solidFill>
                          <a:latin typeface="Calibri"/>
                        </a:rPr>
                        <a:t>2nd line risk</a:t>
                      </a:r>
                    </a:p>
                  </a:txBody>
                  <a:tcPr marL="73152" marR="73152" marT="36576" marB="36576" anchor="ctr">
                    <a:solidFill>
                      <a:srgbClr val="F4F6F2"/>
                    </a:solidFill>
                  </a:tcPr>
                </a:tc>
                <a:tc>
                  <a:txBody>
                    <a:bodyPr/>
                    <a:lstStyle/>
                    <a:p>
                      <a:pPr algn="l"/>
                      <a:r>
                        <a:rPr sz="900" b="0" i="0">
                          <a:solidFill>
                            <a:srgbClr val="57626B"/>
                          </a:solidFill>
                          <a:latin typeface="Calibri"/>
                        </a:rPr>
                        <a:t>Within 5 business days</a:t>
                      </a:r>
                    </a:p>
                  </a:txBody>
                  <a:tcPr marL="73152" marR="73152" marT="36576" marB="36576" anchor="ctr">
                    <a:solidFill>
                      <a:srgbClr val="F4F6F2"/>
                    </a:solidFill>
                  </a:tcPr>
                </a:tc>
                <a:tc>
                  <a:txBody>
                    <a:bodyPr/>
                    <a:lstStyle/>
                    <a:p>
                      <a:pPr algn="l"/>
                      <a:r>
                        <a:rPr sz="900" b="0" i="0">
                          <a:solidFill>
                            <a:srgbClr val="57626B"/>
                          </a:solidFill>
                          <a:latin typeface="Calibri"/>
                        </a:rPr>
                        <a:t>GRC review note</a:t>
                      </a:r>
                    </a:p>
                  </a:txBody>
                  <a:tcPr marL="73152" marR="73152" marT="36576" marB="36576" anchor="ctr">
                    <a:solidFill>
                      <a:srgbClr val="F4F6F2"/>
                    </a:solidFill>
                  </a:tcPr>
                </a:tc>
                <a:extLst>
                  <a:ext uri="{0D108BD9-81ED-4DB2-BD59-A6C34878D82A}">
                    <a16:rowId xmlns:a16="http://schemas.microsoft.com/office/drawing/2014/main" val="10004"/>
                  </a:ext>
                </a:extLst>
              </a:tr>
              <a:tr h="393192">
                <a:tc>
                  <a:txBody>
                    <a:bodyPr/>
                    <a:lstStyle/>
                    <a:p>
                      <a:pPr algn="l"/>
                      <a:r>
                        <a:rPr sz="900" b="1" i="0">
                          <a:solidFill>
                            <a:srgbClr val="1A2130"/>
                          </a:solidFill>
                          <a:latin typeface="Calibri"/>
                        </a:rPr>
                        <a:t>5</a:t>
                      </a:r>
                    </a:p>
                  </a:txBody>
                  <a:tcPr marL="73152" marR="73152" marT="36576" marB="36576" anchor="ctr">
                    <a:solidFill>
                      <a:srgbClr val="FFFFFF"/>
                    </a:solidFill>
                  </a:tcPr>
                </a:tc>
                <a:tc>
                  <a:txBody>
                    <a:bodyPr/>
                    <a:lstStyle/>
                    <a:p>
                      <a:pPr algn="l"/>
                      <a:r>
                        <a:rPr sz="900" b="0" i="0">
                          <a:solidFill>
                            <a:srgbClr val="57626B"/>
                          </a:solidFill>
                          <a:latin typeface="Calibri"/>
                        </a:rPr>
                        <a:t>Approve or reject: low by Data Owner; medium by Council; high by Executive Data Committee</a:t>
                      </a:r>
                    </a:p>
                  </a:txBody>
                  <a:tcPr marL="73152" marR="73152" marT="36576" marB="36576" anchor="ctr">
                    <a:solidFill>
                      <a:srgbClr val="FFFFFF"/>
                    </a:solidFill>
                  </a:tcPr>
                </a:tc>
                <a:tc>
                  <a:txBody>
                    <a:bodyPr/>
                    <a:lstStyle/>
                    <a:p>
                      <a:pPr algn="l"/>
                      <a:r>
                        <a:rPr sz="900" b="0" i="0">
                          <a:solidFill>
                            <a:srgbClr val="57626B"/>
                          </a:solidFill>
                          <a:latin typeface="Calibri"/>
                        </a:rPr>
                        <a:t>Approver per level</a:t>
                      </a:r>
                    </a:p>
                  </a:txBody>
                  <a:tcPr marL="73152" marR="73152" marT="36576" marB="36576" anchor="ctr">
                    <a:solidFill>
                      <a:srgbClr val="FFFFFF"/>
                    </a:solidFill>
                  </a:tcPr>
                </a:tc>
                <a:tc>
                  <a:txBody>
                    <a:bodyPr/>
                    <a:lstStyle/>
                    <a:p>
                      <a:pPr algn="l"/>
                      <a:r>
                        <a:rPr sz="900" b="0" i="0">
                          <a:solidFill>
                            <a:srgbClr val="57626B"/>
                          </a:solidFill>
                          <a:latin typeface="Calibri"/>
                        </a:rPr>
                        <a:t>Next scheduled meeting</a:t>
                      </a:r>
                    </a:p>
                  </a:txBody>
                  <a:tcPr marL="73152" marR="73152" marT="36576" marB="36576" anchor="ctr">
                    <a:solidFill>
                      <a:srgbClr val="FFFFFF"/>
                    </a:solidFill>
                  </a:tcPr>
                </a:tc>
                <a:tc>
                  <a:txBody>
                    <a:bodyPr/>
                    <a:lstStyle/>
                    <a:p>
                      <a:pPr algn="l"/>
                      <a:r>
                        <a:rPr sz="900" b="0" i="0">
                          <a:solidFill>
                            <a:srgbClr val="57626B"/>
                          </a:solidFill>
                          <a:latin typeface="Calibri"/>
                        </a:rPr>
                        <a:t>Signed approval</a:t>
                      </a:r>
                    </a:p>
                  </a:txBody>
                  <a:tcPr marL="73152" marR="73152" marT="36576" marB="36576" anchor="ctr">
                    <a:solidFill>
                      <a:srgbClr val="FFFFFF"/>
                    </a:solidFill>
                  </a:tcPr>
                </a:tc>
                <a:extLst>
                  <a:ext uri="{0D108BD9-81ED-4DB2-BD59-A6C34878D82A}">
                    <a16:rowId xmlns:a16="http://schemas.microsoft.com/office/drawing/2014/main" val="10005"/>
                  </a:ext>
                </a:extLst>
              </a:tr>
              <a:tr h="393192">
                <a:tc>
                  <a:txBody>
                    <a:bodyPr/>
                    <a:lstStyle/>
                    <a:p>
                      <a:pPr algn="l"/>
                      <a:r>
                        <a:rPr sz="900" b="1" i="0">
                          <a:solidFill>
                            <a:srgbClr val="1A2130"/>
                          </a:solidFill>
                          <a:latin typeface="Calibri"/>
                        </a:rPr>
                        <a:t>6</a:t>
                      </a:r>
                    </a:p>
                  </a:txBody>
                  <a:tcPr marL="73152" marR="73152" marT="36576" marB="36576" anchor="ctr">
                    <a:solidFill>
                      <a:srgbClr val="F4F6F2"/>
                    </a:solidFill>
                  </a:tcPr>
                </a:tc>
                <a:tc>
                  <a:txBody>
                    <a:bodyPr/>
                    <a:lstStyle/>
                    <a:p>
                      <a:pPr algn="l"/>
                      <a:r>
                        <a:rPr sz="900" b="0" i="0">
                          <a:solidFill>
                            <a:srgbClr val="57626B"/>
                          </a:solidFill>
                          <a:latin typeface="Calibri"/>
                        </a:rPr>
                        <a:t>Track remediation monthly; warn the owner 30 days before expiry</a:t>
                      </a:r>
                    </a:p>
                  </a:txBody>
                  <a:tcPr marL="73152" marR="73152" marT="36576" marB="36576" anchor="ctr">
                    <a:solidFill>
                      <a:srgbClr val="F4F6F2"/>
                    </a:solidFill>
                  </a:tcPr>
                </a:tc>
                <a:tc>
                  <a:txBody>
                    <a:bodyPr/>
                    <a:lstStyle/>
                    <a:p>
                      <a:pPr algn="l"/>
                      <a:r>
                        <a:rPr sz="900" b="0" i="0">
                          <a:solidFill>
                            <a:srgbClr val="57626B"/>
                          </a:solidFill>
                          <a:latin typeface="Calibri"/>
                        </a:rPr>
                        <a:t>Data Governance Office</a:t>
                      </a:r>
                    </a:p>
                  </a:txBody>
                  <a:tcPr marL="73152" marR="73152" marT="36576" marB="36576" anchor="ctr">
                    <a:solidFill>
                      <a:srgbClr val="F4F6F2"/>
                    </a:solidFill>
                  </a:tcPr>
                </a:tc>
                <a:tc>
                  <a:txBody>
                    <a:bodyPr/>
                    <a:lstStyle/>
                    <a:p>
                      <a:pPr algn="l"/>
                      <a:r>
                        <a:rPr sz="900" b="0" i="0">
                          <a:solidFill>
                            <a:srgbClr val="57626B"/>
                          </a:solidFill>
                          <a:latin typeface="Calibri"/>
                        </a:rPr>
                        <a:t>Monthly</a:t>
                      </a:r>
                    </a:p>
                  </a:txBody>
                  <a:tcPr marL="73152" marR="73152" marT="36576" marB="36576" anchor="ctr">
                    <a:solidFill>
                      <a:srgbClr val="F4F6F2"/>
                    </a:solidFill>
                  </a:tcPr>
                </a:tc>
                <a:tc>
                  <a:txBody>
                    <a:bodyPr/>
                    <a:lstStyle/>
                    <a:p>
                      <a:pPr algn="l"/>
                      <a:r>
                        <a:rPr sz="900" b="0" i="0">
                          <a:solidFill>
                            <a:srgbClr val="57626B"/>
                          </a:solidFill>
                          <a:latin typeface="Calibri"/>
                        </a:rPr>
                        <a:t>Exception register</a:t>
                      </a:r>
                    </a:p>
                  </a:txBody>
                  <a:tcPr marL="73152" marR="73152" marT="36576" marB="36576" anchor="ctr">
                    <a:solidFill>
                      <a:srgbClr val="F4F6F2"/>
                    </a:solidFill>
                  </a:tcPr>
                </a:tc>
                <a:extLst>
                  <a:ext uri="{0D108BD9-81ED-4DB2-BD59-A6C34878D82A}">
                    <a16:rowId xmlns:a16="http://schemas.microsoft.com/office/drawing/2014/main" val="10006"/>
                  </a:ext>
                </a:extLst>
              </a:tr>
              <a:tr h="393192">
                <a:tc>
                  <a:txBody>
                    <a:bodyPr/>
                    <a:lstStyle/>
                    <a:p>
                      <a:pPr algn="l"/>
                      <a:r>
                        <a:rPr sz="900" b="1" i="0">
                          <a:solidFill>
                            <a:srgbClr val="1A2130"/>
                          </a:solidFill>
                          <a:latin typeface="Calibri"/>
                        </a:rPr>
                        <a:t>7</a:t>
                      </a:r>
                    </a:p>
                  </a:txBody>
                  <a:tcPr marL="73152" marR="73152" marT="36576" marB="36576" anchor="ctr">
                    <a:solidFill>
                      <a:srgbClr val="FFFFFF"/>
                    </a:solidFill>
                  </a:tcPr>
                </a:tc>
                <a:tc>
                  <a:txBody>
                    <a:bodyPr/>
                    <a:lstStyle/>
                    <a:p>
                      <a:pPr algn="l"/>
                      <a:r>
                        <a:rPr sz="900" b="0" i="0">
                          <a:solidFill>
                            <a:srgbClr val="57626B"/>
                          </a:solidFill>
                          <a:latin typeface="Calibri"/>
                        </a:rPr>
                        <a:t>Close with evidence of remediation, or renew once (high risk); an expired exception is escalated as a breach</a:t>
                      </a:r>
                    </a:p>
                  </a:txBody>
                  <a:tcPr marL="73152" marR="73152" marT="36576" marB="36576" anchor="ctr">
                    <a:solidFill>
                      <a:srgbClr val="FFFFFF"/>
                    </a:solidFill>
                  </a:tcPr>
                </a:tc>
                <a:tc>
                  <a:txBody>
                    <a:bodyPr/>
                    <a:lstStyle/>
                    <a:p>
                      <a:pPr algn="l"/>
                      <a:r>
                        <a:rPr sz="900" b="0" i="0">
                          <a:solidFill>
                            <a:srgbClr val="57626B"/>
                          </a:solidFill>
                          <a:latin typeface="Calibri"/>
                        </a:rPr>
                        <a:t>Data Owner / DGO</a:t>
                      </a:r>
                    </a:p>
                  </a:txBody>
                  <a:tcPr marL="73152" marR="73152" marT="36576" marB="36576" anchor="ctr">
                    <a:solidFill>
                      <a:srgbClr val="FFFFFF"/>
                    </a:solidFill>
                  </a:tcPr>
                </a:tc>
                <a:tc>
                  <a:txBody>
                    <a:bodyPr/>
                    <a:lstStyle/>
                    <a:p>
                      <a:pPr algn="l"/>
                      <a:r>
                        <a:rPr sz="900" b="0" i="0">
                          <a:solidFill>
                            <a:srgbClr val="57626B"/>
                          </a:solidFill>
                          <a:latin typeface="Calibri"/>
                        </a:rPr>
                        <a:t>By expiry date</a:t>
                      </a:r>
                    </a:p>
                  </a:txBody>
                  <a:tcPr marL="73152" marR="73152" marT="36576" marB="36576" anchor="ctr">
                    <a:solidFill>
                      <a:srgbClr val="FFFFFF"/>
                    </a:solidFill>
                  </a:tcPr>
                </a:tc>
                <a:tc>
                  <a:txBody>
                    <a:bodyPr/>
                    <a:lstStyle/>
                    <a:p>
                      <a:pPr algn="l"/>
                      <a:r>
                        <a:rPr sz="900" b="0" i="0">
                          <a:solidFill>
                            <a:srgbClr val="57626B"/>
                          </a:solidFill>
                          <a:latin typeface="Calibri"/>
                        </a:rPr>
                        <a:t>Closure evidence</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548640" y="5952744"/>
            <a:ext cx="11064240" cy="356616"/>
          </a:xfrm>
          <a:prstGeom prst="rect">
            <a:avLst/>
          </a:prstGeom>
          <a:noFill/>
        </p:spPr>
        <p:txBody>
          <a:bodyPr wrap="square" lIns="0" tIns="0" rIns="0" bIns="0" anchor="t">
            <a:spAutoFit/>
          </a:bodyPr>
          <a:lstStyle/>
          <a:p>
            <a:pPr algn="l"/>
            <a:r>
              <a:rPr sz="950" b="1" i="0">
                <a:solidFill>
                  <a:srgbClr val="1A2130"/>
                </a:solidFill>
                <a:latin typeface="Calibri"/>
              </a:rPr>
              <a:t>3  Evidence  </a:t>
            </a:r>
            <a:r>
              <a:rPr sz="950" b="0" i="0">
                <a:solidFill>
                  <a:srgbClr val="57626B"/>
                </a:solidFill>
                <a:latin typeface="Calibri"/>
              </a:rPr>
              <a:t>the exception register, approvals and closure evidence are reported quarterly to the Executive Data Committee and made available to Internal Audit on request.</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22</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E — Example procedure: New CDE Registration</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How a new critical data element goes from proposal to published. Timings are illustrative.</a:t>
            </a:r>
          </a:p>
        </p:txBody>
      </p:sp>
      <p:sp>
        <p:nvSpPr>
          <p:cNvPr id="5" name="Rectangle 4"/>
          <p:cNvSpPr/>
          <p:nvPr/>
        </p:nvSpPr>
        <p:spPr>
          <a:xfrm>
            <a:off x="320040" y="1234440"/>
            <a:ext cx="11548872" cy="51663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graphicFrame>
        <p:nvGraphicFramePr>
          <p:cNvPr id="6" name="Table 5"/>
          <p:cNvGraphicFramePr>
            <a:graphicFrameLocks noGrp="1"/>
          </p:cNvGraphicFramePr>
          <p:nvPr/>
        </p:nvGraphicFramePr>
        <p:xfrm>
          <a:off x="457200" y="1325880"/>
          <a:ext cx="11274552" cy="685800"/>
        </p:xfrm>
        <a:graphic>
          <a:graphicData uri="http://schemas.openxmlformats.org/drawingml/2006/table">
            <a:tbl>
              <a:tblPr firstRow="1" bandRow="1">
                <a:tableStyleId>{5C22544A-7EE6-4342-B048-85BDC9FD1C3A}</a:tableStyleId>
              </a:tblPr>
              <a:tblGrid>
                <a:gridCol w="1879092">
                  <a:extLst>
                    <a:ext uri="{9D8B030D-6E8A-4147-A177-3AD203B41FA5}">
                      <a16:colId xmlns:a16="http://schemas.microsoft.com/office/drawing/2014/main" val="20000"/>
                    </a:ext>
                  </a:extLst>
                </a:gridCol>
                <a:gridCol w="1879092">
                  <a:extLst>
                    <a:ext uri="{9D8B030D-6E8A-4147-A177-3AD203B41FA5}">
                      <a16:colId xmlns:a16="http://schemas.microsoft.com/office/drawing/2014/main" val="20001"/>
                    </a:ext>
                  </a:extLst>
                </a:gridCol>
                <a:gridCol w="1879092">
                  <a:extLst>
                    <a:ext uri="{9D8B030D-6E8A-4147-A177-3AD203B41FA5}">
                      <a16:colId xmlns:a16="http://schemas.microsoft.com/office/drawing/2014/main" val="20002"/>
                    </a:ext>
                  </a:extLst>
                </a:gridCol>
                <a:gridCol w="1879092">
                  <a:extLst>
                    <a:ext uri="{9D8B030D-6E8A-4147-A177-3AD203B41FA5}">
                      <a16:colId xmlns:a16="http://schemas.microsoft.com/office/drawing/2014/main" val="20003"/>
                    </a:ext>
                  </a:extLst>
                </a:gridCol>
                <a:gridCol w="1879092">
                  <a:extLst>
                    <a:ext uri="{9D8B030D-6E8A-4147-A177-3AD203B41FA5}">
                      <a16:colId xmlns:a16="http://schemas.microsoft.com/office/drawing/2014/main" val="20004"/>
                    </a:ext>
                  </a:extLst>
                </a:gridCol>
                <a:gridCol w="1879092">
                  <a:extLst>
                    <a:ext uri="{9D8B030D-6E8A-4147-A177-3AD203B41FA5}">
                      <a16:colId xmlns:a16="http://schemas.microsoft.com/office/drawing/2014/main" val="20005"/>
                    </a:ext>
                  </a:extLst>
                </a:gridCol>
              </a:tblGrid>
              <a:tr h="274320">
                <a:tc>
                  <a:txBody>
                    <a:bodyPr/>
                    <a:lstStyle/>
                    <a:p>
                      <a:pPr algn="l"/>
                      <a:r>
                        <a:rPr sz="850" b="1" i="0">
                          <a:solidFill>
                            <a:srgbClr val="CADCEA"/>
                          </a:solidFill>
                          <a:latin typeface="Calibri"/>
                        </a:rPr>
                        <a:t>DOCUMENT</a:t>
                      </a:r>
                    </a:p>
                  </a:txBody>
                  <a:tcPr marL="73152" marR="73152" marT="36576" marB="36576" anchor="ctr">
                    <a:solidFill>
                      <a:srgbClr val="1A2130"/>
                    </a:solidFill>
                  </a:tcPr>
                </a:tc>
                <a:tc>
                  <a:txBody>
                    <a:bodyPr/>
                    <a:lstStyle/>
                    <a:p>
                      <a:pPr algn="l"/>
                      <a:r>
                        <a:rPr sz="850" b="1" i="0">
                          <a:solidFill>
                            <a:srgbClr val="CADCEA"/>
                          </a:solidFill>
                          <a:latin typeface="Calibri"/>
                        </a:rPr>
                        <a:t>VERSION</a:t>
                      </a:r>
                    </a:p>
                  </a:txBody>
                  <a:tcPr marL="73152" marR="73152" marT="36576" marB="36576" anchor="ctr">
                    <a:solidFill>
                      <a:srgbClr val="1A2130"/>
                    </a:solidFill>
                  </a:tcPr>
                </a:tc>
                <a:tc>
                  <a:txBody>
                    <a:bodyPr/>
                    <a:lstStyle/>
                    <a:p>
                      <a:pPr algn="l"/>
                      <a:r>
                        <a:rPr sz="850" b="1" i="0">
                          <a:solidFill>
                            <a:srgbClr val="CADCEA"/>
                          </a:solidFill>
                          <a:latin typeface="Calibri"/>
                        </a:rPr>
                        <a:t>OWNER</a:t>
                      </a:r>
                    </a:p>
                  </a:txBody>
                  <a:tcPr marL="73152" marR="73152" marT="36576" marB="36576" anchor="ctr">
                    <a:solidFill>
                      <a:srgbClr val="1A2130"/>
                    </a:solidFill>
                  </a:tcPr>
                </a:tc>
                <a:tc>
                  <a:txBody>
                    <a:bodyPr/>
                    <a:lstStyle/>
                    <a:p>
                      <a:pPr algn="l"/>
                      <a:r>
                        <a:rPr sz="850" b="1" i="0">
                          <a:solidFill>
                            <a:srgbClr val="CADCEA"/>
                          </a:solidFill>
                          <a:latin typeface="Calibri"/>
                        </a:rPr>
                        <a:t>APPROVED BY</a:t>
                      </a:r>
                    </a:p>
                  </a:txBody>
                  <a:tcPr marL="73152" marR="73152" marT="36576" marB="36576" anchor="ctr">
                    <a:solidFill>
                      <a:srgbClr val="1A2130"/>
                    </a:solidFill>
                  </a:tcPr>
                </a:tc>
                <a:tc>
                  <a:txBody>
                    <a:bodyPr/>
                    <a:lstStyle/>
                    <a:p>
                      <a:pPr algn="l"/>
                      <a:r>
                        <a:rPr sz="850" b="1" i="0">
                          <a:solidFill>
                            <a:srgbClr val="CADCEA"/>
                          </a:solidFill>
                          <a:latin typeface="Calibri"/>
                        </a:rPr>
                        <a:t>PARENT</a:t>
                      </a:r>
                    </a:p>
                  </a:txBody>
                  <a:tcPr marL="73152" marR="73152" marT="36576" marB="36576" anchor="ctr">
                    <a:solidFill>
                      <a:srgbClr val="1A2130"/>
                    </a:solidFill>
                  </a:tcPr>
                </a:tc>
                <a:tc>
                  <a:txBody>
                    <a:bodyPr/>
                    <a:lstStyle/>
                    <a:p>
                      <a:pPr algn="l"/>
                      <a:r>
                        <a:rPr sz="850" b="1" i="0">
                          <a:solidFill>
                            <a:srgbClr val="CADCEA"/>
                          </a:solidFill>
                          <a:latin typeface="Calibri"/>
                        </a:rPr>
                        <a:t>NEXT REVIEW</a:t>
                      </a:r>
                    </a:p>
                  </a:txBody>
                  <a:tcPr marL="73152" marR="73152" marT="36576" marB="36576" anchor="ctr">
                    <a:solidFill>
                      <a:srgbClr val="1A2130"/>
                    </a:solidFill>
                  </a:tcPr>
                </a:tc>
                <a:extLst>
                  <a:ext uri="{0D108BD9-81ED-4DB2-BD59-A6C34878D82A}">
                    <a16:rowId xmlns:a16="http://schemas.microsoft.com/office/drawing/2014/main" val="10000"/>
                  </a:ext>
                </a:extLst>
              </a:tr>
              <a:tr h="411480">
                <a:tc>
                  <a:txBody>
                    <a:bodyPr/>
                    <a:lstStyle/>
                    <a:p>
                      <a:pPr algn="l"/>
                      <a:r>
                        <a:rPr sz="950" b="0" i="0">
                          <a:solidFill>
                            <a:srgbClr val="57626B"/>
                          </a:solidFill>
                          <a:latin typeface="Calibri"/>
                        </a:rPr>
                        <a:t>DG-PRO-002  New CDE Registration Procedure</a:t>
                      </a:r>
                    </a:p>
                  </a:txBody>
                  <a:tcPr marL="73152" marR="73152" marT="36576" marB="36576" anchor="ctr">
                    <a:solidFill>
                      <a:srgbClr val="FFFFFF"/>
                    </a:solidFill>
                  </a:tcPr>
                </a:tc>
                <a:tc>
                  <a:txBody>
                    <a:bodyPr/>
                    <a:lstStyle/>
                    <a:p>
                      <a:pPr algn="l"/>
                      <a:r>
                        <a:rPr sz="950" b="0" i="0">
                          <a:solidFill>
                            <a:srgbClr val="57626B"/>
                          </a:solidFill>
                          <a:latin typeface="Calibri"/>
                        </a:rPr>
                        <a:t>2.0</a:t>
                      </a:r>
                    </a:p>
                  </a:txBody>
                  <a:tcPr marL="73152" marR="73152" marT="36576" marB="36576" anchor="ctr">
                    <a:solidFill>
                      <a:srgbClr val="FFFFFF"/>
                    </a:solidFill>
                  </a:tcPr>
                </a:tc>
                <a:tc>
                  <a:txBody>
                    <a:bodyPr/>
                    <a:lstStyle/>
                    <a:p>
                      <a:pPr algn="l"/>
                      <a:r>
                        <a:rPr sz="950" b="0" i="0">
                          <a:solidFill>
                            <a:srgbClr val="57626B"/>
                          </a:solidFill>
                          <a:latin typeface="Calibri"/>
                        </a:rPr>
                        <a:t>Head of Data Governance</a:t>
                      </a:r>
                    </a:p>
                  </a:txBody>
                  <a:tcPr marL="73152" marR="73152" marT="36576" marB="36576" anchor="ctr">
                    <a:solidFill>
                      <a:srgbClr val="FFFFFF"/>
                    </a:solidFill>
                  </a:tcPr>
                </a:tc>
                <a:tc>
                  <a:txBody>
                    <a:bodyPr/>
                    <a:lstStyle/>
                    <a:p>
                      <a:pPr algn="l"/>
                      <a:r>
                        <a:rPr sz="950" b="0" i="0">
                          <a:solidFill>
                            <a:srgbClr val="57626B"/>
                          </a:solidFill>
                          <a:latin typeface="Calibri"/>
                        </a:rPr>
                        <a:t>Chief Data Officer</a:t>
                      </a:r>
                    </a:p>
                  </a:txBody>
                  <a:tcPr marL="73152" marR="73152" marT="36576" marB="36576" anchor="ctr">
                    <a:solidFill>
                      <a:srgbClr val="FFFFFF"/>
                    </a:solidFill>
                  </a:tcPr>
                </a:tc>
                <a:tc>
                  <a:txBody>
                    <a:bodyPr/>
                    <a:lstStyle/>
                    <a:p>
                      <a:pPr algn="l"/>
                      <a:r>
                        <a:rPr sz="950" b="0" i="0">
                          <a:solidFill>
                            <a:srgbClr val="57626B"/>
                          </a:solidFill>
                          <a:latin typeface="Calibri"/>
                        </a:rPr>
                        <a:t>DG-STD-003 CDE Standard</a:t>
                      </a:r>
                    </a:p>
                  </a:txBody>
                  <a:tcPr marL="73152" marR="73152" marT="36576" marB="36576" anchor="ctr">
                    <a:solidFill>
                      <a:srgbClr val="FFFFFF"/>
                    </a:solidFill>
                  </a:tcPr>
                </a:tc>
                <a:tc>
                  <a:txBody>
                    <a:bodyPr/>
                    <a:lstStyle/>
                    <a:p>
                      <a:pPr algn="l"/>
                      <a:r>
                        <a:rPr sz="950" b="0" i="0">
                          <a:solidFill>
                            <a:srgbClr val="57626B"/>
                          </a:solidFill>
                          <a:latin typeface="Calibri"/>
                        </a:rPr>
                        <a:t>September 2026</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48640" y="2103120"/>
            <a:ext cx="11064240" cy="457200"/>
          </a:xfrm>
          <a:prstGeom prst="rect">
            <a:avLst/>
          </a:prstGeom>
          <a:noFill/>
        </p:spPr>
        <p:txBody>
          <a:bodyPr wrap="square" lIns="0" tIns="0" rIns="0" bIns="0" anchor="t">
            <a:spAutoFit/>
          </a:bodyPr>
          <a:lstStyle/>
          <a:p>
            <a:pPr algn="l"/>
            <a:r>
              <a:rPr sz="950" b="1" i="0">
                <a:solidFill>
                  <a:srgbClr val="1A2130"/>
                </a:solidFill>
                <a:latin typeface="Calibri"/>
              </a:rPr>
              <a:t>1  Purpose  </a:t>
            </a:r>
            <a:r>
              <a:rPr sz="950" b="0" i="0">
                <a:solidFill>
                  <a:srgbClr val="57626B"/>
                </a:solidFill>
                <a:latin typeface="Calibri"/>
              </a:rPr>
              <a:t>How a proposed data element is assessed, defined, traced, quality-controlled, approved and published as a CDE before it is used in regulatory or financial reporting.</a:t>
            </a:r>
          </a:p>
        </p:txBody>
      </p:sp>
      <p:sp>
        <p:nvSpPr>
          <p:cNvPr id="8" name="TextBox 7"/>
          <p:cNvSpPr txBox="1"/>
          <p:nvPr/>
        </p:nvSpPr>
        <p:spPr>
          <a:xfrm>
            <a:off x="548640" y="2560320"/>
            <a:ext cx="11064240" cy="256032"/>
          </a:xfrm>
          <a:prstGeom prst="rect">
            <a:avLst/>
          </a:prstGeom>
          <a:noFill/>
        </p:spPr>
        <p:txBody>
          <a:bodyPr wrap="square" lIns="0" tIns="0" rIns="0" bIns="0" anchor="t">
            <a:spAutoFit/>
          </a:bodyPr>
          <a:lstStyle/>
          <a:p>
            <a:pPr algn="l"/>
            <a:r>
              <a:rPr sz="950" b="1" i="0">
                <a:solidFill>
                  <a:srgbClr val="1A2130"/>
                </a:solidFill>
                <a:latin typeface="Calibri"/>
              </a:rPr>
              <a:t>2  Steps</a:t>
            </a:r>
          </a:p>
        </p:txBody>
      </p:sp>
      <p:graphicFrame>
        <p:nvGraphicFramePr>
          <p:cNvPr id="9" name="Table 8"/>
          <p:cNvGraphicFramePr>
            <a:graphicFrameLocks noGrp="1"/>
          </p:cNvGraphicFramePr>
          <p:nvPr/>
        </p:nvGraphicFramePr>
        <p:xfrm>
          <a:off x="548640" y="2834640"/>
          <a:ext cx="11091672" cy="3200400"/>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274320">
                <a:tc>
                  <a:txBody>
                    <a:bodyPr/>
                    <a:lstStyle/>
                    <a:p>
                      <a:pPr algn="l"/>
                      <a:r>
                        <a:rPr sz="850" b="1" i="0">
                          <a:solidFill>
                            <a:srgbClr val="CADCEA"/>
                          </a:solidFill>
                          <a:latin typeface="Calibri"/>
                        </a:rPr>
                        <a:t>STEP</a:t>
                      </a:r>
                    </a:p>
                  </a:txBody>
                  <a:tcPr marL="73152" marR="73152" marT="36576" marB="36576" anchor="ctr">
                    <a:solidFill>
                      <a:srgbClr val="1A2130"/>
                    </a:solidFill>
                  </a:tcPr>
                </a:tc>
                <a:tc>
                  <a:txBody>
                    <a:bodyPr/>
                    <a:lstStyle/>
                    <a:p>
                      <a:pPr algn="l"/>
                      <a:r>
                        <a:rPr sz="850" b="1" i="0">
                          <a:solidFill>
                            <a:srgbClr val="CADCEA"/>
                          </a:solidFill>
                          <a:latin typeface="Calibri"/>
                        </a:rPr>
                        <a:t>ACTION</a:t>
                      </a:r>
                    </a:p>
                  </a:txBody>
                  <a:tcPr marL="73152" marR="73152" marT="36576" marB="36576" anchor="ctr">
                    <a:solidFill>
                      <a:srgbClr val="1A2130"/>
                    </a:solidFill>
                  </a:tcPr>
                </a:tc>
                <a:tc>
                  <a:txBody>
                    <a:bodyPr/>
                    <a:lstStyle/>
                    <a:p>
                      <a:pPr algn="l"/>
                      <a:r>
                        <a:rPr sz="850" b="1" i="0">
                          <a:solidFill>
                            <a:srgbClr val="CADCEA"/>
                          </a:solidFill>
                          <a:latin typeface="Calibri"/>
                        </a:rPr>
                        <a:t>RESPONSIBLE</a:t>
                      </a:r>
                    </a:p>
                  </a:txBody>
                  <a:tcPr marL="73152" marR="73152" marT="36576" marB="36576" anchor="ctr">
                    <a:solidFill>
                      <a:srgbClr val="1A2130"/>
                    </a:solidFill>
                  </a:tcPr>
                </a:tc>
                <a:tc>
                  <a:txBody>
                    <a:bodyPr/>
                    <a:lstStyle/>
                    <a:p>
                      <a:pPr algn="l"/>
                      <a:r>
                        <a:rPr sz="850" b="1" i="0">
                          <a:solidFill>
                            <a:srgbClr val="CADCEA"/>
                          </a:solidFill>
                          <a:latin typeface="Calibri"/>
                        </a:rPr>
                        <a:t>TIMING</a:t>
                      </a:r>
                    </a:p>
                  </a:txBody>
                  <a:tcPr marL="73152" marR="73152" marT="36576" marB="36576" anchor="ctr">
                    <a:solidFill>
                      <a:srgbClr val="1A2130"/>
                    </a:solidFill>
                  </a:tcPr>
                </a:tc>
                <a:tc>
                  <a:txBody>
                    <a:bodyPr/>
                    <a:lstStyle/>
                    <a:p>
                      <a:pPr algn="l"/>
                      <a:r>
                        <a:rPr sz="850" b="1" i="0">
                          <a:solidFill>
                            <a:srgbClr val="CADCEA"/>
                          </a:solidFill>
                          <a:latin typeface="Calibri"/>
                        </a:rPr>
                        <a:t>RECORD</a:t>
                      </a:r>
                    </a:p>
                  </a:txBody>
                  <a:tcPr marL="73152" marR="73152" marT="36576" marB="36576" anchor="ctr">
                    <a:solidFill>
                      <a:srgbClr val="1A2130"/>
                    </a:solidFill>
                  </a:tcPr>
                </a:tc>
                <a:extLst>
                  <a:ext uri="{0D108BD9-81ED-4DB2-BD59-A6C34878D82A}">
                    <a16:rowId xmlns:a16="http://schemas.microsoft.com/office/drawing/2014/main" val="10000"/>
                  </a:ext>
                </a:extLst>
              </a:tr>
              <a:tr h="365760">
                <a:tc>
                  <a:txBody>
                    <a:bodyPr/>
                    <a:lstStyle/>
                    <a:p>
                      <a:pPr algn="l"/>
                      <a:r>
                        <a:rPr sz="900" b="1" i="0">
                          <a:solidFill>
                            <a:srgbClr val="1A2130"/>
                          </a:solidFill>
                          <a:latin typeface="Calibri"/>
                        </a:rPr>
                        <a:t>1</a:t>
                      </a:r>
                    </a:p>
                  </a:txBody>
                  <a:tcPr marL="73152" marR="73152" marT="36576" marB="36576" anchor="ctr">
                    <a:solidFill>
                      <a:srgbClr val="FFFFFF"/>
                    </a:solidFill>
                  </a:tcPr>
                </a:tc>
                <a:tc>
                  <a:txBody>
                    <a:bodyPr/>
                    <a:lstStyle/>
                    <a:p>
                      <a:pPr algn="l"/>
                      <a:r>
                        <a:rPr sz="900" b="0" i="0">
                          <a:solidFill>
                            <a:srgbClr val="57626B"/>
                          </a:solidFill>
                          <a:latin typeface="Calibri"/>
                        </a:rPr>
                        <a:t>Submit a CDE request in the data catalog (new product, report field or regulation)</a:t>
                      </a:r>
                    </a:p>
                  </a:txBody>
                  <a:tcPr marL="73152" marR="73152" marT="36576" marB="36576" anchor="ctr">
                    <a:solidFill>
                      <a:srgbClr val="FFFFFF"/>
                    </a:solidFill>
                  </a:tcPr>
                </a:tc>
                <a:tc>
                  <a:txBody>
                    <a:bodyPr/>
                    <a:lstStyle/>
                    <a:p>
                      <a:pPr algn="l"/>
                      <a:r>
                        <a:rPr sz="900" b="0" i="0">
                          <a:solidFill>
                            <a:srgbClr val="57626B"/>
                          </a:solidFill>
                          <a:latin typeface="Calibri"/>
                        </a:rPr>
                        <a:t>Requester</a:t>
                      </a:r>
                    </a:p>
                  </a:txBody>
                  <a:tcPr marL="73152" marR="73152" marT="36576" marB="36576" anchor="ctr">
                    <a:solidFill>
                      <a:srgbClr val="FFFFFF"/>
                    </a:solidFill>
                  </a:tcPr>
                </a:tc>
                <a:tc>
                  <a:txBody>
                    <a:bodyPr/>
                    <a:lstStyle/>
                    <a:p>
                      <a:pPr algn="l"/>
                      <a:r>
                        <a:rPr sz="900" b="0" i="0">
                          <a:solidFill>
                            <a:srgbClr val="57626B"/>
                          </a:solidFill>
                          <a:latin typeface="Calibri"/>
                        </a:rPr>
                        <a:t>Before the data is used</a:t>
                      </a:r>
                    </a:p>
                  </a:txBody>
                  <a:tcPr marL="73152" marR="73152" marT="36576" marB="36576" anchor="ctr">
                    <a:solidFill>
                      <a:srgbClr val="FFFFFF"/>
                    </a:solidFill>
                  </a:tcPr>
                </a:tc>
                <a:tc>
                  <a:txBody>
                    <a:bodyPr/>
                    <a:lstStyle/>
                    <a:p>
                      <a:pPr algn="l"/>
                      <a:r>
                        <a:rPr sz="900" b="0" i="0">
                          <a:solidFill>
                            <a:srgbClr val="57626B"/>
                          </a:solidFill>
                          <a:latin typeface="Calibri"/>
                        </a:rPr>
                        <a:t>Catalog request</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pPr algn="l"/>
                      <a:r>
                        <a:rPr sz="900" b="1" i="0">
                          <a:solidFill>
                            <a:srgbClr val="1A2130"/>
                          </a:solidFill>
                          <a:latin typeface="Calibri"/>
                        </a:rPr>
                        <a:t>2</a:t>
                      </a:r>
                    </a:p>
                  </a:txBody>
                  <a:tcPr marL="73152" marR="73152" marT="36576" marB="36576" anchor="ctr">
                    <a:solidFill>
                      <a:srgbClr val="F4F6F2"/>
                    </a:solidFill>
                  </a:tcPr>
                </a:tc>
                <a:tc>
                  <a:txBody>
                    <a:bodyPr/>
                    <a:lstStyle/>
                    <a:p>
                      <a:pPr algn="l"/>
                      <a:r>
                        <a:rPr sz="900" b="0" i="0">
                          <a:solidFill>
                            <a:srgbClr val="57626B"/>
                          </a:solidFill>
                          <a:latin typeface="Calibri"/>
                        </a:rPr>
                        <a:t>Apply the criticality criteria and assign a tier</a:t>
                      </a:r>
                    </a:p>
                  </a:txBody>
                  <a:tcPr marL="73152" marR="73152" marT="36576" marB="36576" anchor="ctr">
                    <a:solidFill>
                      <a:srgbClr val="F4F6F2"/>
                    </a:solidFill>
                  </a:tcPr>
                </a:tc>
                <a:tc>
                  <a:txBody>
                    <a:bodyPr/>
                    <a:lstStyle/>
                    <a:p>
                      <a:pPr algn="l"/>
                      <a:r>
                        <a:rPr sz="900" b="0" i="0">
                          <a:solidFill>
                            <a:srgbClr val="57626B"/>
                          </a:solidFill>
                          <a:latin typeface="Calibri"/>
                        </a:rPr>
                        <a:t>Data Steward</a:t>
                      </a:r>
                    </a:p>
                  </a:txBody>
                  <a:tcPr marL="73152" marR="73152" marT="36576" marB="36576" anchor="ctr">
                    <a:solidFill>
                      <a:srgbClr val="F4F6F2"/>
                    </a:solidFill>
                  </a:tcPr>
                </a:tc>
                <a:tc>
                  <a:txBody>
                    <a:bodyPr/>
                    <a:lstStyle/>
                    <a:p>
                      <a:pPr algn="l"/>
                      <a:r>
                        <a:rPr sz="900" b="0" i="0">
                          <a:solidFill>
                            <a:srgbClr val="57626B"/>
                          </a:solidFill>
                          <a:latin typeface="Calibri"/>
                        </a:rPr>
                        <a:t>Within 5 business days</a:t>
                      </a:r>
                    </a:p>
                  </a:txBody>
                  <a:tcPr marL="73152" marR="73152" marT="36576" marB="36576" anchor="ctr">
                    <a:solidFill>
                      <a:srgbClr val="F4F6F2"/>
                    </a:solidFill>
                  </a:tcPr>
                </a:tc>
                <a:tc>
                  <a:txBody>
                    <a:bodyPr/>
                    <a:lstStyle/>
                    <a:p>
                      <a:pPr algn="l"/>
                      <a:r>
                        <a:rPr sz="900" b="0" i="0">
                          <a:solidFill>
                            <a:srgbClr val="57626B"/>
                          </a:solidFill>
                          <a:latin typeface="Calibri"/>
                        </a:rPr>
                        <a:t>Catalog tier field</a:t>
                      </a:r>
                    </a:p>
                  </a:txBody>
                  <a:tcPr marL="73152" marR="73152" marT="36576" marB="36576" anchor="ctr">
                    <a:solidFill>
                      <a:srgbClr val="F4F6F2"/>
                    </a:solidFill>
                  </a:tcPr>
                </a:tc>
                <a:extLst>
                  <a:ext uri="{0D108BD9-81ED-4DB2-BD59-A6C34878D82A}">
                    <a16:rowId xmlns:a16="http://schemas.microsoft.com/office/drawing/2014/main" val="10002"/>
                  </a:ext>
                </a:extLst>
              </a:tr>
              <a:tr h="365760">
                <a:tc>
                  <a:txBody>
                    <a:bodyPr/>
                    <a:lstStyle/>
                    <a:p>
                      <a:pPr algn="l"/>
                      <a:r>
                        <a:rPr sz="900" b="1" i="0">
                          <a:solidFill>
                            <a:srgbClr val="1A2130"/>
                          </a:solidFill>
                          <a:latin typeface="Calibri"/>
                        </a:rPr>
                        <a:t>3</a:t>
                      </a:r>
                    </a:p>
                  </a:txBody>
                  <a:tcPr marL="73152" marR="73152" marT="36576" marB="36576" anchor="ctr">
                    <a:solidFill>
                      <a:srgbClr val="FFFFFF"/>
                    </a:solidFill>
                  </a:tcPr>
                </a:tc>
                <a:tc>
                  <a:txBody>
                    <a:bodyPr/>
                    <a:lstStyle/>
                    <a:p>
                      <a:pPr algn="l"/>
                      <a:r>
                        <a:rPr sz="900" b="0" i="0">
                          <a:solidFill>
                            <a:srgbClr val="57626B"/>
                          </a:solidFill>
                          <a:latin typeface="Calibri"/>
                        </a:rPr>
                        <a:t>Draft the definition following DG-GDL-001; check the glossary for duplicates</a:t>
                      </a:r>
                    </a:p>
                  </a:txBody>
                  <a:tcPr marL="73152" marR="73152" marT="36576" marB="36576" anchor="ctr">
                    <a:solidFill>
                      <a:srgbClr val="FFFFFF"/>
                    </a:solidFill>
                  </a:tcPr>
                </a:tc>
                <a:tc>
                  <a:txBody>
                    <a:bodyPr/>
                    <a:lstStyle/>
                    <a:p>
                      <a:pPr algn="l"/>
                      <a:r>
                        <a:rPr sz="900" b="0" i="0">
                          <a:solidFill>
                            <a:srgbClr val="57626B"/>
                          </a:solidFill>
                          <a:latin typeface="Calibri"/>
                        </a:rPr>
                        <a:t>Data Steward</a:t>
                      </a:r>
                    </a:p>
                  </a:txBody>
                  <a:tcPr marL="73152" marR="73152" marT="36576" marB="36576" anchor="ctr">
                    <a:solidFill>
                      <a:srgbClr val="FFFFFF"/>
                    </a:solidFill>
                  </a:tcPr>
                </a:tc>
                <a:tc>
                  <a:txBody>
                    <a:bodyPr/>
                    <a:lstStyle/>
                    <a:p>
                      <a:pPr algn="l"/>
                      <a:r>
                        <a:rPr sz="900" b="0" i="0">
                          <a:solidFill>
                            <a:srgbClr val="57626B"/>
                          </a:solidFill>
                          <a:latin typeface="Calibri"/>
                        </a:rPr>
                        <a:t>Within 10 business days</a:t>
                      </a:r>
                    </a:p>
                  </a:txBody>
                  <a:tcPr marL="73152" marR="73152" marT="36576" marB="36576" anchor="ctr">
                    <a:solidFill>
                      <a:srgbClr val="FFFFFF"/>
                    </a:solidFill>
                  </a:tcPr>
                </a:tc>
                <a:tc>
                  <a:txBody>
                    <a:bodyPr/>
                    <a:lstStyle/>
                    <a:p>
                      <a:pPr algn="l"/>
                      <a:r>
                        <a:rPr sz="900" b="0" i="0">
                          <a:solidFill>
                            <a:srgbClr val="57626B"/>
                          </a:solidFill>
                          <a:latin typeface="Calibri"/>
                        </a:rPr>
                        <a:t>Glossary draft</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pPr algn="l"/>
                      <a:r>
                        <a:rPr sz="900" b="1" i="0">
                          <a:solidFill>
                            <a:srgbClr val="1A2130"/>
                          </a:solidFill>
                          <a:latin typeface="Calibri"/>
                        </a:rPr>
                        <a:t>4</a:t>
                      </a:r>
                    </a:p>
                  </a:txBody>
                  <a:tcPr marL="73152" marR="73152" marT="36576" marB="36576" anchor="ctr">
                    <a:solidFill>
                      <a:srgbClr val="F4F6F2"/>
                    </a:solidFill>
                  </a:tcPr>
                </a:tc>
                <a:tc>
                  <a:txBody>
                    <a:bodyPr/>
                    <a:lstStyle/>
                    <a:p>
                      <a:pPr algn="l"/>
                      <a:r>
                        <a:rPr sz="900" b="0" i="0">
                          <a:solidFill>
                            <a:srgbClr val="57626B"/>
                          </a:solidFill>
                          <a:latin typeface="Calibri"/>
                        </a:rPr>
                        <a:t>Identify the authoritative source and document source-to-report lineage</a:t>
                      </a:r>
                    </a:p>
                  </a:txBody>
                  <a:tcPr marL="73152" marR="73152" marT="36576" marB="36576" anchor="ctr">
                    <a:solidFill>
                      <a:srgbClr val="F4F6F2"/>
                    </a:solidFill>
                  </a:tcPr>
                </a:tc>
                <a:tc>
                  <a:txBody>
                    <a:bodyPr/>
                    <a:lstStyle/>
                    <a:p>
                      <a:pPr algn="l"/>
                      <a:r>
                        <a:rPr sz="900" b="0" i="0">
                          <a:solidFill>
                            <a:srgbClr val="57626B"/>
                          </a:solidFill>
                          <a:latin typeface="Calibri"/>
                        </a:rPr>
                        <a:t>Data engineering</a:t>
                      </a:r>
                    </a:p>
                  </a:txBody>
                  <a:tcPr marL="73152" marR="73152" marT="36576" marB="36576" anchor="ctr">
                    <a:solidFill>
                      <a:srgbClr val="F4F6F2"/>
                    </a:solidFill>
                  </a:tcPr>
                </a:tc>
                <a:tc>
                  <a:txBody>
                    <a:bodyPr/>
                    <a:lstStyle/>
                    <a:p>
                      <a:pPr algn="l"/>
                      <a:r>
                        <a:rPr sz="900" b="0" i="0">
                          <a:solidFill>
                            <a:srgbClr val="57626B"/>
                          </a:solidFill>
                          <a:latin typeface="Calibri"/>
                        </a:rPr>
                        <a:t>Within 10 business days</a:t>
                      </a:r>
                    </a:p>
                  </a:txBody>
                  <a:tcPr marL="73152" marR="73152" marT="36576" marB="36576" anchor="ctr">
                    <a:solidFill>
                      <a:srgbClr val="F4F6F2"/>
                    </a:solidFill>
                  </a:tcPr>
                </a:tc>
                <a:tc>
                  <a:txBody>
                    <a:bodyPr/>
                    <a:lstStyle/>
                    <a:p>
                      <a:pPr algn="l"/>
                      <a:r>
                        <a:rPr sz="900" b="0" i="0">
                          <a:solidFill>
                            <a:srgbClr val="57626B"/>
                          </a:solidFill>
                          <a:latin typeface="Calibri"/>
                        </a:rPr>
                        <a:t>Lineage record</a:t>
                      </a:r>
                    </a:p>
                  </a:txBody>
                  <a:tcPr marL="73152" marR="73152" marT="36576" marB="36576" anchor="ctr">
                    <a:solidFill>
                      <a:srgbClr val="F4F6F2"/>
                    </a:solidFill>
                  </a:tcPr>
                </a:tc>
                <a:extLst>
                  <a:ext uri="{0D108BD9-81ED-4DB2-BD59-A6C34878D82A}">
                    <a16:rowId xmlns:a16="http://schemas.microsoft.com/office/drawing/2014/main" val="10004"/>
                  </a:ext>
                </a:extLst>
              </a:tr>
              <a:tr h="365760">
                <a:tc>
                  <a:txBody>
                    <a:bodyPr/>
                    <a:lstStyle/>
                    <a:p>
                      <a:pPr algn="l"/>
                      <a:r>
                        <a:rPr sz="900" b="1" i="0">
                          <a:solidFill>
                            <a:srgbClr val="1A2130"/>
                          </a:solidFill>
                          <a:latin typeface="Calibri"/>
                        </a:rPr>
                        <a:t>5</a:t>
                      </a:r>
                    </a:p>
                  </a:txBody>
                  <a:tcPr marL="73152" marR="73152" marT="36576" marB="36576" anchor="ctr">
                    <a:solidFill>
                      <a:srgbClr val="FFFFFF"/>
                    </a:solidFill>
                  </a:tcPr>
                </a:tc>
                <a:tc>
                  <a:txBody>
                    <a:bodyPr/>
                    <a:lstStyle/>
                    <a:p>
                      <a:pPr algn="l"/>
                      <a:r>
                        <a:rPr sz="900" b="0" i="0">
                          <a:solidFill>
                            <a:srgbClr val="57626B"/>
                          </a:solidFill>
                          <a:latin typeface="Calibri"/>
                        </a:rPr>
                        <a:t>Draft DQ rules per DG-STD-002; implement as code; back-test on history</a:t>
                      </a:r>
                    </a:p>
                  </a:txBody>
                  <a:tcPr marL="73152" marR="73152" marT="36576" marB="36576" anchor="ctr">
                    <a:solidFill>
                      <a:srgbClr val="FFFFFF"/>
                    </a:solidFill>
                  </a:tcPr>
                </a:tc>
                <a:tc>
                  <a:txBody>
                    <a:bodyPr/>
                    <a:lstStyle/>
                    <a:p>
                      <a:pPr algn="l"/>
                      <a:r>
                        <a:rPr sz="900" b="0" i="0">
                          <a:solidFill>
                            <a:srgbClr val="57626B"/>
                          </a:solidFill>
                          <a:latin typeface="Calibri"/>
                        </a:rPr>
                        <a:t>Steward / engineering</a:t>
                      </a:r>
                    </a:p>
                  </a:txBody>
                  <a:tcPr marL="73152" marR="73152" marT="36576" marB="36576" anchor="ctr">
                    <a:solidFill>
                      <a:srgbClr val="FFFFFF"/>
                    </a:solidFill>
                  </a:tcPr>
                </a:tc>
                <a:tc>
                  <a:txBody>
                    <a:bodyPr/>
                    <a:lstStyle/>
                    <a:p>
                      <a:pPr algn="l"/>
                      <a:r>
                        <a:rPr sz="900" b="0" i="0">
                          <a:solidFill>
                            <a:srgbClr val="57626B"/>
                          </a:solidFill>
                          <a:latin typeface="Calibri"/>
                        </a:rPr>
                        <a:t>Within 15 business days</a:t>
                      </a:r>
                    </a:p>
                  </a:txBody>
                  <a:tcPr marL="73152" marR="73152" marT="36576" marB="36576" anchor="ctr">
                    <a:solidFill>
                      <a:srgbClr val="FFFFFF"/>
                    </a:solidFill>
                  </a:tcPr>
                </a:tc>
                <a:tc>
                  <a:txBody>
                    <a:bodyPr/>
                    <a:lstStyle/>
                    <a:p>
                      <a:pPr algn="l"/>
                      <a:r>
                        <a:rPr sz="900" b="0" i="0">
                          <a:solidFill>
                            <a:srgbClr val="57626B"/>
                          </a:solidFill>
                          <a:latin typeface="Calibri"/>
                        </a:rPr>
                        <a:t>Rule inventory</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pPr algn="l"/>
                      <a:r>
                        <a:rPr sz="900" b="1" i="0">
                          <a:solidFill>
                            <a:srgbClr val="1A2130"/>
                          </a:solidFill>
                          <a:latin typeface="Calibri"/>
                        </a:rPr>
                        <a:t>6</a:t>
                      </a:r>
                    </a:p>
                  </a:txBody>
                  <a:tcPr marL="73152" marR="73152" marT="36576" marB="36576" anchor="ctr">
                    <a:solidFill>
                      <a:srgbClr val="F4F6F2"/>
                    </a:solidFill>
                  </a:tcPr>
                </a:tc>
                <a:tc>
                  <a:txBody>
                    <a:bodyPr/>
                    <a:lstStyle/>
                    <a:p>
                      <a:pPr algn="l"/>
                      <a:r>
                        <a:rPr sz="900" b="0" i="0">
                          <a:solidFill>
                            <a:srgbClr val="57626B"/>
                          </a:solidFill>
                          <a:latin typeface="Calibri"/>
                        </a:rPr>
                        <a:t>Confirm classification and access rules</a:t>
                      </a:r>
                    </a:p>
                  </a:txBody>
                  <a:tcPr marL="73152" marR="73152" marT="36576" marB="36576" anchor="ctr">
                    <a:solidFill>
                      <a:srgbClr val="F4F6F2"/>
                    </a:solidFill>
                  </a:tcPr>
                </a:tc>
                <a:tc>
                  <a:txBody>
                    <a:bodyPr/>
                    <a:lstStyle/>
                    <a:p>
                      <a:pPr algn="l"/>
                      <a:r>
                        <a:rPr sz="900" b="0" i="0">
                          <a:solidFill>
                            <a:srgbClr val="57626B"/>
                          </a:solidFill>
                          <a:latin typeface="Calibri"/>
                        </a:rPr>
                        <a:t>Information security</a:t>
                      </a:r>
                    </a:p>
                  </a:txBody>
                  <a:tcPr marL="73152" marR="73152" marT="36576" marB="36576" anchor="ctr">
                    <a:solidFill>
                      <a:srgbClr val="F4F6F2"/>
                    </a:solidFill>
                  </a:tcPr>
                </a:tc>
                <a:tc>
                  <a:txBody>
                    <a:bodyPr/>
                    <a:lstStyle/>
                    <a:p>
                      <a:pPr algn="l"/>
                      <a:r>
                        <a:rPr sz="900" b="0" i="0">
                          <a:solidFill>
                            <a:srgbClr val="57626B"/>
                          </a:solidFill>
                          <a:latin typeface="Calibri"/>
                        </a:rPr>
                        <a:t>Within 5 business days</a:t>
                      </a:r>
                    </a:p>
                  </a:txBody>
                  <a:tcPr marL="73152" marR="73152" marT="36576" marB="36576" anchor="ctr">
                    <a:solidFill>
                      <a:srgbClr val="F4F6F2"/>
                    </a:solidFill>
                  </a:tcPr>
                </a:tc>
                <a:tc>
                  <a:txBody>
                    <a:bodyPr/>
                    <a:lstStyle/>
                    <a:p>
                      <a:pPr algn="l"/>
                      <a:r>
                        <a:rPr sz="900" b="0" i="0">
                          <a:solidFill>
                            <a:srgbClr val="57626B"/>
                          </a:solidFill>
                          <a:latin typeface="Calibri"/>
                        </a:rPr>
                        <a:t>Classification tag</a:t>
                      </a:r>
                    </a:p>
                  </a:txBody>
                  <a:tcPr marL="73152" marR="73152" marT="36576" marB="36576" anchor="ctr">
                    <a:solidFill>
                      <a:srgbClr val="F4F6F2"/>
                    </a:solidFill>
                  </a:tcPr>
                </a:tc>
                <a:extLst>
                  <a:ext uri="{0D108BD9-81ED-4DB2-BD59-A6C34878D82A}">
                    <a16:rowId xmlns:a16="http://schemas.microsoft.com/office/drawing/2014/main" val="10006"/>
                  </a:ext>
                </a:extLst>
              </a:tr>
              <a:tr h="365760">
                <a:tc>
                  <a:txBody>
                    <a:bodyPr/>
                    <a:lstStyle/>
                    <a:p>
                      <a:pPr algn="l"/>
                      <a:r>
                        <a:rPr sz="900" b="1" i="0">
                          <a:solidFill>
                            <a:srgbClr val="1A2130"/>
                          </a:solidFill>
                          <a:latin typeface="Calibri"/>
                        </a:rPr>
                        <a:t>7</a:t>
                      </a:r>
                    </a:p>
                  </a:txBody>
                  <a:tcPr marL="73152" marR="73152" marT="36576" marB="36576" anchor="ctr">
                    <a:solidFill>
                      <a:srgbClr val="FFFFFF"/>
                    </a:solidFill>
                  </a:tcPr>
                </a:tc>
                <a:tc>
                  <a:txBody>
                    <a:bodyPr/>
                    <a:lstStyle/>
                    <a:p>
                      <a:pPr algn="l"/>
                      <a:r>
                        <a:rPr sz="900" b="0" i="0">
                          <a:solidFill>
                            <a:srgbClr val="57626B"/>
                          </a:solidFill>
                          <a:latin typeface="Calibri"/>
                        </a:rPr>
                        <a:t>Approve definition, tier and thresholds (tier 1 also approved by the Council)</a:t>
                      </a:r>
                    </a:p>
                  </a:txBody>
                  <a:tcPr marL="73152" marR="73152" marT="36576" marB="36576" anchor="ctr">
                    <a:solidFill>
                      <a:srgbClr val="FFFFFF"/>
                    </a:solidFill>
                  </a:tcPr>
                </a:tc>
                <a:tc>
                  <a:txBody>
                    <a:bodyPr/>
                    <a:lstStyle/>
                    <a:p>
                      <a:pPr algn="l"/>
                      <a:r>
                        <a:rPr sz="900" b="0" i="0">
                          <a:solidFill>
                            <a:srgbClr val="57626B"/>
                          </a:solidFill>
                          <a:latin typeface="Calibri"/>
                        </a:rPr>
                        <a:t>Data Owner</a:t>
                      </a:r>
                    </a:p>
                  </a:txBody>
                  <a:tcPr marL="73152" marR="73152" marT="36576" marB="36576" anchor="ctr">
                    <a:solidFill>
                      <a:srgbClr val="FFFFFF"/>
                    </a:solidFill>
                  </a:tcPr>
                </a:tc>
                <a:tc>
                  <a:txBody>
                    <a:bodyPr/>
                    <a:lstStyle/>
                    <a:p>
                      <a:pPr algn="l"/>
                      <a:r>
                        <a:rPr sz="900" b="0" i="0">
                          <a:solidFill>
                            <a:srgbClr val="57626B"/>
                          </a:solidFill>
                          <a:latin typeface="Calibri"/>
                        </a:rPr>
                        <a:t>Within 5 business days</a:t>
                      </a:r>
                    </a:p>
                  </a:txBody>
                  <a:tcPr marL="73152" marR="73152" marT="36576" marB="36576" anchor="ctr">
                    <a:solidFill>
                      <a:srgbClr val="FFFFFF"/>
                    </a:solidFill>
                  </a:tcPr>
                </a:tc>
                <a:tc>
                  <a:txBody>
                    <a:bodyPr/>
                    <a:lstStyle/>
                    <a:p>
                      <a:pPr algn="l"/>
                      <a:r>
                        <a:rPr sz="900" b="0" i="0">
                          <a:solidFill>
                            <a:srgbClr val="57626B"/>
                          </a:solidFill>
                          <a:latin typeface="Calibri"/>
                        </a:rPr>
                        <a:t>Approval history</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pPr algn="l"/>
                      <a:r>
                        <a:rPr sz="900" b="1" i="0">
                          <a:solidFill>
                            <a:srgbClr val="1A2130"/>
                          </a:solidFill>
                          <a:latin typeface="Calibri"/>
                        </a:rPr>
                        <a:t>8</a:t>
                      </a:r>
                    </a:p>
                  </a:txBody>
                  <a:tcPr marL="73152" marR="73152" marT="36576" marB="36576" anchor="ctr">
                    <a:solidFill>
                      <a:srgbClr val="F4F6F2"/>
                    </a:solidFill>
                  </a:tcPr>
                </a:tc>
                <a:tc>
                  <a:txBody>
                    <a:bodyPr/>
                    <a:lstStyle/>
                    <a:p>
                      <a:pPr algn="l"/>
                      <a:r>
                        <a:rPr sz="900" b="0" i="0">
                          <a:solidFill>
                            <a:srgbClr val="57626B"/>
                          </a:solidFill>
                          <a:latin typeface="Calibri"/>
                        </a:rPr>
                        <a:t>Publish in the catalog and add to the DQ scorecard</a:t>
                      </a:r>
                    </a:p>
                  </a:txBody>
                  <a:tcPr marL="73152" marR="73152" marT="36576" marB="36576" anchor="ctr">
                    <a:solidFill>
                      <a:srgbClr val="F4F6F2"/>
                    </a:solidFill>
                  </a:tcPr>
                </a:tc>
                <a:tc>
                  <a:txBody>
                    <a:bodyPr/>
                    <a:lstStyle/>
                    <a:p>
                      <a:pPr algn="l"/>
                      <a:r>
                        <a:rPr sz="900" b="0" i="0">
                          <a:solidFill>
                            <a:srgbClr val="57626B"/>
                          </a:solidFill>
                          <a:latin typeface="Calibri"/>
                        </a:rPr>
                        <a:t>Data Governance Office</a:t>
                      </a:r>
                    </a:p>
                  </a:txBody>
                  <a:tcPr marL="73152" marR="73152" marT="36576" marB="36576" anchor="ctr">
                    <a:solidFill>
                      <a:srgbClr val="F4F6F2"/>
                    </a:solidFill>
                  </a:tcPr>
                </a:tc>
                <a:tc>
                  <a:txBody>
                    <a:bodyPr/>
                    <a:lstStyle/>
                    <a:p>
                      <a:pPr algn="l"/>
                      <a:r>
                        <a:rPr sz="900" b="0" i="0">
                          <a:solidFill>
                            <a:srgbClr val="57626B"/>
                          </a:solidFill>
                          <a:latin typeface="Calibri"/>
                        </a:rPr>
                        <a:t>On approval</a:t>
                      </a:r>
                    </a:p>
                  </a:txBody>
                  <a:tcPr marL="73152" marR="73152" marT="36576" marB="36576" anchor="ctr">
                    <a:solidFill>
                      <a:srgbClr val="F4F6F2"/>
                    </a:solidFill>
                  </a:tcPr>
                </a:tc>
                <a:tc>
                  <a:txBody>
                    <a:bodyPr/>
                    <a:lstStyle/>
                    <a:p>
                      <a:pPr algn="l"/>
                      <a:r>
                        <a:rPr sz="900" b="0" i="0">
                          <a:solidFill>
                            <a:srgbClr val="57626B"/>
                          </a:solidFill>
                          <a:latin typeface="Calibri"/>
                        </a:rPr>
                        <a:t>Published CDE</a:t>
                      </a:r>
                    </a:p>
                  </a:txBody>
                  <a:tcPr marL="73152" marR="73152" marT="36576" marB="36576" anchor="ctr">
                    <a:solidFill>
                      <a:srgbClr val="F4F6F2"/>
                    </a:solidFill>
                  </a:tcPr>
                </a:tc>
                <a:extLst>
                  <a:ext uri="{0D108BD9-81ED-4DB2-BD59-A6C34878D82A}">
                    <a16:rowId xmlns:a16="http://schemas.microsoft.com/office/drawing/2014/main" val="10008"/>
                  </a:ext>
                </a:extLst>
              </a:tr>
            </a:tbl>
          </a:graphicData>
        </a:graphic>
      </p:graphicFrame>
      <p:sp>
        <p:nvSpPr>
          <p:cNvPr id="10" name="TextBox 9"/>
          <p:cNvSpPr txBox="1"/>
          <p:nvPr/>
        </p:nvSpPr>
        <p:spPr>
          <a:xfrm>
            <a:off x="548640" y="6126479"/>
            <a:ext cx="11064240" cy="182880"/>
          </a:xfrm>
          <a:prstGeom prst="rect">
            <a:avLst/>
          </a:prstGeom>
          <a:noFill/>
        </p:spPr>
        <p:txBody>
          <a:bodyPr wrap="square" lIns="0" tIns="0" rIns="0" bIns="0" anchor="t">
            <a:spAutoFit/>
          </a:bodyPr>
          <a:lstStyle/>
          <a:p>
            <a:pPr algn="l"/>
            <a:r>
              <a:rPr sz="950" b="1" i="0">
                <a:solidFill>
                  <a:srgbClr val="1A2130"/>
                </a:solidFill>
                <a:latin typeface="Calibri"/>
              </a:rPr>
              <a:t>3  Evidence  </a:t>
            </a:r>
            <a:r>
              <a:rPr sz="950" b="0" i="0">
                <a:solidFill>
                  <a:srgbClr val="57626B"/>
                </a:solidFill>
                <a:latin typeface="Calibri"/>
              </a:rPr>
              <a:t>the catalog record holds the full approval history; the DGO reports new and pending CDEs monthly to the Council.</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EF1EC"/>
        </a:solidFill>
        <a:effectLst/>
      </p:bgPr>
    </p:bg>
    <p:spTree>
      <p:nvGrpSpPr>
        <p:cNvPr id="1" name=""/>
        <p:cNvGrpSpPr/>
        <p:nvPr/>
      </p:nvGrpSpPr>
      <p:grpSpPr>
        <a:xfrm>
          <a:off x="0" y="0"/>
          <a:ext cx="0" cy="0"/>
          <a:chOff x="0" y="0"/>
          <a:chExt cx="0" cy="0"/>
        </a:xfrm>
      </p:grpSpPr>
      <p:sp>
        <p:nvSpPr>
          <p:cNvPr id="2" name="Rectangle 1"/>
          <p:cNvSpPr/>
          <p:nvPr/>
        </p:nvSpPr>
        <p:spPr>
          <a:xfrm>
            <a:off x="640080" y="384048"/>
            <a:ext cx="384048" cy="384048"/>
          </a:xfrm>
          <a:prstGeom prst="rect">
            <a:avLst/>
          </a:prstGeom>
          <a:solidFill>
            <a:srgbClr val="1A2130"/>
          </a:solidFill>
          <a:ln w="12700">
            <a:solidFill>
              <a:srgbClr val="1A2130"/>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r>
              <a:rPr sz="1300" b="1" i="0">
                <a:solidFill>
                  <a:srgbClr val="FFFFFF"/>
                </a:solidFill>
                <a:latin typeface="Courier New"/>
              </a:rPr>
              <a:t>23</a:t>
            </a:r>
          </a:p>
        </p:txBody>
      </p:sp>
      <p:sp>
        <p:nvSpPr>
          <p:cNvPr id="3" name="TextBox 2"/>
          <p:cNvSpPr txBox="1"/>
          <p:nvPr/>
        </p:nvSpPr>
        <p:spPr>
          <a:xfrm>
            <a:off x="1188720" y="301752"/>
            <a:ext cx="10332720" cy="502920"/>
          </a:xfrm>
          <a:prstGeom prst="rect">
            <a:avLst/>
          </a:prstGeom>
          <a:noFill/>
        </p:spPr>
        <p:txBody>
          <a:bodyPr wrap="square" lIns="0" tIns="0" rIns="0" bIns="0" anchor="ctr">
            <a:spAutoFit/>
          </a:bodyPr>
          <a:lstStyle/>
          <a:p>
            <a:pPr algn="l"/>
            <a:r>
              <a:rPr sz="2200" b="1" i="0">
                <a:solidFill>
                  <a:srgbClr val="1A2130"/>
                </a:solidFill>
                <a:latin typeface="Cambria"/>
              </a:rPr>
              <a:t>Appendix F — Example guideline: Writing Business Definitions</a:t>
            </a:r>
          </a:p>
        </p:txBody>
      </p:sp>
      <p:sp>
        <p:nvSpPr>
          <p:cNvPr id="4" name="TextBox 3"/>
          <p:cNvSpPr txBox="1"/>
          <p:nvPr/>
        </p:nvSpPr>
        <p:spPr>
          <a:xfrm>
            <a:off x="1188720" y="804672"/>
            <a:ext cx="10424160" cy="310896"/>
          </a:xfrm>
          <a:prstGeom prst="rect">
            <a:avLst/>
          </a:prstGeom>
          <a:noFill/>
        </p:spPr>
        <p:txBody>
          <a:bodyPr wrap="square" lIns="0" tIns="0" rIns="0" bIns="0" anchor="t">
            <a:spAutoFit/>
          </a:bodyPr>
          <a:lstStyle/>
          <a:p>
            <a:pPr algn="l"/>
            <a:r>
              <a:rPr sz="1200" b="0" i="0">
                <a:solidFill>
                  <a:srgbClr val="57626B"/>
                </a:solidFill>
                <a:latin typeface="Calibri"/>
              </a:rPr>
              <a:t>Recommended practice, not mandatory. Guidelines say “should”, not “must”.</a:t>
            </a:r>
          </a:p>
        </p:txBody>
      </p:sp>
      <p:sp>
        <p:nvSpPr>
          <p:cNvPr id="5" name="Rectangle 4"/>
          <p:cNvSpPr/>
          <p:nvPr/>
        </p:nvSpPr>
        <p:spPr>
          <a:xfrm>
            <a:off x="320040" y="1234440"/>
            <a:ext cx="11548872" cy="5166360"/>
          </a:xfrm>
          <a:prstGeom prst="rect">
            <a:avLst/>
          </a:prstGeom>
          <a:solidFill>
            <a:srgbClr val="FFFFFF"/>
          </a:solidFill>
          <a:ln w="12700">
            <a:solidFill>
              <a:srgbClr val="C7CDD1"/>
            </a:solid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ctr"/>
            <a:endParaRPr/>
          </a:p>
        </p:txBody>
      </p:sp>
      <p:graphicFrame>
        <p:nvGraphicFramePr>
          <p:cNvPr id="6" name="Table 5"/>
          <p:cNvGraphicFramePr>
            <a:graphicFrameLocks noGrp="1"/>
          </p:cNvGraphicFramePr>
          <p:nvPr/>
        </p:nvGraphicFramePr>
        <p:xfrm>
          <a:off x="457200" y="1325880"/>
          <a:ext cx="11274552" cy="685800"/>
        </p:xfrm>
        <a:graphic>
          <a:graphicData uri="http://schemas.openxmlformats.org/drawingml/2006/table">
            <a:tbl>
              <a:tblPr firstRow="1" bandRow="1">
                <a:tableStyleId>{5C22544A-7EE6-4342-B048-85BDC9FD1C3A}</a:tableStyleId>
              </a:tblPr>
              <a:tblGrid>
                <a:gridCol w="1879092">
                  <a:extLst>
                    <a:ext uri="{9D8B030D-6E8A-4147-A177-3AD203B41FA5}">
                      <a16:colId xmlns:a16="http://schemas.microsoft.com/office/drawing/2014/main" val="20000"/>
                    </a:ext>
                  </a:extLst>
                </a:gridCol>
                <a:gridCol w="1879092">
                  <a:extLst>
                    <a:ext uri="{9D8B030D-6E8A-4147-A177-3AD203B41FA5}">
                      <a16:colId xmlns:a16="http://schemas.microsoft.com/office/drawing/2014/main" val="20001"/>
                    </a:ext>
                  </a:extLst>
                </a:gridCol>
                <a:gridCol w="1879092">
                  <a:extLst>
                    <a:ext uri="{9D8B030D-6E8A-4147-A177-3AD203B41FA5}">
                      <a16:colId xmlns:a16="http://schemas.microsoft.com/office/drawing/2014/main" val="20002"/>
                    </a:ext>
                  </a:extLst>
                </a:gridCol>
                <a:gridCol w="1879092">
                  <a:extLst>
                    <a:ext uri="{9D8B030D-6E8A-4147-A177-3AD203B41FA5}">
                      <a16:colId xmlns:a16="http://schemas.microsoft.com/office/drawing/2014/main" val="20003"/>
                    </a:ext>
                  </a:extLst>
                </a:gridCol>
                <a:gridCol w="1879092">
                  <a:extLst>
                    <a:ext uri="{9D8B030D-6E8A-4147-A177-3AD203B41FA5}">
                      <a16:colId xmlns:a16="http://schemas.microsoft.com/office/drawing/2014/main" val="20004"/>
                    </a:ext>
                  </a:extLst>
                </a:gridCol>
                <a:gridCol w="1879092">
                  <a:extLst>
                    <a:ext uri="{9D8B030D-6E8A-4147-A177-3AD203B41FA5}">
                      <a16:colId xmlns:a16="http://schemas.microsoft.com/office/drawing/2014/main" val="20005"/>
                    </a:ext>
                  </a:extLst>
                </a:gridCol>
              </a:tblGrid>
              <a:tr h="274320">
                <a:tc>
                  <a:txBody>
                    <a:bodyPr/>
                    <a:lstStyle/>
                    <a:p>
                      <a:pPr algn="l"/>
                      <a:r>
                        <a:rPr sz="850" b="1" i="0">
                          <a:solidFill>
                            <a:srgbClr val="CADCEA"/>
                          </a:solidFill>
                          <a:latin typeface="Calibri"/>
                        </a:rPr>
                        <a:t>DOCUMENT</a:t>
                      </a:r>
                    </a:p>
                  </a:txBody>
                  <a:tcPr marL="73152" marR="73152" marT="36576" marB="36576" anchor="ctr">
                    <a:solidFill>
                      <a:srgbClr val="1A2130"/>
                    </a:solidFill>
                  </a:tcPr>
                </a:tc>
                <a:tc>
                  <a:txBody>
                    <a:bodyPr/>
                    <a:lstStyle/>
                    <a:p>
                      <a:pPr algn="l"/>
                      <a:r>
                        <a:rPr sz="850" b="1" i="0">
                          <a:solidFill>
                            <a:srgbClr val="CADCEA"/>
                          </a:solidFill>
                          <a:latin typeface="Calibri"/>
                        </a:rPr>
                        <a:t>VERSION</a:t>
                      </a:r>
                    </a:p>
                  </a:txBody>
                  <a:tcPr marL="73152" marR="73152" marT="36576" marB="36576" anchor="ctr">
                    <a:solidFill>
                      <a:srgbClr val="1A2130"/>
                    </a:solidFill>
                  </a:tcPr>
                </a:tc>
                <a:tc>
                  <a:txBody>
                    <a:bodyPr/>
                    <a:lstStyle/>
                    <a:p>
                      <a:pPr algn="l"/>
                      <a:r>
                        <a:rPr sz="850" b="1" i="0">
                          <a:solidFill>
                            <a:srgbClr val="CADCEA"/>
                          </a:solidFill>
                          <a:latin typeface="Calibri"/>
                        </a:rPr>
                        <a:t>OWNER</a:t>
                      </a:r>
                    </a:p>
                  </a:txBody>
                  <a:tcPr marL="73152" marR="73152" marT="36576" marB="36576" anchor="ctr">
                    <a:solidFill>
                      <a:srgbClr val="1A2130"/>
                    </a:solidFill>
                  </a:tcPr>
                </a:tc>
                <a:tc>
                  <a:txBody>
                    <a:bodyPr/>
                    <a:lstStyle/>
                    <a:p>
                      <a:pPr algn="l"/>
                      <a:r>
                        <a:rPr sz="850" b="1" i="0">
                          <a:solidFill>
                            <a:srgbClr val="CADCEA"/>
                          </a:solidFill>
                          <a:latin typeface="Calibri"/>
                        </a:rPr>
                        <a:t>APPROVED BY</a:t>
                      </a:r>
                    </a:p>
                  </a:txBody>
                  <a:tcPr marL="73152" marR="73152" marT="36576" marB="36576" anchor="ctr">
                    <a:solidFill>
                      <a:srgbClr val="1A2130"/>
                    </a:solidFill>
                  </a:tcPr>
                </a:tc>
                <a:tc>
                  <a:txBody>
                    <a:bodyPr/>
                    <a:lstStyle/>
                    <a:p>
                      <a:pPr algn="l"/>
                      <a:r>
                        <a:rPr sz="850" b="1" i="0">
                          <a:solidFill>
                            <a:srgbClr val="CADCEA"/>
                          </a:solidFill>
                          <a:latin typeface="Calibri"/>
                        </a:rPr>
                        <a:t>SUPPORTS</a:t>
                      </a:r>
                    </a:p>
                  </a:txBody>
                  <a:tcPr marL="73152" marR="73152" marT="36576" marB="36576" anchor="ctr">
                    <a:solidFill>
                      <a:srgbClr val="1A2130"/>
                    </a:solidFill>
                  </a:tcPr>
                </a:tc>
                <a:tc>
                  <a:txBody>
                    <a:bodyPr/>
                    <a:lstStyle/>
                    <a:p>
                      <a:pPr algn="l"/>
                      <a:r>
                        <a:rPr sz="850" b="1" i="0">
                          <a:solidFill>
                            <a:srgbClr val="CADCEA"/>
                          </a:solidFill>
                          <a:latin typeface="Calibri"/>
                        </a:rPr>
                        <a:t>NEXT REVIEW</a:t>
                      </a:r>
                    </a:p>
                  </a:txBody>
                  <a:tcPr marL="73152" marR="73152" marT="36576" marB="36576" anchor="ctr">
                    <a:solidFill>
                      <a:srgbClr val="1A2130"/>
                    </a:solidFill>
                  </a:tcPr>
                </a:tc>
                <a:extLst>
                  <a:ext uri="{0D108BD9-81ED-4DB2-BD59-A6C34878D82A}">
                    <a16:rowId xmlns:a16="http://schemas.microsoft.com/office/drawing/2014/main" val="10000"/>
                  </a:ext>
                </a:extLst>
              </a:tr>
              <a:tr h="411480">
                <a:tc>
                  <a:txBody>
                    <a:bodyPr/>
                    <a:lstStyle/>
                    <a:p>
                      <a:pPr algn="l"/>
                      <a:r>
                        <a:rPr sz="950" b="0" i="0">
                          <a:solidFill>
                            <a:srgbClr val="57626B"/>
                          </a:solidFill>
                          <a:latin typeface="Calibri"/>
                        </a:rPr>
                        <a:t>DG-GDL-001  Writing Business Definitions</a:t>
                      </a:r>
                    </a:p>
                  </a:txBody>
                  <a:tcPr marL="73152" marR="73152" marT="36576" marB="36576" anchor="ctr">
                    <a:solidFill>
                      <a:srgbClr val="FFFFFF"/>
                    </a:solidFill>
                  </a:tcPr>
                </a:tc>
                <a:tc>
                  <a:txBody>
                    <a:bodyPr/>
                    <a:lstStyle/>
                    <a:p>
                      <a:pPr algn="l"/>
                      <a:r>
                        <a:rPr sz="950" b="0" i="0">
                          <a:solidFill>
                            <a:srgbClr val="57626B"/>
                          </a:solidFill>
                          <a:latin typeface="Calibri"/>
                        </a:rPr>
                        <a:t>1.0</a:t>
                      </a:r>
                    </a:p>
                  </a:txBody>
                  <a:tcPr marL="73152" marR="73152" marT="36576" marB="36576" anchor="ctr">
                    <a:solidFill>
                      <a:srgbClr val="FFFFFF"/>
                    </a:solidFill>
                  </a:tcPr>
                </a:tc>
                <a:tc>
                  <a:txBody>
                    <a:bodyPr/>
                    <a:lstStyle/>
                    <a:p>
                      <a:pPr algn="l"/>
                      <a:r>
                        <a:rPr sz="950" b="0" i="0">
                          <a:solidFill>
                            <a:srgbClr val="57626B"/>
                          </a:solidFill>
                          <a:latin typeface="Calibri"/>
                        </a:rPr>
                        <a:t>Data Governance Office</a:t>
                      </a:r>
                    </a:p>
                  </a:txBody>
                  <a:tcPr marL="73152" marR="73152" marT="36576" marB="36576" anchor="ctr">
                    <a:solidFill>
                      <a:srgbClr val="FFFFFF"/>
                    </a:solidFill>
                  </a:tcPr>
                </a:tc>
                <a:tc>
                  <a:txBody>
                    <a:bodyPr/>
                    <a:lstStyle/>
                    <a:p>
                      <a:pPr algn="l"/>
                      <a:r>
                        <a:rPr sz="950" b="0" i="0">
                          <a:solidFill>
                            <a:srgbClr val="57626B"/>
                          </a:solidFill>
                          <a:latin typeface="Calibri"/>
                        </a:rPr>
                        <a:t>Head of Data Governance</a:t>
                      </a:r>
                    </a:p>
                  </a:txBody>
                  <a:tcPr marL="73152" marR="73152" marT="36576" marB="36576" anchor="ctr">
                    <a:solidFill>
                      <a:srgbClr val="FFFFFF"/>
                    </a:solidFill>
                  </a:tcPr>
                </a:tc>
                <a:tc>
                  <a:txBody>
                    <a:bodyPr/>
                    <a:lstStyle/>
                    <a:p>
                      <a:pPr algn="l"/>
                      <a:r>
                        <a:rPr sz="950" b="0" i="0">
                          <a:solidFill>
                            <a:srgbClr val="57626B"/>
                          </a:solidFill>
                          <a:latin typeface="Calibri"/>
                        </a:rPr>
                        <a:t>DG-PRO-002, step 3</a:t>
                      </a:r>
                    </a:p>
                  </a:txBody>
                  <a:tcPr marL="73152" marR="73152" marT="36576" marB="36576" anchor="ctr">
                    <a:solidFill>
                      <a:srgbClr val="FFFFFF"/>
                    </a:solidFill>
                  </a:tcPr>
                </a:tc>
                <a:tc>
                  <a:txBody>
                    <a:bodyPr/>
                    <a:lstStyle/>
                    <a:p>
                      <a:pPr algn="l"/>
                      <a:r>
                        <a:rPr sz="950" b="0" i="0">
                          <a:solidFill>
                            <a:srgbClr val="57626B"/>
                          </a:solidFill>
                          <a:latin typeface="Calibri"/>
                        </a:rPr>
                        <a:t>As needed</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48640" y="2103120"/>
            <a:ext cx="4206240" cy="3291840"/>
          </a:xfrm>
          <a:prstGeom prst="rect">
            <a:avLst/>
          </a:prstGeom>
          <a:noFill/>
        </p:spPr>
        <p:txBody>
          <a:bodyPr wrap="square" lIns="0" tIns="0" rIns="0" bIns="0" anchor="t">
            <a:spAutoFit/>
          </a:bodyPr>
          <a:lstStyle/>
          <a:p>
            <a:pPr algn="l"/>
            <a:r>
              <a:rPr sz="950" b="1" i="0">
                <a:solidFill>
                  <a:srgbClr val="1A2130"/>
                </a:solidFill>
                <a:latin typeface="Calibri"/>
              </a:rPr>
              <a:t>A good definition should…</a:t>
            </a:r>
          </a:p>
          <a:p>
            <a:pPr algn="l"/>
            <a:r>
              <a:rPr sz="950" b="0" i="0">
                <a:solidFill>
                  <a:srgbClr val="57626B"/>
                </a:solidFill>
                <a:latin typeface="Calibri"/>
              </a:rPr>
              <a:t>• Say what the thing is, in plain business language</a:t>
            </a:r>
          </a:p>
          <a:p>
            <a:pPr algn="l"/>
            <a:r>
              <a:rPr sz="950" b="0" i="0">
                <a:solidFill>
                  <a:srgbClr val="57626B"/>
                </a:solidFill>
                <a:latin typeface="Calibri"/>
              </a:rPr>
              <a:t>• Be specific enough to measure or test</a:t>
            </a:r>
          </a:p>
          <a:p>
            <a:pPr algn="l"/>
            <a:r>
              <a:rPr sz="950" b="0" i="0">
                <a:solidFill>
                  <a:srgbClr val="57626B"/>
                </a:solidFill>
                <a:latin typeface="Calibri"/>
              </a:rPr>
              <a:t>• State the time basis (e.g., “as of the business date”)</a:t>
            </a:r>
          </a:p>
          <a:p>
            <a:pPr algn="l"/>
            <a:r>
              <a:rPr sz="950" b="0" i="0">
                <a:solidFill>
                  <a:srgbClr val="57626B"/>
                </a:solidFill>
                <a:latin typeface="Calibri"/>
              </a:rPr>
              <a:t>• Say what is included and excluded</a:t>
            </a:r>
          </a:p>
          <a:p>
            <a:pPr algn="l"/>
            <a:r>
              <a:rPr sz="950" b="0" i="0">
                <a:solidFill>
                  <a:srgbClr val="57626B"/>
                </a:solidFill>
                <a:latin typeface="Calibri"/>
              </a:rPr>
              <a:t>• Include units and reset rules where relevant</a:t>
            </a:r>
          </a:p>
          <a:p>
            <a:pPr algn="l"/>
            <a:r>
              <a:rPr sz="950" b="0" i="0">
                <a:solidFill>
                  <a:srgbClr val="57626B"/>
                </a:solidFill>
                <a:latin typeface="Calibri"/>
              </a:rPr>
              <a:t>• Stand alone without system or field names</a:t>
            </a:r>
          </a:p>
          <a:p>
            <a:pPr algn="l"/>
            <a:r>
              <a:rPr sz="950" b="0" i="0">
                <a:solidFill>
                  <a:srgbClr val="57626B"/>
                </a:solidFill>
                <a:latin typeface="Calibri"/>
              </a:rPr>
              <a:t>• Stay under about 50 words</a:t>
            </a:r>
          </a:p>
          <a:p>
            <a:pPr algn="l"/>
            <a:r>
              <a:rPr sz="950" b="0" i="0">
                <a:solidFill>
                  <a:srgbClr val="57626B"/>
                </a:solidFill>
                <a:latin typeface="Calibri"/>
              </a:rPr>
              <a:t> </a:t>
            </a:r>
          </a:p>
          <a:p>
            <a:pPr algn="l"/>
            <a:r>
              <a:rPr sz="950" b="1" i="0">
                <a:solidFill>
                  <a:srgbClr val="9A3324"/>
                </a:solidFill>
                <a:latin typeface="Calibri"/>
              </a:rPr>
              <a:t>It should avoid…</a:t>
            </a:r>
          </a:p>
          <a:p>
            <a:pPr algn="l"/>
            <a:r>
              <a:rPr sz="950" b="0" i="0">
                <a:solidFill>
                  <a:srgbClr val="57626B"/>
                </a:solidFill>
                <a:latin typeface="Calibri"/>
              </a:rPr>
              <a:t>• Circular wording (“DPD: days past due”)</a:t>
            </a:r>
          </a:p>
          <a:p>
            <a:pPr algn="l"/>
            <a:r>
              <a:rPr sz="950" b="0" i="0">
                <a:solidFill>
                  <a:srgbClr val="57626B"/>
                </a:solidFill>
                <a:latin typeface="Calibri"/>
              </a:rPr>
              <a:t>• Describing where the data is stored</a:t>
            </a:r>
          </a:p>
          <a:p>
            <a:pPr algn="l"/>
            <a:r>
              <a:rPr sz="950" b="0" i="0">
                <a:solidFill>
                  <a:srgbClr val="57626B"/>
                </a:solidFill>
                <a:latin typeface="Calibri"/>
              </a:rPr>
              <a:t>• Two meanings for one term</a:t>
            </a:r>
          </a:p>
        </p:txBody>
      </p:sp>
      <p:graphicFrame>
        <p:nvGraphicFramePr>
          <p:cNvPr id="8" name="Table 7"/>
          <p:cNvGraphicFramePr>
            <a:graphicFrameLocks noGrp="1"/>
          </p:cNvGraphicFramePr>
          <p:nvPr/>
        </p:nvGraphicFramePr>
        <p:xfrm>
          <a:off x="4937760" y="2103120"/>
          <a:ext cx="6903719" cy="24231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274320">
                <a:tc>
                  <a:txBody>
                    <a:bodyPr/>
                    <a:lstStyle/>
                    <a:p>
                      <a:pPr algn="l"/>
                      <a:r>
                        <a:rPr sz="850" b="1" i="0">
                          <a:solidFill>
                            <a:srgbClr val="CADCEA"/>
                          </a:solidFill>
                          <a:latin typeface="Calibri"/>
                        </a:rPr>
                        <a:t>TERM</a:t>
                      </a:r>
                    </a:p>
                  </a:txBody>
                  <a:tcPr marL="73152" marR="73152" marT="36576" marB="36576" anchor="ctr">
                    <a:solidFill>
                      <a:srgbClr val="1A2130"/>
                    </a:solidFill>
                  </a:tcPr>
                </a:tc>
                <a:tc>
                  <a:txBody>
                    <a:bodyPr/>
                    <a:lstStyle/>
                    <a:p>
                      <a:pPr algn="l"/>
                      <a:r>
                        <a:rPr sz="850" b="1" i="0">
                          <a:solidFill>
                            <a:srgbClr val="CADCEA"/>
                          </a:solidFill>
                          <a:latin typeface="Calibri"/>
                        </a:rPr>
                        <a:t>POOR DEFINITION</a:t>
                      </a:r>
                    </a:p>
                  </a:txBody>
                  <a:tcPr marL="73152" marR="73152" marT="36576" marB="36576" anchor="ctr">
                    <a:solidFill>
                      <a:srgbClr val="1A2130"/>
                    </a:solidFill>
                  </a:tcPr>
                </a:tc>
                <a:tc>
                  <a:txBody>
                    <a:bodyPr/>
                    <a:lstStyle/>
                    <a:p>
                      <a:pPr algn="l"/>
                      <a:r>
                        <a:rPr sz="850" b="1" i="0">
                          <a:solidFill>
                            <a:srgbClr val="CADCEA"/>
                          </a:solidFill>
                          <a:latin typeface="Calibri"/>
                        </a:rPr>
                        <a:t>BETTER DEFINITION</a:t>
                      </a:r>
                    </a:p>
                  </a:txBody>
                  <a:tcPr marL="73152" marR="73152" marT="36576" marB="36576" anchor="ctr">
                    <a:solidFill>
                      <a:srgbClr val="1A2130"/>
                    </a:solidFill>
                  </a:tcPr>
                </a:tc>
                <a:extLst>
                  <a:ext uri="{0D108BD9-81ED-4DB2-BD59-A6C34878D82A}">
                    <a16:rowId xmlns:a16="http://schemas.microsoft.com/office/drawing/2014/main" val="10000"/>
                  </a:ext>
                </a:extLst>
              </a:tr>
              <a:tr h="868680">
                <a:tc>
                  <a:txBody>
                    <a:bodyPr/>
                    <a:lstStyle/>
                    <a:p>
                      <a:pPr algn="l"/>
                      <a:r>
                        <a:rPr sz="950" b="1" i="0">
                          <a:solidFill>
                            <a:srgbClr val="1A2130"/>
                          </a:solidFill>
                          <a:latin typeface="Calibri"/>
                        </a:rPr>
                        <a:t>Days past due</a:t>
                      </a:r>
                    </a:p>
                  </a:txBody>
                  <a:tcPr marL="73152" marR="73152" marT="36576" marB="36576" anchor="ctr">
                    <a:solidFill>
                      <a:srgbClr val="FFFFFF"/>
                    </a:solidFill>
                  </a:tcPr>
                </a:tc>
                <a:tc>
                  <a:txBody>
                    <a:bodyPr/>
                    <a:lstStyle/>
                    <a:p>
                      <a:pPr algn="l"/>
                      <a:r>
                        <a:rPr sz="950" b="0" i="0">
                          <a:solidFill>
                            <a:srgbClr val="57626B"/>
                          </a:solidFill>
                          <a:latin typeface="Calibri"/>
                        </a:rPr>
                        <a:t>Days past due on the loan.</a:t>
                      </a:r>
                    </a:p>
                  </a:txBody>
                  <a:tcPr marL="73152" marR="73152" marT="36576" marB="36576" anchor="ctr">
                    <a:solidFill>
                      <a:srgbClr val="F5D9D4"/>
                    </a:solidFill>
                  </a:tcPr>
                </a:tc>
                <a:tc>
                  <a:txBody>
                    <a:bodyPr/>
                    <a:lstStyle/>
                    <a:p>
                      <a:pPr algn="l"/>
                      <a:r>
                        <a:rPr sz="950" b="0" i="0">
                          <a:solidFill>
                            <a:srgbClr val="57626B"/>
                          </a:solidFill>
                          <a:latin typeface="Calibri"/>
                        </a:rPr>
                        <a:t>The number of calendar days since the oldest unpaid scheduled payment due date, as of the business date. Resets to zero when all past-due amounts are paid.</a:t>
                      </a:r>
                    </a:p>
                  </a:txBody>
                  <a:tcPr marL="73152" marR="73152" marT="36576" marB="36576" anchor="ctr">
                    <a:solidFill>
                      <a:srgbClr val="DCEFE9"/>
                    </a:solidFill>
                  </a:tcPr>
                </a:tc>
                <a:extLst>
                  <a:ext uri="{0D108BD9-81ED-4DB2-BD59-A6C34878D82A}">
                    <a16:rowId xmlns:a16="http://schemas.microsoft.com/office/drawing/2014/main" val="10001"/>
                  </a:ext>
                </a:extLst>
              </a:tr>
              <a:tr h="731520">
                <a:tc>
                  <a:txBody>
                    <a:bodyPr/>
                    <a:lstStyle/>
                    <a:p>
                      <a:pPr algn="l"/>
                      <a:r>
                        <a:rPr sz="950" b="1" i="0">
                          <a:solidFill>
                            <a:srgbClr val="1A2130"/>
                          </a:solidFill>
                          <a:latin typeface="Calibri"/>
                        </a:rPr>
                        <a:t>Active loan</a:t>
                      </a:r>
                    </a:p>
                  </a:txBody>
                  <a:tcPr marL="73152" marR="73152" marT="36576" marB="36576" anchor="ctr">
                    <a:solidFill>
                      <a:srgbClr val="F4F6F2"/>
                    </a:solidFill>
                  </a:tcPr>
                </a:tc>
                <a:tc>
                  <a:txBody>
                    <a:bodyPr/>
                    <a:lstStyle/>
                    <a:p>
                      <a:pPr algn="l"/>
                      <a:r>
                        <a:rPr sz="950" b="0" i="0">
                          <a:solidFill>
                            <a:srgbClr val="57626B"/>
                          </a:solidFill>
                          <a:latin typeface="Calibri"/>
                        </a:rPr>
                        <a:t>A loan that is active.</a:t>
                      </a:r>
                    </a:p>
                  </a:txBody>
                  <a:tcPr marL="73152" marR="73152" marT="36576" marB="36576" anchor="ctr">
                    <a:solidFill>
                      <a:srgbClr val="F5D9D4"/>
                    </a:solidFill>
                  </a:tcPr>
                </a:tc>
                <a:tc>
                  <a:txBody>
                    <a:bodyPr/>
                    <a:lstStyle/>
                    <a:p>
                      <a:pPr algn="l"/>
                      <a:r>
                        <a:rPr sz="950" b="0" i="0">
                          <a:solidFill>
                            <a:srgbClr val="57626B"/>
                          </a:solidFill>
                          <a:latin typeface="Calibri"/>
                        </a:rPr>
                        <a:t>A funded loan with a principal balance above zero that is not charged off or paid off, as of the business date.</a:t>
                      </a:r>
                    </a:p>
                  </a:txBody>
                  <a:tcPr marL="73152" marR="73152" marT="36576" marB="36576" anchor="ctr">
                    <a:solidFill>
                      <a:srgbClr val="DCEFE9"/>
                    </a:solidFill>
                  </a:tcPr>
                </a:tc>
                <a:extLst>
                  <a:ext uri="{0D108BD9-81ED-4DB2-BD59-A6C34878D82A}">
                    <a16:rowId xmlns:a16="http://schemas.microsoft.com/office/drawing/2014/main" val="10002"/>
                  </a:ext>
                </a:extLst>
              </a:tr>
              <a:tr h="548640">
                <a:tc>
                  <a:txBody>
                    <a:bodyPr/>
                    <a:lstStyle/>
                    <a:p>
                      <a:pPr algn="l"/>
                      <a:r>
                        <a:rPr sz="950" b="1" i="0">
                          <a:solidFill>
                            <a:srgbClr val="1A2130"/>
                          </a:solidFill>
                          <a:latin typeface="Calibri"/>
                        </a:rPr>
                        <a:t>Charge-off amount</a:t>
                      </a:r>
                    </a:p>
                  </a:txBody>
                  <a:tcPr marL="73152" marR="73152" marT="36576" marB="36576" anchor="ctr">
                    <a:solidFill>
                      <a:srgbClr val="FFFFFF"/>
                    </a:solidFill>
                  </a:tcPr>
                </a:tc>
                <a:tc>
                  <a:txBody>
                    <a:bodyPr/>
                    <a:lstStyle/>
                    <a:p>
                      <a:pPr algn="l"/>
                      <a:r>
                        <a:rPr sz="950" b="0" i="0">
                          <a:solidFill>
                            <a:srgbClr val="57626B"/>
                          </a:solidFill>
                          <a:latin typeface="Calibri"/>
                        </a:rPr>
                        <a:t>The amount in the CO_AMT field in servicing.</a:t>
                      </a:r>
                    </a:p>
                  </a:txBody>
                  <a:tcPr marL="73152" marR="73152" marT="36576" marB="36576" anchor="ctr">
                    <a:solidFill>
                      <a:srgbClr val="F5D9D4"/>
                    </a:solidFill>
                  </a:tcPr>
                </a:tc>
                <a:tc>
                  <a:txBody>
                    <a:bodyPr/>
                    <a:lstStyle/>
                    <a:p>
                      <a:pPr algn="l"/>
                      <a:r>
                        <a:rPr sz="950" b="0" i="0">
                          <a:solidFill>
                            <a:srgbClr val="57626B"/>
                          </a:solidFill>
                          <a:latin typeface="Calibri"/>
                        </a:rPr>
                        <a:t>The loan balance written off as uncollectible on the charge-off date.</a:t>
                      </a:r>
                    </a:p>
                  </a:txBody>
                  <a:tcPr marL="73152" marR="73152" marT="36576" marB="36576" anchor="ctr">
                    <a:solidFill>
                      <a:srgbClr val="DCEFE9"/>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4937760" y="4663440"/>
            <a:ext cx="6766560" cy="731520"/>
          </a:xfrm>
          <a:prstGeom prst="rect">
            <a:avLst/>
          </a:prstGeom>
          <a:noFill/>
        </p:spPr>
        <p:txBody>
          <a:bodyPr wrap="square" lIns="0" tIns="0" rIns="0" bIns="0" anchor="t">
            <a:spAutoFit/>
          </a:bodyPr>
          <a:lstStyle/>
          <a:p>
            <a:pPr algn="l"/>
            <a:r>
              <a:rPr sz="950" b="1" i="0">
                <a:solidFill>
                  <a:srgbClr val="1A2130"/>
                </a:solidFill>
                <a:latin typeface="Calibri"/>
              </a:rPr>
              <a:t>Why the poor ones fail: </a:t>
            </a:r>
            <a:r>
              <a:rPr sz="950" b="0" i="0">
                <a:solidFill>
                  <a:srgbClr val="57626B"/>
                </a:solidFill>
                <a:latin typeface="Calibri"/>
              </a:rPr>
              <a:t>the first two are circular; the third describes a system field, so it breaks if the system changes and means nothing to a business reader.</a:t>
            </a:r>
          </a:p>
        </p:txBody>
      </p:sp>
      <p:sp>
        <p:nvSpPr>
          <p:cNvPr id="10" name="TextBox 9"/>
          <p:cNvSpPr txBox="1"/>
          <p:nvPr/>
        </p:nvSpPr>
        <p:spPr>
          <a:xfrm>
            <a:off x="548640" y="5577840"/>
            <a:ext cx="11064240" cy="731520"/>
          </a:xfrm>
          <a:prstGeom prst="rect">
            <a:avLst/>
          </a:prstGeom>
          <a:noFill/>
        </p:spPr>
        <p:txBody>
          <a:bodyPr wrap="square" lIns="0" tIns="0" rIns="0" bIns="0" anchor="t">
            <a:spAutoFit/>
          </a:bodyPr>
          <a:lstStyle/>
          <a:p>
            <a:pPr algn="l"/>
            <a:r>
              <a:rPr sz="950" b="1" i="0">
                <a:solidFill>
                  <a:srgbClr val="1A2130"/>
                </a:solidFill>
                <a:latin typeface="Calibri"/>
              </a:rPr>
              <a:t>Note  </a:t>
            </a:r>
            <a:r>
              <a:rPr sz="950" b="0" i="0">
                <a:solidFill>
                  <a:srgbClr val="57626B"/>
                </a:solidFill>
                <a:latin typeface="Calibri"/>
              </a:rPr>
              <a:t>Departing from a guideline does not need an exception, unlike a policy, standard or procedure. The Data Steward still owns the final wording, and the Data Owner approves it.</a:t>
            </a:r>
          </a:p>
        </p:txBody>
      </p:sp>
      <p:sp>
        <p:nvSpPr>
          <p:cNvPr id="11" name="TextBox 10"/>
          <p:cNvSpPr txBox="1"/>
          <p:nvPr/>
        </p:nvSpPr>
        <p:spPr>
          <a:xfrm>
            <a:off x="457200" y="6473952"/>
            <a:ext cx="11247120" cy="228600"/>
          </a:xfrm>
          <a:prstGeom prst="rect">
            <a:avLst/>
          </a:prstGeom>
          <a:noFill/>
        </p:spPr>
        <p:txBody>
          <a:bodyPr wrap="square" lIns="0" tIns="0" rIns="0" bIns="0" anchor="t">
            <a:spAutoFit/>
          </a:bodyPr>
          <a:lstStyle/>
          <a:p>
            <a:pPr algn="r"/>
            <a:r>
              <a:rPr sz="900" b="0" i="1">
                <a:solidFill>
                  <a:srgbClr val="57626B"/>
                </a:solidFill>
                <a:latin typeface="Calibri"/>
              </a:rPr>
              <a:t>Data Governance Policies: Executive Overview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4513</Words>
  <Application>Microsoft Office PowerPoint</Application>
  <PresentationFormat>Widescreen</PresentationFormat>
  <Paragraphs>691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 Franco</cp:lastModifiedBy>
  <cp:revision>2</cp:revision>
  <dcterms:created xsi:type="dcterms:W3CDTF">2013-01-27T09:14:16Z</dcterms:created>
  <dcterms:modified xsi:type="dcterms:W3CDTF">2026-09-25T14:51:33Z</dcterms:modified>
  <cp:category/>
</cp:coreProperties>
</file>