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1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mbria"/>
              </a:rPr>
              <a:t>Subledger → Journal Entry → General Ledger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 i="0">
                <a:solidFill>
                  <a:srgbClr val="CADCEA"/>
                </a:solidFill>
                <a:latin typeface="Cambria"/>
              </a:rPr>
              <a:t>The Daily Accounting Flow, with Reconciliation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270248" y="2971800"/>
            <a:ext cx="3657600" cy="0"/>
          </a:xfrm>
          <a:prstGeom prst="line">
            <a:avLst/>
          </a:prstGeom>
          <a:ln w="19050">
            <a:solidFill>
              <a:srgbClr val="CA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" y="310896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0" i="0">
                <a:solidFill>
                  <a:srgbClr val="CADCEA"/>
                </a:solidFill>
                <a:latin typeface="Calibri"/>
              </a:rPr>
              <a:t>Subledgers · Journal Entries · General Ledger · Reconciliation · Trial Balance · Group Controller · Financial Statements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8932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57626B"/>
                </a:solidFill>
                <a:latin typeface="Calibri"/>
              </a:rPr>
              <a:t>Record-to-Report: How the Books Close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The Big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A daily posting cycle, followed by a period-end close cycle — reconciliation checks both.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2130"/>
                </a:solidFill>
                <a:latin typeface="Courier New"/>
              </a:rPr>
              <a:t>DAILY CYCLE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265176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100" b="1" i="0">
                <a:solidFill>
                  <a:srgbClr val="1A2130"/>
                </a:solidFill>
                <a:latin typeface="Calibri"/>
              </a:rPr>
              <a:t>SUBLEDGER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554480"/>
            <a:ext cx="265176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100" b="1" i="0">
                <a:solidFill>
                  <a:srgbClr val="1A2130"/>
                </a:solidFill>
                <a:latin typeface="Calibri"/>
              </a:rPr>
              <a:t>ACCOUNTING</a:t>
            </a:r>
          </a:p>
          <a:p>
            <a:pPr algn="ctr"/>
            <a:r>
              <a:rPr sz="1100" b="1" i="0">
                <a:solidFill>
                  <a:srgbClr val="1A2130"/>
                </a:solidFill>
                <a:latin typeface="Calibri"/>
              </a:rPr>
              <a:t>ENGINE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265176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100" b="1" i="0">
                <a:solidFill>
                  <a:srgbClr val="1A2130"/>
                </a:solidFill>
                <a:latin typeface="Calibri"/>
              </a:rPr>
              <a:t>JOURNAL</a:t>
            </a:r>
          </a:p>
          <a:p>
            <a:pPr algn="ctr"/>
            <a:r>
              <a:rPr sz="1100" b="1" i="0">
                <a:solidFill>
                  <a:srgbClr val="1A2130"/>
                </a:solidFill>
                <a:latin typeface="Calibri"/>
              </a:rPr>
              <a:t>ENTRY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1554480"/>
            <a:ext cx="265176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100" b="1" i="0">
                <a:solidFill>
                  <a:srgbClr val="1A2130"/>
                </a:solidFill>
                <a:latin typeface="Calibri"/>
              </a:rPr>
              <a:t>GENERAL</a:t>
            </a:r>
          </a:p>
          <a:p>
            <a:pPr algn="ctr"/>
            <a:r>
              <a:rPr sz="1100" b="1" i="0">
                <a:solidFill>
                  <a:srgbClr val="1A2130"/>
                </a:solidFill>
                <a:latin typeface="Calibri"/>
              </a:rPr>
              <a:t>LEDGER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08960" y="1943100"/>
            <a:ext cx="228600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989320" y="1943100"/>
            <a:ext cx="228600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869680" y="1943100"/>
            <a:ext cx="228600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2423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1">
                <a:solidFill>
                  <a:srgbClr val="0E7C66"/>
                </a:solidFill>
                <a:latin typeface="Calibri"/>
              </a:rPr>
              <a:t>✓ reconciled daily: subledger totals must match GL control accounts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424160" y="2331720"/>
            <a:ext cx="0" cy="54864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1783080" y="2880360"/>
            <a:ext cx="8641080" cy="0"/>
          </a:xfrm>
          <a:prstGeom prst="line">
            <a:avLst/>
          </a:prstGeom>
          <a:ln w="15875">
            <a:solidFill>
              <a:srgbClr val="5762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783080" y="2880360"/>
            <a:ext cx="0" cy="36576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33375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2130"/>
                </a:solidFill>
                <a:latin typeface="Courier New"/>
              </a:rPr>
              <a:t>PERIOD-END CYCLE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657600"/>
            <a:ext cx="265176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100" b="1" i="0">
                <a:solidFill>
                  <a:srgbClr val="1A2130"/>
                </a:solidFill>
                <a:latin typeface="Calibri"/>
              </a:rPr>
              <a:t>TRIAL</a:t>
            </a:r>
          </a:p>
          <a:p>
            <a:pPr algn="ctr"/>
            <a:r>
              <a:rPr sz="1100" b="1" i="0">
                <a:solidFill>
                  <a:srgbClr val="1A2130"/>
                </a:solidFill>
                <a:latin typeface="Calibri"/>
              </a:rPr>
              <a:t>BALANCE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7560" y="3657600"/>
            <a:ext cx="265176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100" b="1" i="0">
                <a:solidFill>
                  <a:srgbClr val="1A2130"/>
                </a:solidFill>
                <a:latin typeface="Calibri"/>
              </a:rPr>
              <a:t>ADJUSTING</a:t>
            </a:r>
          </a:p>
          <a:p>
            <a:pPr algn="ctr"/>
            <a:r>
              <a:rPr sz="1100" b="1" i="0">
                <a:solidFill>
                  <a:srgbClr val="1A2130"/>
                </a:solidFill>
                <a:latin typeface="Calibri"/>
              </a:rPr>
              <a:t>ENTRIES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657600"/>
            <a:ext cx="265176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100" b="1" i="0">
                <a:solidFill>
                  <a:srgbClr val="1A2130"/>
                </a:solidFill>
                <a:latin typeface="Calibri"/>
              </a:rPr>
              <a:t>ADJUSTED</a:t>
            </a:r>
          </a:p>
          <a:p>
            <a:pPr algn="ctr"/>
            <a:r>
              <a:rPr sz="1100" b="1" i="0">
                <a:solidFill>
                  <a:srgbClr val="1A2130"/>
                </a:solidFill>
                <a:latin typeface="Calibri"/>
              </a:rPr>
              <a:t>TRIAL BALANCE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280" y="3657600"/>
            <a:ext cx="265176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100" b="1" i="0">
                <a:solidFill>
                  <a:srgbClr val="1A2130"/>
                </a:solidFill>
                <a:latin typeface="Calibri"/>
              </a:rPr>
              <a:t>FINANCIAL</a:t>
            </a:r>
          </a:p>
          <a:p>
            <a:pPr algn="ctr"/>
            <a:r>
              <a:rPr sz="1100" b="1" i="0">
                <a:solidFill>
                  <a:srgbClr val="1A2130"/>
                </a:solidFill>
                <a:latin typeface="Calibri"/>
              </a:rPr>
              <a:t>STATEMENTS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108960" y="4046220"/>
            <a:ext cx="228600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989320" y="4046220"/>
            <a:ext cx="228600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869680" y="4046220"/>
            <a:ext cx="228600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7200" y="45262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1">
                <a:solidFill>
                  <a:srgbClr val="0E7C66"/>
                </a:solidFill>
                <a:latin typeface="Calibri"/>
              </a:rPr>
              <a:t>✓ debits must equal credits before statements are built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120640"/>
            <a:ext cx="112471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0" i="0">
                <a:solidFill>
                  <a:srgbClr val="57626B"/>
                </a:solidFill>
                <a:latin typeface="Calibri"/>
              </a:rPr>
              <a:t>Subledgers record detailed operational activity → events generate journal entries → journal entries post to the general ledger → the GL produces the trial balance → the trial balance (after adjusting entries) produces the financial statements.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Subledgers — the operational systems of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Subledgers hold detailed transactional activity for specific business areas.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155680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3017520"/>
                <a:gridCol w="420624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SUBLEDGER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STORES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GL CONTROL ACCOUNT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2130"/>
                          </a:solidFill>
                          <a:latin typeface="Calibri"/>
                        </a:rPr>
                        <a:t>Loan subledger (Hogan, MSP, DNA)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Loan-level detail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Loans Receivable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2130"/>
                          </a:solidFill>
                          <a:latin typeface="Calibri"/>
                        </a:rPr>
                        <a:t>Accounts Receivable subledger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Customer-level detail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Accounts Receivable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2130"/>
                          </a:solidFill>
                          <a:latin typeface="Calibri"/>
                        </a:rPr>
                        <a:t>Accounts Payable subledger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Vendor-level detail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Accounts Payable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2130"/>
                          </a:solidFill>
                          <a:latin typeface="Calibri"/>
                        </a:rPr>
                        <a:t>Fixed Assets subledger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Asset-level detail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Equipment / Accum. Depreciation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2130"/>
                          </a:solidFill>
                          <a:latin typeface="Calibri"/>
                        </a:rPr>
                        <a:t>Inventory subledger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Item-level inventory detail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Inventory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2130"/>
                          </a:solidFill>
                          <a:latin typeface="Calibri"/>
                        </a:rPr>
                        <a:t>Payroll subledger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Employee-level detail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Accrued Payroll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892040"/>
            <a:ext cx="5394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E7C66"/>
                </a:solidFill>
                <a:latin typeface="Calibri"/>
              </a:rPr>
              <a:t>What subledgers store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7626B"/>
                </a:solidFill>
                <a:latin typeface="Calibri"/>
              </a:rPr>
              <a:t>• Customer-level detail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7626B"/>
                </a:solidFill>
                <a:latin typeface="Calibri"/>
              </a:rPr>
              <a:t>• Loan-level detail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7626B"/>
                </a:solidFill>
                <a:latin typeface="Calibri"/>
              </a:rPr>
              <a:t>• Vendor-level detail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7626B"/>
                </a:solidFill>
                <a:latin typeface="Calibri"/>
              </a:rPr>
              <a:t>• Asset-level detail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7626B"/>
                </a:solidFill>
                <a:latin typeface="Calibri"/>
              </a:rPr>
              <a:t>• Item-level inventory detail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4892040"/>
            <a:ext cx="5394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9A3324"/>
                </a:solidFill>
                <a:latin typeface="Calibri"/>
              </a:rPr>
              <a:t>What subledgers do NOT store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7626B"/>
                </a:solidFill>
                <a:latin typeface="Calibri"/>
              </a:rPr>
              <a:t>• Debits and credits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7626B"/>
                </a:solidFill>
                <a:latin typeface="Calibri"/>
              </a:rPr>
              <a:t>• Financial statement balances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7626B"/>
                </a:solidFill>
                <a:latin typeface="Calibri"/>
              </a:rPr>
              <a:t>• GAAP adjustments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7626B"/>
                </a:solidFill>
                <a:latin typeface="Calibri"/>
              </a:rPr>
              <a:t>• Closing entries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1">
                <a:solidFill>
                  <a:srgbClr val="1A2130"/>
                </a:solidFill>
                <a:latin typeface="Calibri"/>
              </a:rPr>
              <a:t>Subledgers are operational, not financial.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Subledger activity generates accounting events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Each event triggers a pre-configured accounting rule.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5029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7626B"/>
                </a:solidFill>
                <a:latin typeface="Calibri"/>
              </a:rPr>
              <a:t>• Loan payment posted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01368"/>
            <a:ext cx="5029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7626B"/>
                </a:solidFill>
                <a:latin typeface="Calibri"/>
              </a:rPr>
              <a:t>• Interest accrued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85416"/>
            <a:ext cx="5029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7626B"/>
                </a:solidFill>
                <a:latin typeface="Calibri"/>
              </a:rPr>
              <a:t>• Invoice created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69464"/>
            <a:ext cx="5029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7626B"/>
                </a:solidFill>
                <a:latin typeface="Calibri"/>
              </a:rPr>
              <a:t>• Vendor bill received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53512"/>
            <a:ext cx="5029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7626B"/>
                </a:solidFill>
                <a:latin typeface="Calibri"/>
              </a:rPr>
              <a:t>• Asset depreciated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37560"/>
            <a:ext cx="5029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7626B"/>
                </a:solidFill>
                <a:latin typeface="Calibri"/>
              </a:rPr>
              <a:t>• Inventory sold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9476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57626B"/>
                </a:solidFill>
                <a:latin typeface="Calibri"/>
              </a:rPr>
              <a:t>Each event triggers an accounting rule, pre-configured in the subledger or middleware (e.g., an accounting engine).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4173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2130"/>
                </a:solidFill>
                <a:latin typeface="Courier New"/>
              </a:rPr>
              <a:t>EXAMPLE — LOAN INTEREST ACCRUAL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783080"/>
            <a:ext cx="512064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1150" b="0" i="0">
                <a:solidFill>
                  <a:srgbClr val="1A2130"/>
                </a:solidFill>
                <a:latin typeface="Calibri"/>
              </a:rPr>
              <a:t>Subledger event:</a:t>
            </a:r>
          </a:p>
          <a:p>
            <a:pPr algn="l"/>
            <a:r>
              <a:rPr sz="1150" b="0" i="0">
                <a:solidFill>
                  <a:srgbClr val="1A2130"/>
                </a:solidFill>
                <a:latin typeface="Calibri"/>
              </a:rPr>
              <a:t>Loan #123 accrues $45 interest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86800" y="2468880"/>
            <a:ext cx="0" cy="41148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126480" y="297180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A2130"/>
                </a:solidFill>
                <a:latin typeface="Cambria"/>
              </a:rPr>
              <a:t>Accounting rule (journal entry):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126480" y="3291840"/>
          <a:ext cx="5120639" cy="978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199"/>
                <a:gridCol w="1188720"/>
                <a:gridCol w="1188720"/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Account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Debit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Credit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Dr Interest Receivable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    Cr Interest Income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Journal entries are created — automatically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Journal entries are summaries of subledger activity.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611880" cy="105156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SUBLEDGER'S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ACCOUNTING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14600"/>
            <a:ext cx="3611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57626B"/>
                </a:solidFill>
                <a:latin typeface="Calibri"/>
              </a:rPr>
              <a:t>Hogan, MSP, DNA,</a:t>
            </a:r>
          </a:p>
          <a:p>
            <a:pPr algn="ctr"/>
            <a:r>
              <a:rPr sz="950" b="0" i="0">
                <a:solidFill>
                  <a:srgbClr val="57626B"/>
                </a:solidFill>
                <a:latin typeface="Calibri"/>
              </a:rPr>
              <a:t>SAP FI-AA, Oracle FA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371600"/>
            <a:ext cx="3611880" cy="105156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MIDDLEWARE /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ACCOUNTING 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514600"/>
            <a:ext cx="3611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57626B"/>
                </a:solidFill>
                <a:latin typeface="Calibri"/>
              </a:rPr>
              <a:t>SAP Central Finance,</a:t>
            </a:r>
          </a:p>
          <a:p>
            <a:pPr algn="ctr"/>
            <a:r>
              <a:rPr sz="950" b="0" i="0">
                <a:solidFill>
                  <a:srgbClr val="57626B"/>
                </a:solidFill>
                <a:latin typeface="Calibri"/>
              </a:rPr>
              <a:t>Oracle Accounting Hub,</a:t>
            </a:r>
          </a:p>
          <a:p>
            <a:pPr algn="ctr"/>
            <a:r>
              <a:rPr sz="950" b="0" i="0">
                <a:solidFill>
                  <a:srgbClr val="57626B"/>
                </a:solidFill>
                <a:latin typeface="Calibri"/>
              </a:rPr>
              <a:t>Workday Accounting Center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371600"/>
            <a:ext cx="3611880" cy="105156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ERP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0" y="2514600"/>
            <a:ext cx="3611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57626B"/>
                </a:solidFill>
                <a:latin typeface="Calibri"/>
              </a:rPr>
              <a:t>SAP FI, Oracle GL,</a:t>
            </a:r>
          </a:p>
          <a:p>
            <a:pPr algn="ctr"/>
            <a:r>
              <a:rPr sz="950" b="0" i="0">
                <a:solidFill>
                  <a:srgbClr val="57626B"/>
                </a:solidFill>
                <a:latin typeface="Calibri"/>
              </a:rPr>
              <a:t>Workday Financials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2044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A2130"/>
                </a:solidFill>
                <a:latin typeface="Cambria"/>
              </a:rPr>
              <a:t>Example JE — from A/R subledger: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840480"/>
          <a:ext cx="5394960" cy="978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188720"/>
                <a:gridCol w="1188720"/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Account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Debit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Credit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Dr Accounts Receivable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12,000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    Cr Revenue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12,000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126480" y="352044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A2130"/>
                </a:solidFill>
                <a:latin typeface="Cambria"/>
              </a:rPr>
              <a:t>Example JE — from Fixed Assets subledger: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126480" y="3840480"/>
          <a:ext cx="5394960" cy="978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188720"/>
                <a:gridCol w="1188720"/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Account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Debit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Credit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Dr Depreciation Expense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8,000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    Cr Accumulated Depreciation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8,000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1">
                <a:solidFill>
                  <a:srgbClr val="1A2130"/>
                </a:solidFill>
                <a:latin typeface="Calibri"/>
              </a:rPr>
              <a:t>These entries follow double-entry accounting and are ready to post to the GL.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Journal entries flow to the General Ledger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This is the daily feed.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21488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0" i="0">
                <a:solidFill>
                  <a:srgbClr val="1A2130"/>
                </a:solidFill>
                <a:latin typeface="Calibri"/>
              </a:rPr>
              <a:t>Subledger produces</a:t>
            </a:r>
          </a:p>
          <a:p>
            <a:pPr algn="ctr"/>
            <a:r>
              <a:rPr sz="950" b="0" i="0">
                <a:solidFill>
                  <a:srgbClr val="1A2130"/>
                </a:solidFill>
                <a:latin typeface="Calibri"/>
              </a:rPr>
              <a:t>accounting events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606040" y="1874519"/>
            <a:ext cx="100584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706624" y="1417320"/>
            <a:ext cx="21488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0" i="0">
                <a:solidFill>
                  <a:srgbClr val="1A2130"/>
                </a:solidFill>
                <a:latin typeface="Calibri"/>
              </a:rPr>
              <a:t>Accounting engine converts</a:t>
            </a:r>
          </a:p>
          <a:p>
            <a:pPr algn="ctr"/>
            <a:r>
              <a:rPr sz="950" b="0" i="0">
                <a:solidFill>
                  <a:srgbClr val="1A2130"/>
                </a:solidFill>
                <a:latin typeface="Calibri"/>
              </a:rPr>
              <a:t>events → journal entries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855464" y="1874519"/>
            <a:ext cx="100584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956048" y="1417320"/>
            <a:ext cx="21488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0" i="0">
                <a:solidFill>
                  <a:srgbClr val="1A2130"/>
                </a:solidFill>
                <a:latin typeface="Calibri"/>
              </a:rPr>
              <a:t>Journal entries are validated</a:t>
            </a:r>
          </a:p>
          <a:p>
            <a:pPr algn="ctr"/>
            <a:r>
              <a:rPr sz="950" b="0" i="0">
                <a:solidFill>
                  <a:srgbClr val="1A2130"/>
                </a:solidFill>
                <a:latin typeface="Calibri"/>
              </a:rPr>
              <a:t>(debits = credits)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104888" y="1874519"/>
            <a:ext cx="100584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205472" y="1417320"/>
            <a:ext cx="21488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0" i="0">
                <a:solidFill>
                  <a:srgbClr val="1A2130"/>
                </a:solidFill>
                <a:latin typeface="Calibri"/>
              </a:rPr>
              <a:t>Journal entries are</a:t>
            </a:r>
          </a:p>
          <a:p>
            <a:pPr algn="ctr"/>
            <a:r>
              <a:rPr sz="950" b="0" i="0">
                <a:solidFill>
                  <a:srgbClr val="1A2130"/>
                </a:solidFill>
                <a:latin typeface="Calibri"/>
              </a:rPr>
              <a:t>posted to the GL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354312" y="1874519"/>
            <a:ext cx="100584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454896" y="1417320"/>
            <a:ext cx="21488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0" i="0">
                <a:solidFill>
                  <a:srgbClr val="1A2130"/>
                </a:solidFill>
                <a:latin typeface="Calibri"/>
              </a:rPr>
              <a:t>GL account balances</a:t>
            </a:r>
          </a:p>
          <a:p>
            <a:pPr algn="ctr"/>
            <a:r>
              <a:rPr sz="950" b="0" i="0">
                <a:solidFill>
                  <a:srgbClr val="1A2130"/>
                </a:solidFill>
                <a:latin typeface="Calibri"/>
              </a:rPr>
              <a:t>update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06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1">
                <a:solidFill>
                  <a:srgbClr val="1A2130"/>
                </a:solidFill>
                <a:latin typeface="Calibri"/>
              </a:rPr>
              <a:t>The GL is the financial system of record.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1089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2130"/>
                </a:solidFill>
                <a:latin typeface="Courier New"/>
              </a:rPr>
              <a:t>WHAT THE GL STORES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520440"/>
            <a:ext cx="5394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• Cash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3520440"/>
            <a:ext cx="5394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• A/R control account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904488"/>
            <a:ext cx="5394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• A/P control account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3904488"/>
            <a:ext cx="5394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• Loans Receivable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88536"/>
            <a:ext cx="5394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• Inventory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4288536"/>
            <a:ext cx="5394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• Equipment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672584"/>
            <a:ext cx="5394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• Accumulated Depreciation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4672584"/>
            <a:ext cx="5394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• Accrued Payroll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056632"/>
            <a:ext cx="5394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• Revenue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5056632"/>
            <a:ext cx="5394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• Expenses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440680"/>
            <a:ext cx="5394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• Equity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Daily Subledger → GL Reconciliation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Every day, accounting teams reconcile subledger totals to GL control accounts.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1554480"/>
            <a:ext cx="393192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300" b="1" i="0">
                <a:solidFill>
                  <a:srgbClr val="1A2130"/>
                </a:solidFill>
                <a:latin typeface="Calibri"/>
              </a:rPr>
              <a:t>SUBLEDGER TOTAL</a:t>
            </a:r>
          </a:p>
          <a:p>
            <a:pPr algn="ctr"/>
            <a:r>
              <a:rPr sz="1300" b="0" i="0">
                <a:solidFill>
                  <a:srgbClr val="1A2130"/>
                </a:solidFill>
                <a:latin typeface="Calibri"/>
              </a:rPr>
              <a:t>A/R subledger total</a:t>
            </a:r>
          </a:p>
          <a:p>
            <a:pPr algn="ctr"/>
            <a:r>
              <a:rPr sz="1300" b="0" i="0">
                <a:solidFill>
                  <a:srgbClr val="1A2130"/>
                </a:solidFill>
                <a:latin typeface="Calibri"/>
              </a:rPr>
              <a:t>$1,250,000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1554480"/>
            <a:ext cx="393192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300" b="1" i="0">
                <a:solidFill>
                  <a:srgbClr val="1A2130"/>
                </a:solidFill>
                <a:latin typeface="Calibri"/>
              </a:rPr>
              <a:t>GL CONTROL ACCOUNT</a:t>
            </a:r>
          </a:p>
          <a:p>
            <a:pPr algn="ctr"/>
            <a:r>
              <a:rPr sz="1300" b="0" i="0">
                <a:solidFill>
                  <a:srgbClr val="1A2130"/>
                </a:solidFill>
                <a:latin typeface="Calibri"/>
              </a:rPr>
              <a:t>GL Accounts Receivable</a:t>
            </a:r>
          </a:p>
          <a:p>
            <a:pPr algn="ctr"/>
            <a:r>
              <a:rPr sz="1300" b="0" i="0">
                <a:solidFill>
                  <a:srgbClr val="1A2130"/>
                </a:solidFill>
                <a:latin typeface="Calibri"/>
              </a:rPr>
              <a:t>$1,250,000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120640" y="2148840"/>
            <a:ext cx="1920240" cy="0"/>
          </a:xfrm>
          <a:prstGeom prst="line">
            <a:avLst/>
          </a:prstGeom>
          <a:ln w="25400">
            <a:solidFill>
              <a:srgbClr val="0E7C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120640" y="228600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0E7C66"/>
                </a:solidFill>
                <a:latin typeface="Calibri"/>
              </a:rPr>
              <a:t>=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063240"/>
            <a:ext cx="3383280" cy="54864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400" b="1" i="0">
                <a:solidFill>
                  <a:srgbClr val="0E7C66"/>
                </a:solidFill>
                <a:latin typeface="Calibri"/>
              </a:rPr>
              <a:t>✓  Balanced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233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9A3324"/>
                </a:solidFill>
                <a:latin typeface="Courier New"/>
              </a:rPr>
              <a:t>IF NOT BALANCED, INVESTIGATE: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34840"/>
            <a:ext cx="5394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• Missing journal entries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4434840"/>
            <a:ext cx="5394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• Failed interface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18888"/>
            <a:ext cx="5394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• Timing differences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4818888"/>
            <a:ext cx="5394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• Incorrect accounting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02936"/>
            <a:ext cx="5394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• Subledger errors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1">
                <a:solidFill>
                  <a:srgbClr val="1A2130"/>
                </a:solidFill>
                <a:latin typeface="Calibri"/>
              </a:rPr>
              <a:t>Daily recon prevents month-end surprises.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The Role of the Group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The oversight layer that ties subledger reconciliation, the close, and the GL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1">
                <a:solidFill>
                  <a:srgbClr val="57626B"/>
                </a:solidFill>
                <a:latin typeface="Calibri"/>
              </a:rPr>
              <a:t>Owns the integrity of the consolidated General Ledger across every subledger and entity in the group.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2130"/>
                </a:solidFill>
                <a:latin typeface="Courier New"/>
              </a:rPr>
              <a:t>RESPONSIBILITIES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53949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7626B"/>
                </a:solidFill>
                <a:latin typeface="Calibri"/>
              </a:rPr>
              <a:t>• Sets reconciliation policy and the close calendar across all subledgers and entities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2240280"/>
            <a:ext cx="53949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7626B"/>
                </a:solidFill>
                <a:latin typeface="Calibri"/>
              </a:rPr>
              <a:t>• Ensures every subledger owner performs and signs off on daily/monthly reconciliation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07208"/>
            <a:ext cx="53949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7626B"/>
                </a:solidFill>
                <a:latin typeface="Calibri"/>
              </a:rPr>
              <a:t>• Reviews and approves reconciliations for material control accounts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2807208"/>
            <a:ext cx="53949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7626B"/>
                </a:solidFill>
                <a:latin typeface="Calibri"/>
              </a:rPr>
              <a:t>• Escalates and resolves reconciliation breaks and aged items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74136"/>
            <a:ext cx="53949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7626B"/>
                </a:solidFill>
                <a:latin typeface="Calibri"/>
              </a:rPr>
              <a:t>• Approves manual and adjusting journal entries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3374136"/>
            <a:ext cx="53949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7626B"/>
                </a:solidFill>
                <a:latin typeface="Calibri"/>
              </a:rPr>
              <a:t>• Owns SOX / internal-control compliance over the close 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41064"/>
            <a:ext cx="53949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7626B"/>
                </a:solidFill>
                <a:latin typeface="Calibri"/>
              </a:rPr>
              <a:t>• Signs off on the trial balance before financial statements are issued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177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2130"/>
                </a:solidFill>
                <a:latin typeface="Courier New"/>
              </a:rPr>
              <a:t>THE OVERSIGHT CHAIN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937760"/>
            <a:ext cx="265176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1" i="0">
                <a:solidFill>
                  <a:srgbClr val="1A2130"/>
                </a:solidFill>
                <a:latin typeface="Calibri"/>
              </a:rPr>
              <a:t>SUBLEDGER</a:t>
            </a:r>
          </a:p>
          <a:p>
            <a:pPr algn="ctr"/>
            <a:r>
              <a:rPr sz="950" b="1" i="0">
                <a:solidFill>
                  <a:srgbClr val="1A2130"/>
                </a:solidFill>
                <a:latin typeface="Calibri"/>
              </a:rPr>
              <a:t>OWNERS</a:t>
            </a:r>
          </a:p>
          <a:p>
            <a:pPr algn="ctr"/>
            <a:r>
              <a:rPr sz="950" b="0" i="0">
                <a:solidFill>
                  <a:srgbClr val="1A2130"/>
                </a:solidFill>
                <a:latin typeface="Calibri"/>
              </a:rPr>
              <a:t>perform daily recon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08960" y="5372100"/>
            <a:ext cx="137160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246120" y="4937760"/>
            <a:ext cx="265176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1" i="0">
                <a:solidFill>
                  <a:srgbClr val="1A2130"/>
                </a:solidFill>
                <a:latin typeface="Calibri"/>
              </a:rPr>
              <a:t>CONTROLLERSHIP</a:t>
            </a:r>
          </a:p>
          <a:p>
            <a:pPr algn="ctr"/>
            <a:r>
              <a:rPr sz="950" b="1" i="0">
                <a:solidFill>
                  <a:srgbClr val="1A2130"/>
                </a:solidFill>
                <a:latin typeface="Calibri"/>
              </a:rPr>
              <a:t>TEAM</a:t>
            </a:r>
          </a:p>
          <a:p>
            <a:pPr algn="ctr"/>
            <a:r>
              <a:rPr sz="950" b="0" i="0">
                <a:solidFill>
                  <a:srgbClr val="1A2130"/>
                </a:solidFill>
                <a:latin typeface="Calibri"/>
              </a:rPr>
              <a:t>reviews exceptions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897879" y="5372100"/>
            <a:ext cx="137161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035040" y="4937760"/>
            <a:ext cx="2651760" cy="86868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GROUP</a:t>
            </a:r>
          </a:p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CONTROLLER</a:t>
            </a:r>
          </a:p>
          <a:p>
            <a:pPr algn="ctr"/>
            <a:r>
              <a:rPr sz="950" b="0" i="0">
                <a:solidFill>
                  <a:srgbClr val="CADCEA"/>
                </a:solidFill>
                <a:latin typeface="Calibri"/>
              </a:rPr>
              <a:t>approves &amp; signs off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686800" y="5372100"/>
            <a:ext cx="137160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823959" y="4937760"/>
            <a:ext cx="265176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1" i="0">
                <a:solidFill>
                  <a:srgbClr val="1A2130"/>
                </a:solidFill>
                <a:latin typeface="Calibri"/>
              </a:rPr>
              <a:t>CFO /</a:t>
            </a:r>
          </a:p>
          <a:p>
            <a:pPr algn="ctr"/>
            <a:r>
              <a:rPr sz="950" b="1" i="0">
                <a:solidFill>
                  <a:srgbClr val="1A2130"/>
                </a:solidFill>
                <a:latin typeface="Calibri"/>
              </a:rPr>
              <a:t>FINANCIAL STATEMENTS</a:t>
            </a:r>
          </a:p>
          <a:p>
            <a:pPr algn="ctr"/>
            <a:r>
              <a:rPr sz="950" b="0" i="0">
                <a:solidFill>
                  <a:srgbClr val="1A2130"/>
                </a:solidFill>
                <a:latin typeface="Calibri"/>
              </a:rPr>
              <a:t>issued to stakeholders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57626B"/>
                </a:solidFill>
                <a:latin typeface="Calibri"/>
              </a:rPr>
              <a:t>Group Controller sign-off is the last checkpoint before the trial balance advances to financial statements (see slide 11).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The Trial 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A GL-only report listing every GL account with its debit or credit balance.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1206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A2130"/>
                </a:solidFill>
                <a:latin typeface="Calibri"/>
              </a:rPr>
              <a:t>Purpose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7626B"/>
                </a:solidFill>
                <a:latin typeface="Calibri"/>
              </a:rPr>
              <a:t>• Ensure Debits = Credits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7626B"/>
                </a:solidFill>
                <a:latin typeface="Calibri"/>
              </a:rPr>
              <a:t>• Validate that the GL is internally consistent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7626B"/>
                </a:solidFill>
                <a:latin typeface="Calibri"/>
              </a:rPr>
              <a:t>• Catch one-sided or corrupted journal entries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7626B"/>
                </a:solidFill>
                <a:latin typeface="Calibri"/>
              </a:rPr>
              <a:t>• Prepare for financial statement generation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657600"/>
          <a:ext cx="6035040" cy="267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ACCOUNT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DEBIT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CREDIT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A2130"/>
                          </a:solidFill>
                          <a:latin typeface="Calibri"/>
                        </a:rPr>
                        <a:t>Cash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57626B"/>
                          </a:solidFill>
                          <a:latin typeface="Calibri"/>
                        </a:rPr>
                        <a:t>58,000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57626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A2130"/>
                          </a:solidFill>
                          <a:latin typeface="Calibri"/>
                        </a:rPr>
                        <a:t>A/R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57626B"/>
                          </a:solidFill>
                          <a:latin typeface="Calibri"/>
                        </a:rPr>
                        <a:t>50,000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57626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A2130"/>
                          </a:solidFill>
                          <a:latin typeface="Calibri"/>
                        </a:rPr>
                        <a:t>A/P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57626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57626B"/>
                          </a:solidFill>
                          <a:latin typeface="Calibri"/>
                        </a:rPr>
                        <a:t>20,000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A2130"/>
                          </a:solidFill>
                          <a:latin typeface="Calibri"/>
                        </a:rPr>
                        <a:t>Revenue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57626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57626B"/>
                          </a:solidFill>
                          <a:latin typeface="Calibri"/>
                        </a:rPr>
                        <a:t>150,000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A2130"/>
                          </a:solidFill>
                          <a:latin typeface="Calibri"/>
                        </a:rPr>
                        <a:t>Expenses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57626B"/>
                          </a:solidFill>
                          <a:latin typeface="Calibri"/>
                        </a:rPr>
                        <a:t>127,000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57626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A2130"/>
                          </a:solidFill>
                          <a:latin typeface="Calibri"/>
                        </a:rPr>
                        <a:t>TOTALS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57626B"/>
                          </a:solidFill>
                          <a:latin typeface="Calibri"/>
                        </a:rPr>
                        <a:t>235,000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57626B"/>
                          </a:solidFill>
                          <a:latin typeface="Calibri"/>
                        </a:rPr>
                        <a:t>170,000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766560" y="36576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>
                <a:solidFill>
                  <a:srgbClr val="9A3324"/>
                </a:solidFill>
                <a:latin typeface="Calibri"/>
              </a:rPr>
              <a:t>Totals must match. This example is unbalanced — a real trial balance always foots to equal debit and credit columns.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371600"/>
            <a:ext cx="56692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A2130"/>
                </a:solidFill>
                <a:latin typeface="Calibri"/>
              </a:rPr>
              <a:t>If they don't match, accountants investigate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7626B"/>
                </a:solidFill>
                <a:latin typeface="Calibri"/>
              </a:rPr>
              <a:t>• Missing entries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7626B"/>
                </a:solidFill>
                <a:latin typeface="Calibri"/>
              </a:rPr>
              <a:t>• Duplicated entries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7626B"/>
                </a:solidFill>
                <a:latin typeface="Calibri"/>
              </a:rPr>
              <a:t>• Wrong accounts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7626B"/>
                </a:solidFill>
                <a:latin typeface="Calibri"/>
              </a:rPr>
              <a:t>• Wrong periods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7626B"/>
                </a:solidFill>
                <a:latin typeface="Calibri"/>
              </a:rPr>
              <a:t>• Interface failures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Adjusting entries are posted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Before financial statements are produced, accountants adjust the trial balance.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157276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Accruals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39696" y="1554480"/>
            <a:ext cx="157276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Deferrals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22191" y="1554480"/>
            <a:ext cx="157276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Depreciation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04688" y="1554480"/>
            <a:ext cx="157276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Amortization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468880"/>
            <a:ext cx="157276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Tax adjustments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39696" y="2468880"/>
            <a:ext cx="157276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CECL provisions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22191" y="2468880"/>
            <a:ext cx="157276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FX revaluations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661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1">
                <a:solidFill>
                  <a:srgbClr val="1A2130"/>
                </a:solidFill>
                <a:latin typeface="Calibri"/>
              </a:rPr>
              <a:t>These ensure GAAP compliance.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94560" y="4206240"/>
            <a:ext cx="329184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1" i="0">
                <a:solidFill>
                  <a:srgbClr val="1A2130"/>
                </a:solidFill>
                <a:latin typeface="Calibri"/>
              </a:rPr>
              <a:t>TRIAL BALANCE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0" y="4526280"/>
            <a:ext cx="1188720" cy="0"/>
          </a:xfrm>
          <a:prstGeom prst="line">
            <a:avLst/>
          </a:prstGeom>
          <a:ln w="19050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532120" y="425196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1">
                <a:solidFill>
                  <a:srgbClr val="57626B"/>
                </a:solidFill>
                <a:latin typeface="Calibri"/>
              </a:rPr>
              <a:t>+ adjusting</a:t>
            </a:r>
          </a:p>
          <a:p>
            <a:pPr algn="ctr"/>
            <a:r>
              <a:rPr sz="850" b="0" i="1">
                <a:solidFill>
                  <a:srgbClr val="57626B"/>
                </a:solidFill>
                <a:latin typeface="Calibri"/>
              </a:rPr>
              <a:t>entries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4206240"/>
            <a:ext cx="3291840" cy="64008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ADJUSTED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TRIAL BALANCE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21208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57626B"/>
                </a:solidFill>
                <a:latin typeface="Calibri"/>
              </a:rPr>
              <a:t>The adjusted trial balance is what financial statements are built from — it reflects accruals, deferrals, depreciation, amortization, tax adjustments, CECL provisions, and FX revaluations on top of the raw posted activity.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Financial statements are generated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Built directly from the adjusted trial balance.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611880" cy="68580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INCOME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31720"/>
            <a:ext cx="36118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Shows profitability over the period.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463040"/>
            <a:ext cx="3611880" cy="68580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BALANCE SHEET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331720"/>
            <a:ext cx="36118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Shows financial position at period end.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463040"/>
            <a:ext cx="3611880" cy="68580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STATEMENT OF CASH FLOWS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0" y="2331720"/>
            <a:ext cx="36118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Reconciles beginning vs. ending cash using net income, non-cash adjustments, working capital changes, investing flows, and financing flows.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1">
                <a:solidFill>
                  <a:srgbClr val="1A2130"/>
                </a:solidFill>
                <a:latin typeface="Calibri"/>
              </a:rPr>
              <a:t>Adjusted Trial Balance → Income Statement → (net income) → Balance Sheet → (change in cash) → Statement of Cash Flows.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How everything reconciles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02920" cy="832104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Courier New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353312"/>
            <a:ext cx="10332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A2130"/>
                </a:solidFill>
                <a:latin typeface="Cambria"/>
              </a:rPr>
              <a:t>Subledger → GL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64208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Control accounts must match subledger totals.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31720"/>
            <a:ext cx="502920" cy="832104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Courier New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313432"/>
            <a:ext cx="10332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A2130"/>
                </a:solidFill>
                <a:latin typeface="Cambria"/>
              </a:rPr>
              <a:t>GL → Trial Balance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624327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Debits must equal credits.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91839"/>
            <a:ext cx="502920" cy="832104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Courier New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273551"/>
            <a:ext cx="10332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A2130"/>
                </a:solidFill>
                <a:latin typeface="Cambria"/>
              </a:rPr>
              <a:t>Trial Balance → Financial Statements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584447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Financial statements are built directly from the trial balance.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51959"/>
            <a:ext cx="502920" cy="832104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Courier New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233672"/>
            <a:ext cx="10332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A2130"/>
                </a:solidFill>
                <a:latin typeface="Cambria"/>
              </a:rPr>
              <a:t>Income Statement → Balance Sheet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544568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Net income flows into retained earnings.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212079"/>
            <a:ext cx="502920" cy="832104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Courier New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5193792"/>
            <a:ext cx="10332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A2130"/>
                </a:solidFill>
                <a:latin typeface="Cambria"/>
              </a:rPr>
              <a:t>Balance Sheet → Cash Flow Statement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5504688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Cash flow statement explains the change in cash between two balance sheets.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217919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1">
                <a:solidFill>
                  <a:srgbClr val="1A2130"/>
                </a:solidFill>
                <a:latin typeface="Calibri"/>
              </a:rPr>
              <a:t>Each link is a control point — break any one, and the numbers downstream stop being trustworthy.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1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2920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mbria"/>
              </a:rPr>
              <a:t>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80160"/>
            <a:ext cx="1481328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00" b="0" i="0">
                <a:solidFill>
                  <a:srgbClr val="1A2130"/>
                </a:solidFill>
                <a:latin typeface="Calibri"/>
              </a:rPr>
              <a:t>Subledger</a:t>
            </a:r>
          </a:p>
          <a:p>
            <a:pPr algn="ctr"/>
            <a:r>
              <a:rPr sz="900" b="0" i="0">
                <a:solidFill>
                  <a:srgbClr val="1A2130"/>
                </a:solidFill>
                <a:latin typeface="Calibri"/>
              </a:rPr>
              <a:t>activity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984248" y="1668780"/>
            <a:ext cx="91440" cy="0"/>
          </a:xfrm>
          <a:prstGeom prst="line">
            <a:avLst/>
          </a:prstGeom>
          <a:ln w="19050">
            <a:solidFill>
              <a:srgbClr val="CADCE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075688" y="1280160"/>
            <a:ext cx="1481328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00" b="0" i="0">
                <a:solidFill>
                  <a:srgbClr val="1A2130"/>
                </a:solidFill>
                <a:latin typeface="Calibri"/>
              </a:rPr>
              <a:t>Journal</a:t>
            </a:r>
          </a:p>
          <a:p>
            <a:pPr algn="ctr"/>
            <a:r>
              <a:rPr sz="900" b="0" i="0">
                <a:solidFill>
                  <a:srgbClr val="1A2130"/>
                </a:solidFill>
                <a:latin typeface="Calibri"/>
              </a:rPr>
              <a:t>entry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557016" y="1668780"/>
            <a:ext cx="91440" cy="0"/>
          </a:xfrm>
          <a:prstGeom prst="line">
            <a:avLst/>
          </a:prstGeom>
          <a:ln w="19050">
            <a:solidFill>
              <a:srgbClr val="CADCE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648456" y="1280160"/>
            <a:ext cx="1481328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00" b="0" i="0">
                <a:solidFill>
                  <a:srgbClr val="1A2130"/>
                </a:solidFill>
                <a:latin typeface="Calibri"/>
              </a:rPr>
              <a:t>General</a:t>
            </a:r>
          </a:p>
          <a:p>
            <a:pPr algn="ctr"/>
            <a:r>
              <a:rPr sz="900" b="0" i="0">
                <a:solidFill>
                  <a:srgbClr val="1A2130"/>
                </a:solidFill>
                <a:latin typeface="Calibri"/>
              </a:rPr>
              <a:t>Ledger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129784" y="1668780"/>
            <a:ext cx="91440" cy="0"/>
          </a:xfrm>
          <a:prstGeom prst="line">
            <a:avLst/>
          </a:prstGeom>
          <a:ln w="19050">
            <a:solidFill>
              <a:srgbClr val="CADCE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221224" y="1280160"/>
            <a:ext cx="1481328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00" b="0" i="0">
                <a:solidFill>
                  <a:srgbClr val="1A2130"/>
                </a:solidFill>
                <a:latin typeface="Calibri"/>
              </a:rPr>
              <a:t>Trial</a:t>
            </a:r>
          </a:p>
          <a:p>
            <a:pPr algn="ctr"/>
            <a:r>
              <a:rPr sz="900" b="0" i="0">
                <a:solidFill>
                  <a:srgbClr val="1A2130"/>
                </a:solidFill>
                <a:latin typeface="Calibri"/>
              </a:rPr>
              <a:t>Balance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702552" y="1668780"/>
            <a:ext cx="91440" cy="0"/>
          </a:xfrm>
          <a:prstGeom prst="line">
            <a:avLst/>
          </a:prstGeom>
          <a:ln w="19050">
            <a:solidFill>
              <a:srgbClr val="CADCE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793992" y="1280160"/>
            <a:ext cx="1481328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00" b="0" i="0">
                <a:solidFill>
                  <a:srgbClr val="1A2130"/>
                </a:solidFill>
                <a:latin typeface="Calibri"/>
              </a:rPr>
              <a:t>Adjusting</a:t>
            </a:r>
          </a:p>
          <a:p>
            <a:pPr algn="ctr"/>
            <a:r>
              <a:rPr sz="900" b="0" i="0">
                <a:solidFill>
                  <a:srgbClr val="1A2130"/>
                </a:solidFill>
                <a:latin typeface="Calibri"/>
              </a:rPr>
              <a:t>Entries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75320" y="1668780"/>
            <a:ext cx="91440" cy="0"/>
          </a:xfrm>
          <a:prstGeom prst="line">
            <a:avLst/>
          </a:prstGeom>
          <a:ln w="19050">
            <a:solidFill>
              <a:srgbClr val="CADCE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366760" y="1280160"/>
            <a:ext cx="1481328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00" b="0" i="0">
                <a:solidFill>
                  <a:srgbClr val="1A2130"/>
                </a:solidFill>
                <a:latin typeface="Calibri"/>
              </a:rPr>
              <a:t>Adjusted</a:t>
            </a:r>
          </a:p>
          <a:p>
            <a:pPr algn="ctr"/>
            <a:r>
              <a:rPr sz="900" b="0" i="0">
                <a:solidFill>
                  <a:srgbClr val="1A2130"/>
                </a:solidFill>
                <a:latin typeface="Calibri"/>
              </a:rPr>
              <a:t>Trial Balance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848088" y="1668780"/>
            <a:ext cx="91440" cy="0"/>
          </a:xfrm>
          <a:prstGeom prst="line">
            <a:avLst/>
          </a:prstGeom>
          <a:ln w="19050">
            <a:solidFill>
              <a:srgbClr val="CADCE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939528" y="1280160"/>
            <a:ext cx="1481328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00" b="0" i="0">
                <a:solidFill>
                  <a:srgbClr val="1A2130"/>
                </a:solidFill>
                <a:latin typeface="Calibri"/>
              </a:rPr>
              <a:t>Financial</a:t>
            </a:r>
          </a:p>
          <a:p>
            <a:pPr algn="ctr"/>
            <a:r>
              <a:rPr sz="900" b="0" i="0">
                <a:solidFill>
                  <a:srgbClr val="1A2130"/>
                </a:solidFill>
                <a:latin typeface="Calibri"/>
              </a:rPr>
              <a:t>Statements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31720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>
                <a:solidFill>
                  <a:srgbClr val="CADCEA"/>
                </a:solidFill>
                <a:latin typeface="Calibri"/>
              </a:rPr>
              <a:t>✓ reconciled daily (subledger = GL)   ·   ✓ debits = credits (trial balance)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926080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 i="0">
                <a:solidFill>
                  <a:srgbClr val="CADCEA"/>
                </a:solidFill>
                <a:latin typeface="Cambria"/>
              </a:rPr>
              <a:t>Clean summary for your notes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29184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• Subledgers record detailed operational activity.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65760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• Subledger events generate journal entries.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02336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• Journal entries post to the general ledger.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38912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• The GL produces the trial balance.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75488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• The trial balance produces the financial statements.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12064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• Daily reconciliation ensures subledger totals match GL control accounts.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48640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• Group Controllers own the close calendar and approve control-account reconciliations before sign-off.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85216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• Net income flows into retained earnings, and the cash flow statement reconciles beginning and ending cash.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635508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57626B"/>
                </a:solidFill>
                <a:latin typeface="Calibri"/>
              </a:rPr>
              <a:t>Record-to-Report: How the Books Close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