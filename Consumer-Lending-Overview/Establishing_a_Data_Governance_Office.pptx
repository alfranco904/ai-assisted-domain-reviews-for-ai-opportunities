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r>
              <a:rPr sz="1200" b="1">
                <a:solidFill>
                  <a:srgbClr val="1A2130"/>
                </a:solidFill>
                <a:latin typeface="Calibri"/>
              </a:rPr>
              <a:t>Capability maturity (illustrative)</a:t>
            </a:r>
          </a:p>
        </c:rich>
      </c:tx>
      <c:layout/>
      <c:overlay val="0"/>
    </c:title>
    <c:autoTitleDeleted val="0"/>
    <c:plotArea>
      <c:layout/>
      <c:radarChart>
        <c:radarStyle val="marker"/>
        <c:varyColors val="0"/>
        <c:ser>
          <c:idx val="0"/>
          <c:order val="0"/>
          <c:tx>
            <c:strRef>
              <c:f>Sheet1!$B$1</c:f>
              <c:strCache>
                <c:ptCount val="1"/>
                <c:pt idx="0">
                  <c:v>Today</c:v>
                </c:pt>
              </c:strCache>
            </c:strRef>
          </c:tx>
          <c:spPr>
            <a:ln w="25400">
              <a:solidFill>
                <a:srgbClr val="9A3324"/>
              </a:solidFill>
            </a:ln>
          </c:spPr>
          <c:marker>
            <c:spPr>
              <a:solidFill>
                <a:srgbClr val="9A3324"/>
              </a:solidFill>
              <a:ln>
                <a:solidFill>
                  <a:srgbClr val="9A3324"/>
                </a:solidFill>
              </a:ln>
            </c:spPr>
          </c:marker>
          <c:cat>
            <c:strRef>
              <c:f>Sheet1!$A$2:$A$9</c:f>
              <c:strCache>
                <c:ptCount val="8"/>
                <c:pt idx="0">
                  <c:v>Policy &amp; standards</c:v>
                </c:pt>
                <c:pt idx="1">
                  <c:v>Operating model</c:v>
                </c:pt>
                <c:pt idx="2">
                  <c:v>Glossary &amp; catalog</c:v>
                </c:pt>
                <c:pt idx="3">
                  <c:v>CDE management</c:v>
                </c:pt>
                <c:pt idx="4">
                  <c:v>Data quality</c:v>
                </c:pt>
                <c:pt idx="5">
                  <c:v>Metadata &amp; lineage</c:v>
                </c:pt>
                <c:pt idx="6">
                  <c:v>Issue management</c:v>
                </c:pt>
                <c:pt idx="7">
                  <c:v>Measurement</c:v>
                </c:pt>
              </c:strCache>
            </c:strRef>
          </c:cat>
          <c:val>
            <c:numRef>
              <c:f>Sheet1!$B$2:$B$9</c:f>
              <c:numCache>
                <c:formatCode>General</c:formatCode>
                <c:ptCount val="8"/>
                <c:pt idx="0">
                  <c:v>2</c:v>
                </c:pt>
                <c:pt idx="1">
                  <c:v>1</c:v>
                </c:pt>
                <c:pt idx="2">
                  <c:v>1</c:v>
                </c:pt>
                <c:pt idx="3">
                  <c:v>1</c:v>
                </c:pt>
                <c:pt idx="4">
                  <c:v>2</c:v>
                </c:pt>
                <c:pt idx="5">
                  <c:v>1</c:v>
                </c:pt>
                <c:pt idx="6">
                  <c:v>2</c:v>
                </c:pt>
                <c:pt idx="7">
                  <c:v>1</c:v>
                </c:pt>
              </c:numCache>
            </c:numRef>
          </c:val>
          <c:smooth val="0"/>
        </c:ser>
        <c:ser>
          <c:idx val="1"/>
          <c:order val="1"/>
          <c:tx>
            <c:strRef>
              <c:f>Sheet1!$C$1</c:f>
              <c:strCache>
                <c:ptCount val="1"/>
                <c:pt idx="0">
                  <c:v>18-month target</c:v>
                </c:pt>
              </c:strCache>
            </c:strRef>
          </c:tx>
          <c:spPr>
            <a:ln w="25400">
              <a:solidFill>
                <a:srgbClr val="1A2130"/>
              </a:solidFill>
            </a:ln>
          </c:spPr>
          <c:marker>
            <c:spPr>
              <a:solidFill>
                <a:srgbClr val="1A2130"/>
              </a:solidFill>
              <a:ln>
                <a:solidFill>
                  <a:srgbClr val="1A2130"/>
                </a:solidFill>
              </a:ln>
            </c:spPr>
          </c:marker>
          <c:cat>
            <c:strRef>
              <c:f>Sheet1!$A$2:$A$9</c:f>
              <c:strCache>
                <c:ptCount val="8"/>
                <c:pt idx="0">
                  <c:v>Policy &amp; standards</c:v>
                </c:pt>
                <c:pt idx="1">
                  <c:v>Operating model</c:v>
                </c:pt>
                <c:pt idx="2">
                  <c:v>Glossary &amp; catalog</c:v>
                </c:pt>
                <c:pt idx="3">
                  <c:v>CDE management</c:v>
                </c:pt>
                <c:pt idx="4">
                  <c:v>Data quality</c:v>
                </c:pt>
                <c:pt idx="5">
                  <c:v>Metadata &amp; lineage</c:v>
                </c:pt>
                <c:pt idx="6">
                  <c:v>Issue management</c:v>
                </c:pt>
                <c:pt idx="7">
                  <c:v>Measurement</c:v>
                </c:pt>
              </c:strCache>
            </c:strRef>
          </c:cat>
          <c:val>
            <c:numRef>
              <c:f>Sheet1!$C$2:$C$9</c:f>
              <c:numCache>
                <c:formatCode>General</c:formatCode>
                <c:ptCount val="8"/>
                <c:pt idx="0">
                  <c:v>4</c:v>
                </c:pt>
                <c:pt idx="1">
                  <c:v>4</c:v>
                </c:pt>
                <c:pt idx="2">
                  <c:v>3</c:v>
                </c:pt>
                <c:pt idx="3">
                  <c:v>4</c:v>
                </c:pt>
                <c:pt idx="4">
                  <c:v>4</c:v>
                </c:pt>
                <c:pt idx="5">
                  <c:v>3</c:v>
                </c:pt>
                <c:pt idx="6">
                  <c:v>4</c:v>
                </c:pt>
                <c:pt idx="7">
                  <c:v>3</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txPr>
          <a:bodyPr/>
          <a:lstStyle/>
          <a:p>
            <a:pPr>
              <a:defRPr sz="950">
                <a:solidFill>
                  <a:srgbClr val="1A2130"/>
                </a:solidFill>
              </a:defRPr>
            </a:pPr>
          </a:p>
        </c:txPr>
        <c:crossAx val="-2112772216"/>
        <c:crosses val="autoZero"/>
        <c:auto val="1"/>
        <c:lblAlgn val="ctr"/>
        <c:lblOffset val="100"/>
        <c:noMultiLvlLbl val="0"/>
      </c:catAx>
      <c:valAx>
        <c:axId val="-2112772216"/>
        <c:scaling>
          <c:orientation val="minMax"/>
          <c:max val="5.0"/>
          <c:min val="0.0"/>
        </c:scaling>
        <c:delete val="0"/>
        <c:axPos val="l"/>
        <c:majorGridlines/>
        <c:numFmt formatCode="General" sourceLinked="1"/>
        <c:majorTickMark val="cross"/>
        <c:minorTickMark val="none"/>
        <c:tickLblPos val="nextTo"/>
        <c:txPr>
          <a:bodyPr/>
          <a:lstStyle/>
          <a:p>
            <a:pPr>
              <a:defRPr sz="800">
                <a:solidFill>
                  <a:srgbClr val="57626B"/>
                </a:solidFill>
              </a:defRPr>
            </a:pPr>
          </a:p>
        </c:txPr>
        <c:crossAx val="2073612648"/>
        <c:crosses val="autoZero"/>
        <c:crossBetween val="between"/>
        <c:majorUnit val="1.0"/>
      </c:valAx>
    </c:plotArea>
    <c:legend>
      <c:legendPos val="b"/>
      <c:overlay val="0"/>
      <c:txPr>
        <a:bodyPr/>
        <a:lstStyle/>
        <a:p>
          <a:pPr>
            <a:defRPr sz="1000">
              <a:solidFill>
                <a:srgbClr val="57626B"/>
              </a:solidFill>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130"/>
        </a:solidFill>
        <a:effectLst/>
      </p:bgPr>
    </p:bg>
    <p:spTree>
      <p:nvGrpSpPr>
        <p:cNvPr id="1" name=""/>
        <p:cNvGrpSpPr/>
        <p:nvPr/>
      </p:nvGrpSpPr>
      <p:grpSpPr/>
      <p:sp>
        <p:nvSpPr>
          <p:cNvPr id="2" name="TextBox 1"/>
          <p:cNvSpPr txBox="1"/>
          <p:nvPr/>
        </p:nvSpPr>
        <p:spPr>
          <a:xfrm>
            <a:off x="914400" y="1188720"/>
            <a:ext cx="10332720" cy="914400"/>
          </a:xfrm>
          <a:prstGeom prst="rect">
            <a:avLst/>
          </a:prstGeom>
          <a:noFill/>
        </p:spPr>
        <p:txBody>
          <a:bodyPr wrap="square" lIns="0" rIns="0" tIns="0" bIns="0" anchor="ctr">
            <a:spAutoFit/>
          </a:bodyPr>
          <a:lstStyle/>
          <a:p>
            <a:pPr algn="ctr"/>
            <a:r>
              <a:rPr sz="3400" b="1" i="0">
                <a:solidFill>
                  <a:srgbClr val="FFFFFF"/>
                </a:solidFill>
                <a:latin typeface="Cambria"/>
              </a:rPr>
              <a:t>Establishing a Data Governance Office</a:t>
            </a:r>
          </a:p>
        </p:txBody>
      </p:sp>
      <p:sp>
        <p:nvSpPr>
          <p:cNvPr id="3" name="TextBox 2"/>
          <p:cNvSpPr txBox="1"/>
          <p:nvPr/>
        </p:nvSpPr>
        <p:spPr>
          <a:xfrm>
            <a:off x="914400" y="2148840"/>
            <a:ext cx="10332720" cy="502920"/>
          </a:xfrm>
          <a:prstGeom prst="rect">
            <a:avLst/>
          </a:prstGeom>
          <a:noFill/>
        </p:spPr>
        <p:txBody>
          <a:bodyPr wrap="square" lIns="0" rIns="0" tIns="0" bIns="0" anchor="ctr">
            <a:spAutoFit/>
          </a:bodyPr>
          <a:lstStyle/>
          <a:p>
            <a:pPr algn="ctr"/>
            <a:r>
              <a:rPr sz="1700" b="0" i="0">
                <a:solidFill>
                  <a:srgbClr val="CADCEA"/>
                </a:solidFill>
                <a:latin typeface="Cambria"/>
              </a:rPr>
              <a:t>Purpose, roles, capabilities and systems — thoughts for setting up the function</a:t>
            </a:r>
          </a:p>
        </p:txBody>
      </p:sp>
      <p:cxnSp>
        <p:nvCxnSpPr>
          <p:cNvPr id="4" name="Connector 3"/>
          <p:cNvCxnSpPr/>
          <p:nvPr/>
        </p:nvCxnSpPr>
        <p:spPr>
          <a:xfrm>
            <a:off x="4270248" y="2926080"/>
            <a:ext cx="3657600" cy="0"/>
          </a:xfrm>
          <a:prstGeom prst="line">
            <a:avLst/>
          </a:prstGeom>
          <a:ln w="19050">
            <a:solidFill>
              <a:srgbClr val="CADC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3108960"/>
            <a:ext cx="10332720" cy="457200"/>
          </a:xfrm>
          <a:prstGeom prst="rect">
            <a:avLst/>
          </a:prstGeom>
          <a:noFill/>
        </p:spPr>
        <p:txBody>
          <a:bodyPr wrap="square" lIns="0" rIns="0" tIns="0" bIns="0" anchor="t">
            <a:spAutoFit/>
          </a:bodyPr>
          <a:lstStyle/>
          <a:p>
            <a:pPr algn="ctr"/>
            <a:r>
              <a:rPr sz="1300" b="0" i="0">
                <a:solidFill>
                  <a:srgbClr val="CADCEA"/>
                </a:solidFill>
                <a:latin typeface="Calibri"/>
              </a:rPr>
              <a:t>Mandate · Guiding Principles · Operating Model · Roles · RACI · Capabilities · Systems &amp; Architecture · Roadmap · Best Practices</a:t>
            </a:r>
          </a:p>
        </p:txBody>
      </p:sp>
      <p:sp>
        <p:nvSpPr>
          <p:cNvPr id="6" name="TextBox 5"/>
          <p:cNvSpPr txBox="1"/>
          <p:nvPr/>
        </p:nvSpPr>
        <p:spPr>
          <a:xfrm>
            <a:off x="1371600" y="4206240"/>
            <a:ext cx="9418320" cy="914400"/>
          </a:xfrm>
          <a:prstGeom prst="rect">
            <a:avLst/>
          </a:prstGeom>
          <a:noFill/>
        </p:spPr>
        <p:txBody>
          <a:bodyPr wrap="square" lIns="0" rIns="0" tIns="0" bIns="0" anchor="t">
            <a:spAutoFit/>
          </a:bodyPr>
          <a:lstStyle/>
          <a:p>
            <a:pPr algn="ctr"/>
            <a:r>
              <a:rPr sz="1250" b="0" i="1">
                <a:solidFill>
                  <a:srgbClr val="FFFFFF"/>
                </a:solidFill>
                <a:latin typeface="Calibri"/>
              </a:rPr>
              <a:t>A discussion document for senior business leaders, architects and data management professionals. Examples are drawn from financial services; figures, sizes and timelines are illustrative.</a:t>
            </a:r>
          </a:p>
        </p:txBody>
      </p:sp>
      <p:sp>
        <p:nvSpPr>
          <p:cNvPr id="7" name="TextBox 6"/>
          <p:cNvSpPr txBox="1"/>
          <p:nvPr/>
        </p:nvSpPr>
        <p:spPr>
          <a:xfrm>
            <a:off x="914400" y="5989320"/>
            <a:ext cx="10332720" cy="365760"/>
          </a:xfrm>
          <a:prstGeom prst="rect">
            <a:avLst/>
          </a:prstGeom>
          <a:noFill/>
        </p:spPr>
        <p:txBody>
          <a:bodyPr wrap="square" lIns="0" rIns="0" tIns="0" bIns="0" anchor="t">
            <a:spAutoFit/>
          </a:bodyPr>
          <a:lstStyle/>
          <a:p>
            <a:pPr algn="ctr"/>
            <a:r>
              <a:rPr sz="1200" b="0" i="1">
                <a:solidFill>
                  <a:srgbClr val="57626B"/>
                </a:solidFill>
                <a:latin typeface="Calibri"/>
              </a:rPr>
              <a:t>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02</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How to read this deck</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Three audiences, one operating model. Each page is tagged with its primary readers in the bottom-left corner.</a:t>
            </a:r>
          </a:p>
        </p:txBody>
      </p:sp>
      <p:sp>
        <p:nvSpPr>
          <p:cNvPr id="5" name="TextBox 4"/>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ARCHITECTS · DATA MANAGEMENT</a:t>
            </a:r>
          </a:p>
        </p:txBody>
      </p:sp>
      <p:sp>
        <p:nvSpPr>
          <p:cNvPr id="6" name="TextBox 5"/>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2</a:t>
            </a:r>
          </a:p>
        </p:txBody>
      </p:sp>
      <p:sp>
        <p:nvSpPr>
          <p:cNvPr id="7" name="Rounded Rectangle 6"/>
          <p:cNvSpPr/>
          <p:nvPr/>
        </p:nvSpPr>
        <p:spPr>
          <a:xfrm>
            <a:off x="457200" y="1325880"/>
            <a:ext cx="3666744" cy="9601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FFFFFF"/>
                </a:solidFill>
                <a:latin typeface="Calibri"/>
              </a:rPr>
              <a:t>SENIOR BUSINESS LEADERS</a:t>
            </a:r>
          </a:p>
          <a:p>
            <a:pPr algn="ctr"/>
            <a:r>
              <a:rPr sz="1050" b="0" i="0">
                <a:solidFill>
                  <a:srgbClr val="CADCEA"/>
                </a:solidFill>
                <a:latin typeface="Calibri"/>
              </a:rPr>
              <a:t>Why invest, where it sits, what it costs, what you need to decide</a:t>
            </a:r>
          </a:p>
        </p:txBody>
      </p:sp>
      <p:sp>
        <p:nvSpPr>
          <p:cNvPr id="8" name="Rounded Rectangle 7"/>
          <p:cNvSpPr/>
          <p:nvPr/>
        </p:nvSpPr>
        <p:spPr>
          <a:xfrm>
            <a:off x="457200" y="2377440"/>
            <a:ext cx="3666744" cy="23774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00" b="0" i="0">
                <a:solidFill>
                  <a:srgbClr val="1A2130"/>
                </a:solidFill>
                <a:latin typeface="Calibri"/>
              </a:rPr>
              <a:t>• The case: p. 3</a:t>
            </a:r>
          </a:p>
          <a:p>
            <a:pPr algn="l"/>
            <a:r>
              <a:rPr sz="1100" b="0" i="0">
                <a:solidFill>
                  <a:srgbClr val="1A2130"/>
                </a:solidFill>
                <a:latin typeface="Calibri"/>
              </a:rPr>
              <a:t>• Placement and model: pp. 7, 8</a:t>
            </a:r>
          </a:p>
          <a:p>
            <a:pPr algn="l"/>
            <a:r>
              <a:rPr sz="1100" b="0" i="0">
                <a:solidFill>
                  <a:srgbClr val="1A2130"/>
                </a:solidFill>
                <a:latin typeface="Calibri"/>
              </a:rPr>
              <a:t>• Sizing and roadmap: pp. 20, 23</a:t>
            </a:r>
          </a:p>
          <a:p>
            <a:pPr algn="l"/>
            <a:r>
              <a:rPr sz="1100" b="0" i="0">
                <a:solidFill>
                  <a:srgbClr val="1A2130"/>
                </a:solidFill>
                <a:latin typeface="Calibri"/>
              </a:rPr>
              <a:t>• Success factors: p. 25</a:t>
            </a:r>
          </a:p>
          <a:p>
            <a:pPr algn="l"/>
            <a:r>
              <a:rPr sz="1100" b="0" i="0">
                <a:solidFill>
                  <a:srgbClr val="1A2130"/>
                </a:solidFill>
                <a:latin typeface="Calibri"/>
              </a:rPr>
              <a:t>• Decisions needed: p. 26</a:t>
            </a:r>
          </a:p>
        </p:txBody>
      </p:sp>
      <p:sp>
        <p:nvSpPr>
          <p:cNvPr id="9" name="Rounded Rectangle 8"/>
          <p:cNvSpPr/>
          <p:nvPr/>
        </p:nvSpPr>
        <p:spPr>
          <a:xfrm>
            <a:off x="4261104" y="1325880"/>
            <a:ext cx="3666744" cy="9601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FFFFFF"/>
                </a:solidFill>
                <a:latin typeface="Calibri"/>
              </a:rPr>
              <a:t>ARCHITECTS</a:t>
            </a:r>
          </a:p>
          <a:p>
            <a:pPr algn="ctr"/>
            <a:r>
              <a:rPr sz="1050" b="0" i="0">
                <a:solidFill>
                  <a:srgbClr val="CADCEA"/>
                </a:solidFill>
                <a:latin typeface="Calibri"/>
              </a:rPr>
              <a:t>How the tools fit together, and what platforms and projects must do</a:t>
            </a:r>
          </a:p>
        </p:txBody>
      </p:sp>
      <p:sp>
        <p:nvSpPr>
          <p:cNvPr id="10" name="Rounded Rectangle 9"/>
          <p:cNvSpPr/>
          <p:nvPr/>
        </p:nvSpPr>
        <p:spPr>
          <a:xfrm>
            <a:off x="4261104" y="2377440"/>
            <a:ext cx="3666744" cy="23774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00" b="0" i="0">
                <a:solidFill>
                  <a:srgbClr val="1A2130"/>
                </a:solidFill>
                <a:latin typeface="Calibri"/>
              </a:rPr>
              <a:t>• Systems and capabilities: p. 14</a:t>
            </a:r>
          </a:p>
          <a:p>
            <a:pPr algn="l"/>
            <a:r>
              <a:rPr sz="1100" b="0" i="0">
                <a:solidFill>
                  <a:srgbClr val="1A2130"/>
                </a:solidFill>
                <a:latin typeface="Calibri"/>
              </a:rPr>
              <a:t>• Reference architecture: p. 15</a:t>
            </a:r>
          </a:p>
          <a:p>
            <a:pPr algn="l"/>
            <a:r>
              <a:rPr sz="1100" b="0" i="0">
                <a:solidFill>
                  <a:srgbClr val="1A2130"/>
                </a:solidFill>
                <a:latin typeface="Calibri"/>
              </a:rPr>
              <a:t>• Architecture principles: p. 16</a:t>
            </a:r>
          </a:p>
          <a:p>
            <a:pPr algn="l"/>
            <a:r>
              <a:rPr sz="1100" b="0" i="0">
                <a:solidFill>
                  <a:srgbClr val="1A2130"/>
                </a:solidFill>
                <a:latin typeface="Calibri"/>
              </a:rPr>
              <a:t>• Tool sequence and selection: p. 17</a:t>
            </a:r>
          </a:p>
          <a:p>
            <a:pPr algn="l"/>
            <a:r>
              <a:rPr sz="1100" b="0" i="0">
                <a:solidFill>
                  <a:srgbClr val="1A2130"/>
                </a:solidFill>
                <a:latin typeface="Calibri"/>
              </a:rPr>
              <a:t>• Capability RACI: p. 19</a:t>
            </a:r>
          </a:p>
        </p:txBody>
      </p:sp>
      <p:sp>
        <p:nvSpPr>
          <p:cNvPr id="11" name="Rounded Rectangle 10"/>
          <p:cNvSpPr/>
          <p:nvPr/>
        </p:nvSpPr>
        <p:spPr>
          <a:xfrm>
            <a:off x="8065008" y="1325880"/>
            <a:ext cx="3666744" cy="9601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FFFFFF"/>
                </a:solidFill>
                <a:latin typeface="Calibri"/>
              </a:rPr>
              <a:t>DATA MANAGEMENT PROFESSIONALS</a:t>
            </a:r>
          </a:p>
          <a:p>
            <a:pPr algn="ctr"/>
            <a:r>
              <a:rPr sz="1050" b="0" i="0">
                <a:solidFill>
                  <a:srgbClr val="CADCEA"/>
                </a:solidFill>
                <a:latin typeface="Calibri"/>
              </a:rPr>
              <a:t>How the office works day to day</a:t>
            </a:r>
          </a:p>
        </p:txBody>
      </p:sp>
      <p:sp>
        <p:nvSpPr>
          <p:cNvPr id="12" name="Rounded Rectangle 11"/>
          <p:cNvSpPr/>
          <p:nvPr/>
        </p:nvSpPr>
        <p:spPr>
          <a:xfrm>
            <a:off x="8065008" y="2377440"/>
            <a:ext cx="3666744" cy="23774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00" b="0" i="0">
                <a:solidFill>
                  <a:srgbClr val="1A2130"/>
                </a:solidFill>
                <a:latin typeface="Calibri"/>
              </a:rPr>
              <a:t>• Roles and partners: pp. 10, 11</a:t>
            </a:r>
          </a:p>
          <a:p>
            <a:pPr algn="l"/>
            <a:r>
              <a:rPr sz="1100" b="0" i="0">
                <a:solidFill>
                  <a:srgbClr val="1A2130"/>
                </a:solidFill>
                <a:latin typeface="Calibri"/>
              </a:rPr>
              <a:t>• Forums: p. 9</a:t>
            </a:r>
          </a:p>
          <a:p>
            <a:pPr algn="l"/>
            <a:r>
              <a:rPr sz="1100" b="0" i="0">
                <a:solidFill>
                  <a:srgbClr val="1A2130"/>
                </a:solidFill>
                <a:latin typeface="Calibri"/>
              </a:rPr>
              <a:t>• Capabilities: pp. 12, 13</a:t>
            </a:r>
          </a:p>
          <a:p>
            <a:pPr algn="l"/>
            <a:r>
              <a:rPr sz="1100" b="0" i="0">
                <a:solidFill>
                  <a:srgbClr val="1A2130"/>
                </a:solidFill>
                <a:latin typeface="Calibri"/>
              </a:rPr>
              <a:t>• RACI: pp. 18, 19</a:t>
            </a:r>
          </a:p>
          <a:p>
            <a:pPr algn="l"/>
            <a:r>
              <a:rPr sz="1100" b="0" i="0">
                <a:solidFill>
                  <a:srgbClr val="1A2130"/>
                </a:solidFill>
                <a:latin typeface="Calibri"/>
              </a:rPr>
              <a:t>• Maturity and KPIs: pp. 21, 22</a:t>
            </a:r>
          </a:p>
        </p:txBody>
      </p:sp>
      <p:sp>
        <p:nvSpPr>
          <p:cNvPr id="13" name="TextBox 12"/>
          <p:cNvSpPr txBox="1"/>
          <p:nvPr/>
        </p:nvSpPr>
        <p:spPr>
          <a:xfrm>
            <a:off x="457200" y="4983480"/>
            <a:ext cx="11247120" cy="274320"/>
          </a:xfrm>
          <a:prstGeom prst="rect">
            <a:avLst/>
          </a:prstGeom>
          <a:noFill/>
        </p:spPr>
        <p:txBody>
          <a:bodyPr wrap="square" lIns="0" rIns="0" tIns="0" bIns="0" anchor="t">
            <a:spAutoFit/>
          </a:bodyPr>
          <a:lstStyle/>
          <a:p>
            <a:pPr algn="l"/>
            <a:r>
              <a:rPr sz="1050" b="1" i="0">
                <a:solidFill>
                  <a:srgbClr val="1A2130"/>
                </a:solidFill>
                <a:latin typeface="Courier New"/>
              </a:rPr>
              <a:t>FOR EVERYONE</a:t>
            </a:r>
          </a:p>
        </p:txBody>
      </p:sp>
      <p:sp>
        <p:nvSpPr>
          <p:cNvPr id="14" name="TextBox 13"/>
          <p:cNvSpPr txBox="1"/>
          <p:nvPr/>
        </p:nvSpPr>
        <p:spPr>
          <a:xfrm>
            <a:off x="457200" y="5303520"/>
            <a:ext cx="11247120" cy="914400"/>
          </a:xfrm>
          <a:prstGeom prst="rect">
            <a:avLst/>
          </a:prstGeom>
          <a:noFill/>
        </p:spPr>
        <p:txBody>
          <a:bodyPr wrap="square" lIns="0" rIns="0" tIns="0" bIns="0" anchor="t">
            <a:spAutoFit/>
          </a:bodyPr>
          <a:lstStyle/>
          <a:p>
            <a:pPr algn="l"/>
            <a:r>
              <a:rPr sz="1200" b="0" i="0">
                <a:solidFill>
                  <a:srgbClr val="57626B"/>
                </a:solidFill>
                <a:latin typeface="Calibri"/>
              </a:rPr>
              <a:t>Purpose and mandate (p. 4), guiding principles (p. 5), what the DGO owns (p. 6), best practices (p. 24) and the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03</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Why the firm needs a Data Governance Office</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Data problems are rarely technical. They are ownership, definition and accountability problems.</a:t>
            </a:r>
          </a:p>
        </p:txBody>
      </p:sp>
      <p:sp>
        <p:nvSpPr>
          <p:cNvPr id="5" name="Rounded Rectangle 4"/>
          <p:cNvSpPr/>
          <p:nvPr/>
        </p:nvSpPr>
        <p:spPr>
          <a:xfrm>
            <a:off x="457200" y="1325880"/>
            <a:ext cx="5486400" cy="3017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00" b="1" i="0">
                <a:solidFill>
                  <a:srgbClr val="1A2130"/>
                </a:solidFill>
                <a:latin typeface="Calibri"/>
              </a:rPr>
              <a:t>SYMPTOMS WITHOUT ONE</a:t>
            </a:r>
          </a:p>
          <a:p>
            <a:pPr algn="l"/>
            <a:r>
              <a:rPr sz="1100" b="0" i="0">
                <a:solidFill>
                  <a:srgbClr val="57626B"/>
                </a:solidFill>
                <a:latin typeface="Calibri"/>
              </a:rPr>
              <a:t>• The same metric reported with different numbers in different meetings</a:t>
            </a:r>
          </a:p>
          <a:p>
            <a:pPr algn="l"/>
            <a:r>
              <a:rPr sz="1100" b="0" i="0">
                <a:solidFill>
                  <a:srgbClr val="57626B"/>
                </a:solidFill>
                <a:latin typeface="Calibri"/>
              </a:rPr>
              <a:t>• Nobody can say who owns a data element, or who approves a change to it</a:t>
            </a:r>
          </a:p>
          <a:p>
            <a:pPr algn="l"/>
            <a:r>
              <a:rPr sz="1100" b="0" i="0">
                <a:solidFill>
                  <a:srgbClr val="57626B"/>
                </a:solidFill>
                <a:latin typeface="Calibri"/>
              </a:rPr>
              <a:t>• Lineage rebuilt by hand before every audit or regulatory exam</a:t>
            </a:r>
          </a:p>
          <a:p>
            <a:pPr algn="l"/>
            <a:r>
              <a:rPr sz="1100" b="0" i="0">
                <a:solidFill>
                  <a:srgbClr val="57626B"/>
                </a:solidFill>
                <a:latin typeface="Calibri"/>
              </a:rPr>
              <a:t>• Repeat findings on data quality and reporting controls</a:t>
            </a:r>
          </a:p>
          <a:p>
            <a:pPr algn="l"/>
            <a:r>
              <a:rPr sz="1100" b="0" i="0">
                <a:solidFill>
                  <a:srgbClr val="57626B"/>
                </a:solidFill>
                <a:latin typeface="Calibri"/>
              </a:rPr>
              <a:t>• Several teams cleaning the same data, in different ways</a:t>
            </a:r>
          </a:p>
          <a:p>
            <a:pPr algn="l"/>
            <a:r>
              <a:rPr sz="1100" b="0" i="0">
                <a:solidFill>
                  <a:srgbClr val="57626B"/>
                </a:solidFill>
                <a:latin typeface="Calibri"/>
              </a:rPr>
              <a:t>• Analytics and AI projects stall on finding and trusting data</a:t>
            </a:r>
          </a:p>
        </p:txBody>
      </p:sp>
      <p:sp>
        <p:nvSpPr>
          <p:cNvPr id="6" name="Rounded Rectangle 5"/>
          <p:cNvSpPr/>
          <p:nvPr/>
        </p:nvSpPr>
        <p:spPr>
          <a:xfrm>
            <a:off x="6245352" y="1325880"/>
            <a:ext cx="5486400" cy="30175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00" b="1" i="0">
                <a:solidFill>
                  <a:srgbClr val="1A2130"/>
                </a:solidFill>
                <a:latin typeface="Calibri"/>
              </a:rPr>
              <a:t>WHAT A DGO CHANGES</a:t>
            </a:r>
          </a:p>
          <a:p>
            <a:pPr algn="l"/>
            <a:r>
              <a:rPr sz="1100" b="0" i="0">
                <a:solidFill>
                  <a:srgbClr val="1A2130"/>
                </a:solidFill>
                <a:latin typeface="Calibri"/>
              </a:rPr>
              <a:t>• One definition per term, with an accountable owner</a:t>
            </a:r>
          </a:p>
          <a:p>
            <a:pPr algn="l"/>
            <a:r>
              <a:rPr sz="1100" b="0" i="0">
                <a:solidFill>
                  <a:srgbClr val="1A2130"/>
                </a:solidFill>
                <a:latin typeface="Calibri"/>
              </a:rPr>
              <a:t>• Critical data identified, measured and monitored</a:t>
            </a:r>
          </a:p>
          <a:p>
            <a:pPr algn="l"/>
            <a:r>
              <a:rPr sz="1100" b="0" i="0">
                <a:solidFill>
                  <a:srgbClr val="1A2130"/>
                </a:solidFill>
                <a:latin typeface="Calibri"/>
              </a:rPr>
              <a:t>• Lineage and evidence available on demand</a:t>
            </a:r>
          </a:p>
          <a:p>
            <a:pPr algn="l"/>
            <a:r>
              <a:rPr sz="1100" b="0" i="0">
                <a:solidFill>
                  <a:srgbClr val="1A2130"/>
                </a:solidFill>
                <a:latin typeface="Calibri"/>
              </a:rPr>
              <a:t>• Issues found early, fixed at source and closed with proof</a:t>
            </a:r>
          </a:p>
          <a:p>
            <a:pPr algn="l"/>
            <a:r>
              <a:rPr sz="1100" b="0" i="0">
                <a:solidFill>
                  <a:srgbClr val="1A2130"/>
                </a:solidFill>
                <a:latin typeface="Calibri"/>
              </a:rPr>
              <a:t>• Governance built into projects instead of retrofitted</a:t>
            </a:r>
          </a:p>
          <a:p>
            <a:pPr algn="l"/>
            <a:r>
              <a:rPr sz="1100" b="0" i="0">
                <a:solidFill>
                  <a:srgbClr val="1A2130"/>
                </a:solidFill>
                <a:latin typeface="Calibri"/>
              </a:rPr>
              <a:t>• Data trusted enough to automate decisions and scale AI</a:t>
            </a:r>
          </a:p>
        </p:txBody>
      </p:sp>
      <p:sp>
        <p:nvSpPr>
          <p:cNvPr id="7" name="TextBox 6"/>
          <p:cNvSpPr txBox="1"/>
          <p:nvPr/>
        </p:nvSpPr>
        <p:spPr>
          <a:xfrm>
            <a:off x="457200" y="4572000"/>
            <a:ext cx="11247120" cy="274320"/>
          </a:xfrm>
          <a:prstGeom prst="rect">
            <a:avLst/>
          </a:prstGeom>
          <a:noFill/>
        </p:spPr>
        <p:txBody>
          <a:bodyPr wrap="square" lIns="0" rIns="0" tIns="0" bIns="0" anchor="t">
            <a:spAutoFit/>
          </a:bodyPr>
          <a:lstStyle/>
          <a:p>
            <a:pPr algn="l"/>
            <a:r>
              <a:rPr sz="1050" b="1" i="0">
                <a:solidFill>
                  <a:srgbClr val="1A2130"/>
                </a:solidFill>
                <a:latin typeface="Courier New"/>
              </a:rPr>
              <a:t>WHERE THE VALUE SHOWS UP</a:t>
            </a:r>
          </a:p>
        </p:txBody>
      </p:sp>
      <p:sp>
        <p:nvSpPr>
          <p:cNvPr id="8" name="Rounded Rectangle 7"/>
          <p:cNvSpPr/>
          <p:nvPr/>
        </p:nvSpPr>
        <p:spPr>
          <a:xfrm>
            <a:off x="457200" y="4892040"/>
            <a:ext cx="2145182"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Regulatory confidence</a:t>
            </a:r>
          </a:p>
          <a:p>
            <a:pPr algn="ctr"/>
            <a:r>
              <a:rPr sz="1050" b="0" i="0">
                <a:solidFill>
                  <a:srgbClr val="57626B"/>
                </a:solidFill>
                <a:latin typeface="Calibri"/>
              </a:rPr>
              <a:t>fewer findings, faster exams</a:t>
            </a:r>
          </a:p>
        </p:txBody>
      </p:sp>
      <p:sp>
        <p:nvSpPr>
          <p:cNvPr id="9" name="Rounded Rectangle 8"/>
          <p:cNvSpPr/>
          <p:nvPr/>
        </p:nvSpPr>
        <p:spPr>
          <a:xfrm>
            <a:off x="2739542" y="4892040"/>
            <a:ext cx="2145182"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Trusted reporting</a:t>
            </a:r>
          </a:p>
          <a:p>
            <a:pPr algn="ctr"/>
            <a:r>
              <a:rPr sz="1050" b="0" i="0">
                <a:solidFill>
                  <a:srgbClr val="57626B"/>
                </a:solidFill>
                <a:latin typeface="Calibri"/>
              </a:rPr>
              <a:t>certify with evidence</a:t>
            </a:r>
          </a:p>
        </p:txBody>
      </p:sp>
      <p:sp>
        <p:nvSpPr>
          <p:cNvPr id="10" name="Rounded Rectangle 9"/>
          <p:cNvSpPr/>
          <p:nvPr/>
        </p:nvSpPr>
        <p:spPr>
          <a:xfrm>
            <a:off x="5021884" y="4892040"/>
            <a:ext cx="2145182"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Efficiency</a:t>
            </a:r>
          </a:p>
          <a:p>
            <a:pPr algn="ctr"/>
            <a:r>
              <a:rPr sz="1050" b="0" i="0">
                <a:solidFill>
                  <a:srgbClr val="57626B"/>
                </a:solidFill>
                <a:latin typeface="Calibri"/>
              </a:rPr>
              <a:t>less reconciliation and rework</a:t>
            </a:r>
          </a:p>
        </p:txBody>
      </p:sp>
      <p:sp>
        <p:nvSpPr>
          <p:cNvPr id="11" name="Rounded Rectangle 10"/>
          <p:cNvSpPr/>
          <p:nvPr/>
        </p:nvSpPr>
        <p:spPr>
          <a:xfrm>
            <a:off x="7304227" y="4892040"/>
            <a:ext cx="2145182"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Better decisions</a:t>
            </a:r>
          </a:p>
          <a:p>
            <a:pPr algn="ctr"/>
            <a:r>
              <a:rPr sz="1050" b="0" i="0">
                <a:solidFill>
                  <a:srgbClr val="57626B"/>
                </a:solidFill>
                <a:latin typeface="Calibri"/>
              </a:rPr>
              <a:t>one version of the truth</a:t>
            </a:r>
          </a:p>
        </p:txBody>
      </p:sp>
      <p:sp>
        <p:nvSpPr>
          <p:cNvPr id="12" name="Rounded Rectangle 11"/>
          <p:cNvSpPr/>
          <p:nvPr/>
        </p:nvSpPr>
        <p:spPr>
          <a:xfrm>
            <a:off x="9586569" y="4892040"/>
            <a:ext cx="2145182"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AI readiness</a:t>
            </a:r>
          </a:p>
          <a:p>
            <a:pPr algn="ctr"/>
            <a:r>
              <a:rPr sz="1050" b="0" i="0">
                <a:solidFill>
                  <a:srgbClr val="57626B"/>
                </a:solidFill>
                <a:latin typeface="Calibri"/>
              </a:rPr>
              <a:t>known, governed inputs</a:t>
            </a:r>
          </a:p>
        </p:txBody>
      </p:sp>
      <p:sp>
        <p:nvSpPr>
          <p:cNvPr id="13" name="TextBox 12"/>
          <p:cNvSpPr txBox="1"/>
          <p:nvPr/>
        </p:nvSpPr>
        <p:spPr>
          <a:xfrm>
            <a:off x="457200" y="5897880"/>
            <a:ext cx="11247120" cy="457200"/>
          </a:xfrm>
          <a:prstGeom prst="rect">
            <a:avLst/>
          </a:prstGeom>
          <a:noFill/>
        </p:spPr>
        <p:txBody>
          <a:bodyPr wrap="square" lIns="0" rIns="0" tIns="0" bIns="0" anchor="t">
            <a:spAutoFit/>
          </a:bodyPr>
          <a:lstStyle/>
          <a:p>
            <a:pPr algn="l"/>
            <a:r>
              <a:rPr sz="1150" b="1" i="1">
                <a:solidFill>
                  <a:srgbClr val="1A2130"/>
                </a:solidFill>
                <a:latin typeface="Calibri"/>
              </a:rPr>
              <a:t>The DGO is the smallest team that can make all of this repeatable across the firm.</a:t>
            </a:r>
          </a:p>
        </p:txBody>
      </p:sp>
      <p:sp>
        <p:nvSpPr>
          <p:cNvPr id="14" name="TextBox 13"/>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a:t>
            </a:r>
          </a:p>
        </p:txBody>
      </p:sp>
      <p:sp>
        <p:nvSpPr>
          <p:cNvPr id="15" name="TextBox 14"/>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04</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Purpose and mandate</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A clear charter prevents the DGO from becoming either a paper exercise or a bottleneck.</a:t>
            </a:r>
          </a:p>
        </p:txBody>
      </p:sp>
      <p:sp>
        <p:nvSpPr>
          <p:cNvPr id="5" name="Rounded Rectangle 4"/>
          <p:cNvSpPr/>
          <p:nvPr/>
        </p:nvSpPr>
        <p:spPr>
          <a:xfrm>
            <a:off x="457200" y="1325880"/>
            <a:ext cx="11274552" cy="91440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300" b="1" i="0">
                <a:solidFill>
                  <a:srgbClr val="CADCEA"/>
                </a:solidFill>
                <a:latin typeface="Calibri"/>
              </a:rPr>
              <a:t>MISSION  </a:t>
            </a:r>
            <a:r>
              <a:rPr sz="1300" b="0" i="0">
                <a:solidFill>
                  <a:srgbClr val="FFFFFF"/>
                </a:solidFill>
                <a:latin typeface="Calibri"/>
              </a:rPr>
              <a:t>Make the firm’s critical data trusted, understood and well controlled, by setting the framework, enabling the business to own its data, and measuring the results.</a:t>
            </a:r>
          </a:p>
        </p:txBody>
      </p:sp>
      <p:sp>
        <p:nvSpPr>
          <p:cNvPr id="6" name="Rounded Rectangle 5"/>
          <p:cNvSpPr/>
          <p:nvPr/>
        </p:nvSpPr>
        <p:spPr>
          <a:xfrm>
            <a:off x="457200" y="2423160"/>
            <a:ext cx="3657600" cy="29260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MANDATE (WHAT THE CHARTER GRANTS)</a:t>
            </a:r>
          </a:p>
          <a:p>
            <a:pPr algn="l"/>
            <a:r>
              <a:rPr sz="1050" b="0" i="0">
                <a:solidFill>
                  <a:srgbClr val="57626B"/>
                </a:solidFill>
                <a:latin typeface="Calibri"/>
              </a:rPr>
              <a:t>• Set enterprise data policy and standards</a:t>
            </a:r>
          </a:p>
          <a:p>
            <a:pPr algn="l"/>
            <a:r>
              <a:rPr sz="1050" b="0" i="0">
                <a:solidFill>
                  <a:srgbClr val="57626B"/>
                </a:solidFill>
                <a:latin typeface="Calibri"/>
              </a:rPr>
              <a:t>• Define roles and require them to be filled</a:t>
            </a:r>
          </a:p>
          <a:p>
            <a:pPr algn="l"/>
            <a:r>
              <a:rPr sz="1050" b="0" i="0">
                <a:solidFill>
                  <a:srgbClr val="57626B"/>
                </a:solidFill>
                <a:latin typeface="Calibri"/>
              </a:rPr>
              <a:t>• Maintain the CDE inventory and glossary</a:t>
            </a:r>
          </a:p>
          <a:p>
            <a:pPr algn="l"/>
            <a:r>
              <a:rPr sz="1050" b="0" i="0">
                <a:solidFill>
                  <a:srgbClr val="57626B"/>
                </a:solidFill>
                <a:latin typeface="Calibri"/>
              </a:rPr>
              <a:t>• Run the data issue and exception processes</a:t>
            </a:r>
          </a:p>
          <a:p>
            <a:pPr algn="l"/>
            <a:r>
              <a:rPr sz="1050" b="0" i="0">
                <a:solidFill>
                  <a:srgbClr val="57626B"/>
                </a:solidFill>
                <a:latin typeface="Calibri"/>
              </a:rPr>
              <a:t>• Measure and report governance health</a:t>
            </a:r>
          </a:p>
          <a:p>
            <a:pPr algn="l"/>
            <a:r>
              <a:rPr sz="1050" b="0" i="0">
                <a:solidFill>
                  <a:srgbClr val="57626B"/>
                </a:solidFill>
                <a:latin typeface="Calibri"/>
              </a:rPr>
              <a:t>• Escalate unresolved risks to the council</a:t>
            </a:r>
          </a:p>
        </p:txBody>
      </p:sp>
      <p:sp>
        <p:nvSpPr>
          <p:cNvPr id="7" name="Rounded Rectangle 6"/>
          <p:cNvSpPr/>
          <p:nvPr/>
        </p:nvSpPr>
        <p:spPr>
          <a:xfrm>
            <a:off x="4270248" y="2423160"/>
            <a:ext cx="3657600" cy="29260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SCOPE</a:t>
            </a:r>
          </a:p>
          <a:p>
            <a:pPr algn="l"/>
            <a:r>
              <a:rPr sz="1050" b="0" i="0">
                <a:solidFill>
                  <a:srgbClr val="57626B"/>
                </a:solidFill>
                <a:latin typeface="Calibri"/>
              </a:rPr>
              <a:t>• In: data used for financial, regulatory, risk and management reporting; customer data; data for models and AI</a:t>
            </a:r>
          </a:p>
          <a:p>
            <a:pPr algn="l"/>
            <a:r>
              <a:rPr sz="1050" b="0" i="0">
                <a:solidFill>
                  <a:srgbClr val="57626B"/>
                </a:solidFill>
                <a:latin typeface="Calibri"/>
              </a:rPr>
              <a:t>• Phased: operational and analytical data beyond the first domains</a:t>
            </a:r>
          </a:p>
          <a:p>
            <a:pPr algn="l"/>
            <a:r>
              <a:rPr sz="1050" b="0" i="0">
                <a:solidFill>
                  <a:srgbClr val="57626B"/>
                </a:solidFill>
                <a:latin typeface="Calibri"/>
              </a:rPr>
              <a:t>• Shared with InfoSec and Privacy: classification and access</a:t>
            </a:r>
          </a:p>
        </p:txBody>
      </p:sp>
      <p:sp>
        <p:nvSpPr>
          <p:cNvPr id="8" name="Rounded Rectangle 7"/>
          <p:cNvSpPr/>
          <p:nvPr/>
        </p:nvSpPr>
        <p:spPr>
          <a:xfrm>
            <a:off x="8074152" y="2423160"/>
            <a:ext cx="3657600" cy="292608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AUTHORITY AND ESCALATION</a:t>
            </a:r>
          </a:p>
          <a:p>
            <a:pPr algn="l"/>
            <a:r>
              <a:rPr sz="1050" b="0" i="0">
                <a:solidFill>
                  <a:srgbClr val="1A2130"/>
                </a:solidFill>
                <a:latin typeface="Calibri"/>
              </a:rPr>
              <a:t>• Chartered by the executive committee; sponsored by a named executive</a:t>
            </a:r>
          </a:p>
          <a:p>
            <a:pPr algn="l"/>
            <a:r>
              <a:rPr sz="1050" b="0" i="0">
                <a:solidFill>
                  <a:srgbClr val="1A2130"/>
                </a:solidFill>
                <a:latin typeface="Calibri"/>
              </a:rPr>
              <a:t>• Standards approved by the Data Governance Council</a:t>
            </a:r>
          </a:p>
          <a:p>
            <a:pPr algn="l"/>
            <a:r>
              <a:rPr sz="1050" b="0" i="0">
                <a:solidFill>
                  <a:srgbClr val="1A2130"/>
                </a:solidFill>
                <a:latin typeface="Calibri"/>
              </a:rPr>
              <a:t>• Non-compliance handled through time-limited exceptions</a:t>
            </a:r>
          </a:p>
          <a:p>
            <a:pPr algn="l"/>
            <a:r>
              <a:rPr sz="1050" b="0" i="0">
                <a:solidFill>
                  <a:srgbClr val="1A2130"/>
                </a:solidFill>
                <a:latin typeface="Calibri"/>
              </a:rPr>
              <a:t>• Unresolved issues escalate to the executive data committee</a:t>
            </a:r>
          </a:p>
        </p:txBody>
      </p:sp>
      <p:sp>
        <p:nvSpPr>
          <p:cNvPr id="9" name="Rounded Rectangle 8"/>
          <p:cNvSpPr/>
          <p:nvPr/>
        </p:nvSpPr>
        <p:spPr>
          <a:xfrm>
            <a:off x="457200" y="5532120"/>
            <a:ext cx="1127455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Test of a good charter: </a:t>
            </a:r>
            <a:r>
              <a:rPr sz="1150" b="0" i="0">
                <a:solidFill>
                  <a:srgbClr val="57626B"/>
                </a:solidFill>
                <a:latin typeface="Calibri"/>
              </a:rPr>
              <a:t>if a data owner refuses to fix a critical issue, the charter says who decides, by when, and who accepts the risk.</a:t>
            </a:r>
          </a:p>
        </p:txBody>
      </p:sp>
      <p:sp>
        <p:nvSpPr>
          <p:cNvPr id="10" name="TextBox 9"/>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ARCHITECTS · DATA MANAGEMENT</a:t>
            </a:r>
          </a:p>
        </p:txBody>
      </p:sp>
      <p:sp>
        <p:nvSpPr>
          <p:cNvPr id="11" name="TextBox 10"/>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05</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Guiding principles</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The rules of the road the DGO uses when there is no specific policy to follow.</a:t>
            </a:r>
          </a:p>
        </p:txBody>
      </p:sp>
      <p:sp>
        <p:nvSpPr>
          <p:cNvPr id="5" name="Rounded Rectangle 4"/>
          <p:cNvSpPr/>
          <p:nvPr/>
        </p:nvSpPr>
        <p:spPr>
          <a:xfrm>
            <a:off x="457200" y="132588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1</a:t>
            </a:r>
          </a:p>
        </p:txBody>
      </p:sp>
      <p:sp>
        <p:nvSpPr>
          <p:cNvPr id="6" name="TextBox 5"/>
          <p:cNvSpPr txBox="1"/>
          <p:nvPr/>
        </p:nvSpPr>
        <p:spPr>
          <a:xfrm>
            <a:off x="1097280" y="1325880"/>
            <a:ext cx="4860036" cy="274320"/>
          </a:xfrm>
          <a:prstGeom prst="rect">
            <a:avLst/>
          </a:prstGeom>
          <a:noFill/>
        </p:spPr>
        <p:txBody>
          <a:bodyPr wrap="square" lIns="0" rIns="0" tIns="0" bIns="0" anchor="t">
            <a:spAutoFit/>
          </a:bodyPr>
          <a:lstStyle/>
          <a:p>
            <a:pPr algn="l"/>
            <a:r>
              <a:rPr sz="1250" b="1" i="0">
                <a:solidFill>
                  <a:srgbClr val="1A2130"/>
                </a:solidFill>
                <a:latin typeface="Cambria"/>
              </a:rPr>
              <a:t>Business owns the data; DGO owns the framework</a:t>
            </a:r>
          </a:p>
        </p:txBody>
      </p:sp>
      <p:sp>
        <p:nvSpPr>
          <p:cNvPr id="7" name="TextBox 6"/>
          <p:cNvSpPr txBox="1"/>
          <p:nvPr/>
        </p:nvSpPr>
        <p:spPr>
          <a:xfrm>
            <a:off x="1097280" y="1627632"/>
            <a:ext cx="4860036" cy="777240"/>
          </a:xfrm>
          <a:prstGeom prst="rect">
            <a:avLst/>
          </a:prstGeom>
          <a:noFill/>
        </p:spPr>
        <p:txBody>
          <a:bodyPr wrap="square" lIns="0" rIns="0" tIns="0" bIns="0" anchor="t">
            <a:spAutoFit/>
          </a:bodyPr>
          <a:lstStyle/>
          <a:p>
            <a:pPr algn="l"/>
            <a:r>
              <a:rPr sz="1050" b="0" i="0">
                <a:solidFill>
                  <a:srgbClr val="57626B"/>
                </a:solidFill>
                <a:latin typeface="Calibri"/>
              </a:rPr>
              <a:t>Accountability for correctness sits with those who create and use the data.</a:t>
            </a:r>
          </a:p>
        </p:txBody>
      </p:sp>
      <p:sp>
        <p:nvSpPr>
          <p:cNvPr id="8" name="Rounded Rectangle 7"/>
          <p:cNvSpPr/>
          <p:nvPr/>
        </p:nvSpPr>
        <p:spPr>
          <a:xfrm>
            <a:off x="6231636" y="132588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2</a:t>
            </a:r>
          </a:p>
        </p:txBody>
      </p:sp>
      <p:sp>
        <p:nvSpPr>
          <p:cNvPr id="9" name="TextBox 8"/>
          <p:cNvSpPr txBox="1"/>
          <p:nvPr/>
        </p:nvSpPr>
        <p:spPr>
          <a:xfrm>
            <a:off x="6871716" y="1325880"/>
            <a:ext cx="4860036" cy="274320"/>
          </a:xfrm>
          <a:prstGeom prst="rect">
            <a:avLst/>
          </a:prstGeom>
          <a:noFill/>
        </p:spPr>
        <p:txBody>
          <a:bodyPr wrap="square" lIns="0" rIns="0" tIns="0" bIns="0" anchor="t">
            <a:spAutoFit/>
          </a:bodyPr>
          <a:lstStyle/>
          <a:p>
            <a:pPr algn="l"/>
            <a:r>
              <a:rPr sz="1250" b="1" i="0">
                <a:solidFill>
                  <a:srgbClr val="1A2130"/>
                </a:solidFill>
                <a:latin typeface="Cambria"/>
              </a:rPr>
              <a:t>Risk-based and value-led</a:t>
            </a:r>
          </a:p>
        </p:txBody>
      </p:sp>
      <p:sp>
        <p:nvSpPr>
          <p:cNvPr id="10" name="TextBox 9"/>
          <p:cNvSpPr txBox="1"/>
          <p:nvPr/>
        </p:nvSpPr>
        <p:spPr>
          <a:xfrm>
            <a:off x="6871716" y="1627632"/>
            <a:ext cx="4860036" cy="777240"/>
          </a:xfrm>
          <a:prstGeom prst="rect">
            <a:avLst/>
          </a:prstGeom>
          <a:noFill/>
        </p:spPr>
        <p:txBody>
          <a:bodyPr wrap="square" lIns="0" rIns="0" tIns="0" bIns="0" anchor="t">
            <a:spAutoFit/>
          </a:bodyPr>
          <a:lstStyle/>
          <a:p>
            <a:pPr algn="l"/>
            <a:r>
              <a:rPr sz="1050" b="0" i="0">
                <a:solidFill>
                  <a:srgbClr val="57626B"/>
                </a:solidFill>
                <a:latin typeface="Calibri"/>
              </a:rPr>
              <a:t>Start where regulatory, financial or customer impact is highest; don't govern everything equally.</a:t>
            </a:r>
          </a:p>
        </p:txBody>
      </p:sp>
      <p:sp>
        <p:nvSpPr>
          <p:cNvPr id="11" name="Rounded Rectangle 10"/>
          <p:cNvSpPr/>
          <p:nvPr/>
        </p:nvSpPr>
        <p:spPr>
          <a:xfrm>
            <a:off x="457200" y="251460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3</a:t>
            </a:r>
          </a:p>
        </p:txBody>
      </p:sp>
      <p:sp>
        <p:nvSpPr>
          <p:cNvPr id="12" name="TextBox 11"/>
          <p:cNvSpPr txBox="1"/>
          <p:nvPr/>
        </p:nvSpPr>
        <p:spPr>
          <a:xfrm>
            <a:off x="1097280" y="2514600"/>
            <a:ext cx="4860036" cy="274320"/>
          </a:xfrm>
          <a:prstGeom prst="rect">
            <a:avLst/>
          </a:prstGeom>
          <a:noFill/>
        </p:spPr>
        <p:txBody>
          <a:bodyPr wrap="square" lIns="0" rIns="0" tIns="0" bIns="0" anchor="t">
            <a:spAutoFit/>
          </a:bodyPr>
          <a:lstStyle/>
          <a:p>
            <a:pPr algn="l"/>
            <a:r>
              <a:rPr sz="1250" b="1" i="0">
                <a:solidFill>
                  <a:srgbClr val="1A2130"/>
                </a:solidFill>
                <a:latin typeface="Cambria"/>
              </a:rPr>
              <a:t>Govern at the point of creation</a:t>
            </a:r>
          </a:p>
        </p:txBody>
      </p:sp>
      <p:sp>
        <p:nvSpPr>
          <p:cNvPr id="13" name="TextBox 12"/>
          <p:cNvSpPr txBox="1"/>
          <p:nvPr/>
        </p:nvSpPr>
        <p:spPr>
          <a:xfrm>
            <a:off x="1097280" y="2816352"/>
            <a:ext cx="4860036" cy="777240"/>
          </a:xfrm>
          <a:prstGeom prst="rect">
            <a:avLst/>
          </a:prstGeom>
          <a:noFill/>
        </p:spPr>
        <p:txBody>
          <a:bodyPr wrap="square" lIns="0" rIns="0" tIns="0" bIns="0" anchor="t">
            <a:spAutoFit/>
          </a:bodyPr>
          <a:lstStyle/>
          <a:p>
            <a:pPr algn="l"/>
            <a:r>
              <a:rPr sz="1050" b="0" i="0">
                <a:solidFill>
                  <a:srgbClr val="57626B"/>
                </a:solidFill>
                <a:latin typeface="Calibri"/>
              </a:rPr>
              <a:t>Prevent problems where data is captured, rather than clean it downstream.</a:t>
            </a:r>
          </a:p>
        </p:txBody>
      </p:sp>
      <p:sp>
        <p:nvSpPr>
          <p:cNvPr id="14" name="Rounded Rectangle 13"/>
          <p:cNvSpPr/>
          <p:nvPr/>
        </p:nvSpPr>
        <p:spPr>
          <a:xfrm>
            <a:off x="6231636" y="251460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4</a:t>
            </a:r>
          </a:p>
        </p:txBody>
      </p:sp>
      <p:sp>
        <p:nvSpPr>
          <p:cNvPr id="15" name="TextBox 14"/>
          <p:cNvSpPr txBox="1"/>
          <p:nvPr/>
        </p:nvSpPr>
        <p:spPr>
          <a:xfrm>
            <a:off x="6871716" y="2514600"/>
            <a:ext cx="4860036" cy="274320"/>
          </a:xfrm>
          <a:prstGeom prst="rect">
            <a:avLst/>
          </a:prstGeom>
          <a:noFill/>
        </p:spPr>
        <p:txBody>
          <a:bodyPr wrap="square" lIns="0" rIns="0" tIns="0" bIns="0" anchor="t">
            <a:spAutoFit/>
          </a:bodyPr>
          <a:lstStyle/>
          <a:p>
            <a:pPr algn="l"/>
            <a:r>
              <a:rPr sz="1250" b="1" i="0">
                <a:solidFill>
                  <a:srgbClr val="1A2130"/>
                </a:solidFill>
                <a:latin typeface="Cambria"/>
              </a:rPr>
              <a:t>Embedded, not bolted on</a:t>
            </a:r>
          </a:p>
        </p:txBody>
      </p:sp>
      <p:sp>
        <p:nvSpPr>
          <p:cNvPr id="16" name="TextBox 15"/>
          <p:cNvSpPr txBox="1"/>
          <p:nvPr/>
        </p:nvSpPr>
        <p:spPr>
          <a:xfrm>
            <a:off x="6871716" y="2816352"/>
            <a:ext cx="4860036" cy="777240"/>
          </a:xfrm>
          <a:prstGeom prst="rect">
            <a:avLst/>
          </a:prstGeom>
          <a:noFill/>
        </p:spPr>
        <p:txBody>
          <a:bodyPr wrap="square" lIns="0" rIns="0" tIns="0" bIns="0" anchor="t">
            <a:spAutoFit/>
          </a:bodyPr>
          <a:lstStyle/>
          <a:p>
            <a:pPr algn="l"/>
            <a:r>
              <a:rPr sz="1050" b="0" i="0">
                <a:solidFill>
                  <a:srgbClr val="57626B"/>
                </a:solidFill>
                <a:latin typeface="Calibri"/>
              </a:rPr>
              <a:t>Build governance into existing processes: change delivery, the close, model development.</a:t>
            </a:r>
          </a:p>
        </p:txBody>
      </p:sp>
      <p:sp>
        <p:nvSpPr>
          <p:cNvPr id="17" name="Rounded Rectangle 16"/>
          <p:cNvSpPr/>
          <p:nvPr/>
        </p:nvSpPr>
        <p:spPr>
          <a:xfrm>
            <a:off x="457200" y="370332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5</a:t>
            </a:r>
          </a:p>
        </p:txBody>
      </p:sp>
      <p:sp>
        <p:nvSpPr>
          <p:cNvPr id="18" name="TextBox 17"/>
          <p:cNvSpPr txBox="1"/>
          <p:nvPr/>
        </p:nvSpPr>
        <p:spPr>
          <a:xfrm>
            <a:off x="1097280" y="3703320"/>
            <a:ext cx="4860036" cy="274320"/>
          </a:xfrm>
          <a:prstGeom prst="rect">
            <a:avLst/>
          </a:prstGeom>
          <a:noFill/>
        </p:spPr>
        <p:txBody>
          <a:bodyPr wrap="square" lIns="0" rIns="0" tIns="0" bIns="0" anchor="t">
            <a:spAutoFit/>
          </a:bodyPr>
          <a:lstStyle/>
          <a:p>
            <a:pPr algn="l"/>
            <a:r>
              <a:rPr sz="1250" b="1" i="0">
                <a:solidFill>
                  <a:srgbClr val="1A2130"/>
                </a:solidFill>
                <a:latin typeface="Cambria"/>
              </a:rPr>
              <a:t>Automate by default</a:t>
            </a:r>
          </a:p>
        </p:txBody>
      </p:sp>
      <p:sp>
        <p:nvSpPr>
          <p:cNvPr id="19" name="TextBox 18"/>
          <p:cNvSpPr txBox="1"/>
          <p:nvPr/>
        </p:nvSpPr>
        <p:spPr>
          <a:xfrm>
            <a:off x="1097280" y="4005072"/>
            <a:ext cx="4860036" cy="777240"/>
          </a:xfrm>
          <a:prstGeom prst="rect">
            <a:avLst/>
          </a:prstGeom>
          <a:noFill/>
        </p:spPr>
        <p:txBody>
          <a:bodyPr wrap="square" lIns="0" rIns="0" tIns="0" bIns="0" anchor="t">
            <a:spAutoFit/>
          </a:bodyPr>
          <a:lstStyle/>
          <a:p>
            <a:pPr algn="l"/>
            <a:r>
              <a:rPr sz="1050" b="0" i="0">
                <a:solidFill>
                  <a:srgbClr val="57626B"/>
                </a:solidFill>
                <a:latin typeface="Calibri"/>
              </a:rPr>
              <a:t>Metadata, lineage and quality checks generated by systems, not maintained by hand.</a:t>
            </a:r>
          </a:p>
        </p:txBody>
      </p:sp>
      <p:sp>
        <p:nvSpPr>
          <p:cNvPr id="20" name="Rounded Rectangle 19"/>
          <p:cNvSpPr/>
          <p:nvPr/>
        </p:nvSpPr>
        <p:spPr>
          <a:xfrm>
            <a:off x="6231636" y="370332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6</a:t>
            </a:r>
          </a:p>
        </p:txBody>
      </p:sp>
      <p:sp>
        <p:nvSpPr>
          <p:cNvPr id="21" name="TextBox 20"/>
          <p:cNvSpPr txBox="1"/>
          <p:nvPr/>
        </p:nvSpPr>
        <p:spPr>
          <a:xfrm>
            <a:off x="6871716" y="3703320"/>
            <a:ext cx="4860036" cy="274320"/>
          </a:xfrm>
          <a:prstGeom prst="rect">
            <a:avLst/>
          </a:prstGeom>
          <a:noFill/>
        </p:spPr>
        <p:txBody>
          <a:bodyPr wrap="square" lIns="0" rIns="0" tIns="0" bIns="0" anchor="t">
            <a:spAutoFit/>
          </a:bodyPr>
          <a:lstStyle/>
          <a:p>
            <a:pPr algn="l"/>
            <a:r>
              <a:rPr sz="1250" b="1" i="0">
                <a:solidFill>
                  <a:srgbClr val="1A2130"/>
                </a:solidFill>
                <a:latin typeface="Cambria"/>
              </a:rPr>
              <a:t>Measure and make it visible</a:t>
            </a:r>
          </a:p>
        </p:txBody>
      </p:sp>
      <p:sp>
        <p:nvSpPr>
          <p:cNvPr id="22" name="TextBox 21"/>
          <p:cNvSpPr txBox="1"/>
          <p:nvPr/>
        </p:nvSpPr>
        <p:spPr>
          <a:xfrm>
            <a:off x="6871716" y="4005072"/>
            <a:ext cx="4860036" cy="777240"/>
          </a:xfrm>
          <a:prstGeom prst="rect">
            <a:avLst/>
          </a:prstGeom>
          <a:noFill/>
        </p:spPr>
        <p:txBody>
          <a:bodyPr wrap="square" lIns="0" rIns="0" tIns="0" bIns="0" anchor="t">
            <a:spAutoFit/>
          </a:bodyPr>
          <a:lstStyle/>
          <a:p>
            <a:pPr algn="l"/>
            <a:r>
              <a:rPr sz="1050" b="0" i="0">
                <a:solidFill>
                  <a:srgbClr val="57626B"/>
                </a:solidFill>
                <a:latin typeface="Calibri"/>
              </a:rPr>
              <a:t>If it isn't measured and published, it isn't governed.</a:t>
            </a:r>
          </a:p>
        </p:txBody>
      </p:sp>
      <p:sp>
        <p:nvSpPr>
          <p:cNvPr id="23" name="Rounded Rectangle 22"/>
          <p:cNvSpPr/>
          <p:nvPr/>
        </p:nvSpPr>
        <p:spPr>
          <a:xfrm>
            <a:off x="457200" y="489204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7</a:t>
            </a:r>
          </a:p>
        </p:txBody>
      </p:sp>
      <p:sp>
        <p:nvSpPr>
          <p:cNvPr id="24" name="TextBox 23"/>
          <p:cNvSpPr txBox="1"/>
          <p:nvPr/>
        </p:nvSpPr>
        <p:spPr>
          <a:xfrm>
            <a:off x="1097280" y="4892040"/>
            <a:ext cx="4860036" cy="274320"/>
          </a:xfrm>
          <a:prstGeom prst="rect">
            <a:avLst/>
          </a:prstGeom>
          <a:noFill/>
        </p:spPr>
        <p:txBody>
          <a:bodyPr wrap="square" lIns="0" rIns="0" tIns="0" bIns="0" anchor="t">
            <a:spAutoFit/>
          </a:bodyPr>
          <a:lstStyle/>
          <a:p>
            <a:pPr algn="l"/>
            <a:r>
              <a:rPr sz="1250" b="1" i="0">
                <a:solidFill>
                  <a:srgbClr val="1A2130"/>
                </a:solidFill>
                <a:latin typeface="Cambria"/>
              </a:rPr>
              <a:t>Minimum viable governance</a:t>
            </a:r>
          </a:p>
        </p:txBody>
      </p:sp>
      <p:sp>
        <p:nvSpPr>
          <p:cNvPr id="25" name="TextBox 24"/>
          <p:cNvSpPr txBox="1"/>
          <p:nvPr/>
        </p:nvSpPr>
        <p:spPr>
          <a:xfrm>
            <a:off x="1097280" y="5193792"/>
            <a:ext cx="4860036" cy="777240"/>
          </a:xfrm>
          <a:prstGeom prst="rect">
            <a:avLst/>
          </a:prstGeom>
          <a:noFill/>
        </p:spPr>
        <p:txBody>
          <a:bodyPr wrap="square" lIns="0" rIns="0" tIns="0" bIns="0" anchor="t">
            <a:spAutoFit/>
          </a:bodyPr>
          <a:lstStyle/>
          <a:p>
            <a:pPr algn="l"/>
            <a:r>
              <a:rPr sz="1050" b="0" i="0">
                <a:solidFill>
                  <a:srgbClr val="57626B"/>
                </a:solidFill>
                <a:latin typeface="Calibri"/>
              </a:rPr>
              <a:t>Just enough rigor for the risk; add more as maturity and value grow.</a:t>
            </a:r>
          </a:p>
        </p:txBody>
      </p:sp>
      <p:sp>
        <p:nvSpPr>
          <p:cNvPr id="26" name="Rounded Rectangle 25"/>
          <p:cNvSpPr/>
          <p:nvPr/>
        </p:nvSpPr>
        <p:spPr>
          <a:xfrm>
            <a:off x="6231636" y="489204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8</a:t>
            </a:r>
          </a:p>
        </p:txBody>
      </p:sp>
      <p:sp>
        <p:nvSpPr>
          <p:cNvPr id="27" name="TextBox 26"/>
          <p:cNvSpPr txBox="1"/>
          <p:nvPr/>
        </p:nvSpPr>
        <p:spPr>
          <a:xfrm>
            <a:off x="6871716" y="4892040"/>
            <a:ext cx="4860036" cy="274320"/>
          </a:xfrm>
          <a:prstGeom prst="rect">
            <a:avLst/>
          </a:prstGeom>
          <a:noFill/>
        </p:spPr>
        <p:txBody>
          <a:bodyPr wrap="square" lIns="0" rIns="0" tIns="0" bIns="0" anchor="t">
            <a:spAutoFit/>
          </a:bodyPr>
          <a:lstStyle/>
          <a:p>
            <a:pPr algn="l"/>
            <a:r>
              <a:rPr sz="1250" b="1" i="0">
                <a:solidFill>
                  <a:srgbClr val="1A2130"/>
                </a:solidFill>
                <a:latin typeface="Cambria"/>
              </a:rPr>
              <a:t>Enable, don't police</a:t>
            </a:r>
          </a:p>
        </p:txBody>
      </p:sp>
      <p:sp>
        <p:nvSpPr>
          <p:cNvPr id="28" name="TextBox 27"/>
          <p:cNvSpPr txBox="1"/>
          <p:nvPr/>
        </p:nvSpPr>
        <p:spPr>
          <a:xfrm>
            <a:off x="6871716" y="5193792"/>
            <a:ext cx="4860036" cy="777240"/>
          </a:xfrm>
          <a:prstGeom prst="rect">
            <a:avLst/>
          </a:prstGeom>
          <a:noFill/>
        </p:spPr>
        <p:txBody>
          <a:bodyPr wrap="square" lIns="0" rIns="0" tIns="0" bIns="0" anchor="t">
            <a:spAutoFit/>
          </a:bodyPr>
          <a:lstStyle/>
          <a:p>
            <a:pPr algn="l"/>
            <a:r>
              <a:rPr sz="1050" b="0" i="0">
                <a:solidFill>
                  <a:srgbClr val="57626B"/>
                </a:solidFill>
                <a:latin typeface="Calibri"/>
              </a:rPr>
              <a:t>Make the right way the easy way; the DGO succeeds when owners succeed.</a:t>
            </a:r>
          </a:p>
        </p:txBody>
      </p:sp>
      <p:sp>
        <p:nvSpPr>
          <p:cNvPr id="29" name="TextBox 28"/>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ARCHITECTS · DATA MANAGEMENT</a:t>
            </a:r>
          </a:p>
        </p:txBody>
      </p:sp>
      <p:sp>
        <p:nvSpPr>
          <p:cNvPr id="30" name="TextBox 29"/>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06</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What the DGO owns — and what it doesn’t</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Most early friction comes from blurred boundaries. Agree these up front.</a:t>
            </a:r>
          </a:p>
        </p:txBody>
      </p:sp>
      <p:graphicFrame>
        <p:nvGraphicFramePr>
          <p:cNvPr id="5" name="Table 4"/>
          <p:cNvGraphicFramePr>
            <a:graphicFrameLocks noGrp="1"/>
          </p:cNvGraphicFramePr>
          <p:nvPr/>
        </p:nvGraphicFramePr>
        <p:xfrm>
          <a:off x="457200" y="1325880"/>
          <a:ext cx="11274552" cy="4005072"/>
        </p:xfrm>
        <a:graphic>
          <a:graphicData uri="http://schemas.openxmlformats.org/drawingml/2006/table">
            <a:tbl>
              <a:tblPr firstRow="1" bandRow="1">
                <a:tableStyleId>{5C22544A-7EE6-4342-B048-85BDC9FD1C3A}</a:tableStyleId>
              </a:tblPr>
              <a:tblGrid>
                <a:gridCol w="2377440"/>
                <a:gridCol w="4297680"/>
                <a:gridCol w="4599432"/>
              </a:tblGrid>
              <a:tr h="347472">
                <a:tc>
                  <a:txBody>
                    <a:bodyPr/>
                    <a:lstStyle/>
                    <a:p>
                      <a:pPr algn="l"/>
                      <a:r>
                        <a:rPr sz="1000" b="1" i="0">
                          <a:solidFill>
                            <a:srgbClr val="CADCEA"/>
                          </a:solidFill>
                          <a:latin typeface="Calibri"/>
                        </a:rPr>
                        <a:t>AREA</a:t>
                      </a:r>
                    </a:p>
                  </a:txBody>
                  <a:tcPr marL="73152" marR="73152" marT="36576" marB="36576" anchor="ctr">
                    <a:solidFill>
                      <a:srgbClr val="1A2130"/>
                    </a:solidFill>
                  </a:tcPr>
                </a:tc>
                <a:tc>
                  <a:txBody>
                    <a:bodyPr/>
                    <a:lstStyle/>
                    <a:p>
                      <a:pPr algn="l"/>
                      <a:r>
                        <a:rPr sz="1000" b="1" i="0">
                          <a:solidFill>
                            <a:srgbClr val="CADCEA"/>
                          </a:solidFill>
                          <a:latin typeface="Calibri"/>
                        </a:rPr>
                        <a:t>THE DGO OWNS</a:t>
                      </a:r>
                    </a:p>
                  </a:txBody>
                  <a:tcPr marL="73152" marR="73152" marT="36576" marB="36576" anchor="ctr">
                    <a:solidFill>
                      <a:srgbClr val="1A2130"/>
                    </a:solidFill>
                  </a:tcPr>
                </a:tc>
                <a:tc>
                  <a:txBody>
                    <a:bodyPr/>
                    <a:lstStyle/>
                    <a:p>
                      <a:pPr algn="l"/>
                      <a:r>
                        <a:rPr sz="1000" b="1" i="0">
                          <a:solidFill>
                            <a:srgbClr val="CADCEA"/>
                          </a:solidFill>
                          <a:latin typeface="Calibri"/>
                        </a:rPr>
                        <a:t>SOMEONE ELSE OWNS</a:t>
                      </a:r>
                    </a:p>
                  </a:txBody>
                  <a:tcPr marL="73152" marR="73152" marT="36576" marB="36576" anchor="ctr">
                    <a:solidFill>
                      <a:srgbClr val="1A2130"/>
                    </a:solidFill>
                  </a:tcPr>
                </a:tc>
              </a:tr>
              <a:tr h="457200">
                <a:tc>
                  <a:txBody>
                    <a:bodyPr/>
                    <a:lstStyle/>
                    <a:p>
                      <a:pPr algn="l"/>
                      <a:r>
                        <a:rPr sz="1050" b="1" i="0">
                          <a:solidFill>
                            <a:srgbClr val="1A2130"/>
                          </a:solidFill>
                          <a:latin typeface="Calibri"/>
                        </a:rPr>
                        <a:t>Data correctness</a:t>
                      </a:r>
                    </a:p>
                  </a:txBody>
                  <a:tcPr marL="73152" marR="73152" marT="36576" marB="36576" anchor="ctr">
                    <a:solidFill>
                      <a:srgbClr val="FFFFFF"/>
                    </a:solidFill>
                  </a:tcPr>
                </a:tc>
                <a:tc>
                  <a:txBody>
                    <a:bodyPr/>
                    <a:lstStyle/>
                    <a:p>
                      <a:pPr algn="l"/>
                      <a:r>
                        <a:rPr sz="1050" b="0" i="0">
                          <a:solidFill>
                            <a:srgbClr val="57626B"/>
                          </a:solidFill>
                          <a:latin typeface="Calibri"/>
                        </a:rPr>
                        <a:t>The standard for measuring it</a:t>
                      </a:r>
                    </a:p>
                  </a:txBody>
                  <a:tcPr marL="73152" marR="73152" marT="36576" marB="36576" anchor="ctr">
                    <a:solidFill>
                      <a:srgbClr val="FFFFFF"/>
                    </a:solidFill>
                  </a:tcPr>
                </a:tc>
                <a:tc>
                  <a:txBody>
                    <a:bodyPr/>
                    <a:lstStyle/>
                    <a:p>
                      <a:pPr algn="l"/>
                      <a:r>
                        <a:rPr sz="1050" b="0" i="0">
                          <a:solidFill>
                            <a:srgbClr val="57626B"/>
                          </a:solidFill>
                          <a:latin typeface="Calibri"/>
                        </a:rPr>
                        <a:t>Data owners (the business)</a:t>
                      </a:r>
                    </a:p>
                  </a:txBody>
                  <a:tcPr marL="73152" marR="73152" marT="36576" marB="36576" anchor="ctr">
                    <a:solidFill>
                      <a:srgbClr val="FFFFFF"/>
                    </a:solidFill>
                  </a:tcPr>
                </a:tc>
              </a:tr>
              <a:tr h="457200">
                <a:tc>
                  <a:txBody>
                    <a:bodyPr/>
                    <a:lstStyle/>
                    <a:p>
                      <a:pPr algn="l"/>
                      <a:r>
                        <a:rPr sz="1050" b="1" i="0">
                          <a:solidFill>
                            <a:srgbClr val="1A2130"/>
                          </a:solidFill>
                          <a:latin typeface="Calibri"/>
                        </a:rPr>
                        <a:t>Definitions</a:t>
                      </a:r>
                    </a:p>
                  </a:txBody>
                  <a:tcPr marL="73152" marR="73152" marT="36576" marB="36576" anchor="ctr">
                    <a:solidFill>
                      <a:srgbClr val="F4F6F2"/>
                    </a:solidFill>
                  </a:tcPr>
                </a:tc>
                <a:tc>
                  <a:txBody>
                    <a:bodyPr/>
                    <a:lstStyle/>
                    <a:p>
                      <a:pPr algn="l"/>
                      <a:r>
                        <a:rPr sz="1050" b="0" i="0">
                          <a:solidFill>
                            <a:srgbClr val="57626B"/>
                          </a:solidFill>
                          <a:latin typeface="Calibri"/>
                        </a:rPr>
                        <a:t>Glossary process and tool</a:t>
                      </a:r>
                    </a:p>
                  </a:txBody>
                  <a:tcPr marL="73152" marR="73152" marT="36576" marB="36576" anchor="ctr">
                    <a:solidFill>
                      <a:srgbClr val="F4F6F2"/>
                    </a:solidFill>
                  </a:tcPr>
                </a:tc>
                <a:tc>
                  <a:txBody>
                    <a:bodyPr/>
                    <a:lstStyle/>
                    <a:p>
                      <a:pPr algn="l"/>
                      <a:r>
                        <a:rPr sz="1050" b="0" i="0">
                          <a:solidFill>
                            <a:srgbClr val="57626B"/>
                          </a:solidFill>
                          <a:latin typeface="Calibri"/>
                        </a:rPr>
                        <a:t>The definitions themselves: owners and stewards</a:t>
                      </a:r>
                    </a:p>
                  </a:txBody>
                  <a:tcPr marL="73152" marR="73152" marT="36576" marB="36576" anchor="ctr">
                    <a:solidFill>
                      <a:srgbClr val="F4F6F2"/>
                    </a:solidFill>
                  </a:tcPr>
                </a:tc>
              </a:tr>
              <a:tr h="457200">
                <a:tc>
                  <a:txBody>
                    <a:bodyPr/>
                    <a:lstStyle/>
                    <a:p>
                      <a:pPr algn="l"/>
                      <a:r>
                        <a:rPr sz="1050" b="1" i="0">
                          <a:solidFill>
                            <a:srgbClr val="1A2130"/>
                          </a:solidFill>
                          <a:latin typeface="Calibri"/>
                        </a:rPr>
                        <a:t>Data quality</a:t>
                      </a:r>
                    </a:p>
                  </a:txBody>
                  <a:tcPr marL="73152" marR="73152" marT="36576" marB="36576" anchor="ctr">
                    <a:solidFill>
                      <a:srgbClr val="FFFFFF"/>
                    </a:solidFill>
                  </a:tcPr>
                </a:tc>
                <a:tc>
                  <a:txBody>
                    <a:bodyPr/>
                    <a:lstStyle/>
                    <a:p>
                      <a:pPr algn="l"/>
                      <a:r>
                        <a:rPr sz="1050" b="0" i="0">
                          <a:solidFill>
                            <a:srgbClr val="57626B"/>
                          </a:solidFill>
                          <a:latin typeface="Calibri"/>
                        </a:rPr>
                        <a:t>DQ standard, scoring method, scorecard</a:t>
                      </a:r>
                    </a:p>
                  </a:txBody>
                  <a:tcPr marL="73152" marR="73152" marT="36576" marB="36576" anchor="ctr">
                    <a:solidFill>
                      <a:srgbClr val="FFFFFF"/>
                    </a:solidFill>
                  </a:tcPr>
                </a:tc>
                <a:tc>
                  <a:txBody>
                    <a:bodyPr/>
                    <a:lstStyle/>
                    <a:p>
                      <a:pPr algn="l"/>
                      <a:r>
                        <a:rPr sz="1050" b="0" i="0">
                          <a:solidFill>
                            <a:srgbClr val="57626B"/>
                          </a:solidFill>
                          <a:latin typeface="Calibri"/>
                        </a:rPr>
                        <a:t>Rules and fixes: stewards and engineering</a:t>
                      </a:r>
                    </a:p>
                  </a:txBody>
                  <a:tcPr marL="73152" marR="73152" marT="36576" marB="36576" anchor="ctr">
                    <a:solidFill>
                      <a:srgbClr val="FFFFFF"/>
                    </a:solidFill>
                  </a:tcPr>
                </a:tc>
              </a:tr>
              <a:tr h="457200">
                <a:tc>
                  <a:txBody>
                    <a:bodyPr/>
                    <a:lstStyle/>
                    <a:p>
                      <a:pPr algn="l"/>
                      <a:r>
                        <a:rPr sz="1050" b="1" i="0">
                          <a:solidFill>
                            <a:srgbClr val="1A2130"/>
                          </a:solidFill>
                          <a:latin typeface="Calibri"/>
                        </a:rPr>
                        <a:t>Lineage</a:t>
                      </a:r>
                    </a:p>
                  </a:txBody>
                  <a:tcPr marL="73152" marR="73152" marT="36576" marB="36576" anchor="ctr">
                    <a:solidFill>
                      <a:srgbClr val="F4F6F2"/>
                    </a:solidFill>
                  </a:tcPr>
                </a:tc>
                <a:tc>
                  <a:txBody>
                    <a:bodyPr/>
                    <a:lstStyle/>
                    <a:p>
                      <a:pPr algn="l"/>
                      <a:r>
                        <a:rPr sz="1050" b="0" i="0">
                          <a:solidFill>
                            <a:srgbClr val="57626B"/>
                          </a:solidFill>
                          <a:latin typeface="Calibri"/>
                        </a:rPr>
                        <a:t>Lineage standard and coverage targets</a:t>
                      </a:r>
                    </a:p>
                  </a:txBody>
                  <a:tcPr marL="73152" marR="73152" marT="36576" marB="36576" anchor="ctr">
                    <a:solidFill>
                      <a:srgbClr val="F4F6F2"/>
                    </a:solidFill>
                  </a:tcPr>
                </a:tc>
                <a:tc>
                  <a:txBody>
                    <a:bodyPr/>
                    <a:lstStyle/>
                    <a:p>
                      <a:pPr algn="l"/>
                      <a:r>
                        <a:rPr sz="1050" b="0" i="0">
                          <a:solidFill>
                            <a:srgbClr val="57626B"/>
                          </a:solidFill>
                          <a:latin typeface="Calibri"/>
                        </a:rPr>
                        <a:t>Capture in pipelines: architecture and engineering</a:t>
                      </a:r>
                    </a:p>
                  </a:txBody>
                  <a:tcPr marL="73152" marR="73152" marT="36576" marB="36576" anchor="ctr">
                    <a:solidFill>
                      <a:srgbClr val="F4F6F2"/>
                    </a:solidFill>
                  </a:tcPr>
                </a:tc>
              </a:tr>
              <a:tr h="457200">
                <a:tc>
                  <a:txBody>
                    <a:bodyPr/>
                    <a:lstStyle/>
                    <a:p>
                      <a:pPr algn="l"/>
                      <a:r>
                        <a:rPr sz="1050" b="1" i="0">
                          <a:solidFill>
                            <a:srgbClr val="1A2130"/>
                          </a:solidFill>
                          <a:latin typeface="Calibri"/>
                        </a:rPr>
                        <a:t>Platforms and pipelines</a:t>
                      </a:r>
                    </a:p>
                  </a:txBody>
                  <a:tcPr marL="73152" marR="73152" marT="36576" marB="36576" anchor="ctr">
                    <a:solidFill>
                      <a:srgbClr val="FFFFFF"/>
                    </a:solidFill>
                  </a:tcPr>
                </a:tc>
                <a:tc>
                  <a:txBody>
                    <a:bodyPr/>
                    <a:lstStyle/>
                    <a:p>
                      <a:pPr algn="l"/>
                      <a:r>
                        <a:rPr sz="1050" b="0" i="0">
                          <a:solidFill>
                            <a:srgbClr val="57626B"/>
                          </a:solidFill>
                          <a:latin typeface="Calibri"/>
                        </a:rPr>
                        <a:t>Governance requirements</a:t>
                      </a:r>
                    </a:p>
                  </a:txBody>
                  <a:tcPr marL="73152" marR="73152" marT="36576" marB="36576" anchor="ctr">
                    <a:solidFill>
                      <a:srgbClr val="FFFFFF"/>
                    </a:solidFill>
                  </a:tcPr>
                </a:tc>
                <a:tc>
                  <a:txBody>
                    <a:bodyPr/>
                    <a:lstStyle/>
                    <a:p>
                      <a:pPr algn="l"/>
                      <a:r>
                        <a:rPr sz="1050" b="0" i="0">
                          <a:solidFill>
                            <a:srgbClr val="57626B"/>
                          </a:solidFill>
                          <a:latin typeface="Calibri"/>
                        </a:rPr>
                        <a:t>Build and run: technology</a:t>
                      </a:r>
                    </a:p>
                  </a:txBody>
                  <a:tcPr marL="73152" marR="73152" marT="36576" marB="36576" anchor="ctr">
                    <a:solidFill>
                      <a:srgbClr val="FFFFFF"/>
                    </a:solidFill>
                  </a:tcPr>
                </a:tc>
              </a:tr>
              <a:tr h="457200">
                <a:tc>
                  <a:txBody>
                    <a:bodyPr/>
                    <a:lstStyle/>
                    <a:p>
                      <a:pPr algn="l"/>
                      <a:r>
                        <a:rPr sz="1050" b="1" i="0">
                          <a:solidFill>
                            <a:srgbClr val="1A2130"/>
                          </a:solidFill>
                          <a:latin typeface="Calibri"/>
                        </a:rPr>
                        <a:t>Access and privacy</a:t>
                      </a:r>
                    </a:p>
                  </a:txBody>
                  <a:tcPr marL="73152" marR="73152" marT="36576" marB="36576" anchor="ctr">
                    <a:solidFill>
                      <a:srgbClr val="F4F6F2"/>
                    </a:solidFill>
                  </a:tcPr>
                </a:tc>
                <a:tc>
                  <a:txBody>
                    <a:bodyPr/>
                    <a:lstStyle/>
                    <a:p>
                      <a:pPr algn="l"/>
                      <a:r>
                        <a:rPr sz="1050" b="0" i="0">
                          <a:solidFill>
                            <a:srgbClr val="57626B"/>
                          </a:solidFill>
                          <a:latin typeface="Calibri"/>
                        </a:rPr>
                        <a:t>Classification standard (jointly)</a:t>
                      </a:r>
                    </a:p>
                  </a:txBody>
                  <a:tcPr marL="73152" marR="73152" marT="36576" marB="36576" anchor="ctr">
                    <a:solidFill>
                      <a:srgbClr val="F4F6F2"/>
                    </a:solidFill>
                  </a:tcPr>
                </a:tc>
                <a:tc>
                  <a:txBody>
                    <a:bodyPr/>
                    <a:lstStyle/>
                    <a:p>
                      <a:pPr algn="l"/>
                      <a:r>
                        <a:rPr sz="1050" b="0" i="0">
                          <a:solidFill>
                            <a:srgbClr val="57626B"/>
                          </a:solidFill>
                          <a:latin typeface="Calibri"/>
                        </a:rPr>
                        <a:t>Entitlements and controls: InfoSec and Privacy</a:t>
                      </a:r>
                    </a:p>
                  </a:txBody>
                  <a:tcPr marL="73152" marR="73152" marT="36576" marB="36576" anchor="ctr">
                    <a:solidFill>
                      <a:srgbClr val="F4F6F2"/>
                    </a:solidFill>
                  </a:tcPr>
                </a:tc>
              </a:tr>
              <a:tr h="457200">
                <a:tc>
                  <a:txBody>
                    <a:bodyPr/>
                    <a:lstStyle/>
                    <a:p>
                      <a:pPr algn="l"/>
                      <a:r>
                        <a:rPr sz="1050" b="1" i="0">
                          <a:solidFill>
                            <a:srgbClr val="1A2130"/>
                          </a:solidFill>
                          <a:latin typeface="Calibri"/>
                        </a:rPr>
                        <a:t>Controls testing</a:t>
                      </a:r>
                    </a:p>
                  </a:txBody>
                  <a:tcPr marL="73152" marR="73152" marT="36576" marB="36576" anchor="ctr">
                    <a:solidFill>
                      <a:srgbClr val="FFFFFF"/>
                    </a:solidFill>
                  </a:tcPr>
                </a:tc>
                <a:tc>
                  <a:txBody>
                    <a:bodyPr/>
                    <a:lstStyle/>
                    <a:p>
                      <a:pPr algn="l"/>
                      <a:r>
                        <a:rPr sz="1050" b="0" i="0">
                          <a:solidFill>
                            <a:srgbClr val="57626B"/>
                          </a:solidFill>
                          <a:latin typeface="Calibri"/>
                        </a:rPr>
                        <a:t>First-line self-assessment support</a:t>
                      </a:r>
                    </a:p>
                  </a:txBody>
                  <a:tcPr marL="73152" marR="73152" marT="36576" marB="36576" anchor="ctr">
                    <a:solidFill>
                      <a:srgbClr val="FFFFFF"/>
                    </a:solidFill>
                  </a:tcPr>
                </a:tc>
                <a:tc>
                  <a:txBody>
                    <a:bodyPr/>
                    <a:lstStyle/>
                    <a:p>
                      <a:pPr algn="l"/>
                      <a:r>
                        <a:rPr sz="1050" b="0" i="0">
                          <a:solidFill>
                            <a:srgbClr val="57626B"/>
                          </a:solidFill>
                          <a:latin typeface="Calibri"/>
                        </a:rPr>
                        <a:t>Independent testing: 2nd line and Internal Audit</a:t>
                      </a:r>
                    </a:p>
                  </a:txBody>
                  <a:tcPr marL="73152" marR="73152" marT="36576" marB="36576" anchor="ctr">
                    <a:solidFill>
                      <a:srgbClr val="FFFFFF"/>
                    </a:solidFill>
                  </a:tcPr>
                </a:tc>
              </a:tr>
              <a:tr h="457200">
                <a:tc>
                  <a:txBody>
                    <a:bodyPr/>
                    <a:lstStyle/>
                    <a:p>
                      <a:pPr algn="l"/>
                      <a:r>
                        <a:rPr sz="1050" b="1" i="0">
                          <a:solidFill>
                            <a:srgbClr val="1A2130"/>
                          </a:solidFill>
                          <a:latin typeface="Calibri"/>
                        </a:rPr>
                        <a:t>Remediation funding</a:t>
                      </a:r>
                    </a:p>
                  </a:txBody>
                  <a:tcPr marL="73152" marR="73152" marT="36576" marB="36576" anchor="ctr">
                    <a:solidFill>
                      <a:srgbClr val="F4F6F2"/>
                    </a:solidFill>
                  </a:tcPr>
                </a:tc>
                <a:tc>
                  <a:txBody>
                    <a:bodyPr/>
                    <a:lstStyle/>
                    <a:p>
                      <a:pPr algn="l"/>
                      <a:r>
                        <a:rPr sz="1050" b="0" i="0">
                          <a:solidFill>
                            <a:srgbClr val="57626B"/>
                          </a:solidFill>
                          <a:latin typeface="Calibri"/>
                        </a:rPr>
                        <a:t>Prioritization input and tracking</a:t>
                      </a:r>
                    </a:p>
                  </a:txBody>
                  <a:tcPr marL="73152" marR="73152" marT="36576" marB="36576" anchor="ctr">
                    <a:solidFill>
                      <a:srgbClr val="F4F6F2"/>
                    </a:solidFill>
                  </a:tcPr>
                </a:tc>
                <a:tc>
                  <a:txBody>
                    <a:bodyPr/>
                    <a:lstStyle/>
                    <a:p>
                      <a:pPr algn="l"/>
                      <a:r>
                        <a:rPr sz="1050" b="0" i="0">
                          <a:solidFill>
                            <a:srgbClr val="57626B"/>
                          </a:solidFill>
                          <a:latin typeface="Calibri"/>
                        </a:rPr>
                        <a:t>Budget decisions: executive data committee</a:t>
                      </a:r>
                    </a:p>
                  </a:txBody>
                  <a:tcPr marL="73152" marR="73152" marT="36576" marB="36576" anchor="ctr">
                    <a:solidFill>
                      <a:srgbClr val="F4F6F2"/>
                    </a:solidFill>
                  </a:tcPr>
                </a:tc>
              </a:tr>
            </a:tbl>
          </a:graphicData>
        </a:graphic>
      </p:graphicFrame>
      <p:sp>
        <p:nvSpPr>
          <p:cNvPr id="6" name="Rounded Rectangle 5"/>
          <p:cNvSpPr/>
          <p:nvPr/>
        </p:nvSpPr>
        <p:spPr>
          <a:xfrm>
            <a:off x="457200" y="5440680"/>
            <a:ext cx="1127455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In short: </a:t>
            </a:r>
            <a:r>
              <a:rPr sz="1150" b="0" i="0">
                <a:solidFill>
                  <a:srgbClr val="57626B"/>
                </a:solidFill>
                <a:latin typeface="Calibri"/>
              </a:rPr>
              <a:t>the DGO is accountable for the “how” (framework, tools, forums, measurement); the business is accountable for the “what” (whether the data is right).</a:t>
            </a:r>
          </a:p>
        </p:txBody>
      </p:sp>
      <p:sp>
        <p:nvSpPr>
          <p:cNvPr id="7" name="TextBox 6"/>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ARCHITECTS · DATA MANAGEMENT</a:t>
            </a:r>
          </a:p>
        </p:txBody>
      </p:sp>
      <p:sp>
        <p:nvSpPr>
          <p:cNvPr id="8" name="TextBox 7"/>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07</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Where the DGO sits — placement options</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Reporting line shapes the DGO’s authority, neutrality and focus.</a:t>
            </a:r>
          </a:p>
        </p:txBody>
      </p:sp>
      <p:graphicFrame>
        <p:nvGraphicFramePr>
          <p:cNvPr id="5" name="Table 4"/>
          <p:cNvGraphicFramePr>
            <a:graphicFrameLocks noGrp="1"/>
          </p:cNvGraphicFramePr>
          <p:nvPr/>
        </p:nvGraphicFramePr>
        <p:xfrm>
          <a:off x="457200" y="1325880"/>
          <a:ext cx="11274552" cy="2980944"/>
        </p:xfrm>
        <a:graphic>
          <a:graphicData uri="http://schemas.openxmlformats.org/drawingml/2006/table">
            <a:tbl>
              <a:tblPr firstRow="1" bandRow="1">
                <a:tableStyleId>{5C22544A-7EE6-4342-B048-85BDC9FD1C3A}</a:tableStyleId>
              </a:tblPr>
              <a:tblGrid>
                <a:gridCol w="3108960"/>
                <a:gridCol w="4206240"/>
                <a:gridCol w="3959352"/>
              </a:tblGrid>
              <a:tr h="347472">
                <a:tc>
                  <a:txBody>
                    <a:bodyPr/>
                    <a:lstStyle/>
                    <a:p>
                      <a:pPr algn="l"/>
                      <a:r>
                        <a:rPr sz="1000" b="1" i="0">
                          <a:solidFill>
                            <a:srgbClr val="CADCEA"/>
                          </a:solidFill>
                          <a:latin typeface="Calibri"/>
                        </a:rPr>
                        <a:t>REPORTING LINE</a:t>
                      </a:r>
                    </a:p>
                  </a:txBody>
                  <a:tcPr marL="73152" marR="73152" marT="36576" marB="36576" anchor="ctr">
                    <a:solidFill>
                      <a:srgbClr val="1A2130"/>
                    </a:solidFill>
                  </a:tcPr>
                </a:tc>
                <a:tc>
                  <a:txBody>
                    <a:bodyPr/>
                    <a:lstStyle/>
                    <a:p>
                      <a:pPr algn="l"/>
                      <a:r>
                        <a:rPr sz="1000" b="1" i="0">
                          <a:solidFill>
                            <a:srgbClr val="CADCEA"/>
                          </a:solidFill>
                          <a:latin typeface="Calibri"/>
                        </a:rPr>
                        <a:t>STRENGTHS</a:t>
                      </a:r>
                    </a:p>
                  </a:txBody>
                  <a:tcPr marL="73152" marR="73152" marT="36576" marB="36576" anchor="ctr">
                    <a:solidFill>
                      <a:srgbClr val="1A2130"/>
                    </a:solidFill>
                  </a:tcPr>
                </a:tc>
                <a:tc>
                  <a:txBody>
                    <a:bodyPr/>
                    <a:lstStyle/>
                    <a:p>
                      <a:pPr algn="l"/>
                      <a:r>
                        <a:rPr sz="1000" b="1" i="0">
                          <a:solidFill>
                            <a:srgbClr val="CADCEA"/>
                          </a:solidFill>
                          <a:latin typeface="Calibri"/>
                        </a:rPr>
                        <a:t>WATCH-OUTS</a:t>
                      </a:r>
                    </a:p>
                  </a:txBody>
                  <a:tcPr marL="73152" marR="73152" marT="36576" marB="36576" anchor="ctr">
                    <a:solidFill>
                      <a:srgbClr val="1A2130"/>
                    </a:solidFill>
                  </a:tcPr>
                </a:tc>
              </a:tr>
              <a:tr h="658368">
                <a:tc>
                  <a:txBody>
                    <a:bodyPr/>
                    <a:lstStyle/>
                    <a:p>
                      <a:pPr algn="l"/>
                      <a:r>
                        <a:rPr sz="1100" b="1" i="0">
                          <a:solidFill>
                            <a:srgbClr val="1A2130"/>
                          </a:solidFill>
                          <a:latin typeface="Calibri"/>
                        </a:rPr>
                        <a:t>Chief Data Officer → CEO or COO</a:t>
                      </a:r>
                    </a:p>
                  </a:txBody>
                  <a:tcPr marL="73152" marR="73152" marT="36576" marB="36576" anchor="ctr">
                    <a:solidFill>
                      <a:srgbClr val="FFFFFF"/>
                    </a:solidFill>
                  </a:tcPr>
                </a:tc>
                <a:tc>
                  <a:txBody>
                    <a:bodyPr/>
                    <a:lstStyle/>
                    <a:p>
                      <a:pPr algn="l"/>
                      <a:r>
                        <a:rPr sz="1100" b="0" i="0">
                          <a:solidFill>
                            <a:srgbClr val="57626B"/>
                          </a:solidFill>
                          <a:latin typeface="Calibri"/>
                        </a:rPr>
                        <a:t>Enterprise-wide neutrality; direct executive access; covers all data domains</a:t>
                      </a:r>
                    </a:p>
                  </a:txBody>
                  <a:tcPr marL="73152" marR="73152" marT="36576" marB="36576" anchor="ctr">
                    <a:solidFill>
                      <a:srgbClr val="FFFFFF"/>
                    </a:solidFill>
                  </a:tcPr>
                </a:tc>
                <a:tc>
                  <a:txBody>
                    <a:bodyPr/>
                    <a:lstStyle/>
                    <a:p>
                      <a:pPr algn="l"/>
                      <a:r>
                        <a:rPr sz="1100" b="0" i="0">
                          <a:solidFill>
                            <a:srgbClr val="57626B"/>
                          </a:solidFill>
                          <a:latin typeface="Calibri"/>
                        </a:rPr>
                        <a:t>Needs strong sponsorship to influence finance and risk</a:t>
                      </a:r>
                    </a:p>
                  </a:txBody>
                  <a:tcPr marL="73152" marR="73152" marT="36576" marB="36576" anchor="ctr">
                    <a:solidFill>
                      <a:srgbClr val="FFFFFF"/>
                    </a:solidFill>
                  </a:tcPr>
                </a:tc>
              </a:tr>
              <a:tr h="658368">
                <a:tc>
                  <a:txBody>
                    <a:bodyPr/>
                    <a:lstStyle/>
                    <a:p>
                      <a:pPr algn="l"/>
                      <a:r>
                        <a:rPr sz="1100" b="1" i="0">
                          <a:solidFill>
                            <a:srgbClr val="1A2130"/>
                          </a:solidFill>
                          <a:latin typeface="Calibri"/>
                        </a:rPr>
                        <a:t>Chief Financial Officer</a:t>
                      </a:r>
                    </a:p>
                  </a:txBody>
                  <a:tcPr marL="73152" marR="73152" marT="36576" marB="36576" anchor="ctr">
                    <a:solidFill>
                      <a:srgbClr val="F4F6F2"/>
                    </a:solidFill>
                  </a:tcPr>
                </a:tc>
                <a:tc>
                  <a:txBody>
                    <a:bodyPr/>
                    <a:lstStyle/>
                    <a:p>
                      <a:pPr algn="l"/>
                      <a:r>
                        <a:rPr sz="1100" b="0" i="0">
                          <a:solidFill>
                            <a:srgbClr val="57626B"/>
                          </a:solidFill>
                          <a:latin typeface="Calibri"/>
                        </a:rPr>
                        <a:t>Close to financial and regulatory reporting; strong control culture</a:t>
                      </a:r>
                    </a:p>
                  </a:txBody>
                  <a:tcPr marL="73152" marR="73152" marT="36576" marB="36576" anchor="ctr">
                    <a:solidFill>
                      <a:srgbClr val="F4F6F2"/>
                    </a:solidFill>
                  </a:tcPr>
                </a:tc>
                <a:tc>
                  <a:txBody>
                    <a:bodyPr/>
                    <a:lstStyle/>
                    <a:p>
                      <a:pPr algn="l"/>
                      <a:r>
                        <a:rPr sz="1100" b="0" i="0">
                          <a:solidFill>
                            <a:srgbClr val="57626B"/>
                          </a:solidFill>
                          <a:latin typeface="Calibri"/>
                        </a:rPr>
                        <a:t>May under-serve risk, customer and operational data</a:t>
                      </a:r>
                    </a:p>
                  </a:txBody>
                  <a:tcPr marL="73152" marR="73152" marT="36576" marB="36576" anchor="ctr">
                    <a:solidFill>
                      <a:srgbClr val="F4F6F2"/>
                    </a:solidFill>
                  </a:tcPr>
                </a:tc>
              </a:tr>
              <a:tr h="658368">
                <a:tc>
                  <a:txBody>
                    <a:bodyPr/>
                    <a:lstStyle/>
                    <a:p>
                      <a:pPr algn="l"/>
                      <a:r>
                        <a:rPr sz="1100" b="1" i="0">
                          <a:solidFill>
                            <a:srgbClr val="1A2130"/>
                          </a:solidFill>
                          <a:latin typeface="Calibri"/>
                        </a:rPr>
                        <a:t>Chief Risk Officer</a:t>
                      </a:r>
                    </a:p>
                  </a:txBody>
                  <a:tcPr marL="73152" marR="73152" marT="36576" marB="36576" anchor="ctr">
                    <a:solidFill>
                      <a:srgbClr val="FFFFFF"/>
                    </a:solidFill>
                  </a:tcPr>
                </a:tc>
                <a:tc>
                  <a:txBody>
                    <a:bodyPr/>
                    <a:lstStyle/>
                    <a:p>
                      <a:pPr algn="l"/>
                      <a:r>
                        <a:rPr sz="1100" b="0" i="0">
                          <a:solidFill>
                            <a:srgbClr val="57626B"/>
                          </a:solidFill>
                          <a:latin typeface="Calibri"/>
                        </a:rPr>
                        <a:t>Aligned with risk data aggregation and model risk</a:t>
                      </a:r>
                    </a:p>
                  </a:txBody>
                  <a:tcPr marL="73152" marR="73152" marT="36576" marB="36576" anchor="ctr">
                    <a:solidFill>
                      <a:srgbClr val="FFFFFF"/>
                    </a:solidFill>
                  </a:tcPr>
                </a:tc>
                <a:tc>
                  <a:txBody>
                    <a:bodyPr/>
                    <a:lstStyle/>
                    <a:p>
                      <a:pPr algn="l"/>
                      <a:r>
                        <a:rPr sz="1100" b="0" i="0">
                          <a:solidFill>
                            <a:srgbClr val="57626B"/>
                          </a:solidFill>
                          <a:latin typeface="Calibri"/>
                        </a:rPr>
                        <a:t>Can blur the independence of the 2nd line of defense</a:t>
                      </a:r>
                    </a:p>
                  </a:txBody>
                  <a:tcPr marL="73152" marR="73152" marT="36576" marB="36576" anchor="ctr">
                    <a:solidFill>
                      <a:srgbClr val="FFFFFF"/>
                    </a:solidFill>
                  </a:tcPr>
                </a:tc>
              </a:tr>
              <a:tr h="658368">
                <a:tc>
                  <a:txBody>
                    <a:bodyPr/>
                    <a:lstStyle/>
                    <a:p>
                      <a:pPr algn="l"/>
                      <a:r>
                        <a:rPr sz="1100" b="1" i="0">
                          <a:solidFill>
                            <a:srgbClr val="1A2130"/>
                          </a:solidFill>
                          <a:latin typeface="Calibri"/>
                        </a:rPr>
                        <a:t>Chief Information / Technology Officer</a:t>
                      </a:r>
                    </a:p>
                  </a:txBody>
                  <a:tcPr marL="73152" marR="73152" marT="36576" marB="36576" anchor="ctr">
                    <a:solidFill>
                      <a:srgbClr val="F4F6F2"/>
                    </a:solidFill>
                  </a:tcPr>
                </a:tc>
                <a:tc>
                  <a:txBody>
                    <a:bodyPr/>
                    <a:lstStyle/>
                    <a:p>
                      <a:pPr algn="l"/>
                      <a:r>
                        <a:rPr sz="1100" b="0" i="0">
                          <a:solidFill>
                            <a:srgbClr val="57626B"/>
                          </a:solidFill>
                          <a:latin typeface="Calibri"/>
                        </a:rPr>
                        <a:t>Close to platforms, tools and engineering</a:t>
                      </a:r>
                    </a:p>
                  </a:txBody>
                  <a:tcPr marL="73152" marR="73152" marT="36576" marB="36576" anchor="ctr">
                    <a:solidFill>
                      <a:srgbClr val="F4F6F2"/>
                    </a:solidFill>
                  </a:tcPr>
                </a:tc>
                <a:tc>
                  <a:txBody>
                    <a:bodyPr/>
                    <a:lstStyle/>
                    <a:p>
                      <a:pPr algn="l"/>
                      <a:r>
                        <a:rPr sz="1100" b="0" i="0">
                          <a:solidFill>
                            <a:srgbClr val="57626B"/>
                          </a:solidFill>
                          <a:latin typeface="Calibri"/>
                        </a:rPr>
                        <a:t>Tends to become tool-led; business ownership weakens</a:t>
                      </a:r>
                    </a:p>
                  </a:txBody>
                  <a:tcPr marL="73152" marR="73152" marT="36576" marB="36576" anchor="ctr">
                    <a:solidFill>
                      <a:srgbClr val="F4F6F2"/>
                    </a:solidFill>
                  </a:tcPr>
                </a:tc>
              </a:tr>
            </a:tbl>
          </a:graphicData>
        </a:graphic>
      </p:graphicFrame>
      <p:sp>
        <p:nvSpPr>
          <p:cNvPr id="6" name="Rounded Rectangle 5"/>
          <p:cNvSpPr/>
          <p:nvPr/>
        </p:nvSpPr>
        <p:spPr>
          <a:xfrm>
            <a:off x="457200" y="4526280"/>
            <a:ext cx="11274552" cy="100584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COMMON PATTERN  </a:t>
            </a:r>
            <a:r>
              <a:rPr sz="1150" b="0" i="0">
                <a:solidFill>
                  <a:srgbClr val="57626B"/>
                </a:solidFill>
                <a:latin typeface="Calibri"/>
              </a:rPr>
              <a:t>A CDO reporting to the COO or CEO, with strong dotted lines to the CFO and CRO. Firms whose first priority is regulatory reporting often start under the CFO and move the DGO to an enterprise CDO as scope widens.</a:t>
            </a:r>
          </a:p>
        </p:txBody>
      </p:sp>
      <p:sp>
        <p:nvSpPr>
          <p:cNvPr id="7" name="TextBox 6"/>
          <p:cNvSpPr txBox="1"/>
          <p:nvPr/>
        </p:nvSpPr>
        <p:spPr>
          <a:xfrm>
            <a:off x="457200" y="5715000"/>
            <a:ext cx="11247120" cy="594360"/>
          </a:xfrm>
          <a:prstGeom prst="rect">
            <a:avLst/>
          </a:prstGeom>
          <a:noFill/>
        </p:spPr>
        <p:txBody>
          <a:bodyPr wrap="square" lIns="0" rIns="0" tIns="0" bIns="0" anchor="t">
            <a:spAutoFit/>
          </a:bodyPr>
          <a:lstStyle/>
          <a:p>
            <a:pPr algn="l"/>
            <a:r>
              <a:rPr sz="1100" b="1" i="1">
                <a:solidFill>
                  <a:srgbClr val="1A2130"/>
                </a:solidFill>
                <a:latin typeface="Calibri"/>
              </a:rPr>
              <a:t>Whatever the line, keep the DGO separate from both the systems it governs (technology) and the function that independently challenges it (2nd line).</a:t>
            </a:r>
          </a:p>
        </p:txBody>
      </p:sp>
      <p:sp>
        <p:nvSpPr>
          <p:cNvPr id="8" name="TextBox 7"/>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a:t>
            </a:r>
          </a:p>
        </p:txBody>
      </p:sp>
      <p:sp>
        <p:nvSpPr>
          <p:cNvPr id="9" name="TextBox 8"/>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08</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Operating model options</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How much sits in the central office versus in the business domains.</a:t>
            </a:r>
          </a:p>
        </p:txBody>
      </p:sp>
      <p:sp>
        <p:nvSpPr>
          <p:cNvPr id="5" name="Rounded Rectangle 4"/>
          <p:cNvSpPr/>
          <p:nvPr/>
        </p:nvSpPr>
        <p:spPr>
          <a:xfrm>
            <a:off x="457200" y="1325880"/>
            <a:ext cx="3666744" cy="86868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FFFFFF"/>
                </a:solidFill>
                <a:latin typeface="Calibri"/>
              </a:rPr>
              <a:t>CENTRALIZED</a:t>
            </a:r>
          </a:p>
          <a:p>
            <a:pPr algn="ctr"/>
            <a:r>
              <a:rPr sz="1050" b="0" i="0">
                <a:solidFill>
                  <a:srgbClr val="CADCEA"/>
                </a:solidFill>
                <a:latin typeface="Calibri"/>
              </a:rPr>
              <a:t>One central team defines and performs most governance work.</a:t>
            </a:r>
          </a:p>
        </p:txBody>
      </p:sp>
      <p:sp>
        <p:nvSpPr>
          <p:cNvPr id="6" name="Rounded Rectangle 5"/>
          <p:cNvSpPr/>
          <p:nvPr/>
        </p:nvSpPr>
        <p:spPr>
          <a:xfrm>
            <a:off x="457200" y="2286000"/>
            <a:ext cx="3666744" cy="27432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0E7C66"/>
                </a:solidFill>
                <a:latin typeface="Calibri"/>
              </a:rPr>
              <a:t>STRENGTHS</a:t>
            </a:r>
          </a:p>
          <a:p>
            <a:pPr algn="l"/>
            <a:r>
              <a:rPr sz="1050" b="0" i="0">
                <a:solidFill>
                  <a:srgbClr val="57626B"/>
                </a:solidFill>
                <a:latin typeface="Calibri"/>
              </a:rPr>
              <a:t>• Consistent, fast to start</a:t>
            </a:r>
          </a:p>
          <a:p>
            <a:pPr algn="l"/>
            <a:r>
              <a:rPr sz="1050" b="0" i="0">
                <a:solidFill>
                  <a:srgbClr val="57626B"/>
                </a:solidFill>
                <a:latin typeface="Calibri"/>
              </a:rPr>
              <a:t>• Clear accountability</a:t>
            </a:r>
          </a:p>
          <a:p>
            <a:pPr algn="l"/>
            <a:r>
              <a:rPr sz="1050" b="0" i="0">
                <a:solidFill>
                  <a:srgbClr val="57626B"/>
                </a:solidFill>
                <a:latin typeface="Calibri"/>
              </a:rPr>
              <a:t> </a:t>
            </a:r>
          </a:p>
          <a:p>
            <a:pPr algn="l"/>
            <a:r>
              <a:rPr sz="1050" b="1" i="0">
                <a:solidFill>
                  <a:srgbClr val="9A3324"/>
                </a:solidFill>
                <a:latin typeface="Calibri"/>
              </a:rPr>
              <a:t>WATCH-OUTS</a:t>
            </a:r>
          </a:p>
          <a:p>
            <a:pPr algn="l"/>
            <a:r>
              <a:rPr sz="1050" b="0" i="0">
                <a:solidFill>
                  <a:srgbClr val="57626B"/>
                </a:solidFill>
                <a:latin typeface="Calibri"/>
              </a:rPr>
              <a:t>• Bottleneck as scope grows</a:t>
            </a:r>
          </a:p>
          <a:p>
            <a:pPr algn="l"/>
            <a:r>
              <a:rPr sz="1050" b="0" i="0">
                <a:solidFill>
                  <a:srgbClr val="57626B"/>
                </a:solidFill>
                <a:latin typeface="Calibri"/>
              </a:rPr>
              <a:t>• Weak business ownership</a:t>
            </a:r>
          </a:p>
          <a:p>
            <a:pPr algn="l"/>
            <a:r>
              <a:rPr sz="1050" b="0" i="0">
                <a:solidFill>
                  <a:srgbClr val="57626B"/>
                </a:solidFill>
                <a:latin typeface="Calibri"/>
              </a:rPr>
              <a:t> </a:t>
            </a:r>
          </a:p>
          <a:p>
            <a:pPr algn="l"/>
            <a:r>
              <a:rPr sz="1050" b="1" i="0">
                <a:solidFill>
                  <a:srgbClr val="1A2130"/>
                </a:solidFill>
                <a:latin typeface="Calibri"/>
              </a:rPr>
              <a:t>BEST FOR  </a:t>
            </a:r>
            <a:r>
              <a:rPr sz="1050" b="0" i="0">
                <a:solidFill>
                  <a:srgbClr val="1A2130"/>
                </a:solidFill>
                <a:latin typeface="Calibri"/>
              </a:rPr>
              <a:t>Small firms, first 6–12 months</a:t>
            </a:r>
          </a:p>
        </p:txBody>
      </p:sp>
      <p:sp>
        <p:nvSpPr>
          <p:cNvPr id="7" name="Rounded Rectangle 6"/>
          <p:cNvSpPr/>
          <p:nvPr/>
        </p:nvSpPr>
        <p:spPr>
          <a:xfrm>
            <a:off x="4261104" y="1325880"/>
            <a:ext cx="3666744" cy="86868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FFFFFF"/>
                </a:solidFill>
                <a:latin typeface="Calibri"/>
              </a:rPr>
              <a:t>FEDERATED</a:t>
            </a:r>
          </a:p>
          <a:p>
            <a:pPr algn="ctr"/>
            <a:r>
              <a:rPr sz="1050" b="0" i="0">
                <a:solidFill>
                  <a:srgbClr val="CADCEA"/>
                </a:solidFill>
                <a:latin typeface="Calibri"/>
              </a:rPr>
              <a:t>Each business domain governs its own data to loose central guidance.</a:t>
            </a:r>
          </a:p>
        </p:txBody>
      </p:sp>
      <p:sp>
        <p:nvSpPr>
          <p:cNvPr id="8" name="Rounded Rectangle 7"/>
          <p:cNvSpPr/>
          <p:nvPr/>
        </p:nvSpPr>
        <p:spPr>
          <a:xfrm>
            <a:off x="4261104" y="2286000"/>
            <a:ext cx="3666744" cy="27432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0E7C66"/>
                </a:solidFill>
                <a:latin typeface="Calibri"/>
              </a:rPr>
              <a:t>STRENGTHS</a:t>
            </a:r>
          </a:p>
          <a:p>
            <a:pPr algn="l"/>
            <a:r>
              <a:rPr sz="1050" b="0" i="0">
                <a:solidFill>
                  <a:srgbClr val="57626B"/>
                </a:solidFill>
                <a:latin typeface="Calibri"/>
              </a:rPr>
              <a:t>• Close to the data and its users</a:t>
            </a:r>
          </a:p>
          <a:p>
            <a:pPr algn="l"/>
            <a:r>
              <a:rPr sz="1050" b="0" i="0">
                <a:solidFill>
                  <a:srgbClr val="57626B"/>
                </a:solidFill>
                <a:latin typeface="Calibri"/>
              </a:rPr>
              <a:t>• Scales naturally</a:t>
            </a:r>
          </a:p>
          <a:p>
            <a:pPr algn="l"/>
            <a:r>
              <a:rPr sz="1050" b="0" i="0">
                <a:solidFill>
                  <a:srgbClr val="57626B"/>
                </a:solidFill>
                <a:latin typeface="Calibri"/>
              </a:rPr>
              <a:t> </a:t>
            </a:r>
          </a:p>
          <a:p>
            <a:pPr algn="l"/>
            <a:r>
              <a:rPr sz="1050" b="1" i="0">
                <a:solidFill>
                  <a:srgbClr val="9A3324"/>
                </a:solidFill>
                <a:latin typeface="Calibri"/>
              </a:rPr>
              <a:t>WATCH-OUTS</a:t>
            </a:r>
          </a:p>
          <a:p>
            <a:pPr algn="l"/>
            <a:r>
              <a:rPr sz="1050" b="0" i="0">
                <a:solidFill>
                  <a:srgbClr val="57626B"/>
                </a:solidFill>
                <a:latin typeface="Calibri"/>
              </a:rPr>
              <a:t>• Inconsistent standards</a:t>
            </a:r>
          </a:p>
          <a:p>
            <a:pPr algn="l"/>
            <a:r>
              <a:rPr sz="1050" b="0" i="0">
                <a:solidFill>
                  <a:srgbClr val="57626B"/>
                </a:solidFill>
                <a:latin typeface="Calibri"/>
              </a:rPr>
              <a:t>• Hard to get an enterprise view</a:t>
            </a:r>
          </a:p>
          <a:p>
            <a:pPr algn="l"/>
            <a:r>
              <a:rPr sz="1050" b="0" i="0">
                <a:solidFill>
                  <a:srgbClr val="57626B"/>
                </a:solidFill>
                <a:latin typeface="Calibri"/>
              </a:rPr>
              <a:t> </a:t>
            </a:r>
          </a:p>
          <a:p>
            <a:pPr algn="l"/>
            <a:r>
              <a:rPr sz="1050" b="1" i="0">
                <a:solidFill>
                  <a:srgbClr val="1A2130"/>
                </a:solidFill>
                <a:latin typeface="Calibri"/>
              </a:rPr>
              <a:t>BEST FOR  </a:t>
            </a:r>
            <a:r>
              <a:rPr sz="1050" b="0" i="0">
                <a:solidFill>
                  <a:srgbClr val="1A2130"/>
                </a:solidFill>
                <a:latin typeface="Calibri"/>
              </a:rPr>
              <a:t>Highly autonomous business units</a:t>
            </a:r>
          </a:p>
        </p:txBody>
      </p:sp>
      <p:sp>
        <p:nvSpPr>
          <p:cNvPr id="9" name="Rounded Rectangle 8"/>
          <p:cNvSpPr/>
          <p:nvPr/>
        </p:nvSpPr>
        <p:spPr>
          <a:xfrm>
            <a:off x="8065008" y="1325880"/>
            <a:ext cx="3666744" cy="86868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FFFFFF"/>
                </a:solidFill>
                <a:latin typeface="Calibri"/>
              </a:rPr>
              <a:t>HYBRID (HUB AND SPOKE)</a:t>
            </a:r>
          </a:p>
          <a:p>
            <a:pPr algn="ctr"/>
            <a:r>
              <a:rPr sz="1050" b="0" i="0">
                <a:solidFill>
                  <a:srgbClr val="CADCEA"/>
                </a:solidFill>
                <a:latin typeface="Calibri"/>
              </a:rPr>
              <a:t>A central hub sets standards and tools; domain leads and stewards do the work.</a:t>
            </a:r>
          </a:p>
        </p:txBody>
      </p:sp>
      <p:sp>
        <p:nvSpPr>
          <p:cNvPr id="10" name="Rounded Rectangle 9"/>
          <p:cNvSpPr/>
          <p:nvPr/>
        </p:nvSpPr>
        <p:spPr>
          <a:xfrm>
            <a:off x="8065008" y="2286000"/>
            <a:ext cx="3666744" cy="2743200"/>
          </a:xfrm>
          <a:prstGeom prst="roundRect">
            <a:avLst>
              <a:gd name="adj" fmla="val 10000"/>
            </a:avLst>
          </a:prstGeom>
          <a:solidFill>
            <a:srgbClr val="CADCEA"/>
          </a:solidFill>
          <a:ln w="1905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0E7C66"/>
                </a:solidFill>
                <a:latin typeface="Calibri"/>
              </a:rPr>
              <a:t>STRENGTHS</a:t>
            </a:r>
          </a:p>
          <a:p>
            <a:pPr algn="l"/>
            <a:r>
              <a:rPr sz="1050" b="0" i="0">
                <a:solidFill>
                  <a:srgbClr val="57626B"/>
                </a:solidFill>
                <a:latin typeface="Calibri"/>
              </a:rPr>
              <a:t>• Consistency and ownership together</a:t>
            </a:r>
          </a:p>
          <a:p>
            <a:pPr algn="l"/>
            <a:r>
              <a:rPr sz="1050" b="0" i="0">
                <a:solidFill>
                  <a:srgbClr val="57626B"/>
                </a:solidFill>
                <a:latin typeface="Calibri"/>
              </a:rPr>
              <a:t>• Scales with maturity</a:t>
            </a:r>
          </a:p>
          <a:p>
            <a:pPr algn="l"/>
            <a:r>
              <a:rPr sz="1050" b="0" i="0">
                <a:solidFill>
                  <a:srgbClr val="57626B"/>
                </a:solidFill>
                <a:latin typeface="Calibri"/>
              </a:rPr>
              <a:t> </a:t>
            </a:r>
          </a:p>
          <a:p>
            <a:pPr algn="l"/>
            <a:r>
              <a:rPr sz="1050" b="1" i="0">
                <a:solidFill>
                  <a:srgbClr val="9A3324"/>
                </a:solidFill>
                <a:latin typeface="Calibri"/>
              </a:rPr>
              <a:t>WATCH-OUTS</a:t>
            </a:r>
          </a:p>
          <a:p>
            <a:pPr algn="l"/>
            <a:r>
              <a:rPr sz="1050" b="0" i="0">
                <a:solidFill>
                  <a:srgbClr val="57626B"/>
                </a:solidFill>
                <a:latin typeface="Calibri"/>
              </a:rPr>
              <a:t>• Needs clear roles and a strong council</a:t>
            </a:r>
          </a:p>
          <a:p>
            <a:pPr algn="l"/>
            <a:r>
              <a:rPr sz="1050" b="0" i="0">
                <a:solidFill>
                  <a:srgbClr val="57626B"/>
                </a:solidFill>
                <a:latin typeface="Calibri"/>
              </a:rPr>
              <a:t>• Two reporting lines to manage</a:t>
            </a:r>
          </a:p>
          <a:p>
            <a:pPr algn="l"/>
            <a:r>
              <a:rPr sz="1050" b="0" i="0">
                <a:solidFill>
                  <a:srgbClr val="57626B"/>
                </a:solidFill>
                <a:latin typeface="Calibri"/>
              </a:rPr>
              <a:t> </a:t>
            </a:r>
          </a:p>
          <a:p>
            <a:pPr algn="l"/>
            <a:r>
              <a:rPr sz="1050" b="1" i="0">
                <a:solidFill>
                  <a:srgbClr val="1A2130"/>
                </a:solidFill>
                <a:latin typeface="Calibri"/>
              </a:rPr>
              <a:t>BEST FOR  </a:t>
            </a:r>
            <a:r>
              <a:rPr sz="1050" b="0" i="0">
                <a:solidFill>
                  <a:srgbClr val="1A2130"/>
                </a:solidFill>
                <a:latin typeface="Calibri"/>
              </a:rPr>
              <a:t>Most mid-size and large firms</a:t>
            </a:r>
          </a:p>
        </p:txBody>
      </p:sp>
      <p:sp>
        <p:nvSpPr>
          <p:cNvPr id="11" name="Rounded Rectangle 10"/>
          <p:cNvSpPr/>
          <p:nvPr/>
        </p:nvSpPr>
        <p:spPr>
          <a:xfrm>
            <a:off x="457200" y="5257800"/>
            <a:ext cx="11274552"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Suggested direction: </a:t>
            </a:r>
            <a:r>
              <a:rPr sz="1150" b="0" i="0">
                <a:solidFill>
                  <a:srgbClr val="57626B"/>
                </a:solidFill>
                <a:latin typeface="Calibri"/>
              </a:rPr>
              <a:t>start centralized to set the foundation quickly, and design from day one for a hybrid model, with domain governance leads embedded in the largest business areas.</a:t>
            </a:r>
          </a:p>
        </p:txBody>
      </p:sp>
      <p:sp>
        <p:nvSpPr>
          <p:cNvPr id="12" name="TextBox 11"/>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DATA MANAGEMENT</a:t>
            </a:r>
          </a:p>
        </p:txBody>
      </p:sp>
      <p:sp>
        <p:nvSpPr>
          <p:cNvPr id="13" name="TextBox 12"/>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09</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Governance structure and forums</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Each forum has a defined membership, cadence and set of decision rights.</a:t>
            </a:r>
          </a:p>
        </p:txBody>
      </p:sp>
      <p:graphicFrame>
        <p:nvGraphicFramePr>
          <p:cNvPr id="5" name="Table 4"/>
          <p:cNvGraphicFramePr>
            <a:graphicFrameLocks noGrp="1"/>
          </p:cNvGraphicFramePr>
          <p:nvPr/>
        </p:nvGraphicFramePr>
        <p:xfrm>
          <a:off x="457200" y="1325880"/>
          <a:ext cx="11274551" cy="3182112"/>
        </p:xfrm>
        <a:graphic>
          <a:graphicData uri="http://schemas.openxmlformats.org/drawingml/2006/table">
            <a:tbl>
              <a:tblPr firstRow="1" bandRow="1">
                <a:tableStyleId>{5C22544A-7EE6-4342-B048-85BDC9FD1C3A}</a:tableStyleId>
              </a:tblPr>
              <a:tblGrid>
                <a:gridCol w="2468880"/>
                <a:gridCol w="3749039"/>
                <a:gridCol w="1645920"/>
                <a:gridCol w="3410712"/>
              </a:tblGrid>
              <a:tr h="347472">
                <a:tc>
                  <a:txBody>
                    <a:bodyPr/>
                    <a:lstStyle/>
                    <a:p>
                      <a:pPr algn="l"/>
                      <a:r>
                        <a:rPr sz="1000" b="1" i="0">
                          <a:solidFill>
                            <a:srgbClr val="CADCEA"/>
                          </a:solidFill>
                          <a:latin typeface="Calibri"/>
                        </a:rPr>
                        <a:t>FORUM</a:t>
                      </a:r>
                    </a:p>
                  </a:txBody>
                  <a:tcPr marL="73152" marR="73152" marT="36576" marB="36576" anchor="ctr">
                    <a:solidFill>
                      <a:srgbClr val="1A2130"/>
                    </a:solidFill>
                  </a:tcPr>
                </a:tc>
                <a:tc>
                  <a:txBody>
                    <a:bodyPr/>
                    <a:lstStyle/>
                    <a:p>
                      <a:pPr algn="l"/>
                      <a:r>
                        <a:rPr sz="1000" b="1" i="0">
                          <a:solidFill>
                            <a:srgbClr val="CADCEA"/>
                          </a:solidFill>
                          <a:latin typeface="Calibri"/>
                        </a:rPr>
                        <a:t>CHAIR / MEMBERS</a:t>
                      </a:r>
                    </a:p>
                  </a:txBody>
                  <a:tcPr marL="73152" marR="73152" marT="36576" marB="36576" anchor="ctr">
                    <a:solidFill>
                      <a:srgbClr val="1A2130"/>
                    </a:solidFill>
                  </a:tcPr>
                </a:tc>
                <a:tc>
                  <a:txBody>
                    <a:bodyPr/>
                    <a:lstStyle/>
                    <a:p>
                      <a:pPr algn="l"/>
                      <a:r>
                        <a:rPr sz="1000" b="1" i="0">
                          <a:solidFill>
                            <a:srgbClr val="CADCEA"/>
                          </a:solidFill>
                          <a:latin typeface="Calibri"/>
                        </a:rPr>
                        <a:t>CADENCE</a:t>
                      </a:r>
                    </a:p>
                  </a:txBody>
                  <a:tcPr marL="73152" marR="73152" marT="36576" marB="36576" anchor="ctr">
                    <a:solidFill>
                      <a:srgbClr val="1A2130"/>
                    </a:solidFill>
                  </a:tcPr>
                </a:tc>
                <a:tc>
                  <a:txBody>
                    <a:bodyPr/>
                    <a:lstStyle/>
                    <a:p>
                      <a:pPr algn="l"/>
                      <a:r>
                        <a:rPr sz="1000" b="1" i="0">
                          <a:solidFill>
                            <a:srgbClr val="CADCEA"/>
                          </a:solidFill>
                          <a:latin typeface="Calibri"/>
                        </a:rPr>
                        <a:t>DECIDES</a:t>
                      </a:r>
                    </a:p>
                  </a:txBody>
                  <a:tcPr marL="73152" marR="73152" marT="36576" marB="36576" anchor="ctr">
                    <a:solidFill>
                      <a:srgbClr val="1A2130"/>
                    </a:solidFill>
                  </a:tcPr>
                </a:tc>
              </a:tr>
              <a:tr h="566928">
                <a:tc>
                  <a:txBody>
                    <a:bodyPr/>
                    <a:lstStyle/>
                    <a:p>
                      <a:pPr algn="l"/>
                      <a:r>
                        <a:rPr sz="1050" b="1" i="0">
                          <a:solidFill>
                            <a:srgbClr val="1A2130"/>
                          </a:solidFill>
                          <a:latin typeface="Calibri"/>
                        </a:rPr>
                        <a:t>Board risk committee</a:t>
                      </a:r>
                    </a:p>
                  </a:txBody>
                  <a:tcPr marL="73152" marR="73152" marT="36576" marB="36576" anchor="ctr">
                    <a:solidFill>
                      <a:srgbClr val="FFFFFF"/>
                    </a:solidFill>
                  </a:tcPr>
                </a:tc>
                <a:tc>
                  <a:txBody>
                    <a:bodyPr/>
                    <a:lstStyle/>
                    <a:p>
                      <a:pPr algn="l"/>
                      <a:r>
                        <a:rPr sz="1050" b="0" i="0">
                          <a:solidFill>
                            <a:srgbClr val="57626B"/>
                          </a:solidFill>
                          <a:latin typeface="Calibri"/>
                        </a:rPr>
                        <a:t>Board members</a:t>
                      </a:r>
                    </a:p>
                  </a:txBody>
                  <a:tcPr marL="73152" marR="73152" marT="36576" marB="36576" anchor="ctr">
                    <a:solidFill>
                      <a:srgbClr val="FFFFFF"/>
                    </a:solidFill>
                  </a:tcPr>
                </a:tc>
                <a:tc>
                  <a:txBody>
                    <a:bodyPr/>
                    <a:lstStyle/>
                    <a:p>
                      <a:pPr algn="l"/>
                      <a:r>
                        <a:rPr sz="1050" b="0" i="0">
                          <a:solidFill>
                            <a:srgbClr val="57626B"/>
                          </a:solidFill>
                          <a:latin typeface="Calibri"/>
                        </a:rPr>
                        <a:t>Quarterly or annually</a:t>
                      </a:r>
                    </a:p>
                  </a:txBody>
                  <a:tcPr marL="73152" marR="73152" marT="36576" marB="36576" anchor="ctr">
                    <a:solidFill>
                      <a:srgbClr val="FFFFFF"/>
                    </a:solidFill>
                  </a:tcPr>
                </a:tc>
                <a:tc>
                  <a:txBody>
                    <a:bodyPr/>
                    <a:lstStyle/>
                    <a:p>
                      <a:pPr algn="l"/>
                      <a:r>
                        <a:rPr sz="1050" b="0" i="0">
                          <a:solidFill>
                            <a:srgbClr val="57626B"/>
                          </a:solidFill>
                          <a:latin typeface="Calibri"/>
                        </a:rPr>
                        <a:t>Data risk appetite; oversight of major issues</a:t>
                      </a:r>
                    </a:p>
                  </a:txBody>
                  <a:tcPr marL="73152" marR="73152" marT="36576" marB="36576" anchor="ctr">
                    <a:solidFill>
                      <a:srgbClr val="FFFFFF"/>
                    </a:solidFill>
                  </a:tcPr>
                </a:tc>
              </a:tr>
              <a:tr h="566928">
                <a:tc>
                  <a:txBody>
                    <a:bodyPr/>
                    <a:lstStyle/>
                    <a:p>
                      <a:pPr algn="l"/>
                      <a:r>
                        <a:rPr sz="1050" b="1" i="0">
                          <a:solidFill>
                            <a:srgbClr val="1A2130"/>
                          </a:solidFill>
                          <a:latin typeface="Calibri"/>
                        </a:rPr>
                        <a:t>Executive data committee</a:t>
                      </a:r>
                    </a:p>
                  </a:txBody>
                  <a:tcPr marL="73152" marR="73152" marT="36576" marB="36576" anchor="ctr">
                    <a:solidFill>
                      <a:srgbClr val="F4F6F2"/>
                    </a:solidFill>
                  </a:tcPr>
                </a:tc>
                <a:tc>
                  <a:txBody>
                    <a:bodyPr/>
                    <a:lstStyle/>
                    <a:p>
                      <a:pPr algn="l"/>
                      <a:r>
                        <a:rPr sz="1050" b="0" i="0">
                          <a:solidFill>
                            <a:srgbClr val="57626B"/>
                          </a:solidFill>
                          <a:latin typeface="Calibri"/>
                        </a:rPr>
                        <a:t>Sponsor (chair), CDO, CFO, CRO, COO, CIO, business heads</a:t>
                      </a:r>
                    </a:p>
                  </a:txBody>
                  <a:tcPr marL="73152" marR="73152" marT="36576" marB="36576" anchor="ctr">
                    <a:solidFill>
                      <a:srgbClr val="F4F6F2"/>
                    </a:solidFill>
                  </a:tcPr>
                </a:tc>
                <a:tc>
                  <a:txBody>
                    <a:bodyPr/>
                    <a:lstStyle/>
                    <a:p>
                      <a:pPr algn="l"/>
                      <a:r>
                        <a:rPr sz="1050" b="0" i="0">
                          <a:solidFill>
                            <a:srgbClr val="57626B"/>
                          </a:solidFill>
                          <a:latin typeface="Calibri"/>
                        </a:rPr>
                        <a:t>Quarterly</a:t>
                      </a:r>
                    </a:p>
                  </a:txBody>
                  <a:tcPr marL="73152" marR="73152" marT="36576" marB="36576" anchor="ctr">
                    <a:solidFill>
                      <a:srgbClr val="F4F6F2"/>
                    </a:solidFill>
                  </a:tcPr>
                </a:tc>
                <a:tc>
                  <a:txBody>
                    <a:bodyPr/>
                    <a:lstStyle/>
                    <a:p>
                      <a:pPr algn="l"/>
                      <a:r>
                        <a:rPr sz="1050" b="0" i="0">
                          <a:solidFill>
                            <a:srgbClr val="57626B"/>
                          </a:solidFill>
                          <a:latin typeface="Calibri"/>
                        </a:rPr>
                        <a:t>Policy approval, funding, priorities, material risk acceptance</a:t>
                      </a:r>
                    </a:p>
                  </a:txBody>
                  <a:tcPr marL="73152" marR="73152" marT="36576" marB="36576" anchor="ctr">
                    <a:solidFill>
                      <a:srgbClr val="F4F6F2"/>
                    </a:solidFill>
                  </a:tcPr>
                </a:tc>
              </a:tr>
              <a:tr h="566928">
                <a:tc>
                  <a:txBody>
                    <a:bodyPr/>
                    <a:lstStyle/>
                    <a:p>
                      <a:pPr algn="l"/>
                      <a:r>
                        <a:rPr sz="1050" b="1" i="0">
                          <a:solidFill>
                            <a:srgbClr val="1A2130"/>
                          </a:solidFill>
                          <a:latin typeface="Calibri"/>
                        </a:rPr>
                        <a:t>Data Governance Council</a:t>
                      </a:r>
                    </a:p>
                  </a:txBody>
                  <a:tcPr marL="73152" marR="73152" marT="36576" marB="36576" anchor="ctr">
                    <a:solidFill>
                      <a:srgbClr val="FFFFFF"/>
                    </a:solidFill>
                  </a:tcPr>
                </a:tc>
                <a:tc>
                  <a:txBody>
                    <a:bodyPr/>
                    <a:lstStyle/>
                    <a:p>
                      <a:pPr algn="l"/>
                      <a:r>
                        <a:rPr sz="1050" b="0" i="0">
                          <a:solidFill>
                            <a:srgbClr val="57626B"/>
                          </a:solidFill>
                          <a:latin typeface="Calibri"/>
                        </a:rPr>
                        <a:t>CDO (chair), data owners, architecture, InfoSec, 2nd line (observer)</a:t>
                      </a:r>
                    </a:p>
                  </a:txBody>
                  <a:tcPr marL="73152" marR="73152" marT="36576" marB="36576" anchor="ctr">
                    <a:solidFill>
                      <a:srgbClr val="FFFFFF"/>
                    </a:solidFill>
                  </a:tcPr>
                </a:tc>
                <a:tc>
                  <a:txBody>
                    <a:bodyPr/>
                    <a:lstStyle/>
                    <a:p>
                      <a:pPr algn="l"/>
                      <a:r>
                        <a:rPr sz="1050" b="0" i="0">
                          <a:solidFill>
                            <a:srgbClr val="57626B"/>
                          </a:solidFill>
                          <a:latin typeface="Calibri"/>
                        </a:rPr>
                        <a:t>Monthly</a:t>
                      </a:r>
                    </a:p>
                  </a:txBody>
                  <a:tcPr marL="73152" marR="73152" marT="36576" marB="36576" anchor="ctr">
                    <a:solidFill>
                      <a:srgbClr val="FFFFFF"/>
                    </a:solidFill>
                  </a:tcPr>
                </a:tc>
                <a:tc>
                  <a:txBody>
                    <a:bodyPr/>
                    <a:lstStyle/>
                    <a:p>
                      <a:pPr algn="l"/>
                      <a:r>
                        <a:rPr sz="1050" b="0" i="0">
                          <a:solidFill>
                            <a:srgbClr val="57626B"/>
                          </a:solidFill>
                          <a:latin typeface="Calibri"/>
                        </a:rPr>
                        <a:t>Standards, CDE approvals, exceptions, escalations, scorecard review</a:t>
                      </a:r>
                    </a:p>
                  </a:txBody>
                  <a:tcPr marL="73152" marR="73152" marT="36576" marB="36576" anchor="ctr">
                    <a:solidFill>
                      <a:srgbClr val="FFFFFF"/>
                    </a:solidFill>
                  </a:tcPr>
                </a:tc>
              </a:tr>
              <a:tr h="566928">
                <a:tc>
                  <a:txBody>
                    <a:bodyPr/>
                    <a:lstStyle/>
                    <a:p>
                      <a:pPr algn="l"/>
                      <a:r>
                        <a:rPr sz="1050" b="1" i="0">
                          <a:solidFill>
                            <a:srgbClr val="1A2130"/>
                          </a:solidFill>
                          <a:latin typeface="Calibri"/>
                        </a:rPr>
                        <a:t>Domain working groups</a:t>
                      </a:r>
                    </a:p>
                  </a:txBody>
                  <a:tcPr marL="73152" marR="73152" marT="36576" marB="36576" anchor="ctr">
                    <a:solidFill>
                      <a:srgbClr val="F4F6F2"/>
                    </a:solidFill>
                  </a:tcPr>
                </a:tc>
                <a:tc>
                  <a:txBody>
                    <a:bodyPr/>
                    <a:lstStyle/>
                    <a:p>
                      <a:pPr algn="l"/>
                      <a:r>
                        <a:rPr sz="1050" b="0" i="0">
                          <a:solidFill>
                            <a:srgbClr val="57626B"/>
                          </a:solidFill>
                          <a:latin typeface="Calibri"/>
                        </a:rPr>
                        <a:t>Domain governance lead, stewards, engineering</a:t>
                      </a:r>
                    </a:p>
                  </a:txBody>
                  <a:tcPr marL="73152" marR="73152" marT="36576" marB="36576" anchor="ctr">
                    <a:solidFill>
                      <a:srgbClr val="F4F6F2"/>
                    </a:solidFill>
                  </a:tcPr>
                </a:tc>
                <a:tc>
                  <a:txBody>
                    <a:bodyPr/>
                    <a:lstStyle/>
                    <a:p>
                      <a:pPr algn="l"/>
                      <a:r>
                        <a:rPr sz="1050" b="0" i="0">
                          <a:solidFill>
                            <a:srgbClr val="57626B"/>
                          </a:solidFill>
                          <a:latin typeface="Calibri"/>
                        </a:rPr>
                        <a:t>Every two weeks</a:t>
                      </a:r>
                    </a:p>
                  </a:txBody>
                  <a:tcPr marL="73152" marR="73152" marT="36576" marB="36576" anchor="ctr">
                    <a:solidFill>
                      <a:srgbClr val="F4F6F2"/>
                    </a:solidFill>
                  </a:tcPr>
                </a:tc>
                <a:tc>
                  <a:txBody>
                    <a:bodyPr/>
                    <a:lstStyle/>
                    <a:p>
                      <a:pPr algn="l"/>
                      <a:r>
                        <a:rPr sz="1050" b="0" i="0">
                          <a:solidFill>
                            <a:srgbClr val="57626B"/>
                          </a:solidFill>
                          <a:latin typeface="Calibri"/>
                        </a:rPr>
                        <a:t>Domain CDEs, DQ rules and thresholds, issue triage</a:t>
                      </a:r>
                    </a:p>
                  </a:txBody>
                  <a:tcPr marL="73152" marR="73152" marT="36576" marB="36576" anchor="ctr">
                    <a:solidFill>
                      <a:srgbClr val="F4F6F2"/>
                    </a:solidFill>
                  </a:tcPr>
                </a:tc>
              </a:tr>
              <a:tr h="566928">
                <a:tc>
                  <a:txBody>
                    <a:bodyPr/>
                    <a:lstStyle/>
                    <a:p>
                      <a:pPr algn="l"/>
                      <a:r>
                        <a:rPr sz="1050" b="1" i="0">
                          <a:solidFill>
                            <a:srgbClr val="1A2130"/>
                          </a:solidFill>
                          <a:latin typeface="Calibri"/>
                        </a:rPr>
                        <a:t>Steward community of practice</a:t>
                      </a:r>
                    </a:p>
                  </a:txBody>
                  <a:tcPr marL="73152" marR="73152" marT="36576" marB="36576" anchor="ctr">
                    <a:solidFill>
                      <a:srgbClr val="FFFFFF"/>
                    </a:solidFill>
                  </a:tcPr>
                </a:tc>
                <a:tc>
                  <a:txBody>
                    <a:bodyPr/>
                    <a:lstStyle/>
                    <a:p>
                      <a:pPr algn="l"/>
                      <a:r>
                        <a:rPr sz="1050" b="0" i="0">
                          <a:solidFill>
                            <a:srgbClr val="57626B"/>
                          </a:solidFill>
                          <a:latin typeface="Calibri"/>
                        </a:rPr>
                        <a:t>DGO, all stewards</a:t>
                      </a:r>
                    </a:p>
                  </a:txBody>
                  <a:tcPr marL="73152" marR="73152" marT="36576" marB="36576" anchor="ctr">
                    <a:solidFill>
                      <a:srgbClr val="FFFFFF"/>
                    </a:solidFill>
                  </a:tcPr>
                </a:tc>
                <a:tc>
                  <a:txBody>
                    <a:bodyPr/>
                    <a:lstStyle/>
                    <a:p>
                      <a:pPr algn="l"/>
                      <a:r>
                        <a:rPr sz="1050" b="0" i="0">
                          <a:solidFill>
                            <a:srgbClr val="57626B"/>
                          </a:solidFill>
                          <a:latin typeface="Calibri"/>
                        </a:rPr>
                        <a:t>Monthly</a:t>
                      </a:r>
                    </a:p>
                  </a:txBody>
                  <a:tcPr marL="73152" marR="73152" marT="36576" marB="36576" anchor="ctr">
                    <a:solidFill>
                      <a:srgbClr val="FFFFFF"/>
                    </a:solidFill>
                  </a:tcPr>
                </a:tc>
                <a:tc>
                  <a:txBody>
                    <a:bodyPr/>
                    <a:lstStyle/>
                    <a:p>
                      <a:pPr algn="l"/>
                      <a:r>
                        <a:rPr sz="1050" b="0" i="0">
                          <a:solidFill>
                            <a:srgbClr val="57626B"/>
                          </a:solidFill>
                          <a:latin typeface="Calibri"/>
                        </a:rPr>
                        <a:t>No decisions; training, sharing, feedback on standards</a:t>
                      </a:r>
                    </a:p>
                  </a:txBody>
                  <a:tcPr marL="73152" marR="73152" marT="36576" marB="36576" anchor="ctr">
                    <a:solidFill>
                      <a:srgbClr val="FFFFFF"/>
                    </a:solidFill>
                  </a:tcPr>
                </a:tc>
              </a:tr>
            </a:tbl>
          </a:graphicData>
        </a:graphic>
      </p:graphicFrame>
      <p:sp>
        <p:nvSpPr>
          <p:cNvPr id="6" name="TextBox 5"/>
          <p:cNvSpPr txBox="1"/>
          <p:nvPr/>
        </p:nvSpPr>
        <p:spPr>
          <a:xfrm>
            <a:off x="457200" y="4526280"/>
            <a:ext cx="11247120" cy="274320"/>
          </a:xfrm>
          <a:prstGeom prst="rect">
            <a:avLst/>
          </a:prstGeom>
          <a:noFill/>
        </p:spPr>
        <p:txBody>
          <a:bodyPr wrap="square" lIns="0" rIns="0" tIns="0" bIns="0" anchor="t">
            <a:spAutoFit/>
          </a:bodyPr>
          <a:lstStyle/>
          <a:p>
            <a:pPr algn="l"/>
            <a:r>
              <a:rPr sz="1050" b="1" i="0">
                <a:solidFill>
                  <a:srgbClr val="1A2130"/>
                </a:solidFill>
                <a:latin typeface="Courier New"/>
              </a:rPr>
              <a:t>ESCALATION PATH</a:t>
            </a:r>
          </a:p>
        </p:txBody>
      </p:sp>
      <p:sp>
        <p:nvSpPr>
          <p:cNvPr id="7" name="Rounded Rectangle 6"/>
          <p:cNvSpPr/>
          <p:nvPr/>
        </p:nvSpPr>
        <p:spPr>
          <a:xfrm>
            <a:off x="457200" y="4846320"/>
            <a:ext cx="2108606" cy="5943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Steward</a:t>
            </a:r>
          </a:p>
        </p:txBody>
      </p:sp>
      <p:cxnSp>
        <p:nvCxnSpPr>
          <p:cNvPr id="8" name="Connector 7"/>
          <p:cNvCxnSpPr/>
          <p:nvPr/>
        </p:nvCxnSpPr>
        <p:spPr>
          <a:xfrm>
            <a:off x="2565806" y="514350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48686" y="4846320"/>
            <a:ext cx="2108606" cy="5943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Domain working group</a:t>
            </a:r>
          </a:p>
        </p:txBody>
      </p:sp>
      <p:cxnSp>
        <p:nvCxnSpPr>
          <p:cNvPr id="10" name="Connector 9"/>
          <p:cNvCxnSpPr/>
          <p:nvPr/>
        </p:nvCxnSpPr>
        <p:spPr>
          <a:xfrm>
            <a:off x="4857292" y="514350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40172" y="4846320"/>
            <a:ext cx="2108606" cy="5943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Data owner</a:t>
            </a:r>
          </a:p>
        </p:txBody>
      </p:sp>
      <p:cxnSp>
        <p:nvCxnSpPr>
          <p:cNvPr id="12" name="Connector 11"/>
          <p:cNvCxnSpPr/>
          <p:nvPr/>
        </p:nvCxnSpPr>
        <p:spPr>
          <a:xfrm>
            <a:off x="7148779" y="514350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31659" y="4846320"/>
            <a:ext cx="2108606" cy="5943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Governance council</a:t>
            </a:r>
          </a:p>
        </p:txBody>
      </p:sp>
      <p:cxnSp>
        <p:nvCxnSpPr>
          <p:cNvPr id="14" name="Connector 13"/>
          <p:cNvCxnSpPr/>
          <p:nvPr/>
        </p:nvCxnSpPr>
        <p:spPr>
          <a:xfrm>
            <a:off x="9440265" y="514350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623145" y="4846320"/>
            <a:ext cx="2108606" cy="5943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FFFFFF"/>
                </a:solidFill>
                <a:latin typeface="Calibri"/>
              </a:rPr>
              <a:t>Executive data committee</a:t>
            </a:r>
          </a:p>
        </p:txBody>
      </p:sp>
      <p:sp>
        <p:nvSpPr>
          <p:cNvPr id="16" name="TextBox 15"/>
          <p:cNvSpPr txBox="1"/>
          <p:nvPr/>
        </p:nvSpPr>
        <p:spPr>
          <a:xfrm>
            <a:off x="457200" y="5669280"/>
            <a:ext cx="11247120" cy="640080"/>
          </a:xfrm>
          <a:prstGeom prst="rect">
            <a:avLst/>
          </a:prstGeom>
          <a:noFill/>
        </p:spPr>
        <p:txBody>
          <a:bodyPr wrap="square" lIns="0" rIns="0" tIns="0" bIns="0" anchor="t">
            <a:spAutoFit/>
          </a:bodyPr>
          <a:lstStyle/>
          <a:p>
            <a:pPr algn="l"/>
            <a:r>
              <a:rPr sz="1100" b="0" i="1">
                <a:solidFill>
                  <a:srgbClr val="57626B"/>
                </a:solidFill>
                <a:latin typeface="Calibri"/>
              </a:rPr>
              <a:t>Keep forums few and decision-making: every agenda item should end in a decision, an owner and a date. The DGO runs the secretariat for all of them.</a:t>
            </a:r>
          </a:p>
        </p:txBody>
      </p:sp>
      <p:sp>
        <p:nvSpPr>
          <p:cNvPr id="17" name="TextBox 16"/>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DATA MANAGEMENT</a:t>
            </a:r>
          </a:p>
        </p:txBody>
      </p:sp>
      <p:sp>
        <p:nvSpPr>
          <p:cNvPr id="18" name="TextBox 17"/>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10</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Roles inside the DGO</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The core team. In a small firm several roles are combined in one person.</a:t>
            </a:r>
          </a:p>
        </p:txBody>
      </p:sp>
      <p:graphicFrame>
        <p:nvGraphicFramePr>
          <p:cNvPr id="5" name="Table 4"/>
          <p:cNvGraphicFramePr>
            <a:graphicFrameLocks noGrp="1"/>
          </p:cNvGraphicFramePr>
          <p:nvPr/>
        </p:nvGraphicFramePr>
        <p:xfrm>
          <a:off x="457200" y="1325880"/>
          <a:ext cx="11274552" cy="4443984"/>
        </p:xfrm>
        <a:graphic>
          <a:graphicData uri="http://schemas.openxmlformats.org/drawingml/2006/table">
            <a:tbl>
              <a:tblPr firstRow="1" bandRow="1">
                <a:tableStyleId>{5C22544A-7EE6-4342-B048-85BDC9FD1C3A}</a:tableStyleId>
              </a:tblPr>
              <a:tblGrid>
                <a:gridCol w="2926080"/>
                <a:gridCol w="4389120"/>
                <a:gridCol w="3959352"/>
              </a:tblGrid>
              <a:tr h="347472">
                <a:tc>
                  <a:txBody>
                    <a:bodyPr/>
                    <a:lstStyle/>
                    <a:p>
                      <a:pPr algn="l"/>
                      <a:r>
                        <a:rPr sz="1000" b="1" i="0">
                          <a:solidFill>
                            <a:srgbClr val="CADCEA"/>
                          </a:solidFill>
                          <a:latin typeface="Calibri"/>
                        </a:rPr>
                        <a:t>ROLE</a:t>
                      </a:r>
                    </a:p>
                  </a:txBody>
                  <a:tcPr marL="73152" marR="73152" marT="36576" marB="36576" anchor="ctr">
                    <a:solidFill>
                      <a:srgbClr val="1A2130"/>
                    </a:solidFill>
                  </a:tcPr>
                </a:tc>
                <a:tc>
                  <a:txBody>
                    <a:bodyPr/>
                    <a:lstStyle/>
                    <a:p>
                      <a:pPr algn="l"/>
                      <a:r>
                        <a:rPr sz="1000" b="1" i="0">
                          <a:solidFill>
                            <a:srgbClr val="CADCEA"/>
                          </a:solidFill>
                          <a:latin typeface="Calibri"/>
                        </a:rPr>
                        <a:t>PURPOSE</a:t>
                      </a:r>
                    </a:p>
                  </a:txBody>
                  <a:tcPr marL="73152" marR="73152" marT="36576" marB="36576" anchor="ctr">
                    <a:solidFill>
                      <a:srgbClr val="1A2130"/>
                    </a:solidFill>
                  </a:tcPr>
                </a:tc>
                <a:tc>
                  <a:txBody>
                    <a:bodyPr/>
                    <a:lstStyle/>
                    <a:p>
                      <a:pPr algn="l"/>
                      <a:r>
                        <a:rPr sz="1000" b="1" i="0">
                          <a:solidFill>
                            <a:srgbClr val="CADCEA"/>
                          </a:solidFill>
                          <a:latin typeface="Calibri"/>
                        </a:rPr>
                        <a:t>KEY DELIVERABLES</a:t>
                      </a:r>
                    </a:p>
                  </a:txBody>
                  <a:tcPr marL="73152" marR="73152" marT="36576" marB="36576" anchor="ctr">
                    <a:solidFill>
                      <a:srgbClr val="1A2130"/>
                    </a:solidFill>
                  </a:tcPr>
                </a:tc>
              </a:tr>
              <a:tr h="512064">
                <a:tc>
                  <a:txBody>
                    <a:bodyPr/>
                    <a:lstStyle/>
                    <a:p>
                      <a:pPr algn="l"/>
                      <a:r>
                        <a:rPr sz="1050" b="1" i="0">
                          <a:solidFill>
                            <a:srgbClr val="1A2130"/>
                          </a:solidFill>
                          <a:latin typeface="Calibri"/>
                        </a:rPr>
                        <a:t>Head of Data Governance</a:t>
                      </a:r>
                    </a:p>
                  </a:txBody>
                  <a:tcPr marL="73152" marR="73152" marT="36576" marB="36576" anchor="ctr">
                    <a:solidFill>
                      <a:srgbClr val="FFFFFF"/>
                    </a:solidFill>
                  </a:tcPr>
                </a:tc>
                <a:tc>
                  <a:txBody>
                    <a:bodyPr/>
                    <a:lstStyle/>
                    <a:p>
                      <a:pPr algn="l"/>
                      <a:r>
                        <a:rPr sz="1050" b="0" i="0">
                          <a:solidFill>
                            <a:srgbClr val="57626B"/>
                          </a:solidFill>
                          <a:latin typeface="Calibri"/>
                        </a:rPr>
                        <a:t>Leads the office; reports to the CDO; runs the council</a:t>
                      </a:r>
                    </a:p>
                  </a:txBody>
                  <a:tcPr marL="73152" marR="73152" marT="36576" marB="36576" anchor="ctr">
                    <a:solidFill>
                      <a:srgbClr val="FFFFFF"/>
                    </a:solidFill>
                  </a:tcPr>
                </a:tc>
                <a:tc>
                  <a:txBody>
                    <a:bodyPr/>
                    <a:lstStyle/>
                    <a:p>
                      <a:pPr algn="l"/>
                      <a:r>
                        <a:rPr sz="1050" b="0" i="0">
                          <a:solidFill>
                            <a:srgbClr val="57626B"/>
                          </a:solidFill>
                          <a:latin typeface="Calibri"/>
                        </a:rPr>
                        <a:t>Charter, strategy, roadmap, executive reporting</a:t>
                      </a:r>
                    </a:p>
                  </a:txBody>
                  <a:tcPr marL="73152" marR="73152" marT="36576" marB="36576" anchor="ctr">
                    <a:solidFill>
                      <a:srgbClr val="FFFFFF"/>
                    </a:solidFill>
                  </a:tcPr>
                </a:tc>
              </a:tr>
              <a:tr h="512064">
                <a:tc>
                  <a:txBody>
                    <a:bodyPr/>
                    <a:lstStyle/>
                    <a:p>
                      <a:pPr algn="l"/>
                      <a:r>
                        <a:rPr sz="1050" b="1" i="0">
                          <a:solidFill>
                            <a:srgbClr val="1A2130"/>
                          </a:solidFill>
                          <a:latin typeface="Calibri"/>
                        </a:rPr>
                        <a:t>Domain governance leads</a:t>
                      </a:r>
                    </a:p>
                  </a:txBody>
                  <a:tcPr marL="73152" marR="73152" marT="36576" marB="36576" anchor="ctr">
                    <a:solidFill>
                      <a:srgbClr val="F4F6F2"/>
                    </a:solidFill>
                  </a:tcPr>
                </a:tc>
                <a:tc>
                  <a:txBody>
                    <a:bodyPr/>
                    <a:lstStyle/>
                    <a:p>
                      <a:pPr algn="l"/>
                      <a:r>
                        <a:rPr sz="1050" b="0" i="0">
                          <a:solidFill>
                            <a:srgbClr val="57626B"/>
                          </a:solidFill>
                          <a:latin typeface="Calibri"/>
                        </a:rPr>
                        <a:t>Partner with one business domain’s owners and stewards</a:t>
                      </a:r>
                    </a:p>
                  </a:txBody>
                  <a:tcPr marL="73152" marR="73152" marT="36576" marB="36576" anchor="ctr">
                    <a:solidFill>
                      <a:srgbClr val="F4F6F2"/>
                    </a:solidFill>
                  </a:tcPr>
                </a:tc>
                <a:tc>
                  <a:txBody>
                    <a:bodyPr/>
                    <a:lstStyle/>
                    <a:p>
                      <a:pPr algn="l"/>
                      <a:r>
                        <a:rPr sz="1050" b="0" i="0">
                          <a:solidFill>
                            <a:srgbClr val="57626B"/>
                          </a:solidFill>
                          <a:latin typeface="Calibri"/>
                        </a:rPr>
                        <a:t>Domain CDE inventory, DQ coverage, issue follow-up</a:t>
                      </a:r>
                    </a:p>
                  </a:txBody>
                  <a:tcPr marL="73152" marR="73152" marT="36576" marB="36576" anchor="ctr">
                    <a:solidFill>
                      <a:srgbClr val="F4F6F2"/>
                    </a:solidFill>
                  </a:tcPr>
                </a:tc>
              </a:tr>
              <a:tr h="512064">
                <a:tc>
                  <a:txBody>
                    <a:bodyPr/>
                    <a:lstStyle/>
                    <a:p>
                      <a:pPr algn="l"/>
                      <a:r>
                        <a:rPr sz="1050" b="1" i="0">
                          <a:solidFill>
                            <a:srgbClr val="1A2130"/>
                          </a:solidFill>
                          <a:latin typeface="Calibri"/>
                        </a:rPr>
                        <a:t>Policy &amp; standards manager</a:t>
                      </a:r>
                    </a:p>
                  </a:txBody>
                  <a:tcPr marL="73152" marR="73152" marT="36576" marB="36576" anchor="ctr">
                    <a:solidFill>
                      <a:srgbClr val="FFFFFF"/>
                    </a:solidFill>
                  </a:tcPr>
                </a:tc>
                <a:tc>
                  <a:txBody>
                    <a:bodyPr/>
                    <a:lstStyle/>
                    <a:p>
                      <a:pPr algn="l"/>
                      <a:r>
                        <a:rPr sz="1050" b="0" i="0">
                          <a:solidFill>
                            <a:srgbClr val="57626B"/>
                          </a:solidFill>
                          <a:latin typeface="Calibri"/>
                        </a:rPr>
                        <a:t>Keeps the rulebook written, approved, known and current</a:t>
                      </a:r>
                    </a:p>
                  </a:txBody>
                  <a:tcPr marL="73152" marR="73152" marT="36576" marB="36576" anchor="ctr">
                    <a:solidFill>
                      <a:srgbClr val="FFFFFF"/>
                    </a:solidFill>
                  </a:tcPr>
                </a:tc>
                <a:tc>
                  <a:txBody>
                    <a:bodyPr/>
                    <a:lstStyle/>
                    <a:p>
                      <a:pPr algn="l"/>
                      <a:r>
                        <a:rPr sz="1050" b="0" i="0">
                          <a:solidFill>
                            <a:srgbClr val="57626B"/>
                          </a:solidFill>
                          <a:latin typeface="Calibri"/>
                        </a:rPr>
                        <a:t>Policy, standards, attestations, exception register</a:t>
                      </a:r>
                    </a:p>
                  </a:txBody>
                  <a:tcPr marL="73152" marR="73152" marT="36576" marB="36576" anchor="ctr">
                    <a:solidFill>
                      <a:srgbClr val="FFFFFF"/>
                    </a:solidFill>
                  </a:tcPr>
                </a:tc>
              </a:tr>
              <a:tr h="512064">
                <a:tc>
                  <a:txBody>
                    <a:bodyPr/>
                    <a:lstStyle/>
                    <a:p>
                      <a:pPr algn="l"/>
                      <a:r>
                        <a:rPr sz="1050" b="1" i="0">
                          <a:solidFill>
                            <a:srgbClr val="1A2130"/>
                          </a:solidFill>
                          <a:latin typeface="Calibri"/>
                        </a:rPr>
                        <a:t>Data quality lead</a:t>
                      </a:r>
                    </a:p>
                  </a:txBody>
                  <a:tcPr marL="73152" marR="73152" marT="36576" marB="36576" anchor="ctr">
                    <a:solidFill>
                      <a:srgbClr val="F4F6F2"/>
                    </a:solidFill>
                  </a:tcPr>
                </a:tc>
                <a:tc>
                  <a:txBody>
                    <a:bodyPr/>
                    <a:lstStyle/>
                    <a:p>
                      <a:pPr algn="l"/>
                      <a:r>
                        <a:rPr sz="1050" b="0" i="0">
                          <a:solidFill>
                            <a:srgbClr val="57626B"/>
                          </a:solidFill>
                          <a:latin typeface="Calibri"/>
                        </a:rPr>
                        <a:t>Sets how quality is measured and supports stewards writing rules</a:t>
                      </a:r>
                    </a:p>
                  </a:txBody>
                  <a:tcPr marL="73152" marR="73152" marT="36576" marB="36576" anchor="ctr">
                    <a:solidFill>
                      <a:srgbClr val="F4F6F2"/>
                    </a:solidFill>
                  </a:tcPr>
                </a:tc>
                <a:tc>
                  <a:txBody>
                    <a:bodyPr/>
                    <a:lstStyle/>
                    <a:p>
                      <a:pPr algn="l"/>
                      <a:r>
                        <a:rPr sz="1050" b="0" i="0">
                          <a:solidFill>
                            <a:srgbClr val="57626B"/>
                          </a:solidFill>
                          <a:latin typeface="Calibri"/>
                        </a:rPr>
                        <a:t>DQ standard, scoring method, rule templates</a:t>
                      </a:r>
                    </a:p>
                  </a:txBody>
                  <a:tcPr marL="73152" marR="73152" marT="36576" marB="36576" anchor="ctr">
                    <a:solidFill>
                      <a:srgbClr val="F4F6F2"/>
                    </a:solidFill>
                  </a:tcPr>
                </a:tc>
              </a:tr>
              <a:tr h="512064">
                <a:tc>
                  <a:txBody>
                    <a:bodyPr/>
                    <a:lstStyle/>
                    <a:p>
                      <a:pPr algn="l"/>
                      <a:r>
                        <a:rPr sz="1050" b="1" i="0">
                          <a:solidFill>
                            <a:srgbClr val="1A2130"/>
                          </a:solidFill>
                          <a:latin typeface="Calibri"/>
                        </a:rPr>
                        <a:t>Metadata &amp; lineage lead</a:t>
                      </a:r>
                    </a:p>
                  </a:txBody>
                  <a:tcPr marL="73152" marR="73152" marT="36576" marB="36576" anchor="ctr">
                    <a:solidFill>
                      <a:srgbClr val="FFFFFF"/>
                    </a:solidFill>
                  </a:tcPr>
                </a:tc>
                <a:tc>
                  <a:txBody>
                    <a:bodyPr/>
                    <a:lstStyle/>
                    <a:p>
                      <a:pPr algn="l"/>
                      <a:r>
                        <a:rPr sz="1050" b="0" i="0">
                          <a:solidFill>
                            <a:srgbClr val="57626B"/>
                          </a:solidFill>
                          <a:latin typeface="Calibri"/>
                        </a:rPr>
                        <a:t>Drives catalog and lineage coverage and quality</a:t>
                      </a:r>
                    </a:p>
                  </a:txBody>
                  <a:tcPr marL="73152" marR="73152" marT="36576" marB="36576" anchor="ctr">
                    <a:solidFill>
                      <a:srgbClr val="FFFFFF"/>
                    </a:solidFill>
                  </a:tcPr>
                </a:tc>
                <a:tc>
                  <a:txBody>
                    <a:bodyPr/>
                    <a:lstStyle/>
                    <a:p>
                      <a:pPr algn="l"/>
                      <a:r>
                        <a:rPr sz="1050" b="0" i="0">
                          <a:solidFill>
                            <a:srgbClr val="57626B"/>
                          </a:solidFill>
                          <a:latin typeface="Calibri"/>
                        </a:rPr>
                        <a:t>Catalog content standards, lineage coverage reports</a:t>
                      </a:r>
                    </a:p>
                  </a:txBody>
                  <a:tcPr marL="73152" marR="73152" marT="36576" marB="36576" anchor="ctr">
                    <a:solidFill>
                      <a:srgbClr val="FFFFFF"/>
                    </a:solidFill>
                  </a:tcPr>
                </a:tc>
              </a:tr>
              <a:tr h="512064">
                <a:tc>
                  <a:txBody>
                    <a:bodyPr/>
                    <a:lstStyle/>
                    <a:p>
                      <a:pPr algn="l"/>
                      <a:r>
                        <a:rPr sz="1050" b="1" i="0">
                          <a:solidFill>
                            <a:srgbClr val="1A2130"/>
                          </a:solidFill>
                          <a:latin typeface="Calibri"/>
                        </a:rPr>
                        <a:t>Governance architect / tooling lead</a:t>
                      </a:r>
                    </a:p>
                  </a:txBody>
                  <a:tcPr marL="73152" marR="73152" marT="36576" marB="36576" anchor="ctr">
                    <a:solidFill>
                      <a:srgbClr val="F4F6F2"/>
                    </a:solidFill>
                  </a:tcPr>
                </a:tc>
                <a:tc>
                  <a:txBody>
                    <a:bodyPr/>
                    <a:lstStyle/>
                    <a:p>
                      <a:pPr algn="l"/>
                      <a:r>
                        <a:rPr sz="1050" b="0" i="0">
                          <a:solidFill>
                            <a:srgbClr val="57626B"/>
                          </a:solidFill>
                          <a:latin typeface="Calibri"/>
                        </a:rPr>
                        <a:t>Bridges the DGO and enterprise architecture; runs governance tools</a:t>
                      </a:r>
                    </a:p>
                  </a:txBody>
                  <a:tcPr marL="73152" marR="73152" marT="36576" marB="36576" anchor="ctr">
                    <a:solidFill>
                      <a:srgbClr val="F4F6F2"/>
                    </a:solidFill>
                  </a:tcPr>
                </a:tc>
                <a:tc>
                  <a:txBody>
                    <a:bodyPr/>
                    <a:lstStyle/>
                    <a:p>
                      <a:pPr algn="l"/>
                      <a:r>
                        <a:rPr sz="1050" b="0" i="0">
                          <a:solidFill>
                            <a:srgbClr val="57626B"/>
                          </a:solidFill>
                          <a:latin typeface="Calibri"/>
                        </a:rPr>
                        <a:t>Tool integration design, platform requirements</a:t>
                      </a:r>
                    </a:p>
                  </a:txBody>
                  <a:tcPr marL="73152" marR="73152" marT="36576" marB="36576" anchor="ctr">
                    <a:solidFill>
                      <a:srgbClr val="F4F6F2"/>
                    </a:solidFill>
                  </a:tcPr>
                </a:tc>
              </a:tr>
              <a:tr h="512064">
                <a:tc>
                  <a:txBody>
                    <a:bodyPr/>
                    <a:lstStyle/>
                    <a:p>
                      <a:pPr algn="l"/>
                      <a:r>
                        <a:rPr sz="1050" b="1" i="0">
                          <a:solidFill>
                            <a:srgbClr val="1A2130"/>
                          </a:solidFill>
                          <a:latin typeface="Calibri"/>
                        </a:rPr>
                        <a:t>Governance reporting analyst</a:t>
                      </a:r>
                    </a:p>
                  </a:txBody>
                  <a:tcPr marL="73152" marR="73152" marT="36576" marB="36576" anchor="ctr">
                    <a:solidFill>
                      <a:srgbClr val="FFFFFF"/>
                    </a:solidFill>
                  </a:tcPr>
                </a:tc>
                <a:tc>
                  <a:txBody>
                    <a:bodyPr/>
                    <a:lstStyle/>
                    <a:p>
                      <a:pPr algn="l"/>
                      <a:r>
                        <a:rPr sz="1050" b="0" i="0">
                          <a:solidFill>
                            <a:srgbClr val="57626B"/>
                          </a:solidFill>
                          <a:latin typeface="Calibri"/>
                        </a:rPr>
                        <a:t>Measures and publishes governance health</a:t>
                      </a:r>
                    </a:p>
                  </a:txBody>
                  <a:tcPr marL="73152" marR="73152" marT="36576" marB="36576" anchor="ctr">
                    <a:solidFill>
                      <a:srgbClr val="FFFFFF"/>
                    </a:solidFill>
                  </a:tcPr>
                </a:tc>
                <a:tc>
                  <a:txBody>
                    <a:bodyPr/>
                    <a:lstStyle/>
                    <a:p>
                      <a:pPr algn="l"/>
                      <a:r>
                        <a:rPr sz="1050" b="0" i="0">
                          <a:solidFill>
                            <a:srgbClr val="57626B"/>
                          </a:solidFill>
                          <a:latin typeface="Calibri"/>
                        </a:rPr>
                        <a:t>KPI scorecard, council packs, trend analysis</a:t>
                      </a:r>
                    </a:p>
                  </a:txBody>
                  <a:tcPr marL="73152" marR="73152" marT="36576" marB="36576" anchor="ctr">
                    <a:solidFill>
                      <a:srgbClr val="FFFFFF"/>
                    </a:solidFill>
                  </a:tcPr>
                </a:tc>
              </a:tr>
              <a:tr h="512064">
                <a:tc>
                  <a:txBody>
                    <a:bodyPr/>
                    <a:lstStyle/>
                    <a:p>
                      <a:pPr algn="l"/>
                      <a:r>
                        <a:rPr sz="1050" b="1" i="0">
                          <a:solidFill>
                            <a:srgbClr val="1A2130"/>
                          </a:solidFill>
                          <a:latin typeface="Calibri"/>
                        </a:rPr>
                        <a:t>Training &amp; adoption lead</a:t>
                      </a:r>
                    </a:p>
                  </a:txBody>
                  <a:tcPr marL="73152" marR="73152" marT="36576" marB="36576" anchor="ctr">
                    <a:solidFill>
                      <a:srgbClr val="F4F6F2"/>
                    </a:solidFill>
                  </a:tcPr>
                </a:tc>
                <a:tc>
                  <a:txBody>
                    <a:bodyPr/>
                    <a:lstStyle/>
                    <a:p>
                      <a:pPr algn="l"/>
                      <a:r>
                        <a:rPr sz="1050" b="0" i="0">
                          <a:solidFill>
                            <a:srgbClr val="57626B"/>
                          </a:solidFill>
                          <a:latin typeface="Calibri"/>
                        </a:rPr>
                        <a:t>Makes governance understood and used</a:t>
                      </a:r>
                    </a:p>
                  </a:txBody>
                  <a:tcPr marL="73152" marR="73152" marT="36576" marB="36576" anchor="ctr">
                    <a:solidFill>
                      <a:srgbClr val="F4F6F2"/>
                    </a:solidFill>
                  </a:tcPr>
                </a:tc>
                <a:tc>
                  <a:txBody>
                    <a:bodyPr/>
                    <a:lstStyle/>
                    <a:p>
                      <a:pPr algn="l"/>
                      <a:r>
                        <a:rPr sz="1050" b="0" i="0">
                          <a:solidFill>
                            <a:srgbClr val="57626B"/>
                          </a:solidFill>
                          <a:latin typeface="Calibri"/>
                        </a:rPr>
                        <a:t>Steward training, playbooks, communications</a:t>
                      </a:r>
                    </a:p>
                  </a:txBody>
                  <a:tcPr marL="73152" marR="73152" marT="36576" marB="36576" anchor="ctr">
                    <a:solidFill>
                      <a:srgbClr val="F4F6F2"/>
                    </a:solidFill>
                  </a:tcPr>
                </a:tc>
              </a:tr>
            </a:tbl>
          </a:graphicData>
        </a:graphic>
      </p:graphicFrame>
      <p:sp>
        <p:nvSpPr>
          <p:cNvPr id="6" name="TextBox 5"/>
          <p:cNvSpPr txBox="1"/>
          <p:nvPr/>
        </p:nvSpPr>
        <p:spPr>
          <a:xfrm>
            <a:off x="457200" y="5852160"/>
            <a:ext cx="11247120" cy="457200"/>
          </a:xfrm>
          <a:prstGeom prst="rect">
            <a:avLst/>
          </a:prstGeom>
          <a:noFill/>
        </p:spPr>
        <p:txBody>
          <a:bodyPr wrap="square" lIns="0" rIns="0" tIns="0" bIns="0" anchor="t">
            <a:spAutoFit/>
          </a:bodyPr>
          <a:lstStyle/>
          <a:p>
            <a:pPr algn="l"/>
            <a:r>
              <a:rPr sz="1100" b="1" i="1">
                <a:solidFill>
                  <a:srgbClr val="1A2130"/>
                </a:solidFill>
                <a:latin typeface="Calibri"/>
              </a:rPr>
              <a:t>The governance architect role is the most often missed — and the one that keeps tools from becoming disconnected islands.</a:t>
            </a:r>
          </a:p>
        </p:txBody>
      </p:sp>
      <p:sp>
        <p:nvSpPr>
          <p:cNvPr id="7" name="TextBox 6"/>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DATA MANAGEMENT · LEADERS</a:t>
            </a:r>
          </a:p>
        </p:txBody>
      </p:sp>
      <p:sp>
        <p:nvSpPr>
          <p:cNvPr id="8" name="TextBox 7"/>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11</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Partner roles the DGO depends on</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Most governance work is done outside the DGO. Each partnership is a two-way contract.</a:t>
            </a:r>
          </a:p>
        </p:txBody>
      </p:sp>
      <p:graphicFrame>
        <p:nvGraphicFramePr>
          <p:cNvPr id="5" name="Table 4"/>
          <p:cNvGraphicFramePr>
            <a:graphicFrameLocks noGrp="1"/>
          </p:cNvGraphicFramePr>
          <p:nvPr/>
        </p:nvGraphicFramePr>
        <p:xfrm>
          <a:off x="457200" y="1325880"/>
          <a:ext cx="11274552" cy="4443984"/>
        </p:xfrm>
        <a:graphic>
          <a:graphicData uri="http://schemas.openxmlformats.org/drawingml/2006/table">
            <a:tbl>
              <a:tblPr firstRow="1" bandRow="1">
                <a:tableStyleId>{5C22544A-7EE6-4342-B048-85BDC9FD1C3A}</a:tableStyleId>
              </a:tblPr>
              <a:tblGrid>
                <a:gridCol w="3200400"/>
                <a:gridCol w="3840480"/>
                <a:gridCol w="4233672"/>
              </a:tblGrid>
              <a:tr h="347472">
                <a:tc>
                  <a:txBody>
                    <a:bodyPr/>
                    <a:lstStyle/>
                    <a:p>
                      <a:pPr algn="l"/>
                      <a:r>
                        <a:rPr sz="1000" b="1" i="0">
                          <a:solidFill>
                            <a:srgbClr val="CADCEA"/>
                          </a:solidFill>
                          <a:latin typeface="Calibri"/>
                        </a:rPr>
                        <a:t>PARTNER</a:t>
                      </a:r>
                    </a:p>
                  </a:txBody>
                  <a:tcPr marL="73152" marR="73152" marT="36576" marB="36576" anchor="ctr">
                    <a:solidFill>
                      <a:srgbClr val="1A2130"/>
                    </a:solidFill>
                  </a:tcPr>
                </a:tc>
                <a:tc>
                  <a:txBody>
                    <a:bodyPr/>
                    <a:lstStyle/>
                    <a:p>
                      <a:pPr algn="l"/>
                      <a:r>
                        <a:rPr sz="1000" b="1" i="0">
                          <a:solidFill>
                            <a:srgbClr val="CADCEA"/>
                          </a:solidFill>
                          <a:latin typeface="Calibri"/>
                        </a:rPr>
                        <a:t>THE DGO PROVIDES</a:t>
                      </a:r>
                    </a:p>
                  </a:txBody>
                  <a:tcPr marL="73152" marR="73152" marT="36576" marB="36576" anchor="ctr">
                    <a:solidFill>
                      <a:srgbClr val="1A2130"/>
                    </a:solidFill>
                  </a:tcPr>
                </a:tc>
                <a:tc>
                  <a:txBody>
                    <a:bodyPr/>
                    <a:lstStyle/>
                    <a:p>
                      <a:pPr algn="l"/>
                      <a:r>
                        <a:rPr sz="1000" b="1" i="0">
                          <a:solidFill>
                            <a:srgbClr val="CADCEA"/>
                          </a:solidFill>
                          <a:latin typeface="Calibri"/>
                        </a:rPr>
                        <a:t>THE DGO NEEDS FROM THEM</a:t>
                      </a:r>
                    </a:p>
                  </a:txBody>
                  <a:tcPr marL="73152" marR="73152" marT="36576" marB="36576" anchor="ctr">
                    <a:solidFill>
                      <a:srgbClr val="1A2130"/>
                    </a:solidFill>
                  </a:tcPr>
                </a:tc>
              </a:tr>
              <a:tr h="512064">
                <a:tc>
                  <a:txBody>
                    <a:bodyPr/>
                    <a:lstStyle/>
                    <a:p>
                      <a:pPr algn="l"/>
                      <a:r>
                        <a:rPr sz="1050" b="1" i="0">
                          <a:solidFill>
                            <a:srgbClr val="1A2130"/>
                          </a:solidFill>
                          <a:latin typeface="Calibri"/>
                        </a:rPr>
                        <a:t>Data owners (business executives)</a:t>
                      </a:r>
                    </a:p>
                  </a:txBody>
                  <a:tcPr marL="73152" marR="73152" marT="36576" marB="36576" anchor="ctr">
                    <a:solidFill>
                      <a:srgbClr val="FFFFFF"/>
                    </a:solidFill>
                  </a:tcPr>
                </a:tc>
                <a:tc>
                  <a:txBody>
                    <a:bodyPr/>
                    <a:lstStyle/>
                    <a:p>
                      <a:pPr algn="l"/>
                      <a:r>
                        <a:rPr sz="1050" b="0" i="0">
                          <a:solidFill>
                            <a:srgbClr val="57626B"/>
                          </a:solidFill>
                          <a:latin typeface="Calibri"/>
                        </a:rPr>
                        <a:t>Framework, tools, scorecard, escalation route</a:t>
                      </a:r>
                    </a:p>
                  </a:txBody>
                  <a:tcPr marL="73152" marR="73152" marT="36576" marB="36576" anchor="ctr">
                    <a:solidFill>
                      <a:srgbClr val="FFFFFF"/>
                    </a:solidFill>
                  </a:tcPr>
                </a:tc>
                <a:tc>
                  <a:txBody>
                    <a:bodyPr/>
                    <a:lstStyle/>
                    <a:p>
                      <a:pPr algn="l"/>
                      <a:r>
                        <a:rPr sz="1050" b="0" i="0">
                          <a:solidFill>
                            <a:srgbClr val="57626B"/>
                          </a:solidFill>
                          <a:latin typeface="Calibri"/>
                        </a:rPr>
                        <a:t>Accountability, definitions approved, thresholds set, fixes funded</a:t>
                      </a:r>
                    </a:p>
                  </a:txBody>
                  <a:tcPr marL="73152" marR="73152" marT="36576" marB="36576" anchor="ctr">
                    <a:solidFill>
                      <a:srgbClr val="FFFFFF"/>
                    </a:solidFill>
                  </a:tcPr>
                </a:tc>
              </a:tr>
              <a:tr h="512064">
                <a:tc>
                  <a:txBody>
                    <a:bodyPr/>
                    <a:lstStyle/>
                    <a:p>
                      <a:pPr algn="l"/>
                      <a:r>
                        <a:rPr sz="1050" b="1" i="0">
                          <a:solidFill>
                            <a:srgbClr val="1A2130"/>
                          </a:solidFill>
                          <a:latin typeface="Calibri"/>
                        </a:rPr>
                        <a:t>Data stewards (business experts)</a:t>
                      </a:r>
                    </a:p>
                  </a:txBody>
                  <a:tcPr marL="73152" marR="73152" marT="36576" marB="36576" anchor="ctr">
                    <a:solidFill>
                      <a:srgbClr val="F4F6F2"/>
                    </a:solidFill>
                  </a:tcPr>
                </a:tc>
                <a:tc>
                  <a:txBody>
                    <a:bodyPr/>
                    <a:lstStyle/>
                    <a:p>
                      <a:pPr algn="l"/>
                      <a:r>
                        <a:rPr sz="1050" b="0" i="0">
                          <a:solidFill>
                            <a:srgbClr val="57626B"/>
                          </a:solidFill>
                          <a:latin typeface="Calibri"/>
                        </a:rPr>
                        <a:t>Training, templates, rule libraries</a:t>
                      </a:r>
                    </a:p>
                  </a:txBody>
                  <a:tcPr marL="73152" marR="73152" marT="36576" marB="36576" anchor="ctr">
                    <a:solidFill>
                      <a:srgbClr val="F4F6F2"/>
                    </a:solidFill>
                  </a:tcPr>
                </a:tc>
                <a:tc>
                  <a:txBody>
                    <a:bodyPr/>
                    <a:lstStyle/>
                    <a:p>
                      <a:pPr algn="l"/>
                      <a:r>
                        <a:rPr sz="1050" b="0" i="0">
                          <a:solidFill>
                            <a:srgbClr val="57626B"/>
                          </a:solidFill>
                          <a:latin typeface="Calibri"/>
                        </a:rPr>
                        <a:t>Day-to-day definitions, DQ rules, issue triage</a:t>
                      </a:r>
                    </a:p>
                  </a:txBody>
                  <a:tcPr marL="73152" marR="73152" marT="36576" marB="36576" anchor="ctr">
                    <a:solidFill>
                      <a:srgbClr val="F4F6F2"/>
                    </a:solidFill>
                  </a:tcPr>
                </a:tc>
              </a:tr>
              <a:tr h="512064">
                <a:tc>
                  <a:txBody>
                    <a:bodyPr/>
                    <a:lstStyle/>
                    <a:p>
                      <a:pPr algn="l"/>
                      <a:r>
                        <a:rPr sz="1050" b="1" i="0">
                          <a:solidFill>
                            <a:srgbClr val="1A2130"/>
                          </a:solidFill>
                          <a:latin typeface="Calibri"/>
                        </a:rPr>
                        <a:t>Enterprise and data architects</a:t>
                      </a:r>
                    </a:p>
                  </a:txBody>
                  <a:tcPr marL="73152" marR="73152" marT="36576" marB="36576" anchor="ctr">
                    <a:solidFill>
                      <a:srgbClr val="FFFFFF"/>
                    </a:solidFill>
                  </a:tcPr>
                </a:tc>
                <a:tc>
                  <a:txBody>
                    <a:bodyPr/>
                    <a:lstStyle/>
                    <a:p>
                      <a:pPr algn="l"/>
                      <a:r>
                        <a:rPr sz="1050" b="0" i="0">
                          <a:solidFill>
                            <a:srgbClr val="57626B"/>
                          </a:solidFill>
                          <a:latin typeface="Calibri"/>
                        </a:rPr>
                        <a:t>Governance requirements and standards</a:t>
                      </a:r>
                    </a:p>
                  </a:txBody>
                  <a:tcPr marL="73152" marR="73152" marT="36576" marB="36576" anchor="ctr">
                    <a:solidFill>
                      <a:srgbClr val="FFFFFF"/>
                    </a:solidFill>
                  </a:tcPr>
                </a:tc>
                <a:tc>
                  <a:txBody>
                    <a:bodyPr/>
                    <a:lstStyle/>
                    <a:p>
                      <a:pPr algn="l"/>
                      <a:r>
                        <a:rPr sz="1050" b="0" i="0">
                          <a:solidFill>
                            <a:srgbClr val="57626B"/>
                          </a:solidFill>
                          <a:latin typeface="Calibri"/>
                        </a:rPr>
                        <a:t>Lineage and DQ built into designs; tools integrated</a:t>
                      </a:r>
                    </a:p>
                  </a:txBody>
                  <a:tcPr marL="73152" marR="73152" marT="36576" marB="36576" anchor="ctr">
                    <a:solidFill>
                      <a:srgbClr val="FFFFFF"/>
                    </a:solidFill>
                  </a:tcPr>
                </a:tc>
              </a:tr>
              <a:tr h="512064">
                <a:tc>
                  <a:txBody>
                    <a:bodyPr/>
                    <a:lstStyle/>
                    <a:p>
                      <a:pPr algn="l"/>
                      <a:r>
                        <a:rPr sz="1050" b="1" i="0">
                          <a:solidFill>
                            <a:srgbClr val="1A2130"/>
                          </a:solidFill>
                          <a:latin typeface="Calibri"/>
                        </a:rPr>
                        <a:t>Data engineering / custodians</a:t>
                      </a:r>
                    </a:p>
                  </a:txBody>
                  <a:tcPr marL="73152" marR="73152" marT="36576" marB="36576" anchor="ctr">
                    <a:solidFill>
                      <a:srgbClr val="F4F6F2"/>
                    </a:solidFill>
                  </a:tcPr>
                </a:tc>
                <a:tc>
                  <a:txBody>
                    <a:bodyPr/>
                    <a:lstStyle/>
                    <a:p>
                      <a:pPr algn="l"/>
                      <a:r>
                        <a:rPr sz="1050" b="0" i="0">
                          <a:solidFill>
                            <a:srgbClr val="57626B"/>
                          </a:solidFill>
                          <a:latin typeface="Calibri"/>
                        </a:rPr>
                        <a:t>Rule specifications, priorities</a:t>
                      </a:r>
                    </a:p>
                  </a:txBody>
                  <a:tcPr marL="73152" marR="73152" marT="36576" marB="36576" anchor="ctr">
                    <a:solidFill>
                      <a:srgbClr val="F4F6F2"/>
                    </a:solidFill>
                  </a:tcPr>
                </a:tc>
                <a:tc>
                  <a:txBody>
                    <a:bodyPr/>
                    <a:lstStyle/>
                    <a:p>
                      <a:pPr algn="l"/>
                      <a:r>
                        <a:rPr sz="1050" b="0" i="0">
                          <a:solidFill>
                            <a:srgbClr val="57626B"/>
                          </a:solidFill>
                          <a:latin typeface="Calibri"/>
                        </a:rPr>
                        <a:t>Pipelines with checks, control totals, harvested lineage</a:t>
                      </a:r>
                    </a:p>
                  </a:txBody>
                  <a:tcPr marL="73152" marR="73152" marT="36576" marB="36576" anchor="ctr">
                    <a:solidFill>
                      <a:srgbClr val="F4F6F2"/>
                    </a:solidFill>
                  </a:tcPr>
                </a:tc>
              </a:tr>
              <a:tr h="512064">
                <a:tc>
                  <a:txBody>
                    <a:bodyPr/>
                    <a:lstStyle/>
                    <a:p>
                      <a:pPr algn="l"/>
                      <a:r>
                        <a:rPr sz="1050" b="1" i="0">
                          <a:solidFill>
                            <a:srgbClr val="1A2130"/>
                          </a:solidFill>
                          <a:latin typeface="Calibri"/>
                        </a:rPr>
                        <a:t>Information security &amp; privacy</a:t>
                      </a:r>
                    </a:p>
                  </a:txBody>
                  <a:tcPr marL="73152" marR="73152" marT="36576" marB="36576" anchor="ctr">
                    <a:solidFill>
                      <a:srgbClr val="FFFFFF"/>
                    </a:solidFill>
                  </a:tcPr>
                </a:tc>
                <a:tc>
                  <a:txBody>
                    <a:bodyPr/>
                    <a:lstStyle/>
                    <a:p>
                      <a:pPr algn="l"/>
                      <a:r>
                        <a:rPr sz="1050" b="0" i="0">
                          <a:solidFill>
                            <a:srgbClr val="57626B"/>
                          </a:solidFill>
                          <a:latin typeface="Calibri"/>
                        </a:rPr>
                        <a:t>Classification standard, CDE and data inventory</a:t>
                      </a:r>
                    </a:p>
                  </a:txBody>
                  <a:tcPr marL="73152" marR="73152" marT="36576" marB="36576" anchor="ctr">
                    <a:solidFill>
                      <a:srgbClr val="FFFFFF"/>
                    </a:solidFill>
                  </a:tcPr>
                </a:tc>
                <a:tc>
                  <a:txBody>
                    <a:bodyPr/>
                    <a:lstStyle/>
                    <a:p>
                      <a:pPr algn="l"/>
                      <a:r>
                        <a:rPr sz="1050" b="0" i="0">
                          <a:solidFill>
                            <a:srgbClr val="57626B"/>
                          </a:solidFill>
                          <a:latin typeface="Calibri"/>
                        </a:rPr>
                        <a:t>Access controls, masking, privacy compliance</a:t>
                      </a:r>
                    </a:p>
                  </a:txBody>
                  <a:tcPr marL="73152" marR="73152" marT="36576" marB="36576" anchor="ctr">
                    <a:solidFill>
                      <a:srgbClr val="FFFFFF"/>
                    </a:solidFill>
                  </a:tcPr>
                </a:tc>
              </a:tr>
              <a:tr h="512064">
                <a:tc>
                  <a:txBody>
                    <a:bodyPr/>
                    <a:lstStyle/>
                    <a:p>
                      <a:pPr algn="l"/>
                      <a:r>
                        <a:rPr sz="1050" b="1" i="0">
                          <a:solidFill>
                            <a:srgbClr val="1A2130"/>
                          </a:solidFill>
                          <a:latin typeface="Calibri"/>
                        </a:rPr>
                        <a:t>Finance, controllership &amp; reg reporting</a:t>
                      </a:r>
                    </a:p>
                  </a:txBody>
                  <a:tcPr marL="73152" marR="73152" marT="36576" marB="36576" anchor="ctr">
                    <a:solidFill>
                      <a:srgbClr val="F4F6F2"/>
                    </a:solidFill>
                  </a:tcPr>
                </a:tc>
                <a:tc>
                  <a:txBody>
                    <a:bodyPr/>
                    <a:lstStyle/>
                    <a:p>
                      <a:pPr algn="l"/>
                      <a:r>
                        <a:rPr sz="1050" b="0" i="0">
                          <a:solidFill>
                            <a:srgbClr val="57626B"/>
                          </a:solidFill>
                          <a:latin typeface="Calibri"/>
                        </a:rPr>
                        <a:t>CDEs, lineage and evidence for reported numbers</a:t>
                      </a:r>
                    </a:p>
                  </a:txBody>
                  <a:tcPr marL="73152" marR="73152" marT="36576" marB="36576" anchor="ctr">
                    <a:solidFill>
                      <a:srgbClr val="F4F6F2"/>
                    </a:solidFill>
                  </a:tcPr>
                </a:tc>
                <a:tc>
                  <a:txBody>
                    <a:bodyPr/>
                    <a:lstStyle/>
                    <a:p>
                      <a:pPr algn="l"/>
                      <a:r>
                        <a:rPr sz="1050" b="0" i="0">
                          <a:solidFill>
                            <a:srgbClr val="57626B"/>
                          </a:solidFill>
                          <a:latin typeface="Calibri"/>
                        </a:rPr>
                        <a:t>Report requirements, reconciliations, attestations</a:t>
                      </a:r>
                    </a:p>
                  </a:txBody>
                  <a:tcPr marL="73152" marR="73152" marT="36576" marB="36576" anchor="ctr">
                    <a:solidFill>
                      <a:srgbClr val="F4F6F2"/>
                    </a:solidFill>
                  </a:tcPr>
                </a:tc>
              </a:tr>
              <a:tr h="512064">
                <a:tc>
                  <a:txBody>
                    <a:bodyPr/>
                    <a:lstStyle/>
                    <a:p>
                      <a:pPr algn="l"/>
                      <a:r>
                        <a:rPr sz="1050" b="1" i="0">
                          <a:solidFill>
                            <a:srgbClr val="1A2130"/>
                          </a:solidFill>
                          <a:latin typeface="Calibri"/>
                        </a:rPr>
                        <a:t>2nd line: risk &amp; compliance</a:t>
                      </a:r>
                    </a:p>
                  </a:txBody>
                  <a:tcPr marL="73152" marR="73152" marT="36576" marB="36576" anchor="ctr">
                    <a:solidFill>
                      <a:srgbClr val="FFFFFF"/>
                    </a:solidFill>
                  </a:tcPr>
                </a:tc>
                <a:tc>
                  <a:txBody>
                    <a:bodyPr/>
                    <a:lstStyle/>
                    <a:p>
                      <a:pPr algn="l"/>
                      <a:r>
                        <a:rPr sz="1050" b="0" i="0">
                          <a:solidFill>
                            <a:srgbClr val="57626B"/>
                          </a:solidFill>
                          <a:latin typeface="Calibri"/>
                        </a:rPr>
                        <a:t>Program documentation and metrics</a:t>
                      </a:r>
                    </a:p>
                  </a:txBody>
                  <a:tcPr marL="73152" marR="73152" marT="36576" marB="36576" anchor="ctr">
                    <a:solidFill>
                      <a:srgbClr val="FFFFFF"/>
                    </a:solidFill>
                  </a:tcPr>
                </a:tc>
                <a:tc>
                  <a:txBody>
                    <a:bodyPr/>
                    <a:lstStyle/>
                    <a:p>
                      <a:pPr algn="l"/>
                      <a:r>
                        <a:rPr sz="1050" b="0" i="0">
                          <a:solidFill>
                            <a:srgbClr val="57626B"/>
                          </a:solidFill>
                          <a:latin typeface="Calibri"/>
                        </a:rPr>
                        <a:t>Independent challenge, risk appetite input</a:t>
                      </a:r>
                    </a:p>
                  </a:txBody>
                  <a:tcPr marL="73152" marR="73152" marT="36576" marB="36576" anchor="ctr">
                    <a:solidFill>
                      <a:srgbClr val="FFFFFF"/>
                    </a:solidFill>
                  </a:tcPr>
                </a:tc>
              </a:tr>
              <a:tr h="512064">
                <a:tc>
                  <a:txBody>
                    <a:bodyPr/>
                    <a:lstStyle/>
                    <a:p>
                      <a:pPr algn="l"/>
                      <a:r>
                        <a:rPr sz="1050" b="1" i="0">
                          <a:solidFill>
                            <a:srgbClr val="1A2130"/>
                          </a:solidFill>
                          <a:latin typeface="Calibri"/>
                        </a:rPr>
                        <a:t>Internal audit</a:t>
                      </a:r>
                    </a:p>
                  </a:txBody>
                  <a:tcPr marL="73152" marR="73152" marT="36576" marB="36576" anchor="ctr">
                    <a:solidFill>
                      <a:srgbClr val="F4F6F2"/>
                    </a:solidFill>
                  </a:tcPr>
                </a:tc>
                <a:tc>
                  <a:txBody>
                    <a:bodyPr/>
                    <a:lstStyle/>
                    <a:p>
                      <a:pPr algn="l"/>
                      <a:r>
                        <a:rPr sz="1050" b="0" i="0">
                          <a:solidFill>
                            <a:srgbClr val="57626B"/>
                          </a:solidFill>
                          <a:latin typeface="Calibri"/>
                        </a:rPr>
                        <a:t>Evidence on request</a:t>
                      </a:r>
                    </a:p>
                  </a:txBody>
                  <a:tcPr marL="73152" marR="73152" marT="36576" marB="36576" anchor="ctr">
                    <a:solidFill>
                      <a:srgbClr val="F4F6F2"/>
                    </a:solidFill>
                  </a:tcPr>
                </a:tc>
                <a:tc>
                  <a:txBody>
                    <a:bodyPr/>
                    <a:lstStyle/>
                    <a:p>
                      <a:pPr algn="l"/>
                      <a:r>
                        <a:rPr sz="1050" b="0" i="0">
                          <a:solidFill>
                            <a:srgbClr val="57626B"/>
                          </a:solidFill>
                          <a:latin typeface="Calibri"/>
                        </a:rPr>
                        <a:t>Independent assurance and findings</a:t>
                      </a:r>
                    </a:p>
                  </a:txBody>
                  <a:tcPr marL="73152" marR="73152" marT="36576" marB="36576" anchor="ctr">
                    <a:solidFill>
                      <a:srgbClr val="F4F6F2"/>
                    </a:solidFill>
                  </a:tcPr>
                </a:tc>
              </a:tr>
            </a:tbl>
          </a:graphicData>
        </a:graphic>
      </p:graphicFrame>
      <p:sp>
        <p:nvSpPr>
          <p:cNvPr id="6" name="TextBox 5"/>
          <p:cNvSpPr txBox="1"/>
          <p:nvPr/>
        </p:nvSpPr>
        <p:spPr>
          <a:xfrm>
            <a:off x="457200" y="5852160"/>
            <a:ext cx="11247120" cy="457200"/>
          </a:xfrm>
          <a:prstGeom prst="rect">
            <a:avLst/>
          </a:prstGeom>
          <a:noFill/>
        </p:spPr>
        <p:txBody>
          <a:bodyPr wrap="square" lIns="0" rIns="0" tIns="0" bIns="0" anchor="t">
            <a:spAutoFit/>
          </a:bodyPr>
          <a:lstStyle/>
          <a:p>
            <a:pPr algn="l"/>
            <a:r>
              <a:rPr sz="1100" b="1" i="1">
                <a:solidFill>
                  <a:srgbClr val="1A2130"/>
                </a:solidFill>
                <a:latin typeface="Calibri"/>
              </a:rPr>
              <a:t>Put stewardship in job descriptions and performance goals — otherwise it is always the first thing dropped.</a:t>
            </a:r>
          </a:p>
        </p:txBody>
      </p:sp>
      <p:sp>
        <p:nvSpPr>
          <p:cNvPr id="7" name="TextBox 6"/>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ARCHITECTS · DATA MANAGEMENT</a:t>
            </a:r>
          </a:p>
        </p:txBody>
      </p:sp>
      <p:sp>
        <p:nvSpPr>
          <p:cNvPr id="8" name="TextBox 7"/>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12</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The DGO capability model</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Thirteen capabilities in three tiers. Build the foundation first; the enabling tier grows with maturity.</a:t>
            </a:r>
          </a:p>
        </p:txBody>
      </p:sp>
      <p:sp>
        <p:nvSpPr>
          <p:cNvPr id="5" name="Rounded Rectangle 4"/>
          <p:cNvSpPr/>
          <p:nvPr/>
        </p:nvSpPr>
        <p:spPr>
          <a:xfrm>
            <a:off x="457200" y="1325880"/>
            <a:ext cx="1737360" cy="11887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50" b="1" i="0">
                <a:solidFill>
                  <a:srgbClr val="FFFFFF"/>
                </a:solidFill>
                <a:latin typeface="Calibri"/>
              </a:rPr>
              <a:t>ENABLING</a:t>
            </a:r>
          </a:p>
        </p:txBody>
      </p:sp>
      <p:sp>
        <p:nvSpPr>
          <p:cNvPr id="6" name="Rounded Rectangle 5"/>
          <p:cNvSpPr/>
          <p:nvPr/>
        </p:nvSpPr>
        <p:spPr>
          <a:xfrm>
            <a:off x="2331720" y="1325880"/>
            <a:ext cx="147523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Reference &amp; master data coordination</a:t>
            </a:r>
          </a:p>
        </p:txBody>
      </p:sp>
      <p:sp>
        <p:nvSpPr>
          <p:cNvPr id="7" name="Rounded Rectangle 6"/>
          <p:cNvSpPr/>
          <p:nvPr/>
        </p:nvSpPr>
        <p:spPr>
          <a:xfrm>
            <a:off x="3916680" y="1325880"/>
            <a:ext cx="147523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Access &amp; classification (with InfoSec)</a:t>
            </a:r>
          </a:p>
        </p:txBody>
      </p:sp>
      <p:sp>
        <p:nvSpPr>
          <p:cNvPr id="8" name="Rounded Rectangle 7"/>
          <p:cNvSpPr/>
          <p:nvPr/>
        </p:nvSpPr>
        <p:spPr>
          <a:xfrm>
            <a:off x="5501640" y="1325880"/>
            <a:ext cx="147523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Measurement &amp; scorecard</a:t>
            </a:r>
          </a:p>
        </p:txBody>
      </p:sp>
      <p:sp>
        <p:nvSpPr>
          <p:cNvPr id="9" name="Rounded Rectangle 8"/>
          <p:cNvSpPr/>
          <p:nvPr/>
        </p:nvSpPr>
        <p:spPr>
          <a:xfrm>
            <a:off x="7086600" y="1325880"/>
            <a:ext cx="147523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Training &amp; adoption</a:t>
            </a:r>
          </a:p>
        </p:txBody>
      </p:sp>
      <p:sp>
        <p:nvSpPr>
          <p:cNvPr id="10" name="Rounded Rectangle 9"/>
          <p:cNvSpPr/>
          <p:nvPr/>
        </p:nvSpPr>
        <p:spPr>
          <a:xfrm>
            <a:off x="8671560" y="1325880"/>
            <a:ext cx="147523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Governance by design (in change delivery)</a:t>
            </a:r>
          </a:p>
        </p:txBody>
      </p:sp>
      <p:sp>
        <p:nvSpPr>
          <p:cNvPr id="11" name="Rounded Rectangle 10"/>
          <p:cNvSpPr/>
          <p:nvPr/>
        </p:nvSpPr>
        <p:spPr>
          <a:xfrm>
            <a:off x="10256520" y="1325880"/>
            <a:ext cx="147523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Regulatory &amp; audit support</a:t>
            </a:r>
          </a:p>
        </p:txBody>
      </p:sp>
      <p:sp>
        <p:nvSpPr>
          <p:cNvPr id="12" name="Rounded Rectangle 11"/>
          <p:cNvSpPr/>
          <p:nvPr/>
        </p:nvSpPr>
        <p:spPr>
          <a:xfrm>
            <a:off x="457200" y="2651760"/>
            <a:ext cx="1737360" cy="11887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50" b="1" i="0">
                <a:solidFill>
                  <a:srgbClr val="FFFFFF"/>
                </a:solidFill>
                <a:latin typeface="Calibri"/>
              </a:rPr>
              <a:t>CORE</a:t>
            </a:r>
          </a:p>
        </p:txBody>
      </p:sp>
      <p:sp>
        <p:nvSpPr>
          <p:cNvPr id="13" name="Rounded Rectangle 12"/>
          <p:cNvSpPr/>
          <p:nvPr/>
        </p:nvSpPr>
        <p:spPr>
          <a:xfrm>
            <a:off x="2331720" y="2651760"/>
            <a:ext cx="226771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Critical data element (CDE) management</a:t>
            </a:r>
          </a:p>
        </p:txBody>
      </p:sp>
      <p:sp>
        <p:nvSpPr>
          <p:cNvPr id="14" name="Rounded Rectangle 13"/>
          <p:cNvSpPr/>
          <p:nvPr/>
        </p:nvSpPr>
        <p:spPr>
          <a:xfrm>
            <a:off x="4709160" y="2651760"/>
            <a:ext cx="226771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Data quality management</a:t>
            </a:r>
          </a:p>
        </p:txBody>
      </p:sp>
      <p:sp>
        <p:nvSpPr>
          <p:cNvPr id="15" name="Rounded Rectangle 14"/>
          <p:cNvSpPr/>
          <p:nvPr/>
        </p:nvSpPr>
        <p:spPr>
          <a:xfrm>
            <a:off x="7086600" y="2651760"/>
            <a:ext cx="226771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Metadata &amp; lineage</a:t>
            </a:r>
          </a:p>
        </p:txBody>
      </p:sp>
      <p:sp>
        <p:nvSpPr>
          <p:cNvPr id="16" name="Rounded Rectangle 15"/>
          <p:cNvSpPr/>
          <p:nvPr/>
        </p:nvSpPr>
        <p:spPr>
          <a:xfrm>
            <a:off x="9464040" y="2651760"/>
            <a:ext cx="2267712" cy="1188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Issue &amp; exception management</a:t>
            </a:r>
          </a:p>
        </p:txBody>
      </p:sp>
      <p:sp>
        <p:nvSpPr>
          <p:cNvPr id="17" name="Rounded Rectangle 16"/>
          <p:cNvSpPr/>
          <p:nvPr/>
        </p:nvSpPr>
        <p:spPr>
          <a:xfrm>
            <a:off x="457200" y="3977639"/>
            <a:ext cx="1737360" cy="11887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50" b="1" i="0">
                <a:solidFill>
                  <a:srgbClr val="FFFFFF"/>
                </a:solidFill>
                <a:latin typeface="Calibri"/>
              </a:rPr>
              <a:t>FOUNDATION</a:t>
            </a:r>
          </a:p>
        </p:txBody>
      </p:sp>
      <p:sp>
        <p:nvSpPr>
          <p:cNvPr id="18" name="Rounded Rectangle 17"/>
          <p:cNvSpPr/>
          <p:nvPr/>
        </p:nvSpPr>
        <p:spPr>
          <a:xfrm>
            <a:off x="2331720" y="3977639"/>
            <a:ext cx="3060191" cy="11887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Policy &amp; standards</a:t>
            </a:r>
          </a:p>
        </p:txBody>
      </p:sp>
      <p:sp>
        <p:nvSpPr>
          <p:cNvPr id="19" name="Rounded Rectangle 18"/>
          <p:cNvSpPr/>
          <p:nvPr/>
        </p:nvSpPr>
        <p:spPr>
          <a:xfrm>
            <a:off x="5501639" y="3977639"/>
            <a:ext cx="3060191" cy="11887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Operating model &amp; roles</a:t>
            </a:r>
          </a:p>
        </p:txBody>
      </p:sp>
      <p:sp>
        <p:nvSpPr>
          <p:cNvPr id="20" name="Rounded Rectangle 19"/>
          <p:cNvSpPr/>
          <p:nvPr/>
        </p:nvSpPr>
        <p:spPr>
          <a:xfrm>
            <a:off x="8671560" y="3977639"/>
            <a:ext cx="3060191" cy="11887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Business glossary &amp; catalog</a:t>
            </a:r>
          </a:p>
        </p:txBody>
      </p:sp>
      <p:sp>
        <p:nvSpPr>
          <p:cNvPr id="21" name="Rounded Rectangle 20"/>
          <p:cNvSpPr/>
          <p:nvPr/>
        </p:nvSpPr>
        <p:spPr>
          <a:xfrm>
            <a:off x="457200" y="5440680"/>
            <a:ext cx="11274552"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Reading the model: </a:t>
            </a:r>
            <a:r>
              <a:rPr sz="1150" b="0" i="0">
                <a:solidFill>
                  <a:srgbClr val="57626B"/>
                </a:solidFill>
                <a:latin typeface="Calibri"/>
              </a:rPr>
              <a:t>foundation capabilities make governance possible; core capabilities make data trustworthy; enabling capabilities make it scale and stick. Page detail follows.</a:t>
            </a:r>
          </a:p>
        </p:txBody>
      </p:sp>
      <p:sp>
        <p:nvSpPr>
          <p:cNvPr id="22" name="TextBox 21"/>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ARCHITECTS · DATA MANAGEMENT</a:t>
            </a:r>
          </a:p>
        </p:txBody>
      </p:sp>
      <p:sp>
        <p:nvSpPr>
          <p:cNvPr id="23" name="TextBox 22"/>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13</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Capability detail: deliverables and maturity signals</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Use the maturity signals to baseline today and set targets.</a:t>
            </a:r>
          </a:p>
        </p:txBody>
      </p:sp>
      <p:graphicFrame>
        <p:nvGraphicFramePr>
          <p:cNvPr id="5" name="Table 4"/>
          <p:cNvGraphicFramePr>
            <a:graphicFrameLocks noGrp="1"/>
          </p:cNvGraphicFramePr>
          <p:nvPr/>
        </p:nvGraphicFramePr>
        <p:xfrm>
          <a:off x="457200" y="1325880"/>
          <a:ext cx="11274552" cy="4736592"/>
        </p:xfrm>
        <a:graphic>
          <a:graphicData uri="http://schemas.openxmlformats.org/drawingml/2006/table">
            <a:tbl>
              <a:tblPr firstRow="1" bandRow="1">
                <a:tableStyleId>{5C22544A-7EE6-4342-B048-85BDC9FD1C3A}</a:tableStyleId>
              </a:tblPr>
              <a:tblGrid>
                <a:gridCol w="2743200"/>
                <a:gridCol w="4023360"/>
                <a:gridCol w="4507992"/>
              </a:tblGrid>
              <a:tr h="347472">
                <a:tc>
                  <a:txBody>
                    <a:bodyPr/>
                    <a:lstStyle/>
                    <a:p>
                      <a:pPr algn="l"/>
                      <a:r>
                        <a:rPr sz="1000" b="1" i="0">
                          <a:solidFill>
                            <a:srgbClr val="CADCEA"/>
                          </a:solidFill>
                          <a:latin typeface="Calibri"/>
                        </a:rPr>
                        <a:t>CAPABILITY</a:t>
                      </a:r>
                    </a:p>
                  </a:txBody>
                  <a:tcPr marL="73152" marR="73152" marT="36576" marB="36576" anchor="ctr">
                    <a:solidFill>
                      <a:srgbClr val="1A2130"/>
                    </a:solidFill>
                  </a:tcPr>
                </a:tc>
                <a:tc>
                  <a:txBody>
                    <a:bodyPr/>
                    <a:lstStyle/>
                    <a:p>
                      <a:pPr algn="l"/>
                      <a:r>
                        <a:rPr sz="1000" b="1" i="0">
                          <a:solidFill>
                            <a:srgbClr val="CADCEA"/>
                          </a:solidFill>
                          <a:latin typeface="Calibri"/>
                        </a:rPr>
                        <a:t>THE DGO DELIVERS</a:t>
                      </a:r>
                    </a:p>
                  </a:txBody>
                  <a:tcPr marL="73152" marR="73152" marT="36576" marB="36576" anchor="ctr">
                    <a:solidFill>
                      <a:srgbClr val="1A2130"/>
                    </a:solidFill>
                  </a:tcPr>
                </a:tc>
                <a:tc>
                  <a:txBody>
                    <a:bodyPr/>
                    <a:lstStyle/>
                    <a:p>
                      <a:pPr algn="l"/>
                      <a:r>
                        <a:rPr sz="1000" b="1" i="0">
                          <a:solidFill>
                            <a:srgbClr val="CADCEA"/>
                          </a:solidFill>
                          <a:latin typeface="Calibri"/>
                        </a:rPr>
                        <a:t>MATURITY SIGNAL: FROM → TO</a:t>
                      </a:r>
                    </a:p>
                  </a:txBody>
                  <a:tcPr marL="73152" marR="73152" marT="36576" marB="36576" anchor="ctr">
                    <a:solidFill>
                      <a:srgbClr val="1A2130"/>
                    </a:solidFill>
                  </a:tcPr>
                </a:tc>
              </a:tr>
              <a:tr h="438912">
                <a:tc>
                  <a:txBody>
                    <a:bodyPr/>
                    <a:lstStyle/>
                    <a:p>
                      <a:pPr algn="l"/>
                      <a:r>
                        <a:rPr sz="1050" b="1" i="0">
                          <a:solidFill>
                            <a:srgbClr val="1A2130"/>
                          </a:solidFill>
                          <a:latin typeface="Calibri"/>
                        </a:rPr>
                        <a:t>Policy &amp; standards</a:t>
                      </a:r>
                    </a:p>
                  </a:txBody>
                  <a:tcPr marL="73152" marR="73152" marT="36576" marB="36576" anchor="ctr">
                    <a:solidFill>
                      <a:srgbClr val="FFFFFF"/>
                    </a:solidFill>
                  </a:tcPr>
                </a:tc>
                <a:tc>
                  <a:txBody>
                    <a:bodyPr/>
                    <a:lstStyle/>
                    <a:p>
                      <a:pPr algn="l"/>
                      <a:r>
                        <a:rPr sz="1050" b="0" i="0">
                          <a:solidFill>
                            <a:srgbClr val="57626B"/>
                          </a:solidFill>
                          <a:latin typeface="Calibri"/>
                        </a:rPr>
                        <a:t>Approved policy set, attestations, exception register</a:t>
                      </a:r>
                    </a:p>
                  </a:txBody>
                  <a:tcPr marL="73152" marR="73152" marT="36576" marB="36576" anchor="ctr">
                    <a:solidFill>
                      <a:srgbClr val="FFFFFF"/>
                    </a:solidFill>
                  </a:tcPr>
                </a:tc>
                <a:tc>
                  <a:txBody>
                    <a:bodyPr/>
                    <a:lstStyle/>
                    <a:p>
                      <a:pPr algn="l"/>
                      <a:r>
                        <a:rPr sz="1050" b="0" i="0">
                          <a:solidFill>
                            <a:srgbClr val="57626B"/>
                          </a:solidFill>
                          <a:latin typeface="Calibri"/>
                        </a:rPr>
                        <a:t>Informal practices → testable standards with attestation</a:t>
                      </a:r>
                    </a:p>
                  </a:txBody>
                  <a:tcPr marL="73152" marR="73152" marT="36576" marB="36576" anchor="ctr">
                    <a:solidFill>
                      <a:srgbClr val="FFFFFF"/>
                    </a:solidFill>
                  </a:tcPr>
                </a:tc>
              </a:tr>
              <a:tr h="438912">
                <a:tc>
                  <a:txBody>
                    <a:bodyPr/>
                    <a:lstStyle/>
                    <a:p>
                      <a:pPr algn="l"/>
                      <a:r>
                        <a:rPr sz="1050" b="1" i="0">
                          <a:solidFill>
                            <a:srgbClr val="1A2130"/>
                          </a:solidFill>
                          <a:latin typeface="Calibri"/>
                        </a:rPr>
                        <a:t>Operating model &amp; roles</a:t>
                      </a:r>
                    </a:p>
                  </a:txBody>
                  <a:tcPr marL="73152" marR="73152" marT="36576" marB="36576" anchor="ctr">
                    <a:solidFill>
                      <a:srgbClr val="F4F6F2"/>
                    </a:solidFill>
                  </a:tcPr>
                </a:tc>
                <a:tc>
                  <a:txBody>
                    <a:bodyPr/>
                    <a:lstStyle/>
                    <a:p>
                      <a:pPr algn="l"/>
                      <a:r>
                        <a:rPr sz="1050" b="0" i="0">
                          <a:solidFill>
                            <a:srgbClr val="57626B"/>
                          </a:solidFill>
                          <a:latin typeface="Calibri"/>
                        </a:rPr>
                        <a:t>Charter, forums, role definitions</a:t>
                      </a:r>
                    </a:p>
                  </a:txBody>
                  <a:tcPr marL="73152" marR="73152" marT="36576" marB="36576" anchor="ctr">
                    <a:solidFill>
                      <a:srgbClr val="F4F6F2"/>
                    </a:solidFill>
                  </a:tcPr>
                </a:tc>
                <a:tc>
                  <a:txBody>
                    <a:bodyPr/>
                    <a:lstStyle/>
                    <a:p>
                      <a:pPr algn="l"/>
                      <a:r>
                        <a:rPr sz="1050" b="0" i="0">
                          <a:solidFill>
                            <a:srgbClr val="57626B"/>
                          </a:solidFill>
                          <a:latin typeface="Calibri"/>
                        </a:rPr>
                        <a:t>Volunteers → named owners and stewards with goals</a:t>
                      </a:r>
                    </a:p>
                  </a:txBody>
                  <a:tcPr marL="73152" marR="73152" marT="36576" marB="36576" anchor="ctr">
                    <a:solidFill>
                      <a:srgbClr val="F4F6F2"/>
                    </a:solidFill>
                  </a:tcPr>
                </a:tc>
              </a:tr>
              <a:tr h="438912">
                <a:tc>
                  <a:txBody>
                    <a:bodyPr/>
                    <a:lstStyle/>
                    <a:p>
                      <a:pPr algn="l"/>
                      <a:r>
                        <a:rPr sz="1050" b="1" i="0">
                          <a:solidFill>
                            <a:srgbClr val="1A2130"/>
                          </a:solidFill>
                          <a:latin typeface="Calibri"/>
                        </a:rPr>
                        <a:t>Glossary &amp; catalog</a:t>
                      </a:r>
                    </a:p>
                  </a:txBody>
                  <a:tcPr marL="73152" marR="73152" marT="36576" marB="36576" anchor="ctr">
                    <a:solidFill>
                      <a:srgbClr val="FFFFFF"/>
                    </a:solidFill>
                  </a:tcPr>
                </a:tc>
                <a:tc>
                  <a:txBody>
                    <a:bodyPr/>
                    <a:lstStyle/>
                    <a:p>
                      <a:pPr algn="l"/>
                      <a:r>
                        <a:rPr sz="1050" b="0" i="0">
                          <a:solidFill>
                            <a:srgbClr val="57626B"/>
                          </a:solidFill>
                          <a:latin typeface="Calibri"/>
                        </a:rPr>
                        <a:t>Glossary process, catalog content standards</a:t>
                      </a:r>
                    </a:p>
                  </a:txBody>
                  <a:tcPr marL="73152" marR="73152" marT="36576" marB="36576" anchor="ctr">
                    <a:solidFill>
                      <a:srgbClr val="FFFFFF"/>
                    </a:solidFill>
                  </a:tcPr>
                </a:tc>
                <a:tc>
                  <a:txBody>
                    <a:bodyPr/>
                    <a:lstStyle/>
                    <a:p>
                      <a:pPr algn="l"/>
                      <a:r>
                        <a:rPr sz="1050" b="0" i="0">
                          <a:solidFill>
                            <a:srgbClr val="57626B"/>
                          </a:solidFill>
                          <a:latin typeface="Calibri"/>
                        </a:rPr>
                        <a:t>Spreadsheets → searchable catalog linked to CDEs</a:t>
                      </a:r>
                    </a:p>
                  </a:txBody>
                  <a:tcPr marL="73152" marR="73152" marT="36576" marB="36576" anchor="ctr">
                    <a:solidFill>
                      <a:srgbClr val="FFFFFF"/>
                    </a:solidFill>
                  </a:tcPr>
                </a:tc>
              </a:tr>
              <a:tr h="438912">
                <a:tc>
                  <a:txBody>
                    <a:bodyPr/>
                    <a:lstStyle/>
                    <a:p>
                      <a:pPr algn="l"/>
                      <a:r>
                        <a:rPr sz="1050" b="1" i="0">
                          <a:solidFill>
                            <a:srgbClr val="1A2130"/>
                          </a:solidFill>
                          <a:latin typeface="Calibri"/>
                        </a:rPr>
                        <a:t>CDE management</a:t>
                      </a:r>
                    </a:p>
                  </a:txBody>
                  <a:tcPr marL="73152" marR="73152" marT="36576" marB="36576" anchor="ctr">
                    <a:solidFill>
                      <a:srgbClr val="F4F6F2"/>
                    </a:solidFill>
                  </a:tcPr>
                </a:tc>
                <a:tc>
                  <a:txBody>
                    <a:bodyPr/>
                    <a:lstStyle/>
                    <a:p>
                      <a:pPr algn="l"/>
                      <a:r>
                        <a:rPr sz="1050" b="0" i="0">
                          <a:solidFill>
                            <a:srgbClr val="57626B"/>
                          </a:solidFill>
                          <a:latin typeface="Calibri"/>
                        </a:rPr>
                        <a:t>Criteria, inventory, annual certification</a:t>
                      </a:r>
                    </a:p>
                  </a:txBody>
                  <a:tcPr marL="73152" marR="73152" marT="36576" marB="36576" anchor="ctr">
                    <a:solidFill>
                      <a:srgbClr val="F4F6F2"/>
                    </a:solidFill>
                  </a:tcPr>
                </a:tc>
                <a:tc>
                  <a:txBody>
                    <a:bodyPr/>
                    <a:lstStyle/>
                    <a:p>
                      <a:pPr algn="l"/>
                      <a:r>
                        <a:rPr sz="1050" b="0" i="0">
                          <a:solidFill>
                            <a:srgbClr val="57626B"/>
                          </a:solidFill>
                          <a:latin typeface="Calibri"/>
                        </a:rPr>
                        <a:t>Unknown → report-driven, certified CDE list</a:t>
                      </a:r>
                    </a:p>
                  </a:txBody>
                  <a:tcPr marL="73152" marR="73152" marT="36576" marB="36576" anchor="ctr">
                    <a:solidFill>
                      <a:srgbClr val="F4F6F2"/>
                    </a:solidFill>
                  </a:tcPr>
                </a:tc>
              </a:tr>
              <a:tr h="438912">
                <a:tc>
                  <a:txBody>
                    <a:bodyPr/>
                    <a:lstStyle/>
                    <a:p>
                      <a:pPr algn="l"/>
                      <a:r>
                        <a:rPr sz="1050" b="1" i="0">
                          <a:solidFill>
                            <a:srgbClr val="1A2130"/>
                          </a:solidFill>
                          <a:latin typeface="Calibri"/>
                        </a:rPr>
                        <a:t>Data quality management</a:t>
                      </a:r>
                    </a:p>
                  </a:txBody>
                  <a:tcPr marL="73152" marR="73152" marT="36576" marB="36576" anchor="ctr">
                    <a:solidFill>
                      <a:srgbClr val="FFFFFF"/>
                    </a:solidFill>
                  </a:tcPr>
                </a:tc>
                <a:tc>
                  <a:txBody>
                    <a:bodyPr/>
                    <a:lstStyle/>
                    <a:p>
                      <a:pPr algn="l"/>
                      <a:r>
                        <a:rPr sz="1050" b="0" i="0">
                          <a:solidFill>
                            <a:srgbClr val="57626B"/>
                          </a:solidFill>
                          <a:latin typeface="Calibri"/>
                        </a:rPr>
                        <a:t>DQ standard, scoring, scorecard</a:t>
                      </a:r>
                    </a:p>
                  </a:txBody>
                  <a:tcPr marL="73152" marR="73152" marT="36576" marB="36576" anchor="ctr">
                    <a:solidFill>
                      <a:srgbClr val="FFFFFF"/>
                    </a:solidFill>
                  </a:tcPr>
                </a:tc>
                <a:tc>
                  <a:txBody>
                    <a:bodyPr/>
                    <a:lstStyle/>
                    <a:p>
                      <a:pPr algn="l"/>
                      <a:r>
                        <a:rPr sz="1050" b="0" i="0">
                          <a:solidFill>
                            <a:srgbClr val="57626B"/>
                          </a:solidFill>
                          <a:latin typeface="Calibri"/>
                        </a:rPr>
                        <a:t>Ad hoc fixes → rules and thresholds monitored daily</a:t>
                      </a:r>
                    </a:p>
                  </a:txBody>
                  <a:tcPr marL="73152" marR="73152" marT="36576" marB="36576" anchor="ctr">
                    <a:solidFill>
                      <a:srgbClr val="FFFFFF"/>
                    </a:solidFill>
                  </a:tcPr>
                </a:tc>
              </a:tr>
              <a:tr h="438912">
                <a:tc>
                  <a:txBody>
                    <a:bodyPr/>
                    <a:lstStyle/>
                    <a:p>
                      <a:pPr algn="l"/>
                      <a:r>
                        <a:rPr sz="1050" b="1" i="0">
                          <a:solidFill>
                            <a:srgbClr val="1A2130"/>
                          </a:solidFill>
                          <a:latin typeface="Calibri"/>
                        </a:rPr>
                        <a:t>Metadata &amp; lineage</a:t>
                      </a:r>
                    </a:p>
                  </a:txBody>
                  <a:tcPr marL="73152" marR="73152" marT="36576" marB="36576" anchor="ctr">
                    <a:solidFill>
                      <a:srgbClr val="F4F6F2"/>
                    </a:solidFill>
                  </a:tcPr>
                </a:tc>
                <a:tc>
                  <a:txBody>
                    <a:bodyPr/>
                    <a:lstStyle/>
                    <a:p>
                      <a:pPr algn="l"/>
                      <a:r>
                        <a:rPr sz="1050" b="0" i="0">
                          <a:solidFill>
                            <a:srgbClr val="57626B"/>
                          </a:solidFill>
                          <a:latin typeface="Calibri"/>
                        </a:rPr>
                        <a:t>Lineage standard, coverage targets</a:t>
                      </a:r>
                    </a:p>
                  </a:txBody>
                  <a:tcPr marL="73152" marR="73152" marT="36576" marB="36576" anchor="ctr">
                    <a:solidFill>
                      <a:srgbClr val="F4F6F2"/>
                    </a:solidFill>
                  </a:tcPr>
                </a:tc>
                <a:tc>
                  <a:txBody>
                    <a:bodyPr/>
                    <a:lstStyle/>
                    <a:p>
                      <a:pPr algn="l"/>
                      <a:r>
                        <a:rPr sz="1050" b="0" i="0">
                          <a:solidFill>
                            <a:srgbClr val="57626B"/>
                          </a:solidFill>
                          <a:latin typeface="Calibri"/>
                        </a:rPr>
                        <a:t>Hand-drawn diagrams → harvested column-level lineage</a:t>
                      </a:r>
                    </a:p>
                  </a:txBody>
                  <a:tcPr marL="73152" marR="73152" marT="36576" marB="36576" anchor="ctr">
                    <a:solidFill>
                      <a:srgbClr val="F4F6F2"/>
                    </a:solidFill>
                  </a:tcPr>
                </a:tc>
              </a:tr>
              <a:tr h="438912">
                <a:tc>
                  <a:txBody>
                    <a:bodyPr/>
                    <a:lstStyle/>
                    <a:p>
                      <a:pPr algn="l"/>
                      <a:r>
                        <a:rPr sz="1050" b="1" i="0">
                          <a:solidFill>
                            <a:srgbClr val="1A2130"/>
                          </a:solidFill>
                          <a:latin typeface="Calibri"/>
                        </a:rPr>
                        <a:t>Issue &amp; exception management</a:t>
                      </a:r>
                    </a:p>
                  </a:txBody>
                  <a:tcPr marL="73152" marR="73152" marT="36576" marB="36576" anchor="ctr">
                    <a:solidFill>
                      <a:srgbClr val="FFFFFF"/>
                    </a:solidFill>
                  </a:tcPr>
                </a:tc>
                <a:tc>
                  <a:txBody>
                    <a:bodyPr/>
                    <a:lstStyle/>
                    <a:p>
                      <a:pPr algn="l"/>
                      <a:r>
                        <a:rPr sz="1050" b="0" i="0">
                          <a:solidFill>
                            <a:srgbClr val="57626B"/>
                          </a:solidFill>
                          <a:latin typeface="Calibri"/>
                        </a:rPr>
                        <a:t>Severity model, SLAs, GRC workflow</a:t>
                      </a:r>
                    </a:p>
                  </a:txBody>
                  <a:tcPr marL="73152" marR="73152" marT="36576" marB="36576" anchor="ctr">
                    <a:solidFill>
                      <a:srgbClr val="FFFFFF"/>
                    </a:solidFill>
                  </a:tcPr>
                </a:tc>
                <a:tc>
                  <a:txBody>
                    <a:bodyPr/>
                    <a:lstStyle/>
                    <a:p>
                      <a:pPr algn="l"/>
                      <a:r>
                        <a:rPr sz="1050" b="0" i="0">
                          <a:solidFill>
                            <a:srgbClr val="57626B"/>
                          </a:solidFill>
                          <a:latin typeface="Calibri"/>
                        </a:rPr>
                        <a:t>Email threads → tracked, aged and closed with evidence</a:t>
                      </a:r>
                    </a:p>
                  </a:txBody>
                  <a:tcPr marL="73152" marR="73152" marT="36576" marB="36576" anchor="ctr">
                    <a:solidFill>
                      <a:srgbClr val="FFFFFF"/>
                    </a:solidFill>
                  </a:tcPr>
                </a:tc>
              </a:tr>
              <a:tr h="438912">
                <a:tc>
                  <a:txBody>
                    <a:bodyPr/>
                    <a:lstStyle/>
                    <a:p>
                      <a:pPr algn="l"/>
                      <a:r>
                        <a:rPr sz="1050" b="1" i="0">
                          <a:solidFill>
                            <a:srgbClr val="1A2130"/>
                          </a:solidFill>
                          <a:latin typeface="Calibri"/>
                        </a:rPr>
                        <a:t>Measurement &amp; scorecard</a:t>
                      </a:r>
                    </a:p>
                  </a:txBody>
                  <a:tcPr marL="73152" marR="73152" marT="36576" marB="36576" anchor="ctr">
                    <a:solidFill>
                      <a:srgbClr val="F4F6F2"/>
                    </a:solidFill>
                  </a:tcPr>
                </a:tc>
                <a:tc>
                  <a:txBody>
                    <a:bodyPr/>
                    <a:lstStyle/>
                    <a:p>
                      <a:pPr algn="l"/>
                      <a:r>
                        <a:rPr sz="1050" b="0" i="0">
                          <a:solidFill>
                            <a:srgbClr val="57626B"/>
                          </a:solidFill>
                          <a:latin typeface="Calibri"/>
                        </a:rPr>
                        <a:t>KPIs and council reporting</a:t>
                      </a:r>
                    </a:p>
                  </a:txBody>
                  <a:tcPr marL="73152" marR="73152" marT="36576" marB="36576" anchor="ctr">
                    <a:solidFill>
                      <a:srgbClr val="F4F6F2"/>
                    </a:solidFill>
                  </a:tcPr>
                </a:tc>
                <a:tc>
                  <a:txBody>
                    <a:bodyPr/>
                    <a:lstStyle/>
                    <a:p>
                      <a:pPr algn="l"/>
                      <a:r>
                        <a:rPr sz="1050" b="0" i="0">
                          <a:solidFill>
                            <a:srgbClr val="57626B"/>
                          </a:solidFill>
                          <a:latin typeface="Calibri"/>
                        </a:rPr>
                        <a:t>Anecdotes → monthly trended scorecard</a:t>
                      </a:r>
                    </a:p>
                  </a:txBody>
                  <a:tcPr marL="73152" marR="73152" marT="36576" marB="36576" anchor="ctr">
                    <a:solidFill>
                      <a:srgbClr val="F4F6F2"/>
                    </a:solidFill>
                  </a:tcPr>
                </a:tc>
              </a:tr>
              <a:tr h="438912">
                <a:tc>
                  <a:txBody>
                    <a:bodyPr/>
                    <a:lstStyle/>
                    <a:p>
                      <a:pPr algn="l"/>
                      <a:r>
                        <a:rPr sz="1050" b="1" i="0">
                          <a:solidFill>
                            <a:srgbClr val="1A2130"/>
                          </a:solidFill>
                          <a:latin typeface="Calibri"/>
                        </a:rPr>
                        <a:t>Governance by design</a:t>
                      </a:r>
                    </a:p>
                  </a:txBody>
                  <a:tcPr marL="73152" marR="73152" marT="36576" marB="36576" anchor="ctr">
                    <a:solidFill>
                      <a:srgbClr val="FFFFFF"/>
                    </a:solidFill>
                  </a:tcPr>
                </a:tc>
                <a:tc>
                  <a:txBody>
                    <a:bodyPr/>
                    <a:lstStyle/>
                    <a:p>
                      <a:pPr algn="l"/>
                      <a:r>
                        <a:rPr sz="1050" b="0" i="0">
                          <a:solidFill>
                            <a:srgbClr val="57626B"/>
                          </a:solidFill>
                          <a:latin typeface="Calibri"/>
                        </a:rPr>
                        <a:t>Checkpoints in project delivery</a:t>
                      </a:r>
                    </a:p>
                  </a:txBody>
                  <a:tcPr marL="73152" marR="73152" marT="36576" marB="36576" anchor="ctr">
                    <a:solidFill>
                      <a:srgbClr val="FFFFFF"/>
                    </a:solidFill>
                  </a:tcPr>
                </a:tc>
                <a:tc>
                  <a:txBody>
                    <a:bodyPr/>
                    <a:lstStyle/>
                    <a:p>
                      <a:pPr algn="l"/>
                      <a:r>
                        <a:rPr sz="1050" b="0" i="0">
                          <a:solidFill>
                            <a:srgbClr val="57626B"/>
                          </a:solidFill>
                          <a:latin typeface="Calibri"/>
                        </a:rPr>
                        <a:t>Retrofit after go-live → required before go-live</a:t>
                      </a:r>
                    </a:p>
                  </a:txBody>
                  <a:tcPr marL="73152" marR="73152" marT="36576" marB="36576" anchor="ctr">
                    <a:solidFill>
                      <a:srgbClr val="FFFFFF"/>
                    </a:solidFill>
                  </a:tcPr>
                </a:tc>
              </a:tr>
              <a:tr h="438912">
                <a:tc>
                  <a:txBody>
                    <a:bodyPr/>
                    <a:lstStyle/>
                    <a:p>
                      <a:pPr algn="l"/>
                      <a:r>
                        <a:rPr sz="1050" b="1" i="0">
                          <a:solidFill>
                            <a:srgbClr val="1A2130"/>
                          </a:solidFill>
                          <a:latin typeface="Calibri"/>
                        </a:rPr>
                        <a:t>Regulatory &amp; audit support</a:t>
                      </a:r>
                    </a:p>
                  </a:txBody>
                  <a:tcPr marL="73152" marR="73152" marT="36576" marB="36576" anchor="ctr">
                    <a:solidFill>
                      <a:srgbClr val="F4F6F2"/>
                    </a:solidFill>
                  </a:tcPr>
                </a:tc>
                <a:tc>
                  <a:txBody>
                    <a:bodyPr/>
                    <a:lstStyle/>
                    <a:p>
                      <a:pPr algn="l"/>
                      <a:r>
                        <a:rPr sz="1050" b="0" i="0">
                          <a:solidFill>
                            <a:srgbClr val="57626B"/>
                          </a:solidFill>
                          <a:latin typeface="Calibri"/>
                        </a:rPr>
                        <a:t>Evidence packs, exam coordination</a:t>
                      </a:r>
                    </a:p>
                  </a:txBody>
                  <a:tcPr marL="73152" marR="73152" marT="36576" marB="36576" anchor="ctr">
                    <a:solidFill>
                      <a:srgbClr val="F4F6F2"/>
                    </a:solidFill>
                  </a:tcPr>
                </a:tc>
                <a:tc>
                  <a:txBody>
                    <a:bodyPr/>
                    <a:lstStyle/>
                    <a:p>
                      <a:pPr algn="l"/>
                      <a:r>
                        <a:rPr sz="1050" b="0" i="0">
                          <a:solidFill>
                            <a:srgbClr val="57626B"/>
                          </a:solidFill>
                          <a:latin typeface="Calibri"/>
                        </a:rPr>
                        <a:t>Scramble → evidence on demand</a:t>
                      </a:r>
                    </a:p>
                  </a:txBody>
                  <a:tcPr marL="73152" marR="73152" marT="36576" marB="36576" anchor="ctr">
                    <a:solidFill>
                      <a:srgbClr val="F4F6F2"/>
                    </a:solidFill>
                  </a:tcPr>
                </a:tc>
              </a:tr>
            </a:tbl>
          </a:graphicData>
        </a:graphic>
      </p:graphicFrame>
      <p:sp>
        <p:nvSpPr>
          <p:cNvPr id="6" name="TextBox 5"/>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DATA MANAGEMENT</a:t>
            </a:r>
          </a:p>
        </p:txBody>
      </p:sp>
      <p:sp>
        <p:nvSpPr>
          <p:cNvPr id="7" name="TextBox 6"/>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14</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Systems and capabilities that support the DGO</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What each system type does, typical tools, the DGO’s role, and who runs the system.</a:t>
            </a:r>
          </a:p>
        </p:txBody>
      </p:sp>
      <p:graphicFrame>
        <p:nvGraphicFramePr>
          <p:cNvPr id="5" name="Table 4"/>
          <p:cNvGraphicFramePr>
            <a:graphicFrameLocks noGrp="1"/>
          </p:cNvGraphicFramePr>
          <p:nvPr/>
        </p:nvGraphicFramePr>
        <p:xfrm>
          <a:off x="457200" y="1325880"/>
          <a:ext cx="11274552" cy="4645152"/>
        </p:xfrm>
        <a:graphic>
          <a:graphicData uri="http://schemas.openxmlformats.org/drawingml/2006/table">
            <a:tbl>
              <a:tblPr firstRow="1" bandRow="1">
                <a:tableStyleId>{5C22544A-7EE6-4342-B048-85BDC9FD1C3A}</a:tableStyleId>
              </a:tblPr>
              <a:tblGrid>
                <a:gridCol w="2743200"/>
                <a:gridCol w="3840480"/>
                <a:gridCol w="2468880"/>
                <a:gridCol w="2221992"/>
              </a:tblGrid>
              <a:tr h="347472">
                <a:tc>
                  <a:txBody>
                    <a:bodyPr/>
                    <a:lstStyle/>
                    <a:p>
                      <a:pPr algn="l"/>
                      <a:r>
                        <a:rPr sz="1000" b="1" i="0">
                          <a:solidFill>
                            <a:srgbClr val="CADCEA"/>
                          </a:solidFill>
                          <a:latin typeface="Calibri"/>
                        </a:rPr>
                        <a:t>CAPABILITY</a:t>
                      </a:r>
                    </a:p>
                  </a:txBody>
                  <a:tcPr marL="73152" marR="73152" marT="36576" marB="36576" anchor="ctr">
                    <a:solidFill>
                      <a:srgbClr val="1A2130"/>
                    </a:solidFill>
                  </a:tcPr>
                </a:tc>
                <a:tc>
                  <a:txBody>
                    <a:bodyPr/>
                    <a:lstStyle/>
                    <a:p>
                      <a:pPr algn="l"/>
                      <a:r>
                        <a:rPr sz="1000" b="1" i="0">
                          <a:solidFill>
                            <a:srgbClr val="CADCEA"/>
                          </a:solidFill>
                          <a:latin typeface="Calibri"/>
                        </a:rPr>
                        <a:t>EXAMPLE TOOLS</a:t>
                      </a:r>
                    </a:p>
                  </a:txBody>
                  <a:tcPr marL="73152" marR="73152" marT="36576" marB="36576" anchor="ctr">
                    <a:solidFill>
                      <a:srgbClr val="1A2130"/>
                    </a:solidFill>
                  </a:tcPr>
                </a:tc>
                <a:tc>
                  <a:txBody>
                    <a:bodyPr/>
                    <a:lstStyle/>
                    <a:p>
                      <a:pPr algn="l"/>
                      <a:r>
                        <a:rPr sz="1000" b="1" i="0">
                          <a:solidFill>
                            <a:srgbClr val="CADCEA"/>
                          </a:solidFill>
                          <a:latin typeface="Calibri"/>
                        </a:rPr>
                        <a:t>DGO ROLE</a:t>
                      </a:r>
                    </a:p>
                  </a:txBody>
                  <a:tcPr marL="73152" marR="73152" marT="36576" marB="36576" anchor="ctr">
                    <a:solidFill>
                      <a:srgbClr val="1A2130"/>
                    </a:solidFill>
                  </a:tcPr>
                </a:tc>
                <a:tc>
                  <a:txBody>
                    <a:bodyPr/>
                    <a:lstStyle/>
                    <a:p>
                      <a:pPr algn="l"/>
                      <a:r>
                        <a:rPr sz="1000" b="1" i="0">
                          <a:solidFill>
                            <a:srgbClr val="CADCEA"/>
                          </a:solidFill>
                          <a:latin typeface="Calibri"/>
                        </a:rPr>
                        <a:t>SYSTEM OWNER</a:t>
                      </a:r>
                    </a:p>
                  </a:txBody>
                  <a:tcPr marL="73152" marR="73152" marT="36576" marB="36576" anchor="ctr">
                    <a:solidFill>
                      <a:srgbClr val="1A2130"/>
                    </a:solidFill>
                  </a:tcPr>
                </a:tc>
              </a:tr>
              <a:tr h="429768">
                <a:tc>
                  <a:txBody>
                    <a:bodyPr/>
                    <a:lstStyle/>
                    <a:p>
                      <a:pPr algn="l"/>
                      <a:r>
                        <a:rPr sz="1000" b="1" i="0">
                          <a:solidFill>
                            <a:srgbClr val="1A2130"/>
                          </a:solidFill>
                          <a:latin typeface="Calibri"/>
                        </a:rPr>
                        <a:t>Business glossary &amp; data catalog</a:t>
                      </a:r>
                    </a:p>
                  </a:txBody>
                  <a:tcPr marL="73152" marR="73152" marT="36576" marB="36576" anchor="ctr">
                    <a:solidFill>
                      <a:srgbClr val="FFFFFF"/>
                    </a:solidFill>
                  </a:tcPr>
                </a:tc>
                <a:tc>
                  <a:txBody>
                    <a:bodyPr/>
                    <a:lstStyle/>
                    <a:p>
                      <a:pPr algn="l"/>
                      <a:r>
                        <a:rPr sz="1000" b="0" i="0">
                          <a:solidFill>
                            <a:srgbClr val="57626B"/>
                          </a:solidFill>
                          <a:latin typeface="Calibri"/>
                        </a:rPr>
                        <a:t>Collibra, Alation, Informatica CDGC, Microsoft Purview</a:t>
                      </a:r>
                    </a:p>
                  </a:txBody>
                  <a:tcPr marL="73152" marR="73152" marT="36576" marB="36576" anchor="ctr">
                    <a:solidFill>
                      <a:srgbClr val="FFFFFF"/>
                    </a:solidFill>
                  </a:tcPr>
                </a:tc>
                <a:tc>
                  <a:txBody>
                    <a:bodyPr/>
                    <a:lstStyle/>
                    <a:p>
                      <a:pPr algn="l"/>
                      <a:r>
                        <a:rPr sz="1000" b="0" i="0">
                          <a:solidFill>
                            <a:srgbClr val="57626B"/>
                          </a:solidFill>
                          <a:latin typeface="Calibri"/>
                        </a:rPr>
                        <a:t>Owns content model; administers</a:t>
                      </a:r>
                    </a:p>
                  </a:txBody>
                  <a:tcPr marL="73152" marR="73152" marT="36576" marB="36576" anchor="ctr">
                    <a:solidFill>
                      <a:srgbClr val="FFFFFF"/>
                    </a:solidFill>
                  </a:tcPr>
                </a:tc>
                <a:tc>
                  <a:txBody>
                    <a:bodyPr/>
                    <a:lstStyle/>
                    <a:p>
                      <a:pPr algn="l"/>
                      <a:r>
                        <a:rPr sz="1000" b="0" i="0">
                          <a:solidFill>
                            <a:srgbClr val="57626B"/>
                          </a:solidFill>
                          <a:latin typeface="Calibri"/>
                        </a:rPr>
                        <a:t>DGO, with IT platform support</a:t>
                      </a:r>
                    </a:p>
                  </a:txBody>
                  <a:tcPr marL="73152" marR="73152" marT="36576" marB="36576" anchor="ctr">
                    <a:solidFill>
                      <a:srgbClr val="FFFFFF"/>
                    </a:solidFill>
                  </a:tcPr>
                </a:tc>
              </a:tr>
              <a:tr h="429768">
                <a:tc>
                  <a:txBody>
                    <a:bodyPr/>
                    <a:lstStyle/>
                    <a:p>
                      <a:pPr algn="l"/>
                      <a:r>
                        <a:rPr sz="1000" b="1" i="0">
                          <a:solidFill>
                            <a:srgbClr val="1A2130"/>
                          </a:solidFill>
                          <a:latin typeface="Calibri"/>
                        </a:rPr>
                        <a:t>Metadata &amp; lineage</a:t>
                      </a:r>
                    </a:p>
                  </a:txBody>
                  <a:tcPr marL="73152" marR="73152" marT="36576" marB="36576" anchor="ctr">
                    <a:solidFill>
                      <a:srgbClr val="F4F6F2"/>
                    </a:solidFill>
                  </a:tcPr>
                </a:tc>
                <a:tc>
                  <a:txBody>
                    <a:bodyPr/>
                    <a:lstStyle/>
                    <a:p>
                      <a:pPr algn="l"/>
                      <a:r>
                        <a:rPr sz="1000" b="0" i="0">
                          <a:solidFill>
                            <a:srgbClr val="57626B"/>
                          </a:solidFill>
                          <a:latin typeface="Calibri"/>
                        </a:rPr>
                        <a:t>Collibra, Informatica, Solidatus, MANTA, Unity Catalog</a:t>
                      </a:r>
                    </a:p>
                  </a:txBody>
                  <a:tcPr marL="73152" marR="73152" marT="36576" marB="36576" anchor="ctr">
                    <a:solidFill>
                      <a:srgbClr val="F4F6F2"/>
                    </a:solidFill>
                  </a:tcPr>
                </a:tc>
                <a:tc>
                  <a:txBody>
                    <a:bodyPr/>
                    <a:lstStyle/>
                    <a:p>
                      <a:pPr algn="l"/>
                      <a:r>
                        <a:rPr sz="1000" b="0" i="0">
                          <a:solidFill>
                            <a:srgbClr val="57626B"/>
                          </a:solidFill>
                          <a:latin typeface="Calibri"/>
                        </a:rPr>
                        <a:t>Sets standard; drives coverage</a:t>
                      </a:r>
                    </a:p>
                  </a:txBody>
                  <a:tcPr marL="73152" marR="73152" marT="36576" marB="36576" anchor="ctr">
                    <a:solidFill>
                      <a:srgbClr val="F4F6F2"/>
                    </a:solidFill>
                  </a:tcPr>
                </a:tc>
                <a:tc>
                  <a:txBody>
                    <a:bodyPr/>
                    <a:lstStyle/>
                    <a:p>
                      <a:pPr algn="l"/>
                      <a:r>
                        <a:rPr sz="1000" b="0" i="0">
                          <a:solidFill>
                            <a:srgbClr val="57626B"/>
                          </a:solidFill>
                          <a:latin typeface="Calibri"/>
                        </a:rPr>
                        <a:t>Architecture / data engineering</a:t>
                      </a:r>
                    </a:p>
                  </a:txBody>
                  <a:tcPr marL="73152" marR="73152" marT="36576" marB="36576" anchor="ctr">
                    <a:solidFill>
                      <a:srgbClr val="F4F6F2"/>
                    </a:solidFill>
                  </a:tcPr>
                </a:tc>
              </a:tr>
              <a:tr h="429768">
                <a:tc>
                  <a:txBody>
                    <a:bodyPr/>
                    <a:lstStyle/>
                    <a:p>
                      <a:pPr algn="l"/>
                      <a:r>
                        <a:rPr sz="1000" b="1" i="0">
                          <a:solidFill>
                            <a:srgbClr val="1A2130"/>
                          </a:solidFill>
                          <a:latin typeface="Calibri"/>
                        </a:rPr>
                        <a:t>Data quality &amp; observability</a:t>
                      </a:r>
                    </a:p>
                  </a:txBody>
                  <a:tcPr marL="73152" marR="73152" marT="36576" marB="36576" anchor="ctr">
                    <a:solidFill>
                      <a:srgbClr val="FFFFFF"/>
                    </a:solidFill>
                  </a:tcPr>
                </a:tc>
                <a:tc>
                  <a:txBody>
                    <a:bodyPr/>
                    <a:lstStyle/>
                    <a:p>
                      <a:pPr algn="l"/>
                      <a:r>
                        <a:rPr sz="1000" b="0" i="0">
                          <a:solidFill>
                            <a:srgbClr val="57626B"/>
                          </a:solidFill>
                          <a:latin typeface="Calibri"/>
                        </a:rPr>
                        <a:t>Informatica DQ, Ataccama, Collibra DQ, Monte Carlo, dbt tests</a:t>
                      </a:r>
                    </a:p>
                  </a:txBody>
                  <a:tcPr marL="73152" marR="73152" marT="36576" marB="36576" anchor="ctr">
                    <a:solidFill>
                      <a:srgbClr val="FFFFFF"/>
                    </a:solidFill>
                  </a:tcPr>
                </a:tc>
                <a:tc>
                  <a:txBody>
                    <a:bodyPr/>
                    <a:lstStyle/>
                    <a:p>
                      <a:pPr algn="l"/>
                      <a:r>
                        <a:rPr sz="1000" b="0" i="0">
                          <a:solidFill>
                            <a:srgbClr val="57626B"/>
                          </a:solidFill>
                          <a:latin typeface="Calibri"/>
                        </a:rPr>
                        <a:t>Sets standard and scoring</a:t>
                      </a:r>
                    </a:p>
                  </a:txBody>
                  <a:tcPr marL="73152" marR="73152" marT="36576" marB="36576" anchor="ctr">
                    <a:solidFill>
                      <a:srgbClr val="FFFFFF"/>
                    </a:solidFill>
                  </a:tcPr>
                </a:tc>
                <a:tc>
                  <a:txBody>
                    <a:bodyPr/>
                    <a:lstStyle/>
                    <a:p>
                      <a:pPr algn="l"/>
                      <a:r>
                        <a:rPr sz="1000" b="0" i="0">
                          <a:solidFill>
                            <a:srgbClr val="57626B"/>
                          </a:solidFill>
                          <a:latin typeface="Calibri"/>
                        </a:rPr>
                        <a:t>Data engineering; stewards own rules</a:t>
                      </a:r>
                    </a:p>
                  </a:txBody>
                  <a:tcPr marL="73152" marR="73152" marT="36576" marB="36576" anchor="ctr">
                    <a:solidFill>
                      <a:srgbClr val="FFFFFF"/>
                    </a:solidFill>
                  </a:tcPr>
                </a:tc>
              </a:tr>
              <a:tr h="429768">
                <a:tc>
                  <a:txBody>
                    <a:bodyPr/>
                    <a:lstStyle/>
                    <a:p>
                      <a:pPr algn="l"/>
                      <a:r>
                        <a:rPr sz="1000" b="1" i="0">
                          <a:solidFill>
                            <a:srgbClr val="1A2130"/>
                          </a:solidFill>
                          <a:latin typeface="Calibri"/>
                        </a:rPr>
                        <a:t>Reference &amp; master data</a:t>
                      </a:r>
                    </a:p>
                  </a:txBody>
                  <a:tcPr marL="73152" marR="73152" marT="36576" marB="36576" anchor="ctr">
                    <a:solidFill>
                      <a:srgbClr val="F4F6F2"/>
                    </a:solidFill>
                  </a:tcPr>
                </a:tc>
                <a:tc>
                  <a:txBody>
                    <a:bodyPr/>
                    <a:lstStyle/>
                    <a:p>
                      <a:pPr algn="l"/>
                      <a:r>
                        <a:rPr sz="1000" b="0" i="0">
                          <a:solidFill>
                            <a:srgbClr val="57626B"/>
                          </a:solidFill>
                          <a:latin typeface="Calibri"/>
                        </a:rPr>
                        <a:t>Informatica MDM, Reltio, Profisee, controlled mapping tables</a:t>
                      </a:r>
                    </a:p>
                  </a:txBody>
                  <a:tcPr marL="73152" marR="73152" marT="36576" marB="36576" anchor="ctr">
                    <a:solidFill>
                      <a:srgbClr val="F4F6F2"/>
                    </a:solidFill>
                  </a:tcPr>
                </a:tc>
                <a:tc>
                  <a:txBody>
                    <a:bodyPr/>
                    <a:lstStyle/>
                    <a:p>
                      <a:pPr algn="l"/>
                      <a:r>
                        <a:rPr sz="1000" b="0" i="0">
                          <a:solidFill>
                            <a:srgbClr val="57626B"/>
                          </a:solidFill>
                          <a:latin typeface="Calibri"/>
                        </a:rPr>
                        <a:t>Coordinates ownership and change</a:t>
                      </a:r>
                    </a:p>
                  </a:txBody>
                  <a:tcPr marL="73152" marR="73152" marT="36576" marB="36576" anchor="ctr">
                    <a:solidFill>
                      <a:srgbClr val="F4F6F2"/>
                    </a:solidFill>
                  </a:tcPr>
                </a:tc>
                <a:tc>
                  <a:txBody>
                    <a:bodyPr/>
                    <a:lstStyle/>
                    <a:p>
                      <a:pPr algn="l"/>
                      <a:r>
                        <a:rPr sz="1000" b="0" i="0">
                          <a:solidFill>
                            <a:srgbClr val="57626B"/>
                          </a:solidFill>
                          <a:latin typeface="Calibri"/>
                        </a:rPr>
                        <a:t>Data engineering; business owners</a:t>
                      </a:r>
                    </a:p>
                  </a:txBody>
                  <a:tcPr marL="73152" marR="73152" marT="36576" marB="36576" anchor="ctr">
                    <a:solidFill>
                      <a:srgbClr val="F4F6F2"/>
                    </a:solidFill>
                  </a:tcPr>
                </a:tc>
              </a:tr>
              <a:tr h="429768">
                <a:tc>
                  <a:txBody>
                    <a:bodyPr/>
                    <a:lstStyle/>
                    <a:p>
                      <a:pPr algn="l"/>
                      <a:r>
                        <a:rPr sz="1000" b="1" i="0">
                          <a:solidFill>
                            <a:srgbClr val="1A2130"/>
                          </a:solidFill>
                          <a:latin typeface="Calibri"/>
                        </a:rPr>
                        <a:t>Classification, access &amp; privacy</a:t>
                      </a:r>
                    </a:p>
                  </a:txBody>
                  <a:tcPr marL="73152" marR="73152" marT="36576" marB="36576" anchor="ctr">
                    <a:solidFill>
                      <a:srgbClr val="FFFFFF"/>
                    </a:solidFill>
                  </a:tcPr>
                </a:tc>
                <a:tc>
                  <a:txBody>
                    <a:bodyPr/>
                    <a:lstStyle/>
                    <a:p>
                      <a:pPr algn="l"/>
                      <a:r>
                        <a:rPr sz="1000" b="0" i="0">
                          <a:solidFill>
                            <a:srgbClr val="57626B"/>
                          </a:solidFill>
                          <a:latin typeface="Calibri"/>
                        </a:rPr>
                        <a:t>Purview, BigID, Immuta, Privacera, IAM</a:t>
                      </a:r>
                    </a:p>
                  </a:txBody>
                  <a:tcPr marL="73152" marR="73152" marT="36576" marB="36576" anchor="ctr">
                    <a:solidFill>
                      <a:srgbClr val="FFFFFF"/>
                    </a:solidFill>
                  </a:tcPr>
                </a:tc>
                <a:tc>
                  <a:txBody>
                    <a:bodyPr/>
                    <a:lstStyle/>
                    <a:p>
                      <a:pPr algn="l"/>
                      <a:r>
                        <a:rPr sz="1000" b="0" i="0">
                          <a:solidFill>
                            <a:srgbClr val="57626B"/>
                          </a:solidFill>
                          <a:latin typeface="Calibri"/>
                        </a:rPr>
                        <a:t>Co-owns classification standard</a:t>
                      </a:r>
                    </a:p>
                  </a:txBody>
                  <a:tcPr marL="73152" marR="73152" marT="36576" marB="36576" anchor="ctr">
                    <a:solidFill>
                      <a:srgbClr val="FFFFFF"/>
                    </a:solidFill>
                  </a:tcPr>
                </a:tc>
                <a:tc>
                  <a:txBody>
                    <a:bodyPr/>
                    <a:lstStyle/>
                    <a:p>
                      <a:pPr algn="l"/>
                      <a:r>
                        <a:rPr sz="1000" b="0" i="0">
                          <a:solidFill>
                            <a:srgbClr val="57626B"/>
                          </a:solidFill>
                          <a:latin typeface="Calibri"/>
                        </a:rPr>
                        <a:t>Information security / privacy</a:t>
                      </a:r>
                    </a:p>
                  </a:txBody>
                  <a:tcPr marL="73152" marR="73152" marT="36576" marB="36576" anchor="ctr">
                    <a:solidFill>
                      <a:srgbClr val="FFFFFF"/>
                    </a:solidFill>
                  </a:tcPr>
                </a:tc>
              </a:tr>
              <a:tr h="429768">
                <a:tc>
                  <a:txBody>
                    <a:bodyPr/>
                    <a:lstStyle/>
                    <a:p>
                      <a:pPr algn="l"/>
                      <a:r>
                        <a:rPr sz="1000" b="1" i="0">
                          <a:solidFill>
                            <a:srgbClr val="1A2130"/>
                          </a:solidFill>
                          <a:latin typeface="Calibri"/>
                        </a:rPr>
                        <a:t>Issue, risk &amp; control mgmt (GRC)</a:t>
                      </a:r>
                    </a:p>
                  </a:txBody>
                  <a:tcPr marL="73152" marR="73152" marT="36576" marB="36576" anchor="ctr">
                    <a:solidFill>
                      <a:srgbClr val="F4F6F2"/>
                    </a:solidFill>
                  </a:tcPr>
                </a:tc>
                <a:tc>
                  <a:txBody>
                    <a:bodyPr/>
                    <a:lstStyle/>
                    <a:p>
                      <a:pPr algn="l"/>
                      <a:r>
                        <a:rPr sz="1000" b="0" i="0">
                          <a:solidFill>
                            <a:srgbClr val="57626B"/>
                          </a:solidFill>
                          <a:latin typeface="Calibri"/>
                        </a:rPr>
                        <a:t>ServiceNow IRM, Archer, MetricStream</a:t>
                      </a:r>
                    </a:p>
                  </a:txBody>
                  <a:tcPr marL="73152" marR="73152" marT="36576" marB="36576" anchor="ctr">
                    <a:solidFill>
                      <a:srgbClr val="F4F6F2"/>
                    </a:solidFill>
                  </a:tcPr>
                </a:tc>
                <a:tc>
                  <a:txBody>
                    <a:bodyPr/>
                    <a:lstStyle/>
                    <a:p>
                      <a:pPr algn="l"/>
                      <a:r>
                        <a:rPr sz="1000" b="0" i="0">
                          <a:solidFill>
                            <a:srgbClr val="57626B"/>
                          </a:solidFill>
                          <a:latin typeface="Calibri"/>
                        </a:rPr>
                        <a:t>Runs the data issue process</a:t>
                      </a:r>
                    </a:p>
                  </a:txBody>
                  <a:tcPr marL="73152" marR="73152" marT="36576" marB="36576" anchor="ctr">
                    <a:solidFill>
                      <a:srgbClr val="F4F6F2"/>
                    </a:solidFill>
                  </a:tcPr>
                </a:tc>
                <a:tc>
                  <a:txBody>
                    <a:bodyPr/>
                    <a:lstStyle/>
                    <a:p>
                      <a:pPr algn="l"/>
                      <a:r>
                        <a:rPr sz="1000" b="0" i="0">
                          <a:solidFill>
                            <a:srgbClr val="57626B"/>
                          </a:solidFill>
                          <a:latin typeface="Calibri"/>
                        </a:rPr>
                        <a:t>Operational risk / GRC team</a:t>
                      </a:r>
                    </a:p>
                  </a:txBody>
                  <a:tcPr marL="73152" marR="73152" marT="36576" marB="36576" anchor="ctr">
                    <a:solidFill>
                      <a:srgbClr val="F4F6F2"/>
                    </a:solidFill>
                  </a:tcPr>
                </a:tc>
              </a:tr>
              <a:tr h="429768">
                <a:tc>
                  <a:txBody>
                    <a:bodyPr/>
                    <a:lstStyle/>
                    <a:p>
                      <a:pPr algn="l"/>
                      <a:r>
                        <a:rPr sz="1000" b="1" i="0">
                          <a:solidFill>
                            <a:srgbClr val="1A2130"/>
                          </a:solidFill>
                          <a:latin typeface="Calibri"/>
                        </a:rPr>
                        <a:t>Policy management &amp; attestation</a:t>
                      </a:r>
                    </a:p>
                  </a:txBody>
                  <a:tcPr marL="73152" marR="73152" marT="36576" marB="36576" anchor="ctr">
                    <a:solidFill>
                      <a:srgbClr val="FFFFFF"/>
                    </a:solidFill>
                  </a:tcPr>
                </a:tc>
                <a:tc>
                  <a:txBody>
                    <a:bodyPr/>
                    <a:lstStyle/>
                    <a:p>
                      <a:pPr algn="l"/>
                      <a:r>
                        <a:rPr sz="1000" b="0" i="0">
                          <a:solidFill>
                            <a:srgbClr val="57626B"/>
                          </a:solidFill>
                          <a:latin typeface="Calibri"/>
                        </a:rPr>
                        <a:t>GRC policy module, intranet policy portal</a:t>
                      </a:r>
                    </a:p>
                  </a:txBody>
                  <a:tcPr marL="73152" marR="73152" marT="36576" marB="36576" anchor="ctr">
                    <a:solidFill>
                      <a:srgbClr val="FFFFFF"/>
                    </a:solidFill>
                  </a:tcPr>
                </a:tc>
                <a:tc>
                  <a:txBody>
                    <a:bodyPr/>
                    <a:lstStyle/>
                    <a:p>
                      <a:pPr algn="l"/>
                      <a:r>
                        <a:rPr sz="1000" b="0" i="0">
                          <a:solidFill>
                            <a:srgbClr val="57626B"/>
                          </a:solidFill>
                          <a:latin typeface="Calibri"/>
                        </a:rPr>
                        <a:t>Owns policies, attestations, exceptions</a:t>
                      </a:r>
                    </a:p>
                  </a:txBody>
                  <a:tcPr marL="73152" marR="73152" marT="36576" marB="36576" anchor="ctr">
                    <a:solidFill>
                      <a:srgbClr val="FFFFFF"/>
                    </a:solidFill>
                  </a:tcPr>
                </a:tc>
                <a:tc>
                  <a:txBody>
                    <a:bodyPr/>
                    <a:lstStyle/>
                    <a:p>
                      <a:pPr algn="l"/>
                      <a:r>
                        <a:rPr sz="1000" b="0" i="0">
                          <a:solidFill>
                            <a:srgbClr val="57626B"/>
                          </a:solidFill>
                          <a:latin typeface="Calibri"/>
                        </a:rPr>
                        <a:t>DGO</a:t>
                      </a:r>
                    </a:p>
                  </a:txBody>
                  <a:tcPr marL="73152" marR="73152" marT="36576" marB="36576" anchor="ctr">
                    <a:solidFill>
                      <a:srgbClr val="FFFFFF"/>
                    </a:solidFill>
                  </a:tcPr>
                </a:tc>
              </a:tr>
              <a:tr h="429768">
                <a:tc>
                  <a:txBody>
                    <a:bodyPr/>
                    <a:lstStyle/>
                    <a:p>
                      <a:pPr algn="l"/>
                      <a:r>
                        <a:rPr sz="1000" b="1" i="0">
                          <a:solidFill>
                            <a:srgbClr val="1A2130"/>
                          </a:solidFill>
                          <a:latin typeface="Calibri"/>
                        </a:rPr>
                        <a:t>Governance scorecard</a:t>
                      </a:r>
                    </a:p>
                  </a:txBody>
                  <a:tcPr marL="73152" marR="73152" marT="36576" marB="36576" anchor="ctr">
                    <a:solidFill>
                      <a:srgbClr val="F4F6F2"/>
                    </a:solidFill>
                  </a:tcPr>
                </a:tc>
                <a:tc>
                  <a:txBody>
                    <a:bodyPr/>
                    <a:lstStyle/>
                    <a:p>
                      <a:pPr algn="l"/>
                      <a:r>
                        <a:rPr sz="1000" b="0" i="0">
                          <a:solidFill>
                            <a:srgbClr val="57626B"/>
                          </a:solidFill>
                          <a:latin typeface="Calibri"/>
                        </a:rPr>
                        <a:t>Power BI, Tableau</a:t>
                      </a:r>
                    </a:p>
                  </a:txBody>
                  <a:tcPr marL="73152" marR="73152" marT="36576" marB="36576" anchor="ctr">
                    <a:solidFill>
                      <a:srgbClr val="F4F6F2"/>
                    </a:solidFill>
                  </a:tcPr>
                </a:tc>
                <a:tc>
                  <a:txBody>
                    <a:bodyPr/>
                    <a:lstStyle/>
                    <a:p>
                      <a:pPr algn="l"/>
                      <a:r>
                        <a:rPr sz="1000" b="0" i="0">
                          <a:solidFill>
                            <a:srgbClr val="57626B"/>
                          </a:solidFill>
                          <a:latin typeface="Calibri"/>
                        </a:rPr>
                        <a:t>Owns KPIs and publication</a:t>
                      </a:r>
                    </a:p>
                  </a:txBody>
                  <a:tcPr marL="73152" marR="73152" marT="36576" marB="36576" anchor="ctr">
                    <a:solidFill>
                      <a:srgbClr val="F4F6F2"/>
                    </a:solidFill>
                  </a:tcPr>
                </a:tc>
                <a:tc>
                  <a:txBody>
                    <a:bodyPr/>
                    <a:lstStyle/>
                    <a:p>
                      <a:pPr algn="l"/>
                      <a:r>
                        <a:rPr sz="1000" b="0" i="0">
                          <a:solidFill>
                            <a:srgbClr val="57626B"/>
                          </a:solidFill>
                          <a:latin typeface="Calibri"/>
                        </a:rPr>
                        <a:t>DGO</a:t>
                      </a:r>
                    </a:p>
                  </a:txBody>
                  <a:tcPr marL="73152" marR="73152" marT="36576" marB="36576" anchor="ctr">
                    <a:solidFill>
                      <a:srgbClr val="F4F6F2"/>
                    </a:solidFill>
                  </a:tcPr>
                </a:tc>
              </a:tr>
              <a:tr h="429768">
                <a:tc>
                  <a:txBody>
                    <a:bodyPr/>
                    <a:lstStyle/>
                    <a:p>
                      <a:pPr algn="l"/>
                      <a:r>
                        <a:rPr sz="1000" b="1" i="0">
                          <a:solidFill>
                            <a:srgbClr val="1A2130"/>
                          </a:solidFill>
                          <a:latin typeface="Calibri"/>
                        </a:rPr>
                        <a:t>Workflow &amp; change management</a:t>
                      </a:r>
                    </a:p>
                  </a:txBody>
                  <a:tcPr marL="73152" marR="73152" marT="36576" marB="36576" anchor="ctr">
                    <a:solidFill>
                      <a:srgbClr val="FFFFFF"/>
                    </a:solidFill>
                  </a:tcPr>
                </a:tc>
                <a:tc>
                  <a:txBody>
                    <a:bodyPr/>
                    <a:lstStyle/>
                    <a:p>
                      <a:pPr algn="l"/>
                      <a:r>
                        <a:rPr sz="1000" b="0" i="0">
                          <a:solidFill>
                            <a:srgbClr val="57626B"/>
                          </a:solidFill>
                          <a:latin typeface="Calibri"/>
                        </a:rPr>
                        <a:t>ServiceNow, Jira</a:t>
                      </a:r>
                    </a:p>
                  </a:txBody>
                  <a:tcPr marL="73152" marR="73152" marT="36576" marB="36576" anchor="ctr">
                    <a:solidFill>
                      <a:srgbClr val="FFFFFF"/>
                    </a:solidFill>
                  </a:tcPr>
                </a:tc>
                <a:tc>
                  <a:txBody>
                    <a:bodyPr/>
                    <a:lstStyle/>
                    <a:p>
                      <a:pPr algn="l"/>
                      <a:r>
                        <a:rPr sz="1000" b="0" i="0">
                          <a:solidFill>
                            <a:srgbClr val="57626B"/>
                          </a:solidFill>
                          <a:latin typeface="Calibri"/>
                        </a:rPr>
                        <a:t>Embeds governance checkpoints</a:t>
                      </a:r>
                    </a:p>
                  </a:txBody>
                  <a:tcPr marL="73152" marR="73152" marT="36576" marB="36576" anchor="ctr">
                    <a:solidFill>
                      <a:srgbClr val="FFFFFF"/>
                    </a:solidFill>
                  </a:tcPr>
                </a:tc>
                <a:tc>
                  <a:txBody>
                    <a:bodyPr/>
                    <a:lstStyle/>
                    <a:p>
                      <a:pPr algn="l"/>
                      <a:r>
                        <a:rPr sz="1000" b="0" i="0">
                          <a:solidFill>
                            <a:srgbClr val="57626B"/>
                          </a:solidFill>
                          <a:latin typeface="Calibri"/>
                        </a:rPr>
                        <a:t>IT service management / PMO</a:t>
                      </a:r>
                    </a:p>
                  </a:txBody>
                  <a:tcPr marL="73152" marR="73152" marT="36576" marB="36576" anchor="ctr">
                    <a:solidFill>
                      <a:srgbClr val="FFFFFF"/>
                    </a:solidFill>
                  </a:tcPr>
                </a:tc>
              </a:tr>
              <a:tr h="429768">
                <a:tc>
                  <a:txBody>
                    <a:bodyPr/>
                    <a:lstStyle/>
                    <a:p>
                      <a:pPr algn="l"/>
                      <a:r>
                        <a:rPr sz="1000" b="1" i="0">
                          <a:solidFill>
                            <a:srgbClr val="1A2130"/>
                          </a:solidFill>
                          <a:latin typeface="Calibri"/>
                        </a:rPr>
                        <a:t>Data platform with native governance</a:t>
                      </a:r>
                    </a:p>
                  </a:txBody>
                  <a:tcPr marL="73152" marR="73152" marT="36576" marB="36576" anchor="ctr">
                    <a:solidFill>
                      <a:srgbClr val="F4F6F2"/>
                    </a:solidFill>
                  </a:tcPr>
                </a:tc>
                <a:tc>
                  <a:txBody>
                    <a:bodyPr/>
                    <a:lstStyle/>
                    <a:p>
                      <a:pPr algn="l"/>
                      <a:r>
                        <a:rPr sz="1000" b="0" i="0">
                          <a:solidFill>
                            <a:srgbClr val="57626B"/>
                          </a:solidFill>
                          <a:latin typeface="Calibri"/>
                        </a:rPr>
                        <a:t>Snowflake Horizon, Databricks Unity Catalog</a:t>
                      </a:r>
                    </a:p>
                  </a:txBody>
                  <a:tcPr marL="73152" marR="73152" marT="36576" marB="36576" anchor="ctr">
                    <a:solidFill>
                      <a:srgbClr val="F4F6F2"/>
                    </a:solidFill>
                  </a:tcPr>
                </a:tc>
                <a:tc>
                  <a:txBody>
                    <a:bodyPr/>
                    <a:lstStyle/>
                    <a:p>
                      <a:pPr algn="l"/>
                      <a:r>
                        <a:rPr sz="1000" b="0" i="0">
                          <a:solidFill>
                            <a:srgbClr val="57626B"/>
                          </a:solidFill>
                          <a:latin typeface="Calibri"/>
                        </a:rPr>
                        <a:t>Sets requirements</a:t>
                      </a:r>
                    </a:p>
                  </a:txBody>
                  <a:tcPr marL="73152" marR="73152" marT="36576" marB="36576" anchor="ctr">
                    <a:solidFill>
                      <a:srgbClr val="F4F6F2"/>
                    </a:solidFill>
                  </a:tcPr>
                </a:tc>
                <a:tc>
                  <a:txBody>
                    <a:bodyPr/>
                    <a:lstStyle/>
                    <a:p>
                      <a:pPr algn="l"/>
                      <a:r>
                        <a:rPr sz="1000" b="0" i="0">
                          <a:solidFill>
                            <a:srgbClr val="57626B"/>
                          </a:solidFill>
                          <a:latin typeface="Calibri"/>
                        </a:rPr>
                        <a:t>Data platform engineering</a:t>
                      </a:r>
                    </a:p>
                  </a:txBody>
                  <a:tcPr marL="73152" marR="73152" marT="36576" marB="36576" anchor="ctr">
                    <a:solidFill>
                      <a:srgbClr val="F4F6F2"/>
                    </a:solidFill>
                  </a:tcPr>
                </a:tc>
              </a:tr>
            </a:tbl>
          </a:graphicData>
        </a:graphic>
      </p:graphicFrame>
      <p:sp>
        <p:nvSpPr>
          <p:cNvPr id="6" name="TextBox 5"/>
          <p:cNvSpPr txBox="1"/>
          <p:nvPr/>
        </p:nvSpPr>
        <p:spPr>
          <a:xfrm>
            <a:off x="457200" y="6035040"/>
            <a:ext cx="11247120" cy="320040"/>
          </a:xfrm>
          <a:prstGeom prst="rect">
            <a:avLst/>
          </a:prstGeom>
          <a:noFill/>
        </p:spPr>
        <p:txBody>
          <a:bodyPr wrap="square" lIns="0" rIns="0" tIns="0" bIns="0" anchor="t">
            <a:spAutoFit/>
          </a:bodyPr>
          <a:lstStyle/>
          <a:p>
            <a:pPr algn="l"/>
            <a:r>
              <a:rPr sz="1000" b="0" i="1">
                <a:solidFill>
                  <a:srgbClr val="57626B"/>
                </a:solidFill>
                <a:latin typeface="Calibri"/>
              </a:rPr>
              <a:t>Tools are examples, not recommendations.</a:t>
            </a:r>
          </a:p>
        </p:txBody>
      </p:sp>
      <p:sp>
        <p:nvSpPr>
          <p:cNvPr id="7" name="TextBox 6"/>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ARCHITECTS · DATA MANAGEMENT</a:t>
            </a:r>
          </a:p>
        </p:txBody>
      </p:sp>
      <p:sp>
        <p:nvSpPr>
          <p:cNvPr id="8" name="TextBox 7"/>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15</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Governance tooling — reference architecture</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How governance services connect to the data estate and to the governance workflow.</a:t>
            </a:r>
          </a:p>
        </p:txBody>
      </p:sp>
      <p:sp>
        <p:nvSpPr>
          <p:cNvPr id="5" name="TextBox 4"/>
          <p:cNvSpPr txBox="1"/>
          <p:nvPr/>
        </p:nvSpPr>
        <p:spPr>
          <a:xfrm>
            <a:off x="457200" y="1325880"/>
            <a:ext cx="2834640" cy="274320"/>
          </a:xfrm>
          <a:prstGeom prst="rect">
            <a:avLst/>
          </a:prstGeom>
          <a:noFill/>
        </p:spPr>
        <p:txBody>
          <a:bodyPr wrap="square" lIns="0" rIns="0" tIns="0" bIns="0" anchor="t">
            <a:spAutoFit/>
          </a:bodyPr>
          <a:lstStyle/>
          <a:p>
            <a:pPr algn="ctr"/>
            <a:r>
              <a:rPr sz="1050" b="1" i="0">
                <a:solidFill>
                  <a:srgbClr val="1A2130"/>
                </a:solidFill>
                <a:latin typeface="Courier New"/>
              </a:rPr>
              <a:t>DATA ESTATE</a:t>
            </a:r>
          </a:p>
        </p:txBody>
      </p:sp>
      <p:sp>
        <p:nvSpPr>
          <p:cNvPr id="6" name="TextBox 5"/>
          <p:cNvSpPr txBox="1"/>
          <p:nvPr/>
        </p:nvSpPr>
        <p:spPr>
          <a:xfrm>
            <a:off x="4160520" y="1325880"/>
            <a:ext cx="3840480" cy="274320"/>
          </a:xfrm>
          <a:prstGeom prst="rect">
            <a:avLst/>
          </a:prstGeom>
          <a:noFill/>
        </p:spPr>
        <p:txBody>
          <a:bodyPr wrap="square" lIns="0" rIns="0" tIns="0" bIns="0" anchor="t">
            <a:spAutoFit/>
          </a:bodyPr>
          <a:lstStyle/>
          <a:p>
            <a:pPr algn="ctr"/>
            <a:r>
              <a:rPr sz="1050" b="1" i="0">
                <a:solidFill>
                  <a:srgbClr val="1A2130"/>
                </a:solidFill>
                <a:latin typeface="Courier New"/>
              </a:rPr>
              <a:t>GOVERNANCE SERVICES</a:t>
            </a:r>
          </a:p>
        </p:txBody>
      </p:sp>
      <p:sp>
        <p:nvSpPr>
          <p:cNvPr id="7" name="TextBox 6"/>
          <p:cNvSpPr txBox="1"/>
          <p:nvPr/>
        </p:nvSpPr>
        <p:spPr>
          <a:xfrm>
            <a:off x="8897112" y="1325880"/>
            <a:ext cx="2834640" cy="274320"/>
          </a:xfrm>
          <a:prstGeom prst="rect">
            <a:avLst/>
          </a:prstGeom>
          <a:noFill/>
        </p:spPr>
        <p:txBody>
          <a:bodyPr wrap="square" lIns="0" rIns="0" tIns="0" bIns="0" anchor="t">
            <a:spAutoFit/>
          </a:bodyPr>
          <a:lstStyle/>
          <a:p>
            <a:pPr algn="ctr"/>
            <a:r>
              <a:rPr sz="1050" b="1" i="0">
                <a:solidFill>
                  <a:srgbClr val="1A2130"/>
                </a:solidFill>
                <a:latin typeface="Courier New"/>
              </a:rPr>
              <a:t>WORKFLOW &amp; REPORTING</a:t>
            </a:r>
          </a:p>
        </p:txBody>
      </p:sp>
      <p:sp>
        <p:nvSpPr>
          <p:cNvPr id="8" name="Rounded Rectangle 7"/>
          <p:cNvSpPr/>
          <p:nvPr/>
        </p:nvSpPr>
        <p:spPr>
          <a:xfrm>
            <a:off x="457200" y="1691640"/>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Source systems</a:t>
            </a:r>
          </a:p>
          <a:p>
            <a:pPr algn="ctr"/>
            <a:r>
              <a:rPr sz="950" b="0" i="0">
                <a:solidFill>
                  <a:srgbClr val="1A2130"/>
                </a:solidFill>
                <a:latin typeface="Calibri"/>
              </a:rPr>
              <a:t>(origination, servicing, GL / ERP)</a:t>
            </a:r>
          </a:p>
        </p:txBody>
      </p:sp>
      <p:sp>
        <p:nvSpPr>
          <p:cNvPr id="9" name="Rounded Rectangle 8"/>
          <p:cNvSpPr/>
          <p:nvPr/>
        </p:nvSpPr>
        <p:spPr>
          <a:xfrm>
            <a:off x="4160520" y="1691640"/>
            <a:ext cx="3840480" cy="658368"/>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FFFFFF"/>
                </a:solidFill>
                <a:latin typeface="Calibri"/>
              </a:rPr>
              <a:t>Catalog &amp; glossary (the hub)</a:t>
            </a:r>
          </a:p>
        </p:txBody>
      </p:sp>
      <p:sp>
        <p:nvSpPr>
          <p:cNvPr id="10" name="Rounded Rectangle 9"/>
          <p:cNvSpPr/>
          <p:nvPr/>
        </p:nvSpPr>
        <p:spPr>
          <a:xfrm>
            <a:off x="8897112" y="1691640"/>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Policy portal</a:t>
            </a:r>
          </a:p>
          <a:p>
            <a:pPr algn="ctr"/>
            <a:r>
              <a:rPr sz="950" b="0" i="0">
                <a:solidFill>
                  <a:srgbClr val="1A2130"/>
                </a:solidFill>
                <a:latin typeface="Calibri"/>
              </a:rPr>
              <a:t>&amp; training</a:t>
            </a:r>
          </a:p>
        </p:txBody>
      </p:sp>
      <p:cxnSp>
        <p:nvCxnSpPr>
          <p:cNvPr id="11" name="Connector 10"/>
          <p:cNvCxnSpPr/>
          <p:nvPr/>
        </p:nvCxnSpPr>
        <p:spPr>
          <a:xfrm>
            <a:off x="3291840" y="2020824"/>
            <a:ext cx="8686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001000" y="2020824"/>
            <a:ext cx="896112"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46120" y="1709928"/>
            <a:ext cx="960120" cy="274320"/>
          </a:xfrm>
          <a:prstGeom prst="rect">
            <a:avLst/>
          </a:prstGeom>
          <a:noFill/>
        </p:spPr>
        <p:txBody>
          <a:bodyPr wrap="square" lIns="0" rIns="0" tIns="0" bIns="0" anchor="t">
            <a:spAutoFit/>
          </a:bodyPr>
          <a:lstStyle/>
          <a:p>
            <a:pPr algn="ctr"/>
            <a:r>
              <a:rPr sz="750" b="1" i="0">
                <a:solidFill>
                  <a:srgbClr val="0E7C66"/>
                </a:solidFill>
                <a:latin typeface="Calibri"/>
              </a:rPr>
              <a:t>metadata harvest</a:t>
            </a:r>
          </a:p>
        </p:txBody>
      </p:sp>
      <p:sp>
        <p:nvSpPr>
          <p:cNvPr id="14" name="TextBox 13"/>
          <p:cNvSpPr txBox="1"/>
          <p:nvPr/>
        </p:nvSpPr>
        <p:spPr>
          <a:xfrm>
            <a:off x="7973568" y="1709928"/>
            <a:ext cx="950976" cy="274320"/>
          </a:xfrm>
          <a:prstGeom prst="rect">
            <a:avLst/>
          </a:prstGeom>
          <a:noFill/>
        </p:spPr>
        <p:txBody>
          <a:bodyPr wrap="square" lIns="0" rIns="0" tIns="0" bIns="0" anchor="t">
            <a:spAutoFit/>
          </a:bodyPr>
          <a:lstStyle/>
          <a:p>
            <a:pPr algn="ctr"/>
            <a:r>
              <a:rPr sz="750" b="1" i="0">
                <a:solidFill>
                  <a:srgbClr val="0E7C66"/>
                </a:solidFill>
                <a:latin typeface="Calibri"/>
              </a:rPr>
              <a:t>definitions, owners</a:t>
            </a:r>
          </a:p>
        </p:txBody>
      </p:sp>
      <p:sp>
        <p:nvSpPr>
          <p:cNvPr id="15" name="Rounded Rectangle 14"/>
          <p:cNvSpPr/>
          <p:nvPr/>
        </p:nvSpPr>
        <p:spPr>
          <a:xfrm>
            <a:off x="457200" y="2441448"/>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Pipelines</a:t>
            </a:r>
          </a:p>
          <a:p>
            <a:pPr algn="ctr"/>
            <a:r>
              <a:rPr sz="950" b="0" i="0">
                <a:solidFill>
                  <a:srgbClr val="1A2130"/>
                </a:solidFill>
                <a:latin typeface="Calibri"/>
              </a:rPr>
              <a:t>(ETL / ELT, orchestration)</a:t>
            </a:r>
          </a:p>
        </p:txBody>
      </p:sp>
      <p:sp>
        <p:nvSpPr>
          <p:cNvPr id="16" name="Rounded Rectangle 15"/>
          <p:cNvSpPr/>
          <p:nvPr/>
        </p:nvSpPr>
        <p:spPr>
          <a:xfrm>
            <a:off x="4160520" y="2441448"/>
            <a:ext cx="3840480" cy="658368"/>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Lineage harvesting</a:t>
            </a:r>
          </a:p>
        </p:txBody>
      </p:sp>
      <p:sp>
        <p:nvSpPr>
          <p:cNvPr id="17" name="Rounded Rectangle 16"/>
          <p:cNvSpPr/>
          <p:nvPr/>
        </p:nvSpPr>
        <p:spPr>
          <a:xfrm>
            <a:off x="8897112" y="2441448"/>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Exam &amp; audit</a:t>
            </a:r>
          </a:p>
          <a:p>
            <a:pPr algn="ctr"/>
            <a:r>
              <a:rPr sz="950" b="0" i="0">
                <a:solidFill>
                  <a:srgbClr val="1A2130"/>
                </a:solidFill>
                <a:latin typeface="Calibri"/>
              </a:rPr>
              <a:t>evidence packs</a:t>
            </a:r>
          </a:p>
        </p:txBody>
      </p:sp>
      <p:cxnSp>
        <p:nvCxnSpPr>
          <p:cNvPr id="18" name="Connector 17"/>
          <p:cNvCxnSpPr/>
          <p:nvPr/>
        </p:nvCxnSpPr>
        <p:spPr>
          <a:xfrm>
            <a:off x="3291840" y="2770632"/>
            <a:ext cx="8686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01000" y="2770632"/>
            <a:ext cx="896112"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246120" y="2459736"/>
            <a:ext cx="960120" cy="274320"/>
          </a:xfrm>
          <a:prstGeom prst="rect">
            <a:avLst/>
          </a:prstGeom>
          <a:noFill/>
        </p:spPr>
        <p:txBody>
          <a:bodyPr wrap="square" lIns="0" rIns="0" tIns="0" bIns="0" anchor="t">
            <a:spAutoFit/>
          </a:bodyPr>
          <a:lstStyle/>
          <a:p>
            <a:pPr algn="ctr"/>
            <a:r>
              <a:rPr sz="750" b="1" i="0">
                <a:solidFill>
                  <a:srgbClr val="0E7C66"/>
                </a:solidFill>
                <a:latin typeface="Calibri"/>
              </a:rPr>
              <a:t>code &amp; run logs</a:t>
            </a:r>
          </a:p>
        </p:txBody>
      </p:sp>
      <p:sp>
        <p:nvSpPr>
          <p:cNvPr id="21" name="TextBox 20"/>
          <p:cNvSpPr txBox="1"/>
          <p:nvPr/>
        </p:nvSpPr>
        <p:spPr>
          <a:xfrm>
            <a:off x="7973568" y="2459736"/>
            <a:ext cx="950976" cy="274320"/>
          </a:xfrm>
          <a:prstGeom prst="rect">
            <a:avLst/>
          </a:prstGeom>
          <a:noFill/>
        </p:spPr>
        <p:txBody>
          <a:bodyPr wrap="square" lIns="0" rIns="0" tIns="0" bIns="0" anchor="t">
            <a:spAutoFit/>
          </a:bodyPr>
          <a:lstStyle/>
          <a:p>
            <a:pPr algn="ctr"/>
            <a:r>
              <a:rPr sz="750" b="1" i="0">
                <a:solidFill>
                  <a:srgbClr val="0E7C66"/>
                </a:solidFill>
                <a:latin typeface="Calibri"/>
              </a:rPr>
              <a:t>lineage views</a:t>
            </a:r>
          </a:p>
        </p:txBody>
      </p:sp>
      <p:sp>
        <p:nvSpPr>
          <p:cNvPr id="22" name="Rounded Rectangle 21"/>
          <p:cNvSpPr/>
          <p:nvPr/>
        </p:nvSpPr>
        <p:spPr>
          <a:xfrm>
            <a:off x="457200" y="3191256"/>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Data platform</a:t>
            </a:r>
          </a:p>
          <a:p>
            <a:pPr algn="ctr"/>
            <a:r>
              <a:rPr sz="950" b="0" i="0">
                <a:solidFill>
                  <a:srgbClr val="1A2130"/>
                </a:solidFill>
                <a:latin typeface="Calibri"/>
              </a:rPr>
              <a:t>(raw → curated → certified)</a:t>
            </a:r>
          </a:p>
        </p:txBody>
      </p:sp>
      <p:sp>
        <p:nvSpPr>
          <p:cNvPr id="23" name="Rounded Rectangle 22"/>
          <p:cNvSpPr/>
          <p:nvPr/>
        </p:nvSpPr>
        <p:spPr>
          <a:xfrm>
            <a:off x="4160520" y="3191256"/>
            <a:ext cx="3840480" cy="658368"/>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Data quality &amp; observability engine</a:t>
            </a:r>
          </a:p>
        </p:txBody>
      </p:sp>
      <p:sp>
        <p:nvSpPr>
          <p:cNvPr id="24" name="Rounded Rectangle 23"/>
          <p:cNvSpPr/>
          <p:nvPr/>
        </p:nvSpPr>
        <p:spPr>
          <a:xfrm>
            <a:off x="8897112" y="3191256"/>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GRC / issue</a:t>
            </a:r>
          </a:p>
          <a:p>
            <a:pPr algn="ctr"/>
            <a:r>
              <a:rPr sz="950" b="0" i="0">
                <a:solidFill>
                  <a:srgbClr val="1A2130"/>
                </a:solidFill>
                <a:latin typeface="Calibri"/>
              </a:rPr>
              <a:t>management</a:t>
            </a:r>
          </a:p>
        </p:txBody>
      </p:sp>
      <p:cxnSp>
        <p:nvCxnSpPr>
          <p:cNvPr id="25" name="Connector 24"/>
          <p:cNvCxnSpPr/>
          <p:nvPr/>
        </p:nvCxnSpPr>
        <p:spPr>
          <a:xfrm>
            <a:off x="3291840" y="3520440"/>
            <a:ext cx="8686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001000" y="3520440"/>
            <a:ext cx="896112"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246120" y="3209544"/>
            <a:ext cx="960120" cy="274320"/>
          </a:xfrm>
          <a:prstGeom prst="rect">
            <a:avLst/>
          </a:prstGeom>
          <a:noFill/>
        </p:spPr>
        <p:txBody>
          <a:bodyPr wrap="square" lIns="0" rIns="0" tIns="0" bIns="0" anchor="t">
            <a:spAutoFit/>
          </a:bodyPr>
          <a:lstStyle/>
          <a:p>
            <a:pPr algn="ctr"/>
            <a:r>
              <a:rPr sz="750" b="1" i="0">
                <a:solidFill>
                  <a:srgbClr val="0E7C66"/>
                </a:solidFill>
                <a:latin typeface="Calibri"/>
              </a:rPr>
              <a:t>rules run here</a:t>
            </a:r>
          </a:p>
        </p:txBody>
      </p:sp>
      <p:sp>
        <p:nvSpPr>
          <p:cNvPr id="28" name="TextBox 27"/>
          <p:cNvSpPr txBox="1"/>
          <p:nvPr/>
        </p:nvSpPr>
        <p:spPr>
          <a:xfrm>
            <a:off x="7973568" y="3209544"/>
            <a:ext cx="950976" cy="274320"/>
          </a:xfrm>
          <a:prstGeom prst="rect">
            <a:avLst/>
          </a:prstGeom>
          <a:noFill/>
        </p:spPr>
        <p:txBody>
          <a:bodyPr wrap="square" lIns="0" rIns="0" tIns="0" bIns="0" anchor="t">
            <a:spAutoFit/>
          </a:bodyPr>
          <a:lstStyle/>
          <a:p>
            <a:pPr algn="ctr"/>
            <a:r>
              <a:rPr sz="750" b="1" i="0">
                <a:solidFill>
                  <a:srgbClr val="0E7C66"/>
                </a:solidFill>
                <a:latin typeface="Calibri"/>
              </a:rPr>
              <a:t>failures → issues</a:t>
            </a:r>
          </a:p>
        </p:txBody>
      </p:sp>
      <p:sp>
        <p:nvSpPr>
          <p:cNvPr id="29" name="Rounded Rectangle 28"/>
          <p:cNvSpPr/>
          <p:nvPr/>
        </p:nvSpPr>
        <p:spPr>
          <a:xfrm>
            <a:off x="457200" y="3941064"/>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Reference data</a:t>
            </a:r>
          </a:p>
          <a:p>
            <a:pPr algn="ctr"/>
            <a:r>
              <a:rPr sz="950" b="0" i="0">
                <a:solidFill>
                  <a:srgbClr val="1A2130"/>
                </a:solidFill>
                <a:latin typeface="Calibri"/>
              </a:rPr>
              <a:t>&amp; mappings</a:t>
            </a:r>
          </a:p>
        </p:txBody>
      </p:sp>
      <p:sp>
        <p:nvSpPr>
          <p:cNvPr id="30" name="Rounded Rectangle 29"/>
          <p:cNvSpPr/>
          <p:nvPr/>
        </p:nvSpPr>
        <p:spPr>
          <a:xfrm>
            <a:off x="4160520" y="3941064"/>
            <a:ext cx="3840480" cy="658368"/>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Reference &amp; master data management</a:t>
            </a:r>
          </a:p>
        </p:txBody>
      </p:sp>
      <p:sp>
        <p:nvSpPr>
          <p:cNvPr id="31" name="Rounded Rectangle 30"/>
          <p:cNvSpPr/>
          <p:nvPr/>
        </p:nvSpPr>
        <p:spPr>
          <a:xfrm>
            <a:off x="8897112" y="3941064"/>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Governance</a:t>
            </a:r>
          </a:p>
          <a:p>
            <a:pPr algn="ctr"/>
            <a:r>
              <a:rPr sz="950" b="0" i="0">
                <a:solidFill>
                  <a:srgbClr val="1A2130"/>
                </a:solidFill>
                <a:latin typeface="Calibri"/>
              </a:rPr>
              <a:t>scorecard (BI)</a:t>
            </a:r>
          </a:p>
        </p:txBody>
      </p:sp>
      <p:cxnSp>
        <p:nvCxnSpPr>
          <p:cNvPr id="32" name="Connector 31"/>
          <p:cNvCxnSpPr/>
          <p:nvPr/>
        </p:nvCxnSpPr>
        <p:spPr>
          <a:xfrm>
            <a:off x="3291840" y="4270248"/>
            <a:ext cx="8686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001000" y="4270248"/>
            <a:ext cx="896112"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246120" y="3959352"/>
            <a:ext cx="960120" cy="274320"/>
          </a:xfrm>
          <a:prstGeom prst="rect">
            <a:avLst/>
          </a:prstGeom>
          <a:noFill/>
        </p:spPr>
        <p:txBody>
          <a:bodyPr wrap="square" lIns="0" rIns="0" tIns="0" bIns="0" anchor="t">
            <a:spAutoFit/>
          </a:bodyPr>
          <a:lstStyle/>
          <a:p>
            <a:pPr algn="ctr"/>
            <a:r>
              <a:rPr sz="750" b="1" i="0">
                <a:solidFill>
                  <a:srgbClr val="0E7C66"/>
                </a:solidFill>
                <a:latin typeface="Calibri"/>
              </a:rPr>
              <a:t>golden values</a:t>
            </a:r>
          </a:p>
        </p:txBody>
      </p:sp>
      <p:sp>
        <p:nvSpPr>
          <p:cNvPr id="35" name="TextBox 34"/>
          <p:cNvSpPr txBox="1"/>
          <p:nvPr/>
        </p:nvSpPr>
        <p:spPr>
          <a:xfrm>
            <a:off x="7973568" y="3959352"/>
            <a:ext cx="950976" cy="274320"/>
          </a:xfrm>
          <a:prstGeom prst="rect">
            <a:avLst/>
          </a:prstGeom>
          <a:noFill/>
        </p:spPr>
        <p:txBody>
          <a:bodyPr wrap="square" lIns="0" rIns="0" tIns="0" bIns="0" anchor="t">
            <a:spAutoFit/>
          </a:bodyPr>
          <a:lstStyle/>
          <a:p>
            <a:pPr algn="ctr"/>
            <a:r>
              <a:rPr sz="750" b="1" i="0">
                <a:solidFill>
                  <a:srgbClr val="0E7C66"/>
                </a:solidFill>
                <a:latin typeface="Calibri"/>
              </a:rPr>
              <a:t>scores, KPIs</a:t>
            </a:r>
          </a:p>
        </p:txBody>
      </p:sp>
      <p:sp>
        <p:nvSpPr>
          <p:cNvPr id="36" name="Rounded Rectangle 35"/>
          <p:cNvSpPr/>
          <p:nvPr/>
        </p:nvSpPr>
        <p:spPr>
          <a:xfrm>
            <a:off x="457200" y="4690872"/>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Consumers</a:t>
            </a:r>
          </a:p>
          <a:p>
            <a:pPr algn="ctr"/>
            <a:r>
              <a:rPr sz="950" b="0" i="0">
                <a:solidFill>
                  <a:srgbClr val="1A2130"/>
                </a:solidFill>
                <a:latin typeface="Calibri"/>
              </a:rPr>
              <a:t>(BI, reg reporting, AI / ML)</a:t>
            </a:r>
          </a:p>
        </p:txBody>
      </p:sp>
      <p:sp>
        <p:nvSpPr>
          <p:cNvPr id="37" name="Rounded Rectangle 36"/>
          <p:cNvSpPr/>
          <p:nvPr/>
        </p:nvSpPr>
        <p:spPr>
          <a:xfrm>
            <a:off x="4160520" y="4690872"/>
            <a:ext cx="3840480" cy="658368"/>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50" b="1" i="0">
                <a:solidFill>
                  <a:srgbClr val="1A2130"/>
                </a:solidFill>
                <a:latin typeface="Calibri"/>
              </a:rPr>
              <a:t>Access &amp; policy enforcement</a:t>
            </a:r>
          </a:p>
        </p:txBody>
      </p:sp>
      <p:sp>
        <p:nvSpPr>
          <p:cNvPr id="38" name="Rounded Rectangle 37"/>
          <p:cNvSpPr/>
          <p:nvPr/>
        </p:nvSpPr>
        <p:spPr>
          <a:xfrm>
            <a:off x="8897112" y="4690872"/>
            <a:ext cx="2834640" cy="658368"/>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950" b="0" i="0">
                <a:solidFill>
                  <a:srgbClr val="1A2130"/>
                </a:solidFill>
                <a:latin typeface="Calibri"/>
              </a:rPr>
              <a:t>Ticketing &amp;</a:t>
            </a:r>
          </a:p>
          <a:p>
            <a:pPr algn="ctr"/>
            <a:r>
              <a:rPr sz="950" b="0" i="0">
                <a:solidFill>
                  <a:srgbClr val="1A2130"/>
                </a:solidFill>
                <a:latin typeface="Calibri"/>
              </a:rPr>
              <a:t>change management</a:t>
            </a:r>
          </a:p>
        </p:txBody>
      </p:sp>
      <p:cxnSp>
        <p:nvCxnSpPr>
          <p:cNvPr id="39" name="Connector 38"/>
          <p:cNvCxnSpPr/>
          <p:nvPr/>
        </p:nvCxnSpPr>
        <p:spPr>
          <a:xfrm>
            <a:off x="3291840" y="5020056"/>
            <a:ext cx="8686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001000" y="5020056"/>
            <a:ext cx="896112"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246120" y="4709159"/>
            <a:ext cx="960120" cy="274320"/>
          </a:xfrm>
          <a:prstGeom prst="rect">
            <a:avLst/>
          </a:prstGeom>
          <a:noFill/>
        </p:spPr>
        <p:txBody>
          <a:bodyPr wrap="square" lIns="0" rIns="0" tIns="0" bIns="0" anchor="t">
            <a:spAutoFit/>
          </a:bodyPr>
          <a:lstStyle/>
          <a:p>
            <a:pPr algn="ctr"/>
            <a:r>
              <a:rPr sz="750" b="1" i="0">
                <a:solidFill>
                  <a:srgbClr val="0E7C66"/>
                </a:solidFill>
                <a:latin typeface="Calibri"/>
              </a:rPr>
              <a:t>access requests</a:t>
            </a:r>
          </a:p>
        </p:txBody>
      </p:sp>
      <p:sp>
        <p:nvSpPr>
          <p:cNvPr id="42" name="TextBox 41"/>
          <p:cNvSpPr txBox="1"/>
          <p:nvPr/>
        </p:nvSpPr>
        <p:spPr>
          <a:xfrm>
            <a:off x="7973568" y="4709159"/>
            <a:ext cx="950976" cy="274320"/>
          </a:xfrm>
          <a:prstGeom prst="rect">
            <a:avLst/>
          </a:prstGeom>
          <a:noFill/>
        </p:spPr>
        <p:txBody>
          <a:bodyPr wrap="square" lIns="0" rIns="0" tIns="0" bIns="0" anchor="t">
            <a:spAutoFit/>
          </a:bodyPr>
          <a:lstStyle/>
          <a:p>
            <a:pPr algn="ctr"/>
            <a:r>
              <a:rPr sz="750" b="1" i="0">
                <a:solidFill>
                  <a:srgbClr val="0E7C66"/>
                </a:solidFill>
                <a:latin typeface="Calibri"/>
              </a:rPr>
              <a:t>approvals</a:t>
            </a:r>
          </a:p>
        </p:txBody>
      </p:sp>
      <p:sp>
        <p:nvSpPr>
          <p:cNvPr id="43" name="Rounded Rectangle 42"/>
          <p:cNvSpPr/>
          <p:nvPr/>
        </p:nvSpPr>
        <p:spPr>
          <a:xfrm>
            <a:off x="457200" y="5532120"/>
            <a:ext cx="11274552"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The catalog is the hub: </a:t>
            </a:r>
            <a:r>
              <a:rPr sz="1150" b="0" i="0">
                <a:solidFill>
                  <a:srgbClr val="57626B"/>
                </a:solidFill>
                <a:latin typeface="Calibri"/>
              </a:rPr>
              <a:t>owners, definitions, CDE flags, classifications, quality scores and lineage all meet there. Every other governance service reads from or writes to it through APIs.</a:t>
            </a:r>
          </a:p>
        </p:txBody>
      </p:sp>
      <p:sp>
        <p:nvSpPr>
          <p:cNvPr id="44" name="TextBox 43"/>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ARCHITECTS</a:t>
            </a:r>
          </a:p>
        </p:txBody>
      </p:sp>
      <p:sp>
        <p:nvSpPr>
          <p:cNvPr id="45" name="TextBox 44"/>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16</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Architecture principles for governance by design</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What architects should require of every platform and project.</a:t>
            </a:r>
          </a:p>
        </p:txBody>
      </p:sp>
      <p:sp>
        <p:nvSpPr>
          <p:cNvPr id="5" name="Rounded Rectangle 4"/>
          <p:cNvSpPr/>
          <p:nvPr/>
        </p:nvSpPr>
        <p:spPr>
          <a:xfrm>
            <a:off x="457200" y="1325880"/>
            <a:ext cx="2715768" cy="12801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Catalog as the metadata backbone</a:t>
            </a:r>
          </a:p>
          <a:p>
            <a:pPr algn="l"/>
            <a:r>
              <a:rPr sz="1050" b="0" i="0">
                <a:solidFill>
                  <a:srgbClr val="57626B"/>
                </a:solidFill>
                <a:latin typeface="Calibri"/>
              </a:rPr>
              <a:t>One hub for terms, owners and CDEs; no parallel inventories.</a:t>
            </a:r>
          </a:p>
        </p:txBody>
      </p:sp>
      <p:sp>
        <p:nvSpPr>
          <p:cNvPr id="6" name="Rounded Rectangle 5"/>
          <p:cNvSpPr/>
          <p:nvPr/>
        </p:nvSpPr>
        <p:spPr>
          <a:xfrm>
            <a:off x="3310128" y="1325880"/>
            <a:ext cx="2715768" cy="12801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Harvest, don't hand-draw</a:t>
            </a:r>
          </a:p>
          <a:p>
            <a:pPr algn="l"/>
            <a:r>
              <a:rPr sz="1050" b="0" i="0">
                <a:solidFill>
                  <a:srgbClr val="57626B"/>
                </a:solidFill>
                <a:latin typeface="Calibri"/>
              </a:rPr>
              <a:t>Lineage generated from code, SQL and pipelines (e.g., OpenLineage).</a:t>
            </a:r>
          </a:p>
        </p:txBody>
      </p:sp>
      <p:sp>
        <p:nvSpPr>
          <p:cNvPr id="7" name="Rounded Rectangle 6"/>
          <p:cNvSpPr/>
          <p:nvPr/>
        </p:nvSpPr>
        <p:spPr>
          <a:xfrm>
            <a:off x="6163056" y="1325880"/>
            <a:ext cx="2715768" cy="12801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Rules as code</a:t>
            </a:r>
          </a:p>
          <a:p>
            <a:pPr algn="l"/>
            <a:r>
              <a:rPr sz="1050" b="0" i="0">
                <a:solidFill>
                  <a:srgbClr val="57626B"/>
                </a:solidFill>
                <a:latin typeface="Calibri"/>
              </a:rPr>
              <a:t>DQ checks versioned, tested and deployed with the pipeline.</a:t>
            </a:r>
          </a:p>
        </p:txBody>
      </p:sp>
      <p:sp>
        <p:nvSpPr>
          <p:cNvPr id="8" name="Rounded Rectangle 7"/>
          <p:cNvSpPr/>
          <p:nvPr/>
        </p:nvSpPr>
        <p:spPr>
          <a:xfrm>
            <a:off x="9015984" y="1325880"/>
            <a:ext cx="2715768" cy="12801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Gate the certified layer</a:t>
            </a:r>
          </a:p>
          <a:p>
            <a:pPr algn="l"/>
            <a:r>
              <a:rPr sz="1050" b="0" i="0">
                <a:solidFill>
                  <a:srgbClr val="57626B"/>
                </a:solidFill>
                <a:latin typeface="Calibri"/>
              </a:rPr>
              <a:t>Only data that passes checks is promoted to reporting.</a:t>
            </a:r>
          </a:p>
        </p:txBody>
      </p:sp>
      <p:sp>
        <p:nvSpPr>
          <p:cNvPr id="9" name="Rounded Rectangle 8"/>
          <p:cNvSpPr/>
          <p:nvPr/>
        </p:nvSpPr>
        <p:spPr>
          <a:xfrm>
            <a:off x="457200" y="2743200"/>
            <a:ext cx="2715768" cy="12801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Certified data products</a:t>
            </a:r>
          </a:p>
          <a:p>
            <a:pPr algn="l"/>
            <a:r>
              <a:rPr sz="1050" b="0" i="0">
                <a:solidFill>
                  <a:srgbClr val="57626B"/>
                </a:solidFill>
                <a:latin typeface="Calibri"/>
              </a:rPr>
              <a:t>Each has an owner, definition, SLA and published DQ score.</a:t>
            </a:r>
          </a:p>
        </p:txBody>
      </p:sp>
      <p:sp>
        <p:nvSpPr>
          <p:cNvPr id="10" name="Rounded Rectangle 9"/>
          <p:cNvSpPr/>
          <p:nvPr/>
        </p:nvSpPr>
        <p:spPr>
          <a:xfrm>
            <a:off x="3310128" y="2743200"/>
            <a:ext cx="2715768" cy="12801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Policy-driven access</a:t>
            </a:r>
          </a:p>
          <a:p>
            <a:pPr algn="l"/>
            <a:r>
              <a:rPr sz="1050" b="0" i="0">
                <a:solidFill>
                  <a:srgbClr val="57626B"/>
                </a:solidFill>
                <a:latin typeface="Calibri"/>
              </a:rPr>
              <a:t>Classification tags drive masking and entitlements automatically.</a:t>
            </a:r>
          </a:p>
        </p:txBody>
      </p:sp>
      <p:sp>
        <p:nvSpPr>
          <p:cNvPr id="11" name="Rounded Rectangle 10"/>
          <p:cNvSpPr/>
          <p:nvPr/>
        </p:nvSpPr>
        <p:spPr>
          <a:xfrm>
            <a:off x="6163056" y="2743200"/>
            <a:ext cx="2715768" cy="12801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Open integration</a:t>
            </a:r>
          </a:p>
          <a:p>
            <a:pPr algn="l"/>
            <a:r>
              <a:rPr sz="1050" b="0" i="0">
                <a:solidFill>
                  <a:srgbClr val="57626B"/>
                </a:solidFill>
                <a:latin typeface="Calibri"/>
              </a:rPr>
              <a:t>APIs and events between catalog, DQ and GRC; avoid tool silos.</a:t>
            </a:r>
          </a:p>
        </p:txBody>
      </p:sp>
      <p:sp>
        <p:nvSpPr>
          <p:cNvPr id="12" name="Rounded Rectangle 11"/>
          <p:cNvSpPr/>
          <p:nvPr/>
        </p:nvSpPr>
        <p:spPr>
          <a:xfrm>
            <a:off x="9015984" y="2743200"/>
            <a:ext cx="2715768" cy="12801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Design for audit</a:t>
            </a:r>
          </a:p>
          <a:p>
            <a:pPr algn="l"/>
            <a:r>
              <a:rPr sz="1050" b="0" i="0">
                <a:solidFill>
                  <a:srgbClr val="57626B"/>
                </a:solidFill>
                <a:latin typeface="Calibri"/>
              </a:rPr>
              <a:t>Run logs, results and approvals retained automatically.</a:t>
            </a:r>
          </a:p>
        </p:txBody>
      </p:sp>
      <p:sp>
        <p:nvSpPr>
          <p:cNvPr id="13" name="TextBox 12"/>
          <p:cNvSpPr txBox="1"/>
          <p:nvPr/>
        </p:nvSpPr>
        <p:spPr>
          <a:xfrm>
            <a:off x="457200" y="4297680"/>
            <a:ext cx="11247120" cy="274320"/>
          </a:xfrm>
          <a:prstGeom prst="rect">
            <a:avLst/>
          </a:prstGeom>
          <a:noFill/>
        </p:spPr>
        <p:txBody>
          <a:bodyPr wrap="square" lIns="0" rIns="0" tIns="0" bIns="0" anchor="t">
            <a:spAutoFit/>
          </a:bodyPr>
          <a:lstStyle/>
          <a:p>
            <a:pPr algn="l"/>
            <a:r>
              <a:rPr sz="1050" b="1" i="0">
                <a:solidFill>
                  <a:srgbClr val="1A2130"/>
                </a:solidFill>
                <a:latin typeface="Courier New"/>
              </a:rPr>
              <a:t>GOVERNANCE CHECKPOINTS IN PROJECT DELIVERY</a:t>
            </a:r>
          </a:p>
        </p:txBody>
      </p:sp>
      <p:sp>
        <p:nvSpPr>
          <p:cNvPr id="14" name="Rounded Rectangle 13"/>
          <p:cNvSpPr/>
          <p:nvPr/>
        </p:nvSpPr>
        <p:spPr>
          <a:xfrm>
            <a:off x="457200" y="4617720"/>
            <a:ext cx="2108606" cy="10058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Initiate</a:t>
            </a:r>
          </a:p>
          <a:p>
            <a:pPr algn="ctr"/>
            <a:r>
              <a:rPr sz="1000" b="0" i="0">
                <a:solidFill>
                  <a:srgbClr val="57626B"/>
                </a:solidFill>
                <a:latin typeface="Calibri"/>
              </a:rPr>
              <a:t>Data domains and owners identified</a:t>
            </a:r>
          </a:p>
        </p:txBody>
      </p:sp>
      <p:cxnSp>
        <p:nvCxnSpPr>
          <p:cNvPr id="15" name="Connector 14"/>
          <p:cNvCxnSpPr/>
          <p:nvPr/>
        </p:nvCxnSpPr>
        <p:spPr>
          <a:xfrm>
            <a:off x="2565806" y="512064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48686" y="4617720"/>
            <a:ext cx="2108606" cy="10058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Design</a:t>
            </a:r>
          </a:p>
          <a:p>
            <a:pPr algn="ctr"/>
            <a:r>
              <a:rPr sz="1000" b="0" i="0">
                <a:solidFill>
                  <a:srgbClr val="57626B"/>
                </a:solidFill>
                <a:latin typeface="Calibri"/>
              </a:rPr>
              <a:t>Architecture review: CDEs, lineage, DQ approach</a:t>
            </a:r>
          </a:p>
        </p:txBody>
      </p:sp>
      <p:cxnSp>
        <p:nvCxnSpPr>
          <p:cNvPr id="17" name="Connector 16"/>
          <p:cNvCxnSpPr/>
          <p:nvPr/>
        </p:nvCxnSpPr>
        <p:spPr>
          <a:xfrm>
            <a:off x="4857292" y="512064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40172" y="4617720"/>
            <a:ext cx="2108606" cy="10058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Build</a:t>
            </a:r>
          </a:p>
          <a:p>
            <a:pPr algn="ctr"/>
            <a:r>
              <a:rPr sz="1000" b="0" i="0">
                <a:solidFill>
                  <a:srgbClr val="57626B"/>
                </a:solidFill>
                <a:latin typeface="Calibri"/>
              </a:rPr>
              <a:t>DQ rules as code; lineage harvested</a:t>
            </a:r>
          </a:p>
        </p:txBody>
      </p:sp>
      <p:cxnSp>
        <p:nvCxnSpPr>
          <p:cNvPr id="19" name="Connector 18"/>
          <p:cNvCxnSpPr/>
          <p:nvPr/>
        </p:nvCxnSpPr>
        <p:spPr>
          <a:xfrm>
            <a:off x="7148779" y="512064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31659" y="4617720"/>
            <a:ext cx="2108606" cy="10058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Test</a:t>
            </a:r>
          </a:p>
          <a:p>
            <a:pPr algn="ctr"/>
            <a:r>
              <a:rPr sz="1000" b="0" i="0">
                <a:solidFill>
                  <a:srgbClr val="57626B"/>
                </a:solidFill>
                <a:latin typeface="Calibri"/>
              </a:rPr>
              <a:t>DQ results and reconciliations pass</a:t>
            </a:r>
          </a:p>
        </p:txBody>
      </p:sp>
      <p:cxnSp>
        <p:nvCxnSpPr>
          <p:cNvPr id="21" name="Connector 20"/>
          <p:cNvCxnSpPr/>
          <p:nvPr/>
        </p:nvCxnSpPr>
        <p:spPr>
          <a:xfrm>
            <a:off x="9440265" y="512064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623145" y="4617720"/>
            <a:ext cx="2108606" cy="10058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FFFFFF"/>
                </a:solidFill>
                <a:latin typeface="Calibri"/>
              </a:rPr>
              <a:t>Go-live gate</a:t>
            </a:r>
          </a:p>
          <a:p>
            <a:pPr algn="ctr"/>
            <a:r>
              <a:rPr sz="1000" b="0" i="0">
                <a:solidFill>
                  <a:srgbClr val="CADCEA"/>
                </a:solidFill>
                <a:latin typeface="Calibri"/>
              </a:rPr>
              <a:t>Catalog registered; owner signs off</a:t>
            </a:r>
          </a:p>
        </p:txBody>
      </p:sp>
      <p:sp>
        <p:nvSpPr>
          <p:cNvPr id="23" name="TextBox 22"/>
          <p:cNvSpPr txBox="1"/>
          <p:nvPr/>
        </p:nvSpPr>
        <p:spPr>
          <a:xfrm>
            <a:off x="457200" y="5806440"/>
            <a:ext cx="11247120" cy="502920"/>
          </a:xfrm>
          <a:prstGeom prst="rect">
            <a:avLst/>
          </a:prstGeom>
          <a:noFill/>
        </p:spPr>
        <p:txBody>
          <a:bodyPr wrap="square" lIns="0" rIns="0" tIns="0" bIns="0" anchor="t">
            <a:spAutoFit/>
          </a:bodyPr>
          <a:lstStyle/>
          <a:p>
            <a:pPr algn="l"/>
            <a:r>
              <a:rPr sz="1100" b="1" i="1">
                <a:solidFill>
                  <a:srgbClr val="1A2130"/>
                </a:solidFill>
                <a:latin typeface="Calibri"/>
              </a:rPr>
              <a:t>Retrofitting governance after go-live typically costs far more than designing it in — the go-live gate is where the DGO and architecture enforce this together.</a:t>
            </a:r>
          </a:p>
        </p:txBody>
      </p:sp>
      <p:sp>
        <p:nvSpPr>
          <p:cNvPr id="24" name="TextBox 23"/>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ARCHITECTS</a:t>
            </a:r>
          </a:p>
        </p:txBody>
      </p:sp>
      <p:sp>
        <p:nvSpPr>
          <p:cNvPr id="25" name="TextBox 24"/>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17</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Building the tool stack — sequence and selection</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Define owners and standards first; tools amplify a working process, they don't create one.</a:t>
            </a:r>
          </a:p>
        </p:txBody>
      </p:sp>
      <p:sp>
        <p:nvSpPr>
          <p:cNvPr id="5" name="Rounded Rectangle 4"/>
          <p:cNvSpPr/>
          <p:nvPr/>
        </p:nvSpPr>
        <p:spPr>
          <a:xfrm>
            <a:off x="457200" y="1325880"/>
            <a:ext cx="2647188"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CADCEA"/>
                </a:solidFill>
                <a:latin typeface="Calibri"/>
              </a:rPr>
              <a:t>STEP 1</a:t>
            </a:r>
          </a:p>
          <a:p>
            <a:pPr algn="ctr"/>
            <a:r>
              <a:rPr sz="1100" b="1" i="0">
                <a:solidFill>
                  <a:srgbClr val="FFFFFF"/>
                </a:solidFill>
                <a:latin typeface="Calibri"/>
              </a:rPr>
              <a:t>Glossary &amp; CDE inventory</a:t>
            </a:r>
          </a:p>
        </p:txBody>
      </p:sp>
      <p:sp>
        <p:nvSpPr>
          <p:cNvPr id="6" name="Rounded Rectangle 5"/>
          <p:cNvSpPr/>
          <p:nvPr/>
        </p:nvSpPr>
        <p:spPr>
          <a:xfrm>
            <a:off x="457200" y="2148840"/>
            <a:ext cx="2647188" cy="10972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A spreadsheet is fine to start; move to a catalog once owners are named.</a:t>
            </a:r>
          </a:p>
        </p:txBody>
      </p:sp>
      <p:cxnSp>
        <p:nvCxnSpPr>
          <p:cNvPr id="7" name="Connector 6"/>
          <p:cNvCxnSpPr/>
          <p:nvPr/>
        </p:nvCxnSpPr>
        <p:spPr>
          <a:xfrm>
            <a:off x="3104388" y="1691640"/>
            <a:ext cx="228600" cy="0"/>
          </a:xfrm>
          <a:prstGeom prst="line">
            <a:avLst/>
          </a:prstGeom>
          <a:ln w="19050">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32988" y="1325880"/>
            <a:ext cx="2647188"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CADCEA"/>
                </a:solidFill>
                <a:latin typeface="Calibri"/>
              </a:rPr>
              <a:t>STEP 2</a:t>
            </a:r>
          </a:p>
          <a:p>
            <a:pPr algn="ctr"/>
            <a:r>
              <a:rPr sz="1100" b="1" i="0">
                <a:solidFill>
                  <a:srgbClr val="FFFFFF"/>
                </a:solidFill>
                <a:latin typeface="Calibri"/>
              </a:rPr>
              <a:t>DQ monitoring + GRC issues</a:t>
            </a:r>
          </a:p>
        </p:txBody>
      </p:sp>
      <p:sp>
        <p:nvSpPr>
          <p:cNvPr id="9" name="Rounded Rectangle 8"/>
          <p:cNvSpPr/>
          <p:nvPr/>
        </p:nvSpPr>
        <p:spPr>
          <a:xfrm>
            <a:off x="3332988" y="2148840"/>
            <a:ext cx="2647188" cy="10972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Rules on tier-1 CDEs; failures flow to issue management.</a:t>
            </a:r>
          </a:p>
        </p:txBody>
      </p:sp>
      <p:cxnSp>
        <p:nvCxnSpPr>
          <p:cNvPr id="10" name="Connector 9"/>
          <p:cNvCxnSpPr/>
          <p:nvPr/>
        </p:nvCxnSpPr>
        <p:spPr>
          <a:xfrm>
            <a:off x="5980176" y="1691640"/>
            <a:ext cx="228600" cy="0"/>
          </a:xfrm>
          <a:prstGeom prst="line">
            <a:avLst/>
          </a:prstGeom>
          <a:ln w="19050">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08776" y="1325880"/>
            <a:ext cx="2647188"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CADCEA"/>
                </a:solidFill>
                <a:latin typeface="Calibri"/>
              </a:rPr>
              <a:t>STEP 3</a:t>
            </a:r>
          </a:p>
          <a:p>
            <a:pPr algn="ctr"/>
            <a:r>
              <a:rPr sz="1100" b="1" i="0">
                <a:solidFill>
                  <a:srgbClr val="FFFFFF"/>
                </a:solidFill>
                <a:latin typeface="Calibri"/>
              </a:rPr>
              <a:t>Lineage harvesting</a:t>
            </a:r>
          </a:p>
        </p:txBody>
      </p:sp>
      <p:sp>
        <p:nvSpPr>
          <p:cNvPr id="12" name="Rounded Rectangle 11"/>
          <p:cNvSpPr/>
          <p:nvPr/>
        </p:nvSpPr>
        <p:spPr>
          <a:xfrm>
            <a:off x="6208776" y="2148840"/>
            <a:ext cx="2647188" cy="10972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Automated lineage for regulatory and financial reports.</a:t>
            </a:r>
          </a:p>
        </p:txBody>
      </p:sp>
      <p:cxnSp>
        <p:nvCxnSpPr>
          <p:cNvPr id="13" name="Connector 12"/>
          <p:cNvCxnSpPr/>
          <p:nvPr/>
        </p:nvCxnSpPr>
        <p:spPr>
          <a:xfrm>
            <a:off x="8855964" y="1691640"/>
            <a:ext cx="228600" cy="0"/>
          </a:xfrm>
          <a:prstGeom prst="line">
            <a:avLst/>
          </a:prstGeom>
          <a:ln w="19050">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084564" y="1325880"/>
            <a:ext cx="2647188"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CADCEA"/>
                </a:solidFill>
                <a:latin typeface="Calibri"/>
              </a:rPr>
              <a:t>STEP 4</a:t>
            </a:r>
          </a:p>
          <a:p>
            <a:pPr algn="ctr"/>
            <a:r>
              <a:rPr sz="1100" b="1" i="0">
                <a:solidFill>
                  <a:srgbClr val="FFFFFF"/>
                </a:solidFill>
                <a:latin typeface="Calibri"/>
              </a:rPr>
              <a:t>Access &amp; data products</a:t>
            </a:r>
          </a:p>
        </p:txBody>
      </p:sp>
      <p:sp>
        <p:nvSpPr>
          <p:cNvPr id="15" name="Rounded Rectangle 14"/>
          <p:cNvSpPr/>
          <p:nvPr/>
        </p:nvSpPr>
        <p:spPr>
          <a:xfrm>
            <a:off x="9084564" y="2148840"/>
            <a:ext cx="2647188" cy="10972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Classification-driven access; certified data products.</a:t>
            </a:r>
          </a:p>
        </p:txBody>
      </p:sp>
      <p:sp>
        <p:nvSpPr>
          <p:cNvPr id="16" name="Rounded Rectangle 15"/>
          <p:cNvSpPr/>
          <p:nvPr/>
        </p:nvSpPr>
        <p:spPr>
          <a:xfrm>
            <a:off x="457200" y="3474720"/>
            <a:ext cx="5550408" cy="28346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SELECTION CRITERIA</a:t>
            </a:r>
          </a:p>
          <a:p>
            <a:pPr algn="l"/>
            <a:r>
              <a:rPr sz="1050" b="0" i="0">
                <a:solidFill>
                  <a:srgbClr val="57626B"/>
                </a:solidFill>
                <a:latin typeface="Calibri"/>
              </a:rPr>
              <a:t>• Connectors to the firm’s actual sources and data platform</a:t>
            </a:r>
          </a:p>
          <a:p>
            <a:pPr algn="l"/>
            <a:r>
              <a:rPr sz="1050" b="0" i="0">
                <a:solidFill>
                  <a:srgbClr val="57626B"/>
                </a:solidFill>
                <a:latin typeface="Calibri"/>
              </a:rPr>
              <a:t>• Usable by business stewards, not only engineers</a:t>
            </a:r>
          </a:p>
          <a:p>
            <a:pPr algn="l"/>
            <a:r>
              <a:rPr sz="1050" b="0" i="0">
                <a:solidFill>
                  <a:srgbClr val="57626B"/>
                </a:solidFill>
                <a:latin typeface="Calibri"/>
              </a:rPr>
              <a:t>• Open APIs and standards for integration</a:t>
            </a:r>
          </a:p>
          <a:p>
            <a:pPr algn="l"/>
            <a:r>
              <a:rPr sz="1050" b="0" i="0">
                <a:solidFill>
                  <a:srgbClr val="57626B"/>
                </a:solidFill>
                <a:latin typeface="Calibri"/>
              </a:rPr>
              <a:t>• Lineage depth: column level, across tools</a:t>
            </a:r>
          </a:p>
          <a:p>
            <a:pPr algn="l"/>
            <a:r>
              <a:rPr sz="1050" b="0" i="0">
                <a:solidFill>
                  <a:srgbClr val="57626B"/>
                </a:solidFill>
                <a:latin typeface="Calibri"/>
              </a:rPr>
              <a:t>• Total cost: licences, implementation, run</a:t>
            </a:r>
          </a:p>
          <a:p>
            <a:pPr algn="l"/>
            <a:r>
              <a:rPr sz="1050" b="0" i="0">
                <a:solidFill>
                  <a:srgbClr val="57626B"/>
                </a:solidFill>
                <a:latin typeface="Calibri"/>
              </a:rPr>
              <a:t>• Vendor viability and references in the industry</a:t>
            </a:r>
          </a:p>
        </p:txBody>
      </p:sp>
      <p:sp>
        <p:nvSpPr>
          <p:cNvPr id="17" name="Rounded Rectangle 16"/>
          <p:cNvSpPr/>
          <p:nvPr/>
        </p:nvSpPr>
        <p:spPr>
          <a:xfrm>
            <a:off x="6190488" y="3474720"/>
            <a:ext cx="5541264" cy="28346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9A3324"/>
                </a:solidFill>
                <a:latin typeface="Calibri"/>
              </a:rPr>
              <a:t>ANTI-PATTERNS TO AVOID</a:t>
            </a:r>
          </a:p>
          <a:p>
            <a:pPr algn="l"/>
            <a:r>
              <a:rPr sz="1050" b="0" i="0">
                <a:solidFill>
                  <a:srgbClr val="57626B"/>
                </a:solidFill>
                <a:latin typeface="Calibri"/>
              </a:rPr>
              <a:t>• Buying a catalog before anyone owns the data</a:t>
            </a:r>
          </a:p>
          <a:p>
            <a:pPr algn="l"/>
            <a:r>
              <a:rPr sz="1050" b="0" i="0">
                <a:solidFill>
                  <a:srgbClr val="57626B"/>
                </a:solidFill>
                <a:latin typeface="Calibri"/>
              </a:rPr>
              <a:t>• One tool per team, none connected</a:t>
            </a:r>
          </a:p>
          <a:p>
            <a:pPr algn="l"/>
            <a:r>
              <a:rPr sz="1050" b="0" i="0">
                <a:solidFill>
                  <a:srgbClr val="57626B"/>
                </a:solidFill>
                <a:latin typeface="Calibri"/>
              </a:rPr>
              <a:t>• Measuring success by number of assets catalogued</a:t>
            </a:r>
          </a:p>
          <a:p>
            <a:pPr algn="l"/>
            <a:r>
              <a:rPr sz="1050" b="0" i="0">
                <a:solidFill>
                  <a:srgbClr val="57626B"/>
                </a:solidFill>
                <a:latin typeface="Calibri"/>
              </a:rPr>
              <a:t>• Implementing every module at once</a:t>
            </a:r>
          </a:p>
          <a:p>
            <a:pPr algn="l"/>
            <a:r>
              <a:rPr sz="1050" b="0" i="0">
                <a:solidFill>
                  <a:srgbClr val="57626B"/>
                </a:solidFill>
                <a:latin typeface="Calibri"/>
              </a:rPr>
              <a:t>• Leaving business users out of the evaluation</a:t>
            </a:r>
          </a:p>
        </p:txBody>
      </p:sp>
      <p:sp>
        <p:nvSpPr>
          <p:cNvPr id="18" name="TextBox 17"/>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ARCHITECTS · LEADERS</a:t>
            </a:r>
          </a:p>
        </p:txBody>
      </p:sp>
      <p:sp>
        <p:nvSpPr>
          <p:cNvPr id="19" name="TextBox 18"/>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18</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RACI — key governance decisions</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A = accountable (one per row) · R = responsible · C = consulted · I = informed</a:t>
            </a:r>
          </a:p>
        </p:txBody>
      </p:sp>
      <p:graphicFrame>
        <p:nvGraphicFramePr>
          <p:cNvPr id="5" name="Table 4"/>
          <p:cNvGraphicFramePr>
            <a:graphicFrameLocks noGrp="1"/>
          </p:cNvGraphicFramePr>
          <p:nvPr/>
        </p:nvGraphicFramePr>
        <p:xfrm>
          <a:off x="457200" y="1325880"/>
          <a:ext cx="11274552" cy="4343400"/>
        </p:xfrm>
        <a:graphic>
          <a:graphicData uri="http://schemas.openxmlformats.org/drawingml/2006/table">
            <a:tbl>
              <a:tblPr firstRow="1" bandRow="1">
                <a:tableStyleId>{5C22544A-7EE6-4342-B048-85BDC9FD1C3A}</a:tableStyleId>
              </a:tblPr>
              <a:tblGrid>
                <a:gridCol w="3044952"/>
                <a:gridCol w="914400"/>
                <a:gridCol w="914400"/>
                <a:gridCol w="914400"/>
                <a:gridCol w="914400"/>
                <a:gridCol w="914400"/>
                <a:gridCol w="914400"/>
                <a:gridCol w="914400"/>
                <a:gridCol w="914400"/>
                <a:gridCol w="914400"/>
              </a:tblGrid>
              <a:tr h="502920">
                <a:tc>
                  <a:txBody>
                    <a:bodyPr/>
                    <a:lstStyle/>
                    <a:p>
                      <a:pPr algn="l"/>
                      <a:r>
                        <a:rPr sz="900" b="1" i="0">
                          <a:solidFill>
                            <a:srgbClr val="CADCEA"/>
                          </a:solidFill>
                          <a:latin typeface="Calibri"/>
                        </a:rPr>
                        <a:t>DECISION / CAPABILITY</a:t>
                      </a:r>
                    </a:p>
                  </a:txBody>
                  <a:tcPr marL="73152" marR="73152" marT="36576" marB="36576" anchor="ctr">
                    <a:solidFill>
                      <a:srgbClr val="1A2130"/>
                    </a:solidFill>
                  </a:tcPr>
                </a:tc>
                <a:tc>
                  <a:txBody>
                    <a:bodyPr/>
                    <a:lstStyle/>
                    <a:p>
                      <a:pPr algn="ctr"/>
                      <a:r>
                        <a:rPr sz="900" b="1" i="0">
                          <a:solidFill>
                            <a:srgbClr val="CADCEA"/>
                          </a:solidFill>
                          <a:latin typeface="Calibri"/>
                        </a:rPr>
                        <a:t>Exec
Cmte</a:t>
                      </a:r>
                    </a:p>
                  </a:txBody>
                  <a:tcPr marL="73152" marR="73152" marT="36576" marB="36576" anchor="ctr">
                    <a:solidFill>
                      <a:srgbClr val="1A2130"/>
                    </a:solidFill>
                  </a:tcPr>
                </a:tc>
                <a:tc>
                  <a:txBody>
                    <a:bodyPr/>
                    <a:lstStyle/>
                    <a:p>
                      <a:pPr algn="ctr"/>
                      <a:r>
                        <a:rPr sz="900" b="1" i="0">
                          <a:solidFill>
                            <a:srgbClr val="CADCEA"/>
                          </a:solidFill>
                          <a:latin typeface="Calibri"/>
                        </a:rPr>
                        <a:t>Gov
Council</a:t>
                      </a:r>
                    </a:p>
                  </a:txBody>
                  <a:tcPr marL="73152" marR="73152" marT="36576" marB="36576" anchor="ctr">
                    <a:solidFill>
                      <a:srgbClr val="1A2130"/>
                    </a:solidFill>
                  </a:tcPr>
                </a:tc>
                <a:tc>
                  <a:txBody>
                    <a:bodyPr/>
                    <a:lstStyle/>
                    <a:p>
                      <a:pPr algn="ctr"/>
                      <a:r>
                        <a:rPr sz="900" b="1" i="0">
                          <a:solidFill>
                            <a:srgbClr val="CADCEA"/>
                          </a:solidFill>
                          <a:latin typeface="Calibri"/>
                        </a:rPr>
                        <a:t>DGO</a:t>
                      </a:r>
                    </a:p>
                  </a:txBody>
                  <a:tcPr marL="73152" marR="73152" marT="36576" marB="36576" anchor="ctr">
                    <a:solidFill>
                      <a:srgbClr val="1A2130"/>
                    </a:solidFill>
                  </a:tcPr>
                </a:tc>
                <a:tc>
                  <a:txBody>
                    <a:bodyPr/>
                    <a:lstStyle/>
                    <a:p>
                      <a:pPr algn="ctr"/>
                      <a:r>
                        <a:rPr sz="900" b="1" i="0">
                          <a:solidFill>
                            <a:srgbClr val="CADCEA"/>
                          </a:solidFill>
                          <a:latin typeface="Calibri"/>
                        </a:rPr>
                        <a:t>Data
Owner</a:t>
                      </a:r>
                    </a:p>
                  </a:txBody>
                  <a:tcPr marL="73152" marR="73152" marT="36576" marB="36576" anchor="ctr">
                    <a:solidFill>
                      <a:srgbClr val="1A2130"/>
                    </a:solidFill>
                  </a:tcPr>
                </a:tc>
                <a:tc>
                  <a:txBody>
                    <a:bodyPr/>
                    <a:lstStyle/>
                    <a:p>
                      <a:pPr algn="ctr"/>
                      <a:r>
                        <a:rPr sz="900" b="1" i="0">
                          <a:solidFill>
                            <a:srgbClr val="CADCEA"/>
                          </a:solidFill>
                          <a:latin typeface="Calibri"/>
                        </a:rPr>
                        <a:t>Steward</a:t>
                      </a:r>
                    </a:p>
                  </a:txBody>
                  <a:tcPr marL="73152" marR="73152" marT="36576" marB="36576" anchor="ctr">
                    <a:solidFill>
                      <a:srgbClr val="1A2130"/>
                    </a:solidFill>
                  </a:tcPr>
                </a:tc>
                <a:tc>
                  <a:txBody>
                    <a:bodyPr/>
                    <a:lstStyle/>
                    <a:p>
                      <a:pPr algn="ctr"/>
                      <a:r>
                        <a:rPr sz="900" b="1" i="0">
                          <a:solidFill>
                            <a:srgbClr val="CADCEA"/>
                          </a:solidFill>
                          <a:latin typeface="Calibri"/>
                        </a:rPr>
                        <a:t>Archi-
tect</a:t>
                      </a:r>
                    </a:p>
                  </a:txBody>
                  <a:tcPr marL="73152" marR="73152" marT="36576" marB="36576" anchor="ctr">
                    <a:solidFill>
                      <a:srgbClr val="1A2130"/>
                    </a:solidFill>
                  </a:tcPr>
                </a:tc>
                <a:tc>
                  <a:txBody>
                    <a:bodyPr/>
                    <a:lstStyle/>
                    <a:p>
                      <a:pPr algn="ctr"/>
                      <a:r>
                        <a:rPr sz="900" b="1" i="0">
                          <a:solidFill>
                            <a:srgbClr val="CADCEA"/>
                          </a:solidFill>
                          <a:latin typeface="Calibri"/>
                        </a:rPr>
                        <a:t>Data
Eng / IT</a:t>
                      </a:r>
                    </a:p>
                  </a:txBody>
                  <a:tcPr marL="73152" marR="73152" marT="36576" marB="36576" anchor="ctr">
                    <a:solidFill>
                      <a:srgbClr val="1A2130"/>
                    </a:solidFill>
                  </a:tcPr>
                </a:tc>
                <a:tc>
                  <a:txBody>
                    <a:bodyPr/>
                    <a:lstStyle/>
                    <a:p>
                      <a:pPr algn="ctr"/>
                      <a:r>
                        <a:rPr sz="900" b="1" i="0">
                          <a:solidFill>
                            <a:srgbClr val="CADCEA"/>
                          </a:solidFill>
                          <a:latin typeface="Calibri"/>
                        </a:rPr>
                        <a:t>2nd
Line</a:t>
                      </a:r>
                    </a:p>
                  </a:txBody>
                  <a:tcPr marL="73152" marR="73152" marT="36576" marB="36576" anchor="ctr">
                    <a:solidFill>
                      <a:srgbClr val="1A2130"/>
                    </a:solidFill>
                  </a:tcPr>
                </a:tc>
                <a:tc>
                  <a:txBody>
                    <a:bodyPr/>
                    <a:lstStyle/>
                    <a:p>
                      <a:pPr algn="ctr"/>
                      <a:r>
                        <a:rPr sz="900" b="1" i="0">
                          <a:solidFill>
                            <a:srgbClr val="CADCEA"/>
                          </a:solidFill>
                          <a:latin typeface="Calibri"/>
                        </a:rPr>
                        <a:t>Internal
Audit</a:t>
                      </a:r>
                    </a:p>
                  </a:txBody>
                  <a:tcPr marL="73152" marR="73152" marT="36576" marB="36576" anchor="ctr">
                    <a:solidFill>
                      <a:srgbClr val="1A2130"/>
                    </a:solidFill>
                  </a:tcPr>
                </a:tc>
              </a:tr>
              <a:tr h="384048">
                <a:tc>
                  <a:txBody>
                    <a:bodyPr/>
                    <a:lstStyle/>
                    <a:p>
                      <a:pPr algn="l"/>
                      <a:r>
                        <a:rPr sz="1050" b="1" i="0">
                          <a:solidFill>
                            <a:srgbClr val="1A2130"/>
                          </a:solidFill>
                          <a:latin typeface="Calibri"/>
                        </a:rPr>
                        <a:t>Approve data governance policy</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84048">
                <a:tc>
                  <a:txBody>
                    <a:bodyPr/>
                    <a:lstStyle/>
                    <a:p>
                      <a:pPr algn="l"/>
                      <a:r>
                        <a:rPr sz="1050" b="1" i="0">
                          <a:solidFill>
                            <a:srgbClr val="1A2130"/>
                          </a:solidFill>
                          <a:latin typeface="Calibri"/>
                        </a:rPr>
                        <a:t>Approve data standards</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84048">
                <a:tc>
                  <a:txBody>
                    <a:bodyPr/>
                    <a:lstStyle/>
                    <a:p>
                      <a:pPr algn="l"/>
                      <a:r>
                        <a:rPr sz="1050" b="1" i="0">
                          <a:solidFill>
                            <a:srgbClr val="1A2130"/>
                          </a:solidFill>
                          <a:latin typeface="Calibri"/>
                        </a:rPr>
                        <a:t>Designate a CDE</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84048">
                <a:tc>
                  <a:txBody>
                    <a:bodyPr/>
                    <a:lstStyle/>
                    <a:p>
                      <a:pPr algn="l"/>
                      <a:r>
                        <a:rPr sz="1050" b="1" i="0">
                          <a:solidFill>
                            <a:srgbClr val="1A2130"/>
                          </a:solidFill>
                          <a:latin typeface="Calibri"/>
                        </a:rPr>
                        <a:t>Approve a business definition</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84048">
                <a:tc>
                  <a:txBody>
                    <a:bodyPr/>
                    <a:lstStyle/>
                    <a:p>
                      <a:pPr algn="l"/>
                      <a:r>
                        <a:rPr sz="1050" b="1" i="0">
                          <a:solidFill>
                            <a:srgbClr val="1A2130"/>
                          </a:solidFill>
                          <a:latin typeface="Calibri"/>
                        </a:rPr>
                        <a:t>Set a data quality threshold</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84048">
                <a:tc>
                  <a:txBody>
                    <a:bodyPr/>
                    <a:lstStyle/>
                    <a:p>
                      <a:pPr algn="l"/>
                      <a:r>
                        <a:rPr sz="1050" b="1" i="0">
                          <a:solidFill>
                            <a:srgbClr val="1A2130"/>
                          </a:solidFill>
                          <a:latin typeface="Calibri"/>
                        </a:rPr>
                        <a:t>Accept a policy exception (risk)</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84048">
                <a:tc>
                  <a:txBody>
                    <a:bodyPr/>
                    <a:lstStyle/>
                    <a:p>
                      <a:pPr algn="l"/>
                      <a:r>
                        <a:rPr sz="1050" b="1" i="0">
                          <a:solidFill>
                            <a:srgbClr val="1A2130"/>
                          </a:solidFill>
                          <a:latin typeface="Calibri"/>
                        </a:rPr>
                        <a:t>Prioritize and fund remediation</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84048">
                <a:tc>
                  <a:txBody>
                    <a:bodyPr/>
                    <a:lstStyle/>
                    <a:p>
                      <a:pPr algn="l"/>
                      <a:r>
                        <a:rPr sz="1050" b="1" i="0">
                          <a:solidFill>
                            <a:srgbClr val="1A2130"/>
                          </a:solidFill>
                          <a:latin typeface="Calibri"/>
                        </a:rPr>
                        <a:t>Select governance tools</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84048">
                <a:tc>
                  <a:txBody>
                    <a:bodyPr/>
                    <a:lstStyle/>
                    <a:p>
                      <a:pPr algn="l"/>
                      <a:r>
                        <a:rPr sz="1050" b="1" i="0">
                          <a:solidFill>
                            <a:srgbClr val="1A2130"/>
                          </a:solidFill>
                          <a:latin typeface="Calibri"/>
                        </a:rPr>
                        <a:t>Approve integration design</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84048">
                <a:tc>
                  <a:txBody>
                    <a:bodyPr/>
                    <a:lstStyle/>
                    <a:p>
                      <a:pPr algn="l"/>
                      <a:r>
                        <a:rPr sz="1050" b="1" i="0">
                          <a:solidFill>
                            <a:srgbClr val="1A2130"/>
                          </a:solidFill>
                          <a:latin typeface="Calibri"/>
                        </a:rPr>
                        <a:t>Independent program assessment</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r>
            </a:tbl>
          </a:graphicData>
        </a:graphic>
      </p:graphicFrame>
      <p:sp>
        <p:nvSpPr>
          <p:cNvPr id="6" name="TextBox 5"/>
          <p:cNvSpPr txBox="1"/>
          <p:nvPr/>
        </p:nvSpPr>
        <p:spPr>
          <a:xfrm>
            <a:off x="457200" y="5760720"/>
            <a:ext cx="11247120" cy="548640"/>
          </a:xfrm>
          <a:prstGeom prst="rect">
            <a:avLst/>
          </a:prstGeom>
          <a:noFill/>
        </p:spPr>
        <p:txBody>
          <a:bodyPr wrap="square" lIns="0" rIns="0" tIns="0" bIns="0" anchor="t">
            <a:spAutoFit/>
          </a:bodyPr>
          <a:lstStyle/>
          <a:p>
            <a:pPr algn="l"/>
            <a:r>
              <a:rPr sz="1100" b="1" i="1">
                <a:solidFill>
                  <a:srgbClr val="1A2130"/>
                </a:solidFill>
                <a:latin typeface="Calibri"/>
              </a:rPr>
              <a:t>Material exceptions and remediation funding escalate to the executive data committee; everything else should be decided at council level or below.</a:t>
            </a:r>
          </a:p>
        </p:txBody>
      </p:sp>
      <p:sp>
        <p:nvSpPr>
          <p:cNvPr id="7" name="TextBox 6"/>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DATA MANAGEMENT</a:t>
            </a:r>
          </a:p>
        </p:txBody>
      </p:sp>
      <p:sp>
        <p:nvSpPr>
          <p:cNvPr id="8" name="TextBox 7"/>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19</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RACI — who supports each capability</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A = accountable · R = responsible · C = consulted · I = informed</a:t>
            </a:r>
          </a:p>
        </p:txBody>
      </p:sp>
      <p:graphicFrame>
        <p:nvGraphicFramePr>
          <p:cNvPr id="5" name="Table 4"/>
          <p:cNvGraphicFramePr>
            <a:graphicFrameLocks noGrp="1"/>
          </p:cNvGraphicFramePr>
          <p:nvPr/>
        </p:nvGraphicFramePr>
        <p:xfrm>
          <a:off x="457200" y="1325880"/>
          <a:ext cx="11274552" cy="4672584"/>
        </p:xfrm>
        <a:graphic>
          <a:graphicData uri="http://schemas.openxmlformats.org/drawingml/2006/table">
            <a:tbl>
              <a:tblPr firstRow="1" bandRow="1">
                <a:tableStyleId>{5C22544A-7EE6-4342-B048-85BDC9FD1C3A}</a:tableStyleId>
              </a:tblPr>
              <a:tblGrid>
                <a:gridCol w="3044952"/>
                <a:gridCol w="914400"/>
                <a:gridCol w="914400"/>
                <a:gridCol w="914400"/>
                <a:gridCol w="914400"/>
                <a:gridCol w="914400"/>
                <a:gridCol w="914400"/>
                <a:gridCol w="914400"/>
                <a:gridCol w="914400"/>
                <a:gridCol w="914400"/>
              </a:tblGrid>
              <a:tr h="502920">
                <a:tc>
                  <a:txBody>
                    <a:bodyPr/>
                    <a:lstStyle/>
                    <a:p>
                      <a:pPr algn="l"/>
                      <a:r>
                        <a:rPr sz="900" b="1" i="0">
                          <a:solidFill>
                            <a:srgbClr val="CADCEA"/>
                          </a:solidFill>
                          <a:latin typeface="Calibri"/>
                        </a:rPr>
                        <a:t>DECISION / CAPABILITY</a:t>
                      </a:r>
                    </a:p>
                  </a:txBody>
                  <a:tcPr marL="73152" marR="73152" marT="36576" marB="36576" anchor="ctr">
                    <a:solidFill>
                      <a:srgbClr val="1A2130"/>
                    </a:solidFill>
                  </a:tcPr>
                </a:tc>
                <a:tc>
                  <a:txBody>
                    <a:bodyPr/>
                    <a:lstStyle/>
                    <a:p>
                      <a:pPr algn="ctr"/>
                      <a:r>
                        <a:rPr sz="900" b="1" i="0">
                          <a:solidFill>
                            <a:srgbClr val="CADCEA"/>
                          </a:solidFill>
                          <a:latin typeface="Calibri"/>
                        </a:rPr>
                        <a:t>DGO</a:t>
                      </a:r>
                    </a:p>
                  </a:txBody>
                  <a:tcPr marL="73152" marR="73152" marT="36576" marB="36576" anchor="ctr">
                    <a:solidFill>
                      <a:srgbClr val="1A2130"/>
                    </a:solidFill>
                  </a:tcPr>
                </a:tc>
                <a:tc>
                  <a:txBody>
                    <a:bodyPr/>
                    <a:lstStyle/>
                    <a:p>
                      <a:pPr algn="ctr"/>
                      <a:r>
                        <a:rPr sz="900" b="1" i="0">
                          <a:solidFill>
                            <a:srgbClr val="CADCEA"/>
                          </a:solidFill>
                          <a:latin typeface="Calibri"/>
                        </a:rPr>
                        <a:t>Data
Owner</a:t>
                      </a:r>
                    </a:p>
                  </a:txBody>
                  <a:tcPr marL="73152" marR="73152" marT="36576" marB="36576" anchor="ctr">
                    <a:solidFill>
                      <a:srgbClr val="1A2130"/>
                    </a:solidFill>
                  </a:tcPr>
                </a:tc>
                <a:tc>
                  <a:txBody>
                    <a:bodyPr/>
                    <a:lstStyle/>
                    <a:p>
                      <a:pPr algn="ctr"/>
                      <a:r>
                        <a:rPr sz="900" b="1" i="0">
                          <a:solidFill>
                            <a:srgbClr val="CADCEA"/>
                          </a:solidFill>
                          <a:latin typeface="Calibri"/>
                        </a:rPr>
                        <a:t>Steward</a:t>
                      </a:r>
                    </a:p>
                  </a:txBody>
                  <a:tcPr marL="73152" marR="73152" marT="36576" marB="36576" anchor="ctr">
                    <a:solidFill>
                      <a:srgbClr val="1A2130"/>
                    </a:solidFill>
                  </a:tcPr>
                </a:tc>
                <a:tc>
                  <a:txBody>
                    <a:bodyPr/>
                    <a:lstStyle/>
                    <a:p>
                      <a:pPr algn="ctr"/>
                      <a:r>
                        <a:rPr sz="900" b="1" i="0">
                          <a:solidFill>
                            <a:srgbClr val="CADCEA"/>
                          </a:solidFill>
                          <a:latin typeface="Calibri"/>
                        </a:rPr>
                        <a:t>Archi-
tect</a:t>
                      </a:r>
                    </a:p>
                  </a:txBody>
                  <a:tcPr marL="73152" marR="73152" marT="36576" marB="36576" anchor="ctr">
                    <a:solidFill>
                      <a:srgbClr val="1A2130"/>
                    </a:solidFill>
                  </a:tcPr>
                </a:tc>
                <a:tc>
                  <a:txBody>
                    <a:bodyPr/>
                    <a:lstStyle/>
                    <a:p>
                      <a:pPr algn="ctr"/>
                      <a:r>
                        <a:rPr sz="900" b="1" i="0">
                          <a:solidFill>
                            <a:srgbClr val="CADCEA"/>
                          </a:solidFill>
                          <a:latin typeface="Calibri"/>
                        </a:rPr>
                        <a:t>Data
Eng / IT</a:t>
                      </a:r>
                    </a:p>
                  </a:txBody>
                  <a:tcPr marL="73152" marR="73152" marT="36576" marB="36576" anchor="ctr">
                    <a:solidFill>
                      <a:srgbClr val="1A2130"/>
                    </a:solidFill>
                  </a:tcPr>
                </a:tc>
                <a:tc>
                  <a:txBody>
                    <a:bodyPr/>
                    <a:lstStyle/>
                    <a:p>
                      <a:pPr algn="ctr"/>
                      <a:r>
                        <a:rPr sz="900" b="1" i="0">
                          <a:solidFill>
                            <a:srgbClr val="CADCEA"/>
                          </a:solidFill>
                          <a:latin typeface="Calibri"/>
                        </a:rPr>
                        <a:t>InfoSec /
Privacy</a:t>
                      </a:r>
                    </a:p>
                  </a:txBody>
                  <a:tcPr marL="73152" marR="73152" marT="36576" marB="36576" anchor="ctr">
                    <a:solidFill>
                      <a:srgbClr val="1A2130"/>
                    </a:solidFill>
                  </a:tcPr>
                </a:tc>
                <a:tc>
                  <a:txBody>
                    <a:bodyPr/>
                    <a:lstStyle/>
                    <a:p>
                      <a:pPr algn="ctr"/>
                      <a:r>
                        <a:rPr sz="900" b="1" i="0">
                          <a:solidFill>
                            <a:srgbClr val="CADCEA"/>
                          </a:solidFill>
                          <a:latin typeface="Calibri"/>
                        </a:rPr>
                        <a:t>Finance /
Reg Rpt</a:t>
                      </a:r>
                    </a:p>
                  </a:txBody>
                  <a:tcPr marL="73152" marR="73152" marT="36576" marB="36576" anchor="ctr">
                    <a:solidFill>
                      <a:srgbClr val="1A2130"/>
                    </a:solidFill>
                  </a:tcPr>
                </a:tc>
                <a:tc>
                  <a:txBody>
                    <a:bodyPr/>
                    <a:lstStyle/>
                    <a:p>
                      <a:pPr algn="ctr"/>
                      <a:r>
                        <a:rPr sz="900" b="1" i="0">
                          <a:solidFill>
                            <a:srgbClr val="CADCEA"/>
                          </a:solidFill>
                          <a:latin typeface="Calibri"/>
                        </a:rPr>
                        <a:t>2nd
Line</a:t>
                      </a:r>
                    </a:p>
                  </a:txBody>
                  <a:tcPr marL="73152" marR="73152" marT="36576" marB="36576" anchor="ctr">
                    <a:solidFill>
                      <a:srgbClr val="1A2130"/>
                    </a:solidFill>
                  </a:tcPr>
                </a:tc>
                <a:tc>
                  <a:txBody>
                    <a:bodyPr/>
                    <a:lstStyle/>
                    <a:p>
                      <a:pPr algn="ctr"/>
                      <a:r>
                        <a:rPr sz="900" b="1" i="0">
                          <a:solidFill>
                            <a:srgbClr val="CADCEA"/>
                          </a:solidFill>
                          <a:latin typeface="Calibri"/>
                        </a:rPr>
                        <a:t>Internal
Audit</a:t>
                      </a:r>
                    </a:p>
                  </a:txBody>
                  <a:tcPr marL="73152" marR="73152" marT="36576" marB="36576" anchor="ctr">
                    <a:solidFill>
                      <a:srgbClr val="1A2130"/>
                    </a:solidFill>
                  </a:tcPr>
                </a:tc>
              </a:tr>
              <a:tr h="347472">
                <a:tc>
                  <a:txBody>
                    <a:bodyPr/>
                    <a:lstStyle/>
                    <a:p>
                      <a:pPr algn="l"/>
                      <a:r>
                        <a:rPr sz="1050" b="1" i="0">
                          <a:solidFill>
                            <a:srgbClr val="1A2130"/>
                          </a:solidFill>
                          <a:latin typeface="Calibri"/>
                        </a:rPr>
                        <a:t>Policy &amp; standards</a:t>
                      </a:r>
                    </a:p>
                  </a:txBody>
                  <a:tcPr marL="73152" marR="73152" marT="36576" marB="36576" anchor="ctr">
                    <a:solidFill>
                      <a:srgbClr val="FFFFFF"/>
                    </a:solidFill>
                  </a:tcPr>
                </a:tc>
                <a:tc>
                  <a:txBody>
                    <a:bodyPr/>
                    <a:lstStyle/>
                    <a:p>
                      <a:pPr algn="ctr"/>
                      <a:r>
                        <a:rPr sz="1050" b="0" i="0">
                          <a:solidFill>
                            <a:srgbClr val="57626B"/>
                          </a:solidFill>
                          <a:latin typeface="Calibri"/>
                        </a:rPr>
                        <a:t>A/R</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47472">
                <a:tc>
                  <a:txBody>
                    <a:bodyPr/>
                    <a:lstStyle/>
                    <a:p>
                      <a:pPr algn="l"/>
                      <a:r>
                        <a:rPr sz="1050" b="1" i="0">
                          <a:solidFill>
                            <a:srgbClr val="1A2130"/>
                          </a:solidFill>
                          <a:latin typeface="Calibri"/>
                        </a:rPr>
                        <a:t>Business glossary</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47472">
                <a:tc>
                  <a:txBody>
                    <a:bodyPr/>
                    <a:lstStyle/>
                    <a:p>
                      <a:pPr algn="l"/>
                      <a:r>
                        <a:rPr sz="1050" b="1" i="0">
                          <a:solidFill>
                            <a:srgbClr val="1A2130"/>
                          </a:solidFill>
                          <a:latin typeface="Calibri"/>
                        </a:rPr>
                        <a:t>Data catalog platform</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47472">
                <a:tc>
                  <a:txBody>
                    <a:bodyPr/>
                    <a:lstStyle/>
                    <a:p>
                      <a:pPr algn="l"/>
                      <a:r>
                        <a:rPr sz="1050" b="1" i="0">
                          <a:solidFill>
                            <a:srgbClr val="1A2130"/>
                          </a:solidFill>
                          <a:latin typeface="Calibri"/>
                        </a:rPr>
                        <a:t>CDE management</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47472">
                <a:tc>
                  <a:txBody>
                    <a:bodyPr/>
                    <a:lstStyle/>
                    <a:p>
                      <a:pPr algn="l"/>
                      <a:r>
                        <a:rPr sz="1050" b="1" i="0">
                          <a:solidFill>
                            <a:srgbClr val="1A2130"/>
                          </a:solidFill>
                          <a:latin typeface="Calibri"/>
                        </a:rPr>
                        <a:t>Data quality rules &amp; monitoring</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47472">
                <a:tc>
                  <a:txBody>
                    <a:bodyPr/>
                    <a:lstStyle/>
                    <a:p>
                      <a:pPr algn="l"/>
                      <a:r>
                        <a:rPr sz="1050" b="1" i="0">
                          <a:solidFill>
                            <a:srgbClr val="1A2130"/>
                          </a:solidFill>
                          <a:latin typeface="Calibri"/>
                        </a:rPr>
                        <a:t>Metadata &amp; lineage</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47472">
                <a:tc>
                  <a:txBody>
                    <a:bodyPr/>
                    <a:lstStyle/>
                    <a:p>
                      <a:pPr algn="l"/>
                      <a:r>
                        <a:rPr sz="1050" b="1" i="0">
                          <a:solidFill>
                            <a:srgbClr val="1A2130"/>
                          </a:solidFill>
                          <a:latin typeface="Calibri"/>
                        </a:rPr>
                        <a:t>Issue &amp; exception management</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47472">
                <a:tc>
                  <a:txBody>
                    <a:bodyPr/>
                    <a:lstStyle/>
                    <a:p>
                      <a:pPr algn="l"/>
                      <a:r>
                        <a:rPr sz="1050" b="1" i="0">
                          <a:solidFill>
                            <a:srgbClr val="1A2130"/>
                          </a:solidFill>
                          <a:latin typeface="Calibri"/>
                        </a:rPr>
                        <a:t>Reference &amp; master data</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47472">
                <a:tc>
                  <a:txBody>
                    <a:bodyPr/>
                    <a:lstStyle/>
                    <a:p>
                      <a:pPr algn="l"/>
                      <a:r>
                        <a:rPr sz="1050" b="1" i="0">
                          <a:solidFill>
                            <a:srgbClr val="1A2130"/>
                          </a:solidFill>
                          <a:latin typeface="Calibri"/>
                        </a:rPr>
                        <a:t>Access &amp; classification</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A</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R</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47472">
                <a:tc>
                  <a:txBody>
                    <a:bodyPr/>
                    <a:lstStyle/>
                    <a:p>
                      <a:pPr algn="l"/>
                      <a:r>
                        <a:rPr sz="1050" b="1" i="0">
                          <a:solidFill>
                            <a:srgbClr val="1A2130"/>
                          </a:solidFill>
                          <a:latin typeface="Calibri"/>
                        </a:rPr>
                        <a:t>Scorecard &amp; KPIs</a:t>
                      </a:r>
                    </a:p>
                  </a:txBody>
                  <a:tcPr marL="73152" marR="73152" marT="36576" marB="36576" anchor="ctr">
                    <a:solidFill>
                      <a:srgbClr val="F4F6F2"/>
                    </a:solidFill>
                  </a:tcPr>
                </a:tc>
                <a:tc>
                  <a:txBody>
                    <a:bodyPr/>
                    <a:lstStyle/>
                    <a:p>
                      <a:pPr algn="ctr"/>
                      <a:r>
                        <a:rPr sz="1050" b="0" i="0">
                          <a:solidFill>
                            <a:srgbClr val="57626B"/>
                          </a:solidFill>
                          <a:latin typeface="Calibri"/>
                        </a:rPr>
                        <a:t>A/R</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C</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r>
              <a:tr h="347472">
                <a:tc>
                  <a:txBody>
                    <a:bodyPr/>
                    <a:lstStyle/>
                    <a:p>
                      <a:pPr algn="l"/>
                      <a:r>
                        <a:rPr sz="1050" b="1" i="0">
                          <a:solidFill>
                            <a:srgbClr val="1A2130"/>
                          </a:solidFill>
                          <a:latin typeface="Calibri"/>
                        </a:rPr>
                        <a:t>Training &amp; adoption</a:t>
                      </a:r>
                    </a:p>
                  </a:txBody>
                  <a:tcPr marL="73152" marR="73152" marT="36576" marB="36576" anchor="ctr">
                    <a:solidFill>
                      <a:srgbClr val="FFFFFF"/>
                    </a:solidFill>
                  </a:tcPr>
                </a:tc>
                <a:tc>
                  <a:txBody>
                    <a:bodyPr/>
                    <a:lstStyle/>
                    <a:p>
                      <a:pPr algn="ctr"/>
                      <a:r>
                        <a:rPr sz="1050" b="0" i="0">
                          <a:solidFill>
                            <a:srgbClr val="57626B"/>
                          </a:solidFill>
                          <a:latin typeface="Calibri"/>
                        </a:rPr>
                        <a:t>A/R</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C</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c>
                  <a:txBody>
                    <a:bodyPr/>
                    <a:lstStyle/>
                    <a:p>
                      <a:pPr algn="ctr"/>
                      <a:r>
                        <a:rPr sz="1050" b="0" i="0">
                          <a:solidFill>
                            <a:srgbClr val="57626B"/>
                          </a:solidFill>
                          <a:latin typeface="Calibri"/>
                        </a:rPr>
                        <a:t>I</a:t>
                      </a:r>
                    </a:p>
                  </a:txBody>
                  <a:tcPr marL="73152" marR="73152" marT="36576" marB="36576" anchor="ctr">
                    <a:solidFill>
                      <a:srgbClr val="FFFFFF"/>
                    </a:solidFill>
                  </a:tcPr>
                </a:tc>
              </a:tr>
              <a:tr h="347472">
                <a:tc>
                  <a:txBody>
                    <a:bodyPr/>
                    <a:lstStyle/>
                    <a:p>
                      <a:pPr algn="l"/>
                      <a:r>
                        <a:rPr sz="1050" b="1" i="0">
                          <a:solidFill>
                            <a:srgbClr val="1A2130"/>
                          </a:solidFill>
                          <a:latin typeface="Calibri"/>
                        </a:rPr>
                        <a:t>Independent assurance</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I</a:t>
                      </a:r>
                    </a:p>
                  </a:txBody>
                  <a:tcPr marL="73152" marR="73152" marT="36576" marB="36576" anchor="ctr">
                    <a:solidFill>
                      <a:srgbClr val="F4F6F2"/>
                    </a:solidFill>
                  </a:tcPr>
                </a:tc>
                <a:tc>
                  <a:txBody>
                    <a:bodyPr/>
                    <a:lstStyle/>
                    <a:p>
                      <a:pPr algn="ctr"/>
                      <a:r>
                        <a:rPr sz="1050" b="0" i="0">
                          <a:solidFill>
                            <a:srgbClr val="57626B"/>
                          </a:solidFill>
                          <a:latin typeface="Calibri"/>
                        </a:rPr>
                        <a:t>R</a:t>
                      </a:r>
                    </a:p>
                  </a:txBody>
                  <a:tcPr marL="73152" marR="73152" marT="36576" marB="36576" anchor="ctr">
                    <a:solidFill>
                      <a:srgbClr val="F4F6F2"/>
                    </a:solidFill>
                  </a:tcPr>
                </a:tc>
                <a:tc>
                  <a:txBody>
                    <a:bodyPr/>
                    <a:lstStyle/>
                    <a:p>
                      <a:pPr algn="ctr"/>
                      <a:r>
                        <a:rPr sz="1050" b="0" i="0">
                          <a:solidFill>
                            <a:srgbClr val="57626B"/>
                          </a:solidFill>
                          <a:latin typeface="Calibri"/>
                        </a:rPr>
                        <a:t>A</a:t>
                      </a:r>
                    </a:p>
                  </a:txBody>
                  <a:tcPr marL="73152" marR="73152" marT="36576" marB="36576" anchor="ctr">
                    <a:solidFill>
                      <a:srgbClr val="F4F6F2"/>
                    </a:solidFill>
                  </a:tcPr>
                </a:tc>
              </a:tr>
            </a:tbl>
          </a:graphicData>
        </a:graphic>
      </p:graphicFrame>
      <p:sp>
        <p:nvSpPr>
          <p:cNvPr id="6" name="TextBox 5"/>
          <p:cNvSpPr txBox="1"/>
          <p:nvPr/>
        </p:nvSpPr>
        <p:spPr>
          <a:xfrm>
            <a:off x="457200" y="5989320"/>
            <a:ext cx="11247120" cy="365760"/>
          </a:xfrm>
          <a:prstGeom prst="rect">
            <a:avLst/>
          </a:prstGeom>
          <a:noFill/>
        </p:spPr>
        <p:txBody>
          <a:bodyPr wrap="square" lIns="0" rIns="0" tIns="0" bIns="0" anchor="t">
            <a:spAutoFit/>
          </a:bodyPr>
          <a:lstStyle/>
          <a:p>
            <a:pPr algn="l"/>
            <a:r>
              <a:rPr sz="1100" b="1" i="1">
                <a:solidFill>
                  <a:srgbClr val="1A2130"/>
                </a:solidFill>
                <a:latin typeface="Calibri"/>
              </a:rPr>
              <a:t>The pattern: the DGO is accountable for the framework; data owners for the data; technology for making it run.</a:t>
            </a:r>
          </a:p>
        </p:txBody>
      </p:sp>
      <p:sp>
        <p:nvSpPr>
          <p:cNvPr id="7" name="TextBox 6"/>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DATA MANAGEMENT · ARCHITECTS</a:t>
            </a:r>
          </a:p>
        </p:txBody>
      </p:sp>
      <p:sp>
        <p:nvSpPr>
          <p:cNvPr id="8" name="TextBox 7"/>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20</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Sizing and staffing</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Indicative only — size follows scope, regulatory profile and how much work sits in the domains.</a:t>
            </a:r>
          </a:p>
        </p:txBody>
      </p:sp>
      <p:graphicFrame>
        <p:nvGraphicFramePr>
          <p:cNvPr id="5" name="Table 4"/>
          <p:cNvGraphicFramePr>
            <a:graphicFrameLocks noGrp="1"/>
          </p:cNvGraphicFramePr>
          <p:nvPr/>
        </p:nvGraphicFramePr>
        <p:xfrm>
          <a:off x="457200" y="1325880"/>
          <a:ext cx="11274552" cy="2542032"/>
        </p:xfrm>
        <a:graphic>
          <a:graphicData uri="http://schemas.openxmlformats.org/drawingml/2006/table">
            <a:tbl>
              <a:tblPr firstRow="1" bandRow="1">
                <a:tableStyleId>{5C22544A-7EE6-4342-B048-85BDC9FD1C3A}</a:tableStyleId>
              </a:tblPr>
              <a:tblGrid>
                <a:gridCol w="2926080"/>
                <a:gridCol w="1645920"/>
                <a:gridCol w="3108960"/>
                <a:gridCol w="3593592"/>
              </a:tblGrid>
              <a:tr h="347472">
                <a:tc>
                  <a:txBody>
                    <a:bodyPr/>
                    <a:lstStyle/>
                    <a:p>
                      <a:pPr algn="l"/>
                      <a:r>
                        <a:rPr sz="1000" b="1" i="0">
                          <a:solidFill>
                            <a:srgbClr val="CADCEA"/>
                          </a:solidFill>
                          <a:latin typeface="Calibri"/>
                        </a:rPr>
                        <a:t>FIRM PROFILE</a:t>
                      </a:r>
                    </a:p>
                  </a:txBody>
                  <a:tcPr marL="73152" marR="73152" marT="36576" marB="36576" anchor="ctr">
                    <a:solidFill>
                      <a:srgbClr val="1A2130"/>
                    </a:solidFill>
                  </a:tcPr>
                </a:tc>
                <a:tc>
                  <a:txBody>
                    <a:bodyPr/>
                    <a:lstStyle/>
                    <a:p>
                      <a:pPr algn="l"/>
                      <a:r>
                        <a:rPr sz="1000" b="1" i="0">
                          <a:solidFill>
                            <a:srgbClr val="CADCEA"/>
                          </a:solidFill>
                          <a:latin typeface="Calibri"/>
                        </a:rPr>
                        <a:t>CORE DGO</a:t>
                      </a:r>
                    </a:p>
                  </a:txBody>
                  <a:tcPr marL="73152" marR="73152" marT="36576" marB="36576" anchor="ctr">
                    <a:solidFill>
                      <a:srgbClr val="1A2130"/>
                    </a:solidFill>
                  </a:tcPr>
                </a:tc>
                <a:tc>
                  <a:txBody>
                    <a:bodyPr/>
                    <a:lstStyle/>
                    <a:p>
                      <a:pPr algn="l"/>
                      <a:r>
                        <a:rPr sz="1000" b="1" i="0">
                          <a:solidFill>
                            <a:srgbClr val="CADCEA"/>
                          </a:solidFill>
                          <a:latin typeface="Calibri"/>
                        </a:rPr>
                        <a:t>EMBEDDED IN THE BUSINESS</a:t>
                      </a:r>
                    </a:p>
                  </a:txBody>
                  <a:tcPr marL="73152" marR="73152" marT="36576" marB="36576" anchor="ctr">
                    <a:solidFill>
                      <a:srgbClr val="1A2130"/>
                    </a:solidFill>
                  </a:tcPr>
                </a:tc>
                <a:tc>
                  <a:txBody>
                    <a:bodyPr/>
                    <a:lstStyle/>
                    <a:p>
                      <a:pPr algn="l"/>
                      <a:r>
                        <a:rPr sz="1000" b="1" i="0">
                          <a:solidFill>
                            <a:srgbClr val="CADCEA"/>
                          </a:solidFill>
                          <a:latin typeface="Calibri"/>
                        </a:rPr>
                        <a:t>TYPICAL FIRST-YEAR FOCUS</a:t>
                      </a:r>
                    </a:p>
                  </a:txBody>
                  <a:tcPr marL="73152" marR="73152" marT="36576" marB="36576" anchor="ctr">
                    <a:solidFill>
                      <a:srgbClr val="1A2130"/>
                    </a:solidFill>
                  </a:tcPr>
                </a:tc>
              </a:tr>
              <a:tr h="731520">
                <a:tc>
                  <a:txBody>
                    <a:bodyPr/>
                    <a:lstStyle/>
                    <a:p>
                      <a:pPr algn="l"/>
                      <a:r>
                        <a:rPr sz="1050" b="1" i="0">
                          <a:solidFill>
                            <a:srgbClr val="1A2130"/>
                          </a:solidFill>
                          <a:latin typeface="Calibri"/>
                        </a:rPr>
                        <a:t>Small / single entity</a:t>
                      </a:r>
                    </a:p>
                  </a:txBody>
                  <a:tcPr marL="73152" marR="73152" marT="36576" marB="36576" anchor="ctr">
                    <a:solidFill>
                      <a:srgbClr val="FFFFFF"/>
                    </a:solidFill>
                  </a:tcPr>
                </a:tc>
                <a:tc>
                  <a:txBody>
                    <a:bodyPr/>
                    <a:lstStyle/>
                    <a:p>
                      <a:pPr algn="l"/>
                      <a:r>
                        <a:rPr sz="1050" b="0" i="0">
                          <a:solidFill>
                            <a:srgbClr val="57626B"/>
                          </a:solidFill>
                          <a:latin typeface="Calibri"/>
                        </a:rPr>
                        <a:t>2–4 people</a:t>
                      </a:r>
                    </a:p>
                  </a:txBody>
                  <a:tcPr marL="73152" marR="73152" marT="36576" marB="36576" anchor="ctr">
                    <a:solidFill>
                      <a:srgbClr val="FFFFFF"/>
                    </a:solidFill>
                  </a:tcPr>
                </a:tc>
                <a:tc>
                  <a:txBody>
                    <a:bodyPr/>
                    <a:lstStyle/>
                    <a:p>
                      <a:pPr algn="l"/>
                      <a:r>
                        <a:rPr sz="1050" b="0" i="0">
                          <a:solidFill>
                            <a:srgbClr val="57626B"/>
                          </a:solidFill>
                          <a:latin typeface="Calibri"/>
                        </a:rPr>
                        <a:t>Part-time stewards in key functions</a:t>
                      </a:r>
                    </a:p>
                  </a:txBody>
                  <a:tcPr marL="73152" marR="73152" marT="36576" marB="36576" anchor="ctr">
                    <a:solidFill>
                      <a:srgbClr val="FFFFFF"/>
                    </a:solidFill>
                  </a:tcPr>
                </a:tc>
                <a:tc>
                  <a:txBody>
                    <a:bodyPr/>
                    <a:lstStyle/>
                    <a:p>
                      <a:pPr algn="l"/>
                      <a:r>
                        <a:rPr sz="1050" b="0" i="0">
                          <a:solidFill>
                            <a:srgbClr val="57626B"/>
                          </a:solidFill>
                          <a:latin typeface="Calibri"/>
                        </a:rPr>
                        <a:t>Policy, glossary, CDEs behind the main regulatory and financial reports</a:t>
                      </a:r>
                    </a:p>
                  </a:txBody>
                  <a:tcPr marL="73152" marR="73152" marT="36576" marB="36576" anchor="ctr">
                    <a:solidFill>
                      <a:srgbClr val="FFFFFF"/>
                    </a:solidFill>
                  </a:tcPr>
                </a:tc>
              </a:tr>
              <a:tr h="731520">
                <a:tc>
                  <a:txBody>
                    <a:bodyPr/>
                    <a:lstStyle/>
                    <a:p>
                      <a:pPr algn="l"/>
                      <a:r>
                        <a:rPr sz="1050" b="1" i="0">
                          <a:solidFill>
                            <a:srgbClr val="1A2130"/>
                          </a:solidFill>
                          <a:latin typeface="Calibri"/>
                        </a:rPr>
                        <a:t>Mid-size / several business lines</a:t>
                      </a:r>
                    </a:p>
                  </a:txBody>
                  <a:tcPr marL="73152" marR="73152" marT="36576" marB="36576" anchor="ctr">
                    <a:solidFill>
                      <a:srgbClr val="F4F6F2"/>
                    </a:solidFill>
                  </a:tcPr>
                </a:tc>
                <a:tc>
                  <a:txBody>
                    <a:bodyPr/>
                    <a:lstStyle/>
                    <a:p>
                      <a:pPr algn="l"/>
                      <a:r>
                        <a:rPr sz="1050" b="0" i="0">
                          <a:solidFill>
                            <a:srgbClr val="57626B"/>
                          </a:solidFill>
                          <a:latin typeface="Calibri"/>
                        </a:rPr>
                        <a:t>6–12 people</a:t>
                      </a:r>
                    </a:p>
                  </a:txBody>
                  <a:tcPr marL="73152" marR="73152" marT="36576" marB="36576" anchor="ctr">
                    <a:solidFill>
                      <a:srgbClr val="F4F6F2"/>
                    </a:solidFill>
                  </a:tcPr>
                </a:tc>
                <a:tc>
                  <a:txBody>
                    <a:bodyPr/>
                    <a:lstStyle/>
                    <a:p>
                      <a:pPr algn="l"/>
                      <a:r>
                        <a:rPr sz="1050" b="0" i="0">
                          <a:solidFill>
                            <a:srgbClr val="57626B"/>
                          </a:solidFill>
                          <a:latin typeface="Calibri"/>
                        </a:rPr>
                        <a:t>Domain leads for the largest areas; named stewards</a:t>
                      </a:r>
                    </a:p>
                  </a:txBody>
                  <a:tcPr marL="73152" marR="73152" marT="36576" marB="36576" anchor="ctr">
                    <a:solidFill>
                      <a:srgbClr val="F4F6F2"/>
                    </a:solidFill>
                  </a:tcPr>
                </a:tc>
                <a:tc>
                  <a:txBody>
                    <a:bodyPr/>
                    <a:lstStyle/>
                    <a:p>
                      <a:pPr algn="l"/>
                      <a:r>
                        <a:rPr sz="1050" b="0" i="0">
                          <a:solidFill>
                            <a:srgbClr val="57626B"/>
                          </a:solidFill>
                          <a:latin typeface="Calibri"/>
                        </a:rPr>
                        <a:t>Add DQ monitoring, GRC issue workflow, catalog</a:t>
                      </a:r>
                    </a:p>
                  </a:txBody>
                  <a:tcPr marL="73152" marR="73152" marT="36576" marB="36576" anchor="ctr">
                    <a:solidFill>
                      <a:srgbClr val="F4F6F2"/>
                    </a:solidFill>
                  </a:tcPr>
                </a:tc>
              </a:tr>
              <a:tr h="731520">
                <a:tc>
                  <a:txBody>
                    <a:bodyPr/>
                    <a:lstStyle/>
                    <a:p>
                      <a:pPr algn="l"/>
                      <a:r>
                        <a:rPr sz="1050" b="1" i="0">
                          <a:solidFill>
                            <a:srgbClr val="1A2130"/>
                          </a:solidFill>
                          <a:latin typeface="Calibri"/>
                        </a:rPr>
                        <a:t>Large / complex or systemically important</a:t>
                      </a:r>
                    </a:p>
                  </a:txBody>
                  <a:tcPr marL="73152" marR="73152" marT="36576" marB="36576" anchor="ctr">
                    <a:solidFill>
                      <a:srgbClr val="FFFFFF"/>
                    </a:solidFill>
                  </a:tcPr>
                </a:tc>
                <a:tc>
                  <a:txBody>
                    <a:bodyPr/>
                    <a:lstStyle/>
                    <a:p>
                      <a:pPr algn="l"/>
                      <a:r>
                        <a:rPr sz="1050" b="0" i="0">
                          <a:solidFill>
                            <a:srgbClr val="57626B"/>
                          </a:solidFill>
                          <a:latin typeface="Calibri"/>
                        </a:rPr>
                        <a:t>20–50+ people</a:t>
                      </a:r>
                    </a:p>
                  </a:txBody>
                  <a:tcPr marL="73152" marR="73152" marT="36576" marB="36576" anchor="ctr">
                    <a:solidFill>
                      <a:srgbClr val="FFFFFF"/>
                    </a:solidFill>
                  </a:tcPr>
                </a:tc>
                <a:tc>
                  <a:txBody>
                    <a:bodyPr/>
                    <a:lstStyle/>
                    <a:p>
                      <a:pPr algn="l"/>
                      <a:r>
                        <a:rPr sz="1050" b="0" i="0">
                          <a:solidFill>
                            <a:srgbClr val="57626B"/>
                          </a:solidFill>
                          <a:latin typeface="Calibri"/>
                        </a:rPr>
                        <a:t>Federated domain teams; stewards in every domain</a:t>
                      </a:r>
                    </a:p>
                  </a:txBody>
                  <a:tcPr marL="73152" marR="73152" marT="36576" marB="36576" anchor="ctr">
                    <a:solidFill>
                      <a:srgbClr val="FFFFFF"/>
                    </a:solidFill>
                  </a:tcPr>
                </a:tc>
                <a:tc>
                  <a:txBody>
                    <a:bodyPr/>
                    <a:lstStyle/>
                    <a:p>
                      <a:pPr algn="l"/>
                      <a:r>
                        <a:rPr sz="1050" b="0" i="0">
                          <a:solidFill>
                            <a:srgbClr val="57626B"/>
                          </a:solidFill>
                          <a:latin typeface="Calibri"/>
                        </a:rPr>
                        <a:t>Full tooling, lineage at scale, formal risk-data aggregation program</a:t>
                      </a:r>
                    </a:p>
                  </a:txBody>
                  <a:tcPr marL="73152" marR="73152" marT="36576" marB="36576" anchor="ctr">
                    <a:solidFill>
                      <a:srgbClr val="FFFFFF"/>
                    </a:solidFill>
                  </a:tcPr>
                </a:tc>
              </a:tr>
            </a:tbl>
          </a:graphicData>
        </a:graphic>
      </p:graphicFrame>
      <p:sp>
        <p:nvSpPr>
          <p:cNvPr id="6" name="TextBox 5"/>
          <p:cNvSpPr txBox="1"/>
          <p:nvPr/>
        </p:nvSpPr>
        <p:spPr>
          <a:xfrm>
            <a:off x="457200" y="4069080"/>
            <a:ext cx="11247120" cy="274320"/>
          </a:xfrm>
          <a:prstGeom prst="rect">
            <a:avLst/>
          </a:prstGeom>
          <a:noFill/>
        </p:spPr>
        <p:txBody>
          <a:bodyPr wrap="square" lIns="0" rIns="0" tIns="0" bIns="0" anchor="t">
            <a:spAutoFit/>
          </a:bodyPr>
          <a:lstStyle/>
          <a:p>
            <a:pPr algn="l"/>
            <a:r>
              <a:rPr sz="1050" b="1" i="0">
                <a:solidFill>
                  <a:srgbClr val="1A2130"/>
                </a:solidFill>
                <a:latin typeface="Courier New"/>
              </a:rPr>
              <a:t>SUGGESTED HIRING ORDER</a:t>
            </a:r>
          </a:p>
        </p:txBody>
      </p:sp>
      <p:sp>
        <p:nvSpPr>
          <p:cNvPr id="7" name="Rounded Rectangle 6"/>
          <p:cNvSpPr/>
          <p:nvPr/>
        </p:nvSpPr>
        <p:spPr>
          <a:xfrm>
            <a:off x="457200" y="4389120"/>
            <a:ext cx="176479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1  Head of Data</a:t>
            </a:r>
          </a:p>
          <a:p>
            <a:pPr algn="ctr"/>
            <a:r>
              <a:rPr sz="1000" b="0" i="0">
                <a:solidFill>
                  <a:srgbClr val="1A2130"/>
                </a:solidFill>
                <a:latin typeface="Calibri"/>
              </a:rPr>
              <a:t>Governance</a:t>
            </a:r>
          </a:p>
        </p:txBody>
      </p:sp>
      <p:cxnSp>
        <p:nvCxnSpPr>
          <p:cNvPr id="8" name="Connector 7"/>
          <p:cNvCxnSpPr/>
          <p:nvPr/>
        </p:nvCxnSpPr>
        <p:spPr>
          <a:xfrm>
            <a:off x="2221991" y="4754880"/>
            <a:ext cx="13716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359152" y="4389120"/>
            <a:ext cx="176479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2  Policy &amp; standards</a:t>
            </a:r>
          </a:p>
          <a:p>
            <a:pPr algn="ctr"/>
            <a:r>
              <a:rPr sz="1000" b="0" i="0">
                <a:solidFill>
                  <a:srgbClr val="1A2130"/>
                </a:solidFill>
                <a:latin typeface="Calibri"/>
              </a:rPr>
              <a:t>manager</a:t>
            </a:r>
          </a:p>
        </p:txBody>
      </p:sp>
      <p:cxnSp>
        <p:nvCxnSpPr>
          <p:cNvPr id="10" name="Connector 9"/>
          <p:cNvCxnSpPr/>
          <p:nvPr/>
        </p:nvCxnSpPr>
        <p:spPr>
          <a:xfrm>
            <a:off x="4123944" y="4754880"/>
            <a:ext cx="13716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61104" y="4389120"/>
            <a:ext cx="176479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3  Data quality</a:t>
            </a:r>
          </a:p>
          <a:p>
            <a:pPr algn="ctr"/>
            <a:r>
              <a:rPr sz="1000" b="0" i="0">
                <a:solidFill>
                  <a:srgbClr val="1A2130"/>
                </a:solidFill>
                <a:latin typeface="Calibri"/>
              </a:rPr>
              <a:t>lead</a:t>
            </a:r>
          </a:p>
        </p:txBody>
      </p:sp>
      <p:cxnSp>
        <p:nvCxnSpPr>
          <p:cNvPr id="12" name="Connector 11"/>
          <p:cNvCxnSpPr/>
          <p:nvPr/>
        </p:nvCxnSpPr>
        <p:spPr>
          <a:xfrm>
            <a:off x="6025896" y="4754880"/>
            <a:ext cx="13716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63056" y="4389120"/>
            <a:ext cx="176479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4  Governance</a:t>
            </a:r>
          </a:p>
          <a:p>
            <a:pPr algn="ctr"/>
            <a:r>
              <a:rPr sz="1000" b="0" i="0">
                <a:solidFill>
                  <a:srgbClr val="1A2130"/>
                </a:solidFill>
                <a:latin typeface="Calibri"/>
              </a:rPr>
              <a:t>architect</a:t>
            </a:r>
          </a:p>
        </p:txBody>
      </p:sp>
      <p:cxnSp>
        <p:nvCxnSpPr>
          <p:cNvPr id="14" name="Connector 13"/>
          <p:cNvCxnSpPr/>
          <p:nvPr/>
        </p:nvCxnSpPr>
        <p:spPr>
          <a:xfrm>
            <a:off x="7927848" y="4754880"/>
            <a:ext cx="13716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65008" y="4389120"/>
            <a:ext cx="176479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5  Domain</a:t>
            </a:r>
          </a:p>
          <a:p>
            <a:pPr algn="ctr"/>
            <a:r>
              <a:rPr sz="1000" b="0" i="0">
                <a:solidFill>
                  <a:srgbClr val="1A2130"/>
                </a:solidFill>
                <a:latin typeface="Calibri"/>
              </a:rPr>
              <a:t>leads</a:t>
            </a:r>
          </a:p>
        </p:txBody>
      </p:sp>
      <p:cxnSp>
        <p:nvCxnSpPr>
          <p:cNvPr id="16" name="Connector 15"/>
          <p:cNvCxnSpPr/>
          <p:nvPr/>
        </p:nvCxnSpPr>
        <p:spPr>
          <a:xfrm>
            <a:off x="9829800" y="4754880"/>
            <a:ext cx="13716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966960" y="4389120"/>
            <a:ext cx="176479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000" b="1" i="0">
                <a:solidFill>
                  <a:srgbClr val="1A2130"/>
                </a:solidFill>
                <a:latin typeface="Calibri"/>
              </a:rPr>
              <a:t>6  Reporting</a:t>
            </a:r>
          </a:p>
          <a:p>
            <a:pPr algn="ctr"/>
            <a:r>
              <a:rPr sz="1000" b="0" i="0">
                <a:solidFill>
                  <a:srgbClr val="1A2130"/>
                </a:solidFill>
                <a:latin typeface="Calibri"/>
              </a:rPr>
              <a:t>analyst</a:t>
            </a:r>
          </a:p>
        </p:txBody>
      </p:sp>
      <p:sp>
        <p:nvSpPr>
          <p:cNvPr id="18" name="TextBox 17"/>
          <p:cNvSpPr txBox="1"/>
          <p:nvPr/>
        </p:nvSpPr>
        <p:spPr>
          <a:xfrm>
            <a:off x="457200" y="5349240"/>
            <a:ext cx="11247120" cy="914400"/>
          </a:xfrm>
          <a:prstGeom prst="rect">
            <a:avLst/>
          </a:prstGeom>
          <a:noFill/>
        </p:spPr>
        <p:txBody>
          <a:bodyPr wrap="square" lIns="0" rIns="0" tIns="0" bIns="0" anchor="t">
            <a:spAutoFit/>
          </a:bodyPr>
          <a:lstStyle/>
          <a:p>
            <a:pPr algn="l"/>
            <a:r>
              <a:rPr sz="1100" b="0" i="1">
                <a:solidFill>
                  <a:srgbClr val="57626B"/>
                </a:solidFill>
                <a:latin typeface="Calibri"/>
              </a:rPr>
              <a:t>Budget beyond headcount: governance tooling licences and implementation, steward time in the business, and remediation work. Remediation is usually the largest cost and belongs in business budgets, not the DGO’s.</a:t>
            </a:r>
          </a:p>
        </p:txBody>
      </p:sp>
      <p:sp>
        <p:nvSpPr>
          <p:cNvPr id="19" name="TextBox 18"/>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a:t>
            </a:r>
          </a:p>
        </p:txBody>
      </p:sp>
      <p:sp>
        <p:nvSpPr>
          <p:cNvPr id="20" name="TextBox 19"/>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21</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Maturity assessment — baseline and target</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Score each capability 1–5 to agree where to invest first. Example profile shown.</a:t>
            </a:r>
          </a:p>
        </p:txBody>
      </p:sp>
      <p:graphicFrame>
        <p:nvGraphicFramePr>
          <p:cNvPr id="5" name="Chart 4"/>
          <p:cNvGraphicFramePr>
            <a:graphicFrameLocks noGrp="1"/>
          </p:cNvGraphicFramePr>
          <p:nvPr/>
        </p:nvGraphicFramePr>
        <p:xfrm>
          <a:off x="457200" y="1325880"/>
          <a:ext cx="6035040" cy="4983480"/>
        </p:xfrm>
        <a:graphic>
          <a:graphicData uri="http://schemas.openxmlformats.org/drawingml/2006/chart">
            <c:chart xmlns:c="http://schemas.openxmlformats.org/drawingml/2006/chart" r:id="rId2"/>
          </a:graphicData>
        </a:graphic>
      </p:graphicFrame>
      <p:graphicFrame>
        <p:nvGraphicFramePr>
          <p:cNvPr id="6" name="Table 5"/>
          <p:cNvGraphicFramePr>
            <a:graphicFrameLocks noGrp="1"/>
          </p:cNvGraphicFramePr>
          <p:nvPr/>
        </p:nvGraphicFramePr>
        <p:xfrm>
          <a:off x="6766560" y="1325880"/>
          <a:ext cx="4965192" cy="2432304"/>
        </p:xfrm>
        <a:graphic>
          <a:graphicData uri="http://schemas.openxmlformats.org/drawingml/2006/table">
            <a:tbl>
              <a:tblPr firstRow="1" bandRow="1">
                <a:tableStyleId>{5C22544A-7EE6-4342-B048-85BDC9FD1C3A}</a:tableStyleId>
              </a:tblPr>
              <a:tblGrid>
                <a:gridCol w="1554480"/>
                <a:gridCol w="3410712"/>
              </a:tblGrid>
              <a:tr h="329184">
                <a:tc>
                  <a:txBody>
                    <a:bodyPr/>
                    <a:lstStyle/>
                    <a:p>
                      <a:pPr algn="l"/>
                      <a:r>
                        <a:rPr sz="1000" b="1" i="0">
                          <a:solidFill>
                            <a:srgbClr val="CADCEA"/>
                          </a:solidFill>
                          <a:latin typeface="Calibri"/>
                        </a:rPr>
                        <a:t>LEVEL</a:t>
                      </a:r>
                    </a:p>
                  </a:txBody>
                  <a:tcPr marL="73152" marR="73152" marT="36576" marB="36576" anchor="ctr">
                    <a:solidFill>
                      <a:srgbClr val="1A2130"/>
                    </a:solidFill>
                  </a:tcPr>
                </a:tc>
                <a:tc>
                  <a:txBody>
                    <a:bodyPr/>
                    <a:lstStyle/>
                    <a:p>
                      <a:pPr algn="l"/>
                      <a:r>
                        <a:rPr sz="1000" b="1" i="0">
                          <a:solidFill>
                            <a:srgbClr val="CADCEA"/>
                          </a:solidFill>
                          <a:latin typeface="Calibri"/>
                        </a:rPr>
                        <a:t>DESCRIPTION</a:t>
                      </a:r>
                    </a:p>
                  </a:txBody>
                  <a:tcPr marL="73152" marR="73152" marT="36576" marB="36576" anchor="ctr">
                    <a:solidFill>
                      <a:srgbClr val="1A2130"/>
                    </a:solidFill>
                  </a:tcPr>
                </a:tc>
              </a:tr>
              <a:tr h="420624">
                <a:tc>
                  <a:txBody>
                    <a:bodyPr/>
                    <a:lstStyle/>
                    <a:p>
                      <a:pPr algn="l"/>
                      <a:r>
                        <a:rPr sz="1050" b="1" i="0">
                          <a:solidFill>
                            <a:srgbClr val="1A2130"/>
                          </a:solidFill>
                          <a:latin typeface="Calibri"/>
                        </a:rPr>
                        <a:t>1  Initial</a:t>
                      </a:r>
                    </a:p>
                  </a:txBody>
                  <a:tcPr marL="73152" marR="73152" marT="36576" marB="36576" anchor="ctr">
                    <a:solidFill>
                      <a:srgbClr val="FFFFFF"/>
                    </a:solidFill>
                  </a:tcPr>
                </a:tc>
                <a:tc>
                  <a:txBody>
                    <a:bodyPr/>
                    <a:lstStyle/>
                    <a:p>
                      <a:pPr algn="l"/>
                      <a:r>
                        <a:rPr sz="1050" b="0" i="0">
                          <a:solidFill>
                            <a:srgbClr val="57626B"/>
                          </a:solidFill>
                          <a:latin typeface="Calibri"/>
                        </a:rPr>
                        <a:t>Ad hoc; depends on individuals</a:t>
                      </a:r>
                    </a:p>
                  </a:txBody>
                  <a:tcPr marL="73152" marR="73152" marT="36576" marB="36576" anchor="ctr">
                    <a:solidFill>
                      <a:srgbClr val="FFFFFF"/>
                    </a:solidFill>
                  </a:tcPr>
                </a:tc>
              </a:tr>
              <a:tr h="420624">
                <a:tc>
                  <a:txBody>
                    <a:bodyPr/>
                    <a:lstStyle/>
                    <a:p>
                      <a:pPr algn="l"/>
                      <a:r>
                        <a:rPr sz="1050" b="1" i="0">
                          <a:solidFill>
                            <a:srgbClr val="1A2130"/>
                          </a:solidFill>
                          <a:latin typeface="Calibri"/>
                        </a:rPr>
                        <a:t>2  Repeatable</a:t>
                      </a:r>
                    </a:p>
                  </a:txBody>
                  <a:tcPr marL="73152" marR="73152" marT="36576" marB="36576" anchor="ctr">
                    <a:solidFill>
                      <a:srgbClr val="F4F6F2"/>
                    </a:solidFill>
                  </a:tcPr>
                </a:tc>
                <a:tc>
                  <a:txBody>
                    <a:bodyPr/>
                    <a:lstStyle/>
                    <a:p>
                      <a:pPr algn="l"/>
                      <a:r>
                        <a:rPr sz="1050" b="0" i="0">
                          <a:solidFill>
                            <a:srgbClr val="57626B"/>
                          </a:solidFill>
                          <a:latin typeface="Calibri"/>
                        </a:rPr>
                        <a:t>Some documented practices in pockets</a:t>
                      </a:r>
                    </a:p>
                  </a:txBody>
                  <a:tcPr marL="73152" marR="73152" marT="36576" marB="36576" anchor="ctr">
                    <a:solidFill>
                      <a:srgbClr val="F4F6F2"/>
                    </a:solidFill>
                  </a:tcPr>
                </a:tc>
              </a:tr>
              <a:tr h="420624">
                <a:tc>
                  <a:txBody>
                    <a:bodyPr/>
                    <a:lstStyle/>
                    <a:p>
                      <a:pPr algn="l"/>
                      <a:r>
                        <a:rPr sz="1050" b="1" i="0">
                          <a:solidFill>
                            <a:srgbClr val="1A2130"/>
                          </a:solidFill>
                          <a:latin typeface="Calibri"/>
                        </a:rPr>
                        <a:t>3  Defined</a:t>
                      </a:r>
                    </a:p>
                  </a:txBody>
                  <a:tcPr marL="73152" marR="73152" marT="36576" marB="36576" anchor="ctr">
                    <a:solidFill>
                      <a:srgbClr val="FFFFFF"/>
                    </a:solidFill>
                  </a:tcPr>
                </a:tc>
                <a:tc>
                  <a:txBody>
                    <a:bodyPr/>
                    <a:lstStyle/>
                    <a:p>
                      <a:pPr algn="l"/>
                      <a:r>
                        <a:rPr sz="1050" b="0" i="0">
                          <a:solidFill>
                            <a:srgbClr val="57626B"/>
                          </a:solidFill>
                          <a:latin typeface="Calibri"/>
                        </a:rPr>
                        <a:t>Enterprise standards exist and are used</a:t>
                      </a:r>
                    </a:p>
                  </a:txBody>
                  <a:tcPr marL="73152" marR="73152" marT="36576" marB="36576" anchor="ctr">
                    <a:solidFill>
                      <a:srgbClr val="FFFFFF"/>
                    </a:solidFill>
                  </a:tcPr>
                </a:tc>
              </a:tr>
              <a:tr h="420624">
                <a:tc>
                  <a:txBody>
                    <a:bodyPr/>
                    <a:lstStyle/>
                    <a:p>
                      <a:pPr algn="l"/>
                      <a:r>
                        <a:rPr sz="1050" b="1" i="0">
                          <a:solidFill>
                            <a:srgbClr val="1A2130"/>
                          </a:solidFill>
                          <a:latin typeface="Calibri"/>
                        </a:rPr>
                        <a:t>4  Managed</a:t>
                      </a:r>
                    </a:p>
                  </a:txBody>
                  <a:tcPr marL="73152" marR="73152" marT="36576" marB="36576" anchor="ctr">
                    <a:solidFill>
                      <a:srgbClr val="F4F6F2"/>
                    </a:solidFill>
                  </a:tcPr>
                </a:tc>
                <a:tc>
                  <a:txBody>
                    <a:bodyPr/>
                    <a:lstStyle/>
                    <a:p>
                      <a:pPr algn="l"/>
                      <a:r>
                        <a:rPr sz="1050" b="0" i="0">
                          <a:solidFill>
                            <a:srgbClr val="57626B"/>
                          </a:solidFill>
                          <a:latin typeface="Calibri"/>
                        </a:rPr>
                        <a:t>Measured, monitored and enforced</a:t>
                      </a:r>
                    </a:p>
                  </a:txBody>
                  <a:tcPr marL="73152" marR="73152" marT="36576" marB="36576" anchor="ctr">
                    <a:solidFill>
                      <a:srgbClr val="F4F6F2"/>
                    </a:solidFill>
                  </a:tcPr>
                </a:tc>
              </a:tr>
              <a:tr h="420624">
                <a:tc>
                  <a:txBody>
                    <a:bodyPr/>
                    <a:lstStyle/>
                    <a:p>
                      <a:pPr algn="l"/>
                      <a:r>
                        <a:rPr sz="1050" b="1" i="0">
                          <a:solidFill>
                            <a:srgbClr val="1A2130"/>
                          </a:solidFill>
                          <a:latin typeface="Calibri"/>
                        </a:rPr>
                        <a:t>5  Optimized</a:t>
                      </a:r>
                    </a:p>
                  </a:txBody>
                  <a:tcPr marL="73152" marR="73152" marT="36576" marB="36576" anchor="ctr">
                    <a:solidFill>
                      <a:srgbClr val="FFFFFF"/>
                    </a:solidFill>
                  </a:tcPr>
                </a:tc>
                <a:tc>
                  <a:txBody>
                    <a:bodyPr/>
                    <a:lstStyle/>
                    <a:p>
                      <a:pPr algn="l"/>
                      <a:r>
                        <a:rPr sz="1050" b="0" i="0">
                          <a:solidFill>
                            <a:srgbClr val="57626B"/>
                          </a:solidFill>
                          <a:latin typeface="Calibri"/>
                        </a:rPr>
                        <a:t>Automated and continuously improved</a:t>
                      </a:r>
                    </a:p>
                  </a:txBody>
                  <a:tcPr marL="73152" marR="73152" marT="36576" marB="36576" anchor="ctr">
                    <a:solidFill>
                      <a:srgbClr val="FFFFFF"/>
                    </a:solidFill>
                  </a:tcPr>
                </a:tc>
              </a:tr>
            </a:tbl>
          </a:graphicData>
        </a:graphic>
      </p:graphicFrame>
      <p:sp>
        <p:nvSpPr>
          <p:cNvPr id="7" name="Rounded Rectangle 6"/>
          <p:cNvSpPr/>
          <p:nvPr/>
        </p:nvSpPr>
        <p:spPr>
          <a:xfrm>
            <a:off x="6766560" y="3977639"/>
            <a:ext cx="4965192" cy="23317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1" i="0">
                <a:solidFill>
                  <a:srgbClr val="1A2130"/>
                </a:solidFill>
                <a:latin typeface="Calibri"/>
              </a:rPr>
              <a:t>HOW TO RUN THE ASSESSMENT</a:t>
            </a:r>
          </a:p>
          <a:p>
            <a:pPr algn="l"/>
            <a:r>
              <a:rPr sz="1050" b="0" i="0">
                <a:solidFill>
                  <a:srgbClr val="1A2130"/>
                </a:solidFill>
                <a:latin typeface="Calibri"/>
              </a:rPr>
              <a:t>• Interview owners, stewards, architects and 2nd line</a:t>
            </a:r>
          </a:p>
          <a:p>
            <a:pPr algn="l"/>
            <a:r>
              <a:rPr sz="1050" b="0" i="0">
                <a:solidFill>
                  <a:srgbClr val="1A2130"/>
                </a:solidFill>
                <a:latin typeface="Calibri"/>
              </a:rPr>
              <a:t>• Score against written criteria, not opinion</a:t>
            </a:r>
          </a:p>
          <a:p>
            <a:pPr algn="l"/>
            <a:r>
              <a:rPr sz="1050" b="0" i="0">
                <a:solidFill>
                  <a:srgbClr val="1A2130"/>
                </a:solidFill>
                <a:latin typeface="Calibri"/>
              </a:rPr>
              <a:t>• Validate with evidence (documents, tools, metrics)</a:t>
            </a:r>
          </a:p>
          <a:p>
            <a:pPr algn="l"/>
            <a:r>
              <a:rPr sz="1050" b="0" i="0">
                <a:solidFill>
                  <a:srgbClr val="1A2130"/>
                </a:solidFill>
                <a:latin typeface="Calibri"/>
              </a:rPr>
              <a:t>• Repeat annually and report the movement</a:t>
            </a:r>
          </a:p>
        </p:txBody>
      </p:sp>
      <p:sp>
        <p:nvSpPr>
          <p:cNvPr id="8" name="TextBox 7"/>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DATA MANAGEMENT</a:t>
            </a:r>
          </a:p>
        </p:txBody>
      </p:sp>
      <p:sp>
        <p:nvSpPr>
          <p:cNvPr id="9" name="TextBox 8"/>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22</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Measuring the DGO’s success</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Five lenses, from “is it set up?” to “is it paying off?”</a:t>
            </a:r>
          </a:p>
        </p:txBody>
      </p:sp>
      <p:sp>
        <p:nvSpPr>
          <p:cNvPr id="5" name="Rounded Rectangle 4"/>
          <p:cNvSpPr/>
          <p:nvPr/>
        </p:nvSpPr>
        <p:spPr>
          <a:xfrm>
            <a:off x="457200" y="1325880"/>
            <a:ext cx="2145182" cy="7772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FFFFFF"/>
                </a:solidFill>
                <a:latin typeface="Calibri"/>
              </a:rPr>
              <a:t>COVERAGE</a:t>
            </a:r>
          </a:p>
          <a:p>
            <a:pPr algn="ctr"/>
            <a:r>
              <a:rPr sz="1100" b="0" i="0">
                <a:solidFill>
                  <a:srgbClr val="CADCEA"/>
                </a:solidFill>
                <a:latin typeface="Calibri"/>
              </a:rPr>
              <a:t>Is it set up?</a:t>
            </a:r>
          </a:p>
        </p:txBody>
      </p:sp>
      <p:sp>
        <p:nvSpPr>
          <p:cNvPr id="6" name="Rounded Rectangle 5"/>
          <p:cNvSpPr/>
          <p:nvPr/>
        </p:nvSpPr>
        <p:spPr>
          <a:xfrm>
            <a:off x="457200" y="2194560"/>
            <a:ext cx="2145182" cy="28346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 % of domains with named owners and stewards</a:t>
            </a:r>
          </a:p>
          <a:p>
            <a:pPr algn="l"/>
            <a:r>
              <a:rPr sz="1050" b="0" i="0">
                <a:solidFill>
                  <a:srgbClr val="57626B"/>
                </a:solidFill>
                <a:latin typeface="Calibri"/>
              </a:rPr>
              <a:t>• % of tier-1 CDEs defined and certified</a:t>
            </a:r>
          </a:p>
          <a:p>
            <a:pPr algn="l"/>
            <a:r>
              <a:rPr sz="1050" b="0" i="0">
                <a:solidFill>
                  <a:srgbClr val="57626B"/>
                </a:solidFill>
                <a:latin typeface="Calibri"/>
              </a:rPr>
              <a:t>• % of regulatory reports with lineage</a:t>
            </a:r>
          </a:p>
        </p:txBody>
      </p:sp>
      <p:sp>
        <p:nvSpPr>
          <p:cNvPr id="7" name="Rounded Rectangle 6"/>
          <p:cNvSpPr/>
          <p:nvPr/>
        </p:nvSpPr>
        <p:spPr>
          <a:xfrm>
            <a:off x="2739542" y="1325880"/>
            <a:ext cx="2145182" cy="7772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FFFFFF"/>
                </a:solidFill>
                <a:latin typeface="Calibri"/>
              </a:rPr>
              <a:t>QUALITY</a:t>
            </a:r>
          </a:p>
          <a:p>
            <a:pPr algn="ctr"/>
            <a:r>
              <a:rPr sz="1100" b="0" i="0">
                <a:solidFill>
                  <a:srgbClr val="CADCEA"/>
                </a:solidFill>
                <a:latin typeface="Calibri"/>
              </a:rPr>
              <a:t>Is the data good?</a:t>
            </a:r>
          </a:p>
        </p:txBody>
      </p:sp>
      <p:sp>
        <p:nvSpPr>
          <p:cNvPr id="8" name="Rounded Rectangle 7"/>
          <p:cNvSpPr/>
          <p:nvPr/>
        </p:nvSpPr>
        <p:spPr>
          <a:xfrm>
            <a:off x="2739542" y="2194560"/>
            <a:ext cx="2145182" cy="28346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 % of tier-1 CDEs meeting DQ thresholds</a:t>
            </a:r>
          </a:p>
          <a:p>
            <a:pPr algn="l"/>
            <a:r>
              <a:rPr sz="1050" b="0" i="0">
                <a:solidFill>
                  <a:srgbClr val="57626B"/>
                </a:solidFill>
                <a:latin typeface="Calibri"/>
              </a:rPr>
              <a:t>• DQ score trend by domain</a:t>
            </a:r>
          </a:p>
        </p:txBody>
      </p:sp>
      <p:sp>
        <p:nvSpPr>
          <p:cNvPr id="9" name="Rounded Rectangle 8"/>
          <p:cNvSpPr/>
          <p:nvPr/>
        </p:nvSpPr>
        <p:spPr>
          <a:xfrm>
            <a:off x="5021884" y="1325880"/>
            <a:ext cx="2145182" cy="7772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FFFFFF"/>
                </a:solidFill>
                <a:latin typeface="Calibri"/>
              </a:rPr>
              <a:t>CONTROL</a:t>
            </a:r>
          </a:p>
          <a:p>
            <a:pPr algn="ctr"/>
            <a:r>
              <a:rPr sz="1100" b="0" i="0">
                <a:solidFill>
                  <a:srgbClr val="CADCEA"/>
                </a:solidFill>
                <a:latin typeface="Calibri"/>
              </a:rPr>
              <a:t>Are problems handled?</a:t>
            </a:r>
          </a:p>
        </p:txBody>
      </p:sp>
      <p:sp>
        <p:nvSpPr>
          <p:cNvPr id="10" name="Rounded Rectangle 9"/>
          <p:cNvSpPr/>
          <p:nvPr/>
        </p:nvSpPr>
        <p:spPr>
          <a:xfrm>
            <a:off x="5021884" y="2194560"/>
            <a:ext cx="2145182" cy="28346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 Critical issues open &gt; 30 days</a:t>
            </a:r>
          </a:p>
          <a:p>
            <a:pPr algn="l"/>
            <a:r>
              <a:rPr sz="1050" b="0" i="0">
                <a:solidFill>
                  <a:srgbClr val="57626B"/>
                </a:solidFill>
                <a:latin typeface="Calibri"/>
              </a:rPr>
              <a:t>• Exceptions past expiry</a:t>
            </a:r>
          </a:p>
          <a:p>
            <a:pPr algn="l"/>
            <a:r>
              <a:rPr sz="1050" b="0" i="0">
                <a:solidFill>
                  <a:srgbClr val="57626B"/>
                </a:solidFill>
                <a:latin typeface="Calibri"/>
              </a:rPr>
              <a:t>• Repeat issues</a:t>
            </a:r>
          </a:p>
        </p:txBody>
      </p:sp>
      <p:sp>
        <p:nvSpPr>
          <p:cNvPr id="11" name="Rounded Rectangle 10"/>
          <p:cNvSpPr/>
          <p:nvPr/>
        </p:nvSpPr>
        <p:spPr>
          <a:xfrm>
            <a:off x="7304227" y="1325880"/>
            <a:ext cx="2145182" cy="7772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FFFFFF"/>
                </a:solidFill>
                <a:latin typeface="Calibri"/>
              </a:rPr>
              <a:t>ADOPTION</a:t>
            </a:r>
          </a:p>
          <a:p>
            <a:pPr algn="ctr"/>
            <a:r>
              <a:rPr sz="1100" b="0" i="0">
                <a:solidFill>
                  <a:srgbClr val="CADCEA"/>
                </a:solidFill>
                <a:latin typeface="Calibri"/>
              </a:rPr>
              <a:t>Is it being used?</a:t>
            </a:r>
          </a:p>
        </p:txBody>
      </p:sp>
      <p:sp>
        <p:nvSpPr>
          <p:cNvPr id="12" name="Rounded Rectangle 11"/>
          <p:cNvSpPr/>
          <p:nvPr/>
        </p:nvSpPr>
        <p:spPr>
          <a:xfrm>
            <a:off x="7304227" y="2194560"/>
            <a:ext cx="2145182" cy="28346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 Active catalog users</a:t>
            </a:r>
          </a:p>
          <a:p>
            <a:pPr algn="l"/>
            <a:r>
              <a:rPr sz="1050" b="0" i="0">
                <a:solidFill>
                  <a:srgbClr val="57626B"/>
                </a:solidFill>
                <a:latin typeface="Calibri"/>
              </a:rPr>
              <a:t>• Steward training completion</a:t>
            </a:r>
          </a:p>
          <a:p>
            <a:pPr algn="l"/>
            <a:r>
              <a:rPr sz="1050" b="0" i="0">
                <a:solidFill>
                  <a:srgbClr val="57626B"/>
                </a:solidFill>
                <a:latin typeface="Calibri"/>
              </a:rPr>
              <a:t>• Projects passing the go-live gate</a:t>
            </a:r>
          </a:p>
        </p:txBody>
      </p:sp>
      <p:sp>
        <p:nvSpPr>
          <p:cNvPr id="13" name="Rounded Rectangle 12"/>
          <p:cNvSpPr/>
          <p:nvPr/>
        </p:nvSpPr>
        <p:spPr>
          <a:xfrm>
            <a:off x="9586569" y="1325880"/>
            <a:ext cx="2145182" cy="7772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00" b="1" i="0">
                <a:solidFill>
                  <a:srgbClr val="FFFFFF"/>
                </a:solidFill>
                <a:latin typeface="Calibri"/>
              </a:rPr>
              <a:t>VALUE</a:t>
            </a:r>
          </a:p>
          <a:p>
            <a:pPr algn="ctr"/>
            <a:r>
              <a:rPr sz="1100" b="0" i="0">
                <a:solidFill>
                  <a:srgbClr val="CADCEA"/>
                </a:solidFill>
                <a:latin typeface="Calibri"/>
              </a:rPr>
              <a:t>Is it paying off?</a:t>
            </a:r>
          </a:p>
        </p:txBody>
      </p:sp>
      <p:sp>
        <p:nvSpPr>
          <p:cNvPr id="14" name="Rounded Rectangle 13"/>
          <p:cNvSpPr/>
          <p:nvPr/>
        </p:nvSpPr>
        <p:spPr>
          <a:xfrm>
            <a:off x="9586569" y="2194560"/>
            <a:ext cx="2145182" cy="283464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1A2130"/>
                </a:solidFill>
                <a:latin typeface="Calibri"/>
              </a:rPr>
              <a:t>• Audit and exam findings closed</a:t>
            </a:r>
          </a:p>
          <a:p>
            <a:pPr algn="l"/>
            <a:r>
              <a:rPr sz="1050" b="0" i="0">
                <a:solidFill>
                  <a:srgbClr val="1A2130"/>
                </a:solidFill>
                <a:latin typeface="Calibri"/>
              </a:rPr>
              <a:t>• Manual reconciliation hours removed</a:t>
            </a:r>
          </a:p>
          <a:p>
            <a:pPr algn="l"/>
            <a:r>
              <a:rPr sz="1050" b="0" i="0">
                <a:solidFill>
                  <a:srgbClr val="1A2130"/>
                </a:solidFill>
                <a:latin typeface="Calibri"/>
              </a:rPr>
              <a:t>• Report production cycle time</a:t>
            </a:r>
          </a:p>
        </p:txBody>
      </p:sp>
      <p:sp>
        <p:nvSpPr>
          <p:cNvPr id="15" name="Rounded Rectangle 14"/>
          <p:cNvSpPr/>
          <p:nvPr/>
        </p:nvSpPr>
        <p:spPr>
          <a:xfrm>
            <a:off x="457200" y="5257800"/>
            <a:ext cx="11274552" cy="8229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For leaders: </a:t>
            </a:r>
            <a:r>
              <a:rPr sz="1150" b="0" i="0">
                <a:solidFill>
                  <a:srgbClr val="57626B"/>
                </a:solidFill>
                <a:latin typeface="Calibri"/>
              </a:rPr>
              <a:t>report coverage early, quality and control as the program matures, and value always. Value in business terms (findings closed, hours saved) is what keeps funding in place.</a:t>
            </a:r>
          </a:p>
        </p:txBody>
      </p:sp>
      <p:sp>
        <p:nvSpPr>
          <p:cNvPr id="16" name="TextBox 15"/>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ARCHITECTS · DATA MANAGEMENT</a:t>
            </a:r>
          </a:p>
        </p:txBody>
      </p:sp>
      <p:sp>
        <p:nvSpPr>
          <p:cNvPr id="17" name="TextBox 16"/>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23</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Roadmap — from charter to steady state</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Start with one domain and one painful problem; prove value, then scale.</a:t>
            </a:r>
          </a:p>
        </p:txBody>
      </p:sp>
      <p:sp>
        <p:nvSpPr>
          <p:cNvPr id="5" name="Rounded Rectangle 4"/>
          <p:cNvSpPr/>
          <p:nvPr/>
        </p:nvSpPr>
        <p:spPr>
          <a:xfrm>
            <a:off x="457200" y="1325880"/>
            <a:ext cx="357530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50" b="1" i="0">
                <a:solidFill>
                  <a:srgbClr val="FFFFFF"/>
                </a:solidFill>
                <a:latin typeface="Calibri"/>
              </a:rPr>
              <a:t>FIRST 90 DAYS</a:t>
            </a:r>
          </a:p>
          <a:p>
            <a:pPr algn="ctr"/>
            <a:r>
              <a:rPr sz="1150" b="0" i="0">
                <a:solidFill>
                  <a:srgbClr val="CADCEA"/>
                </a:solidFill>
                <a:latin typeface="Calibri"/>
              </a:rPr>
              <a:t>Stand up</a:t>
            </a:r>
          </a:p>
        </p:txBody>
      </p:sp>
      <p:sp>
        <p:nvSpPr>
          <p:cNvPr id="6" name="Rounded Rectangle 5"/>
          <p:cNvSpPr/>
          <p:nvPr/>
        </p:nvSpPr>
        <p:spPr>
          <a:xfrm>
            <a:off x="457200" y="2148840"/>
            <a:ext cx="3575304" cy="3063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 Executive sponsor and charter approved</a:t>
            </a:r>
          </a:p>
          <a:p>
            <a:pPr algn="l"/>
            <a:r>
              <a:rPr sz="1050" b="0" i="0">
                <a:solidFill>
                  <a:srgbClr val="57626B"/>
                </a:solidFill>
                <a:latin typeface="Calibri"/>
              </a:rPr>
              <a:t>• Head of Data Governance appointed</a:t>
            </a:r>
          </a:p>
          <a:p>
            <a:pPr algn="l"/>
            <a:r>
              <a:rPr sz="1050" b="0" i="0">
                <a:solidFill>
                  <a:srgbClr val="57626B"/>
                </a:solidFill>
                <a:latin typeface="Calibri"/>
              </a:rPr>
              <a:t>• Council formed; first meeting held</a:t>
            </a:r>
          </a:p>
          <a:p>
            <a:pPr algn="l"/>
            <a:r>
              <a:rPr sz="1050" b="0" i="0">
                <a:solidFill>
                  <a:srgbClr val="57626B"/>
                </a:solidFill>
                <a:latin typeface="Calibri"/>
              </a:rPr>
              <a:t>• Maturity baseline completed</a:t>
            </a:r>
          </a:p>
          <a:p>
            <a:pPr algn="l"/>
            <a:r>
              <a:rPr sz="1050" b="0" i="0">
                <a:solidFill>
                  <a:srgbClr val="57626B"/>
                </a:solidFill>
                <a:latin typeface="Calibri"/>
              </a:rPr>
              <a:t>• First domain chosen (e.g., regulatory reporting data)</a:t>
            </a:r>
          </a:p>
          <a:p>
            <a:pPr algn="l"/>
            <a:r>
              <a:rPr sz="1050" b="0" i="0">
                <a:solidFill>
                  <a:srgbClr val="57626B"/>
                </a:solidFill>
                <a:latin typeface="Calibri"/>
              </a:rPr>
              <a:t>• Owners and stewards named for it</a:t>
            </a:r>
          </a:p>
        </p:txBody>
      </p:sp>
      <p:cxnSp>
        <p:nvCxnSpPr>
          <p:cNvPr id="7" name="Connector 6"/>
          <p:cNvCxnSpPr/>
          <p:nvPr/>
        </p:nvCxnSpPr>
        <p:spPr>
          <a:xfrm>
            <a:off x="4032504" y="1691640"/>
            <a:ext cx="274320" cy="0"/>
          </a:xfrm>
          <a:prstGeom prst="line">
            <a:avLst/>
          </a:prstGeom>
          <a:ln w="19050">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06824" y="1325880"/>
            <a:ext cx="357530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50" b="1" i="0">
                <a:solidFill>
                  <a:srgbClr val="FFFFFF"/>
                </a:solidFill>
                <a:latin typeface="Calibri"/>
              </a:rPr>
              <a:t>MONTHS 3–12</a:t>
            </a:r>
          </a:p>
          <a:p>
            <a:pPr algn="ctr"/>
            <a:r>
              <a:rPr sz="1150" b="0" i="0">
                <a:solidFill>
                  <a:srgbClr val="CADCEA"/>
                </a:solidFill>
                <a:latin typeface="Calibri"/>
              </a:rPr>
              <a:t>Prove value</a:t>
            </a:r>
          </a:p>
        </p:txBody>
      </p:sp>
      <p:sp>
        <p:nvSpPr>
          <p:cNvPr id="9" name="Rounded Rectangle 8"/>
          <p:cNvSpPr/>
          <p:nvPr/>
        </p:nvSpPr>
        <p:spPr>
          <a:xfrm>
            <a:off x="4306824" y="2148840"/>
            <a:ext cx="3575304" cy="3063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57626B"/>
                </a:solidFill>
                <a:latin typeface="Calibri"/>
              </a:rPr>
              <a:t>• Policy and core standards approved</a:t>
            </a:r>
          </a:p>
          <a:p>
            <a:pPr algn="l"/>
            <a:r>
              <a:rPr sz="1050" b="0" i="0">
                <a:solidFill>
                  <a:srgbClr val="57626B"/>
                </a:solidFill>
                <a:latin typeface="Calibri"/>
              </a:rPr>
              <a:t>• Tier-1 CDEs defined for the first domain</a:t>
            </a:r>
          </a:p>
          <a:p>
            <a:pPr algn="l"/>
            <a:r>
              <a:rPr sz="1050" b="0" i="0">
                <a:solidFill>
                  <a:srgbClr val="57626B"/>
                </a:solidFill>
                <a:latin typeface="Calibri"/>
              </a:rPr>
              <a:t>• DQ monitoring and issue workflow live</a:t>
            </a:r>
          </a:p>
          <a:p>
            <a:pPr algn="l"/>
            <a:r>
              <a:rPr sz="1050" b="0" i="0">
                <a:solidFill>
                  <a:srgbClr val="57626B"/>
                </a:solidFill>
                <a:latin typeface="Calibri"/>
              </a:rPr>
              <a:t>• Catalog selected and seeded</a:t>
            </a:r>
          </a:p>
          <a:p>
            <a:pPr algn="l"/>
            <a:r>
              <a:rPr sz="1050" b="0" i="0">
                <a:solidFill>
                  <a:srgbClr val="57626B"/>
                </a:solidFill>
                <a:latin typeface="Calibri"/>
              </a:rPr>
              <a:t>• Monthly scorecard to the council</a:t>
            </a:r>
          </a:p>
          <a:p>
            <a:pPr algn="l"/>
            <a:r>
              <a:rPr sz="1050" b="0" i="0">
                <a:solidFill>
                  <a:srgbClr val="57626B"/>
                </a:solidFill>
                <a:latin typeface="Calibri"/>
              </a:rPr>
              <a:t>• First quick wins communicated</a:t>
            </a:r>
          </a:p>
        </p:txBody>
      </p:sp>
      <p:cxnSp>
        <p:nvCxnSpPr>
          <p:cNvPr id="10" name="Connector 9"/>
          <p:cNvCxnSpPr/>
          <p:nvPr/>
        </p:nvCxnSpPr>
        <p:spPr>
          <a:xfrm>
            <a:off x="7882128" y="1691640"/>
            <a:ext cx="274320" cy="0"/>
          </a:xfrm>
          <a:prstGeom prst="line">
            <a:avLst/>
          </a:prstGeom>
          <a:ln w="19050">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56448" y="1325880"/>
            <a:ext cx="357530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150" b="1" i="0">
                <a:solidFill>
                  <a:srgbClr val="FFFFFF"/>
                </a:solidFill>
                <a:latin typeface="Calibri"/>
              </a:rPr>
              <a:t>MONTHS 12–24</a:t>
            </a:r>
          </a:p>
          <a:p>
            <a:pPr algn="ctr"/>
            <a:r>
              <a:rPr sz="1150" b="0" i="0">
                <a:solidFill>
                  <a:srgbClr val="CADCEA"/>
                </a:solidFill>
                <a:latin typeface="Calibri"/>
              </a:rPr>
              <a:t>Scale</a:t>
            </a:r>
          </a:p>
        </p:txBody>
      </p:sp>
      <p:sp>
        <p:nvSpPr>
          <p:cNvPr id="12" name="Rounded Rectangle 11"/>
          <p:cNvSpPr/>
          <p:nvPr/>
        </p:nvSpPr>
        <p:spPr>
          <a:xfrm>
            <a:off x="8156448" y="2148840"/>
            <a:ext cx="3575304" cy="306324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050" b="0" i="0">
                <a:solidFill>
                  <a:srgbClr val="1A2130"/>
                </a:solidFill>
                <a:latin typeface="Calibri"/>
              </a:rPr>
              <a:t>• Hybrid model: domain leads in more areas</a:t>
            </a:r>
          </a:p>
          <a:p>
            <a:pPr algn="l"/>
            <a:r>
              <a:rPr sz="1050" b="0" i="0">
                <a:solidFill>
                  <a:srgbClr val="1A2130"/>
                </a:solidFill>
                <a:latin typeface="Calibri"/>
              </a:rPr>
              <a:t>• Lineage harvested for key reports</a:t>
            </a:r>
          </a:p>
          <a:p>
            <a:pPr algn="l"/>
            <a:r>
              <a:rPr sz="1050" b="0" i="0">
                <a:solidFill>
                  <a:srgbClr val="1A2130"/>
                </a:solidFill>
                <a:latin typeface="Calibri"/>
              </a:rPr>
              <a:t>• Governance gate in project delivery</a:t>
            </a:r>
          </a:p>
          <a:p>
            <a:pPr algn="l"/>
            <a:r>
              <a:rPr sz="1050" b="0" i="0">
                <a:solidFill>
                  <a:srgbClr val="1A2130"/>
                </a:solidFill>
                <a:latin typeface="Calibri"/>
              </a:rPr>
              <a:t>• Classification-driven access with InfoSec</a:t>
            </a:r>
          </a:p>
          <a:p>
            <a:pPr algn="l"/>
            <a:r>
              <a:rPr sz="1050" b="0" i="0">
                <a:solidFill>
                  <a:srgbClr val="1A2130"/>
                </a:solidFill>
                <a:latin typeface="Calibri"/>
              </a:rPr>
              <a:t>• Annual CDE certification and reassessment</a:t>
            </a:r>
          </a:p>
          <a:p>
            <a:pPr algn="l"/>
            <a:r>
              <a:rPr sz="1050" b="0" i="0">
                <a:solidFill>
                  <a:srgbClr val="1A2130"/>
                </a:solidFill>
                <a:latin typeface="Calibri"/>
              </a:rPr>
              <a:t>• Value reported to the executive committee</a:t>
            </a:r>
          </a:p>
        </p:txBody>
      </p:sp>
      <p:sp>
        <p:nvSpPr>
          <p:cNvPr id="13" name="Rounded Rectangle 12"/>
          <p:cNvSpPr/>
          <p:nvPr/>
        </p:nvSpPr>
        <p:spPr>
          <a:xfrm>
            <a:off x="457200" y="5440680"/>
            <a:ext cx="11274552"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Timelines are illustrative. </a:t>
            </a:r>
            <a:r>
              <a:rPr sz="1150" b="0" i="0">
                <a:solidFill>
                  <a:srgbClr val="57626B"/>
                </a:solidFill>
                <a:latin typeface="Calibri"/>
              </a:rPr>
              <a:t>Pick a first domain with visible pain, executive attention and a clear finish line — a regulatory report is often the best candidate.</a:t>
            </a:r>
          </a:p>
        </p:txBody>
      </p:sp>
      <p:sp>
        <p:nvSpPr>
          <p:cNvPr id="14" name="TextBox 13"/>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a:t>
            </a:r>
          </a:p>
        </p:txBody>
      </p:sp>
      <p:sp>
        <p:nvSpPr>
          <p:cNvPr id="15" name="TextBox 14"/>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24</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Best practices for setting up the DGO</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Lessons that consistently separate programs that stick from those that stall.</a:t>
            </a:r>
          </a:p>
        </p:txBody>
      </p:sp>
      <p:sp>
        <p:nvSpPr>
          <p:cNvPr id="5" name="Rounded Rectangle 4"/>
          <p:cNvSpPr/>
          <p:nvPr/>
        </p:nvSpPr>
        <p:spPr>
          <a:xfrm>
            <a:off x="457200" y="132588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1</a:t>
            </a:r>
          </a:p>
        </p:txBody>
      </p:sp>
      <p:sp>
        <p:nvSpPr>
          <p:cNvPr id="6" name="TextBox 5"/>
          <p:cNvSpPr txBox="1"/>
          <p:nvPr/>
        </p:nvSpPr>
        <p:spPr>
          <a:xfrm>
            <a:off x="1097280" y="1325880"/>
            <a:ext cx="4860036" cy="274320"/>
          </a:xfrm>
          <a:prstGeom prst="rect">
            <a:avLst/>
          </a:prstGeom>
          <a:noFill/>
        </p:spPr>
        <p:txBody>
          <a:bodyPr wrap="square" lIns="0" rIns="0" tIns="0" bIns="0" anchor="t">
            <a:spAutoFit/>
          </a:bodyPr>
          <a:lstStyle/>
          <a:p>
            <a:pPr algn="l"/>
            <a:r>
              <a:rPr sz="1250" b="1" i="0">
                <a:solidFill>
                  <a:srgbClr val="1A2130"/>
                </a:solidFill>
                <a:latin typeface="Cambria"/>
              </a:rPr>
              <a:t>Secure a sponsor with real authority</a:t>
            </a:r>
          </a:p>
        </p:txBody>
      </p:sp>
      <p:sp>
        <p:nvSpPr>
          <p:cNvPr id="7" name="TextBox 6"/>
          <p:cNvSpPr txBox="1"/>
          <p:nvPr/>
        </p:nvSpPr>
        <p:spPr>
          <a:xfrm>
            <a:off x="1097280" y="1627632"/>
            <a:ext cx="4860036" cy="548640"/>
          </a:xfrm>
          <a:prstGeom prst="rect">
            <a:avLst/>
          </a:prstGeom>
          <a:noFill/>
        </p:spPr>
        <p:txBody>
          <a:bodyPr wrap="square" lIns="0" rIns="0" tIns="0" bIns="0" anchor="t">
            <a:spAutoFit/>
          </a:bodyPr>
          <a:lstStyle/>
          <a:p>
            <a:pPr algn="l"/>
            <a:r>
              <a:rPr sz="1050" b="0" i="0">
                <a:solidFill>
                  <a:srgbClr val="57626B"/>
                </a:solidFill>
                <a:latin typeface="Calibri"/>
              </a:rPr>
              <a:t>Someone who can make business leaders accept ownership.</a:t>
            </a:r>
          </a:p>
        </p:txBody>
      </p:sp>
      <p:sp>
        <p:nvSpPr>
          <p:cNvPr id="8" name="Rounded Rectangle 7"/>
          <p:cNvSpPr/>
          <p:nvPr/>
        </p:nvSpPr>
        <p:spPr>
          <a:xfrm>
            <a:off x="6231636" y="132588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2</a:t>
            </a:r>
          </a:p>
        </p:txBody>
      </p:sp>
      <p:sp>
        <p:nvSpPr>
          <p:cNvPr id="9" name="TextBox 8"/>
          <p:cNvSpPr txBox="1"/>
          <p:nvPr/>
        </p:nvSpPr>
        <p:spPr>
          <a:xfrm>
            <a:off x="6871716" y="1325880"/>
            <a:ext cx="4860036" cy="274320"/>
          </a:xfrm>
          <a:prstGeom prst="rect">
            <a:avLst/>
          </a:prstGeom>
          <a:noFill/>
        </p:spPr>
        <p:txBody>
          <a:bodyPr wrap="square" lIns="0" rIns="0" tIns="0" bIns="0" anchor="t">
            <a:spAutoFit/>
          </a:bodyPr>
          <a:lstStyle/>
          <a:p>
            <a:pPr algn="l"/>
            <a:r>
              <a:rPr sz="1250" b="1" i="0">
                <a:solidFill>
                  <a:srgbClr val="1A2130"/>
                </a:solidFill>
                <a:latin typeface="Cambria"/>
              </a:rPr>
              <a:t>Start with one domain and one problem</a:t>
            </a:r>
          </a:p>
        </p:txBody>
      </p:sp>
      <p:sp>
        <p:nvSpPr>
          <p:cNvPr id="10" name="TextBox 9"/>
          <p:cNvSpPr txBox="1"/>
          <p:nvPr/>
        </p:nvSpPr>
        <p:spPr>
          <a:xfrm>
            <a:off x="6871716" y="1627632"/>
            <a:ext cx="4860036" cy="548640"/>
          </a:xfrm>
          <a:prstGeom prst="rect">
            <a:avLst/>
          </a:prstGeom>
          <a:noFill/>
        </p:spPr>
        <p:txBody>
          <a:bodyPr wrap="square" lIns="0" rIns="0" tIns="0" bIns="0" anchor="t">
            <a:spAutoFit/>
          </a:bodyPr>
          <a:lstStyle/>
          <a:p>
            <a:pPr algn="l"/>
            <a:r>
              <a:rPr sz="1050" b="0" i="0">
                <a:solidFill>
                  <a:srgbClr val="57626B"/>
                </a:solidFill>
                <a:latin typeface="Calibri"/>
              </a:rPr>
              <a:t>Visible pain, a clear finish line, then scale.</a:t>
            </a:r>
          </a:p>
        </p:txBody>
      </p:sp>
      <p:sp>
        <p:nvSpPr>
          <p:cNvPr id="11" name="Rounded Rectangle 10"/>
          <p:cNvSpPr/>
          <p:nvPr/>
        </p:nvSpPr>
        <p:spPr>
          <a:xfrm>
            <a:off x="457200" y="228600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3</a:t>
            </a:r>
          </a:p>
        </p:txBody>
      </p:sp>
      <p:sp>
        <p:nvSpPr>
          <p:cNvPr id="12" name="TextBox 11"/>
          <p:cNvSpPr txBox="1"/>
          <p:nvPr/>
        </p:nvSpPr>
        <p:spPr>
          <a:xfrm>
            <a:off x="1097280" y="2286000"/>
            <a:ext cx="4860036" cy="274320"/>
          </a:xfrm>
          <a:prstGeom prst="rect">
            <a:avLst/>
          </a:prstGeom>
          <a:noFill/>
        </p:spPr>
        <p:txBody>
          <a:bodyPr wrap="square" lIns="0" rIns="0" tIns="0" bIns="0" anchor="t">
            <a:spAutoFit/>
          </a:bodyPr>
          <a:lstStyle/>
          <a:p>
            <a:pPr algn="l"/>
            <a:r>
              <a:rPr sz="1250" b="1" i="0">
                <a:solidFill>
                  <a:srgbClr val="1A2130"/>
                </a:solidFill>
                <a:latin typeface="Cambria"/>
              </a:rPr>
              <a:t>Name owners before buying tools</a:t>
            </a:r>
          </a:p>
        </p:txBody>
      </p:sp>
      <p:sp>
        <p:nvSpPr>
          <p:cNvPr id="13" name="TextBox 12"/>
          <p:cNvSpPr txBox="1"/>
          <p:nvPr/>
        </p:nvSpPr>
        <p:spPr>
          <a:xfrm>
            <a:off x="1097280" y="2587752"/>
            <a:ext cx="4860036" cy="548640"/>
          </a:xfrm>
          <a:prstGeom prst="rect">
            <a:avLst/>
          </a:prstGeom>
          <a:noFill/>
        </p:spPr>
        <p:txBody>
          <a:bodyPr wrap="square" lIns="0" rIns="0" tIns="0" bIns="0" anchor="t">
            <a:spAutoFit/>
          </a:bodyPr>
          <a:lstStyle/>
          <a:p>
            <a:pPr algn="l"/>
            <a:r>
              <a:rPr sz="1050" b="0" i="0">
                <a:solidFill>
                  <a:srgbClr val="57626B"/>
                </a:solidFill>
                <a:latin typeface="Calibri"/>
              </a:rPr>
              <a:t>Tools amplify a working process; they don't create one.</a:t>
            </a:r>
          </a:p>
        </p:txBody>
      </p:sp>
      <p:sp>
        <p:nvSpPr>
          <p:cNvPr id="14" name="Rounded Rectangle 13"/>
          <p:cNvSpPr/>
          <p:nvPr/>
        </p:nvSpPr>
        <p:spPr>
          <a:xfrm>
            <a:off x="6231636" y="228600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4</a:t>
            </a:r>
          </a:p>
        </p:txBody>
      </p:sp>
      <p:sp>
        <p:nvSpPr>
          <p:cNvPr id="15" name="TextBox 14"/>
          <p:cNvSpPr txBox="1"/>
          <p:nvPr/>
        </p:nvSpPr>
        <p:spPr>
          <a:xfrm>
            <a:off x="6871716" y="2286000"/>
            <a:ext cx="4860036" cy="274320"/>
          </a:xfrm>
          <a:prstGeom prst="rect">
            <a:avLst/>
          </a:prstGeom>
          <a:noFill/>
        </p:spPr>
        <p:txBody>
          <a:bodyPr wrap="square" lIns="0" rIns="0" tIns="0" bIns="0" anchor="t">
            <a:spAutoFit/>
          </a:bodyPr>
          <a:lstStyle/>
          <a:p>
            <a:pPr algn="l"/>
            <a:r>
              <a:rPr sz="1250" b="1" i="0">
                <a:solidFill>
                  <a:srgbClr val="1A2130"/>
                </a:solidFill>
                <a:latin typeface="Cambria"/>
              </a:rPr>
              <a:t>Keep the CDE list short</a:t>
            </a:r>
          </a:p>
        </p:txBody>
      </p:sp>
      <p:sp>
        <p:nvSpPr>
          <p:cNvPr id="16" name="TextBox 15"/>
          <p:cNvSpPr txBox="1"/>
          <p:nvPr/>
        </p:nvSpPr>
        <p:spPr>
          <a:xfrm>
            <a:off x="6871716" y="2587752"/>
            <a:ext cx="4860036" cy="548640"/>
          </a:xfrm>
          <a:prstGeom prst="rect">
            <a:avLst/>
          </a:prstGeom>
          <a:noFill/>
        </p:spPr>
        <p:txBody>
          <a:bodyPr wrap="square" lIns="0" rIns="0" tIns="0" bIns="0" anchor="t">
            <a:spAutoFit/>
          </a:bodyPr>
          <a:lstStyle/>
          <a:p>
            <a:pPr algn="l"/>
            <a:r>
              <a:rPr sz="1050" b="0" i="0">
                <a:solidFill>
                  <a:srgbClr val="57626B"/>
                </a:solidFill>
                <a:latin typeface="Calibri"/>
              </a:rPr>
              <a:t>Driven by the reports that matter; expand deliberately.</a:t>
            </a:r>
          </a:p>
        </p:txBody>
      </p:sp>
      <p:sp>
        <p:nvSpPr>
          <p:cNvPr id="17" name="Rounded Rectangle 16"/>
          <p:cNvSpPr/>
          <p:nvPr/>
        </p:nvSpPr>
        <p:spPr>
          <a:xfrm>
            <a:off x="457200" y="324612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5</a:t>
            </a:r>
          </a:p>
        </p:txBody>
      </p:sp>
      <p:sp>
        <p:nvSpPr>
          <p:cNvPr id="18" name="TextBox 17"/>
          <p:cNvSpPr txBox="1"/>
          <p:nvPr/>
        </p:nvSpPr>
        <p:spPr>
          <a:xfrm>
            <a:off x="1097280" y="3246120"/>
            <a:ext cx="4860036" cy="274320"/>
          </a:xfrm>
          <a:prstGeom prst="rect">
            <a:avLst/>
          </a:prstGeom>
          <a:noFill/>
        </p:spPr>
        <p:txBody>
          <a:bodyPr wrap="square" lIns="0" rIns="0" tIns="0" bIns="0" anchor="t">
            <a:spAutoFit/>
          </a:bodyPr>
          <a:lstStyle/>
          <a:p>
            <a:pPr algn="l"/>
            <a:r>
              <a:rPr sz="1250" b="1" i="0">
                <a:solidFill>
                  <a:srgbClr val="1A2130"/>
                </a:solidFill>
                <a:latin typeface="Cambria"/>
              </a:rPr>
              <a:t>Make stewardship part of the job</a:t>
            </a:r>
          </a:p>
        </p:txBody>
      </p:sp>
      <p:sp>
        <p:nvSpPr>
          <p:cNvPr id="19" name="TextBox 18"/>
          <p:cNvSpPr txBox="1"/>
          <p:nvPr/>
        </p:nvSpPr>
        <p:spPr>
          <a:xfrm>
            <a:off x="1097280" y="3547872"/>
            <a:ext cx="4860036" cy="548640"/>
          </a:xfrm>
          <a:prstGeom prst="rect">
            <a:avLst/>
          </a:prstGeom>
          <a:noFill/>
        </p:spPr>
        <p:txBody>
          <a:bodyPr wrap="square" lIns="0" rIns="0" tIns="0" bIns="0" anchor="t">
            <a:spAutoFit/>
          </a:bodyPr>
          <a:lstStyle/>
          <a:p>
            <a:pPr algn="l"/>
            <a:r>
              <a:rPr sz="1050" b="0" i="0">
                <a:solidFill>
                  <a:srgbClr val="57626B"/>
                </a:solidFill>
                <a:latin typeface="Calibri"/>
              </a:rPr>
              <a:t>In job descriptions, goals and performance reviews.</a:t>
            </a:r>
          </a:p>
        </p:txBody>
      </p:sp>
      <p:sp>
        <p:nvSpPr>
          <p:cNvPr id="20" name="Rounded Rectangle 19"/>
          <p:cNvSpPr/>
          <p:nvPr/>
        </p:nvSpPr>
        <p:spPr>
          <a:xfrm>
            <a:off x="6231636" y="324612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6</a:t>
            </a:r>
          </a:p>
        </p:txBody>
      </p:sp>
      <p:sp>
        <p:nvSpPr>
          <p:cNvPr id="21" name="TextBox 20"/>
          <p:cNvSpPr txBox="1"/>
          <p:nvPr/>
        </p:nvSpPr>
        <p:spPr>
          <a:xfrm>
            <a:off x="6871716" y="3246120"/>
            <a:ext cx="4860036" cy="274320"/>
          </a:xfrm>
          <a:prstGeom prst="rect">
            <a:avLst/>
          </a:prstGeom>
          <a:noFill/>
        </p:spPr>
        <p:txBody>
          <a:bodyPr wrap="square" lIns="0" rIns="0" tIns="0" bIns="0" anchor="t">
            <a:spAutoFit/>
          </a:bodyPr>
          <a:lstStyle/>
          <a:p>
            <a:pPr algn="l"/>
            <a:r>
              <a:rPr sz="1250" b="1" i="0">
                <a:solidFill>
                  <a:srgbClr val="1A2130"/>
                </a:solidFill>
                <a:latin typeface="Cambria"/>
              </a:rPr>
              <a:t>Ride funded change</a:t>
            </a:r>
          </a:p>
        </p:txBody>
      </p:sp>
      <p:sp>
        <p:nvSpPr>
          <p:cNvPr id="22" name="TextBox 21"/>
          <p:cNvSpPr txBox="1"/>
          <p:nvPr/>
        </p:nvSpPr>
        <p:spPr>
          <a:xfrm>
            <a:off x="6871716" y="3547872"/>
            <a:ext cx="4860036" cy="548640"/>
          </a:xfrm>
          <a:prstGeom prst="rect">
            <a:avLst/>
          </a:prstGeom>
          <a:noFill/>
        </p:spPr>
        <p:txBody>
          <a:bodyPr wrap="square" lIns="0" rIns="0" tIns="0" bIns="0" anchor="t">
            <a:spAutoFit/>
          </a:bodyPr>
          <a:lstStyle/>
          <a:p>
            <a:pPr algn="l"/>
            <a:r>
              <a:rPr sz="1050" b="0" i="0">
                <a:solidFill>
                  <a:srgbClr val="57626B"/>
                </a:solidFill>
                <a:latin typeface="Calibri"/>
              </a:rPr>
              <a:t>Embed governance in programs already underway rather than competing with them.</a:t>
            </a:r>
          </a:p>
        </p:txBody>
      </p:sp>
      <p:sp>
        <p:nvSpPr>
          <p:cNvPr id="23" name="Rounded Rectangle 22"/>
          <p:cNvSpPr/>
          <p:nvPr/>
        </p:nvSpPr>
        <p:spPr>
          <a:xfrm>
            <a:off x="457200" y="420624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7</a:t>
            </a:r>
          </a:p>
        </p:txBody>
      </p:sp>
      <p:sp>
        <p:nvSpPr>
          <p:cNvPr id="24" name="TextBox 23"/>
          <p:cNvSpPr txBox="1"/>
          <p:nvPr/>
        </p:nvSpPr>
        <p:spPr>
          <a:xfrm>
            <a:off x="1097280" y="4206240"/>
            <a:ext cx="4860036" cy="274320"/>
          </a:xfrm>
          <a:prstGeom prst="rect">
            <a:avLst/>
          </a:prstGeom>
          <a:noFill/>
        </p:spPr>
        <p:txBody>
          <a:bodyPr wrap="square" lIns="0" rIns="0" tIns="0" bIns="0" anchor="t">
            <a:spAutoFit/>
          </a:bodyPr>
          <a:lstStyle/>
          <a:p>
            <a:pPr algn="l"/>
            <a:r>
              <a:rPr sz="1250" b="1" i="0">
                <a:solidFill>
                  <a:srgbClr val="1A2130"/>
                </a:solidFill>
                <a:latin typeface="Cambria"/>
              </a:rPr>
              <a:t>Publish a monthly scorecard</a:t>
            </a:r>
          </a:p>
        </p:txBody>
      </p:sp>
      <p:sp>
        <p:nvSpPr>
          <p:cNvPr id="25" name="TextBox 24"/>
          <p:cNvSpPr txBox="1"/>
          <p:nvPr/>
        </p:nvSpPr>
        <p:spPr>
          <a:xfrm>
            <a:off x="1097280" y="4507992"/>
            <a:ext cx="4860036" cy="548640"/>
          </a:xfrm>
          <a:prstGeom prst="rect">
            <a:avLst/>
          </a:prstGeom>
          <a:noFill/>
        </p:spPr>
        <p:txBody>
          <a:bodyPr wrap="square" lIns="0" rIns="0" tIns="0" bIns="0" anchor="t">
            <a:spAutoFit/>
          </a:bodyPr>
          <a:lstStyle/>
          <a:p>
            <a:pPr algn="l"/>
            <a:r>
              <a:rPr sz="1050" b="0" i="0">
                <a:solidFill>
                  <a:srgbClr val="57626B"/>
                </a:solidFill>
                <a:latin typeface="Calibri"/>
              </a:rPr>
              <a:t>Trends and named owners create momentum on their own.</a:t>
            </a:r>
          </a:p>
        </p:txBody>
      </p:sp>
      <p:sp>
        <p:nvSpPr>
          <p:cNvPr id="26" name="Rounded Rectangle 25"/>
          <p:cNvSpPr/>
          <p:nvPr/>
        </p:nvSpPr>
        <p:spPr>
          <a:xfrm>
            <a:off x="6231636" y="420624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8</a:t>
            </a:r>
          </a:p>
        </p:txBody>
      </p:sp>
      <p:sp>
        <p:nvSpPr>
          <p:cNvPr id="27" name="TextBox 26"/>
          <p:cNvSpPr txBox="1"/>
          <p:nvPr/>
        </p:nvSpPr>
        <p:spPr>
          <a:xfrm>
            <a:off x="6871716" y="4206240"/>
            <a:ext cx="4860036" cy="274320"/>
          </a:xfrm>
          <a:prstGeom prst="rect">
            <a:avLst/>
          </a:prstGeom>
          <a:noFill/>
        </p:spPr>
        <p:txBody>
          <a:bodyPr wrap="square" lIns="0" rIns="0" tIns="0" bIns="0" anchor="t">
            <a:spAutoFit/>
          </a:bodyPr>
          <a:lstStyle/>
          <a:p>
            <a:pPr algn="l"/>
            <a:r>
              <a:rPr sz="1250" b="1" i="0">
                <a:solidFill>
                  <a:srgbClr val="1A2130"/>
                </a:solidFill>
                <a:latin typeface="Cambria"/>
              </a:rPr>
              <a:t>Use exceptions deliberately</a:t>
            </a:r>
          </a:p>
        </p:txBody>
      </p:sp>
      <p:sp>
        <p:nvSpPr>
          <p:cNvPr id="28" name="TextBox 27"/>
          <p:cNvSpPr txBox="1"/>
          <p:nvPr/>
        </p:nvSpPr>
        <p:spPr>
          <a:xfrm>
            <a:off x="6871716" y="4507992"/>
            <a:ext cx="4860036" cy="548640"/>
          </a:xfrm>
          <a:prstGeom prst="rect">
            <a:avLst/>
          </a:prstGeom>
          <a:noFill/>
        </p:spPr>
        <p:txBody>
          <a:bodyPr wrap="square" lIns="0" rIns="0" tIns="0" bIns="0" anchor="t">
            <a:spAutoFit/>
          </a:bodyPr>
          <a:lstStyle/>
          <a:p>
            <a:pPr algn="l"/>
            <a:r>
              <a:rPr sz="1050" b="0" i="0">
                <a:solidFill>
                  <a:srgbClr val="57626B"/>
                </a:solidFill>
                <a:latin typeface="Calibri"/>
              </a:rPr>
              <a:t>Time-limited, risk-accepted and tracked — never silent non-compliance.</a:t>
            </a:r>
          </a:p>
        </p:txBody>
      </p:sp>
      <p:sp>
        <p:nvSpPr>
          <p:cNvPr id="29" name="Rounded Rectangle 28"/>
          <p:cNvSpPr/>
          <p:nvPr/>
        </p:nvSpPr>
        <p:spPr>
          <a:xfrm>
            <a:off x="457200" y="516636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9</a:t>
            </a:r>
          </a:p>
        </p:txBody>
      </p:sp>
      <p:sp>
        <p:nvSpPr>
          <p:cNvPr id="30" name="TextBox 29"/>
          <p:cNvSpPr txBox="1"/>
          <p:nvPr/>
        </p:nvSpPr>
        <p:spPr>
          <a:xfrm>
            <a:off x="1097280" y="5166360"/>
            <a:ext cx="4860036" cy="274320"/>
          </a:xfrm>
          <a:prstGeom prst="rect">
            <a:avLst/>
          </a:prstGeom>
          <a:noFill/>
        </p:spPr>
        <p:txBody>
          <a:bodyPr wrap="square" lIns="0" rIns="0" tIns="0" bIns="0" anchor="t">
            <a:spAutoFit/>
          </a:bodyPr>
          <a:lstStyle/>
          <a:p>
            <a:pPr algn="l"/>
            <a:r>
              <a:rPr sz="1250" b="1" i="0">
                <a:solidFill>
                  <a:srgbClr val="1A2130"/>
                </a:solidFill>
                <a:latin typeface="Cambria"/>
              </a:rPr>
              <a:t>Show value in business terms</a:t>
            </a:r>
          </a:p>
        </p:txBody>
      </p:sp>
      <p:sp>
        <p:nvSpPr>
          <p:cNvPr id="31" name="TextBox 30"/>
          <p:cNvSpPr txBox="1"/>
          <p:nvPr/>
        </p:nvSpPr>
        <p:spPr>
          <a:xfrm>
            <a:off x="1097280" y="5468112"/>
            <a:ext cx="4860036" cy="548640"/>
          </a:xfrm>
          <a:prstGeom prst="rect">
            <a:avLst/>
          </a:prstGeom>
          <a:noFill/>
        </p:spPr>
        <p:txBody>
          <a:bodyPr wrap="square" lIns="0" rIns="0" tIns="0" bIns="0" anchor="t">
            <a:spAutoFit/>
          </a:bodyPr>
          <a:lstStyle/>
          <a:p>
            <a:pPr algn="l"/>
            <a:r>
              <a:rPr sz="1050" b="0" i="0">
                <a:solidFill>
                  <a:srgbClr val="57626B"/>
                </a:solidFill>
                <a:latin typeface="Calibri"/>
              </a:rPr>
              <a:t>Findings closed, hours saved, faster reporting.</a:t>
            </a:r>
          </a:p>
        </p:txBody>
      </p:sp>
      <p:sp>
        <p:nvSpPr>
          <p:cNvPr id="32" name="Rounded Rectangle 31"/>
          <p:cNvSpPr/>
          <p:nvPr/>
        </p:nvSpPr>
        <p:spPr>
          <a:xfrm>
            <a:off x="6231636" y="5166360"/>
            <a:ext cx="502920" cy="8229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10</a:t>
            </a:r>
          </a:p>
        </p:txBody>
      </p:sp>
      <p:sp>
        <p:nvSpPr>
          <p:cNvPr id="33" name="TextBox 32"/>
          <p:cNvSpPr txBox="1"/>
          <p:nvPr/>
        </p:nvSpPr>
        <p:spPr>
          <a:xfrm>
            <a:off x="6871716" y="5166360"/>
            <a:ext cx="4860036" cy="274320"/>
          </a:xfrm>
          <a:prstGeom prst="rect">
            <a:avLst/>
          </a:prstGeom>
          <a:noFill/>
        </p:spPr>
        <p:txBody>
          <a:bodyPr wrap="square" lIns="0" rIns="0" tIns="0" bIns="0" anchor="t">
            <a:spAutoFit/>
          </a:bodyPr>
          <a:lstStyle/>
          <a:p>
            <a:pPr algn="l"/>
            <a:r>
              <a:rPr sz="1250" b="1" i="0">
                <a:solidFill>
                  <a:srgbClr val="1A2130"/>
                </a:solidFill>
                <a:latin typeface="Cambria"/>
              </a:rPr>
              <a:t>Revisit the model every year</a:t>
            </a:r>
          </a:p>
        </p:txBody>
      </p:sp>
      <p:sp>
        <p:nvSpPr>
          <p:cNvPr id="34" name="TextBox 33"/>
          <p:cNvSpPr txBox="1"/>
          <p:nvPr/>
        </p:nvSpPr>
        <p:spPr>
          <a:xfrm>
            <a:off x="6871716" y="5468112"/>
            <a:ext cx="4860036" cy="548640"/>
          </a:xfrm>
          <a:prstGeom prst="rect">
            <a:avLst/>
          </a:prstGeom>
          <a:noFill/>
        </p:spPr>
        <p:txBody>
          <a:bodyPr wrap="square" lIns="0" rIns="0" tIns="0" bIns="0" anchor="t">
            <a:spAutoFit/>
          </a:bodyPr>
          <a:lstStyle/>
          <a:p>
            <a:pPr algn="l"/>
            <a:r>
              <a:rPr sz="1050" b="0" i="0">
                <a:solidFill>
                  <a:srgbClr val="57626B"/>
                </a:solidFill>
                <a:latin typeface="Calibri"/>
              </a:rPr>
              <a:t>Shift from central to hybrid as maturity grows.</a:t>
            </a:r>
          </a:p>
        </p:txBody>
      </p:sp>
      <p:sp>
        <p:nvSpPr>
          <p:cNvPr id="35" name="TextBox 34"/>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 · ARCHITECTS · DATA MANAGEMENT</a:t>
            </a:r>
          </a:p>
        </p:txBody>
      </p:sp>
      <p:sp>
        <p:nvSpPr>
          <p:cNvPr id="36" name="TextBox 35"/>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25</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Critical success factors — and common pitfalls</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Most governance programs that fail do so for organizational reasons, not technical ones.</a:t>
            </a:r>
          </a:p>
        </p:txBody>
      </p:sp>
      <p:sp>
        <p:nvSpPr>
          <p:cNvPr id="5" name="Rounded Rectangle 4"/>
          <p:cNvSpPr/>
          <p:nvPr/>
        </p:nvSpPr>
        <p:spPr>
          <a:xfrm>
            <a:off x="457200" y="1325880"/>
            <a:ext cx="5550408" cy="40233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00" b="1" i="0">
                <a:solidFill>
                  <a:srgbClr val="0E7C66"/>
                </a:solidFill>
                <a:latin typeface="Calibri"/>
              </a:rPr>
              <a:t>CRITICAL SUCCESS FACTORS</a:t>
            </a:r>
          </a:p>
          <a:p>
            <a:pPr algn="l"/>
            <a:r>
              <a:rPr sz="1100" b="0" i="0">
                <a:solidFill>
                  <a:srgbClr val="57626B"/>
                </a:solidFill>
                <a:latin typeface="Calibri"/>
              </a:rPr>
              <a:t>• Visible, sustained executive sponsorship</a:t>
            </a:r>
          </a:p>
          <a:p>
            <a:pPr algn="l"/>
            <a:r>
              <a:rPr sz="1100" b="0" i="0">
                <a:solidFill>
                  <a:srgbClr val="57626B"/>
                </a:solidFill>
                <a:latin typeface="Calibri"/>
              </a:rPr>
              <a:t>• Business accountability written into roles and goals</a:t>
            </a:r>
          </a:p>
          <a:p>
            <a:pPr algn="l"/>
            <a:r>
              <a:rPr sz="1100" b="0" i="0">
                <a:solidFill>
                  <a:srgbClr val="57626B"/>
                </a:solidFill>
                <a:latin typeface="Calibri"/>
              </a:rPr>
              <a:t>• A narrow first scope with a clear, measurable outcome</a:t>
            </a:r>
          </a:p>
          <a:p>
            <a:pPr algn="l"/>
            <a:r>
              <a:rPr sz="1100" b="0" i="0">
                <a:solidFill>
                  <a:srgbClr val="57626B"/>
                </a:solidFill>
                <a:latin typeface="Calibri"/>
              </a:rPr>
              <a:t>• Early, publicized wins tied to real pain</a:t>
            </a:r>
          </a:p>
          <a:p>
            <a:pPr algn="l"/>
            <a:r>
              <a:rPr sz="1100" b="0" i="0">
                <a:solidFill>
                  <a:srgbClr val="57626B"/>
                </a:solidFill>
                <a:latin typeface="Calibri"/>
              </a:rPr>
              <a:t>• Architecture engaged from day one</a:t>
            </a:r>
          </a:p>
          <a:p>
            <a:pPr algn="l"/>
            <a:r>
              <a:rPr sz="1100" b="0" i="0">
                <a:solidFill>
                  <a:srgbClr val="57626B"/>
                </a:solidFill>
                <a:latin typeface="Calibri"/>
              </a:rPr>
              <a:t>• Funding for the business’s remediation work, not just the DGO</a:t>
            </a:r>
          </a:p>
          <a:p>
            <a:pPr algn="l"/>
            <a:r>
              <a:rPr sz="1100" b="0" i="0">
                <a:solidFill>
                  <a:srgbClr val="57626B"/>
                </a:solidFill>
                <a:latin typeface="Calibri"/>
              </a:rPr>
              <a:t>• A scorecard reviewed by leaders every month</a:t>
            </a:r>
          </a:p>
        </p:txBody>
      </p:sp>
      <p:sp>
        <p:nvSpPr>
          <p:cNvPr id="6" name="Rounded Rectangle 5"/>
          <p:cNvSpPr/>
          <p:nvPr/>
        </p:nvSpPr>
        <p:spPr>
          <a:xfrm>
            <a:off x="6190488" y="1325880"/>
            <a:ext cx="5541264" cy="402336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00" b="1" i="0">
                <a:solidFill>
                  <a:srgbClr val="9A3324"/>
                </a:solidFill>
                <a:latin typeface="Calibri"/>
              </a:rPr>
              <a:t>COMMON PITFALLS</a:t>
            </a:r>
          </a:p>
          <a:p>
            <a:pPr algn="l"/>
            <a:r>
              <a:rPr sz="1100" b="0" i="0">
                <a:solidFill>
                  <a:srgbClr val="57626B"/>
                </a:solidFill>
                <a:latin typeface="Calibri"/>
              </a:rPr>
              <a:t>• Technology-led: tool first, ownership later (or never)</a:t>
            </a:r>
          </a:p>
          <a:p>
            <a:pPr algn="l"/>
            <a:r>
              <a:rPr sz="1100" b="0" i="0">
                <a:solidFill>
                  <a:srgbClr val="57626B"/>
                </a:solidFill>
                <a:latin typeface="Calibri"/>
              </a:rPr>
              <a:t>• Boiling the ocean: govern everything at once</a:t>
            </a:r>
          </a:p>
          <a:p>
            <a:pPr algn="l"/>
            <a:r>
              <a:rPr sz="1100" b="0" i="0">
                <a:solidFill>
                  <a:srgbClr val="57626B"/>
                </a:solidFill>
                <a:latin typeface="Calibri"/>
              </a:rPr>
              <a:t>• Policy without enforcement or exceptions process</a:t>
            </a:r>
          </a:p>
          <a:p>
            <a:pPr algn="l"/>
            <a:r>
              <a:rPr sz="1100" b="0" i="0">
                <a:solidFill>
                  <a:srgbClr val="57626B"/>
                </a:solidFill>
                <a:latin typeface="Calibri"/>
              </a:rPr>
              <a:t>• Governance seen as policing, so people avoid it</a:t>
            </a:r>
          </a:p>
          <a:p>
            <a:pPr algn="l"/>
            <a:r>
              <a:rPr sz="1100" b="0" i="0">
                <a:solidFill>
                  <a:srgbClr val="57626B"/>
                </a:solidFill>
                <a:latin typeface="Calibri"/>
              </a:rPr>
              <a:t>• Stewards named but given no time</a:t>
            </a:r>
          </a:p>
          <a:p>
            <a:pPr algn="l"/>
            <a:r>
              <a:rPr sz="1100" b="0" i="0">
                <a:solidFill>
                  <a:srgbClr val="57626B"/>
                </a:solidFill>
                <a:latin typeface="Calibri"/>
              </a:rPr>
              <a:t>• Success measured by activity, not outcomes</a:t>
            </a:r>
          </a:p>
          <a:p>
            <a:pPr algn="l"/>
            <a:r>
              <a:rPr sz="1100" b="0" i="0">
                <a:solidFill>
                  <a:srgbClr val="57626B"/>
                </a:solidFill>
                <a:latin typeface="Calibri"/>
              </a:rPr>
              <a:t>• Sponsor changes and the program loses its mandate</a:t>
            </a:r>
          </a:p>
        </p:txBody>
      </p:sp>
      <p:sp>
        <p:nvSpPr>
          <p:cNvPr id="7" name="Rounded Rectangle 6"/>
          <p:cNvSpPr/>
          <p:nvPr/>
        </p:nvSpPr>
        <p:spPr>
          <a:xfrm>
            <a:off x="457200" y="5532120"/>
            <a:ext cx="11274552"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Leading indicator: </a:t>
            </a:r>
            <a:r>
              <a:rPr sz="1150" b="0" i="0">
                <a:solidFill>
                  <a:srgbClr val="57626B"/>
                </a:solidFill>
                <a:latin typeface="Calibri"/>
              </a:rPr>
              <a:t>if data owners are raising issues themselves by month six, the operating model is working. If only the DGO raises them, it isn't yet.</a:t>
            </a:r>
          </a:p>
        </p:txBody>
      </p:sp>
      <p:sp>
        <p:nvSpPr>
          <p:cNvPr id="8" name="TextBox 7"/>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a:t>
            </a:r>
          </a:p>
        </p:txBody>
      </p:sp>
      <p:sp>
        <p:nvSpPr>
          <p:cNvPr id="9" name="TextBox 8"/>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EF1EC"/>
        </a:solidFill>
        <a:effectLst/>
      </p:bgPr>
    </p:bg>
    <p:spTree>
      <p:nvGrpSpPr>
        <p:cNvPr id="1" name=""/>
        <p:cNvGrpSpPr/>
        <p:nvPr/>
      </p:nvGrpSpPr>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300" b="1" i="0">
                <a:solidFill>
                  <a:srgbClr val="FFFFFF"/>
                </a:solidFill>
                <a:latin typeface="Courier New"/>
              </a:rPr>
              <a:t>26</a:t>
            </a:r>
          </a:p>
        </p:txBody>
      </p:sp>
      <p:sp>
        <p:nvSpPr>
          <p:cNvPr id="3" name="TextBox 2"/>
          <p:cNvSpPr txBox="1"/>
          <p:nvPr/>
        </p:nvSpPr>
        <p:spPr>
          <a:xfrm>
            <a:off x="1188720" y="301752"/>
            <a:ext cx="10332720" cy="502920"/>
          </a:xfrm>
          <a:prstGeom prst="rect">
            <a:avLst/>
          </a:prstGeom>
          <a:noFill/>
        </p:spPr>
        <p:txBody>
          <a:bodyPr wrap="square" lIns="0" rIns="0" tIns="0" bIns="0" anchor="ctr">
            <a:spAutoFit/>
          </a:bodyPr>
          <a:lstStyle/>
          <a:p>
            <a:pPr algn="l"/>
            <a:r>
              <a:rPr sz="2200" b="1" i="0">
                <a:solidFill>
                  <a:srgbClr val="1A2130"/>
                </a:solidFill>
                <a:latin typeface="Cambria"/>
              </a:rPr>
              <a:t>Decisions needed from leadership</a:t>
            </a:r>
          </a:p>
        </p:txBody>
      </p:sp>
      <p:sp>
        <p:nvSpPr>
          <p:cNvPr id="4" name="TextBox 3"/>
          <p:cNvSpPr txBox="1"/>
          <p:nvPr/>
        </p:nvSpPr>
        <p:spPr>
          <a:xfrm>
            <a:off x="1188720" y="804672"/>
            <a:ext cx="10424160" cy="310896"/>
          </a:xfrm>
          <a:prstGeom prst="rect">
            <a:avLst/>
          </a:prstGeom>
          <a:noFill/>
        </p:spPr>
        <p:txBody>
          <a:bodyPr wrap="square" lIns="0" rIns="0" tIns="0" bIns="0" anchor="t">
            <a:spAutoFit/>
          </a:bodyPr>
          <a:lstStyle/>
          <a:p>
            <a:pPr algn="l"/>
            <a:r>
              <a:rPr sz="1200" b="0" i="0">
                <a:solidFill>
                  <a:srgbClr val="57626B"/>
                </a:solidFill>
                <a:latin typeface="Calibri"/>
              </a:rPr>
              <a:t>Six decisions to move from discussion to a chartered function.</a:t>
            </a:r>
          </a:p>
        </p:txBody>
      </p:sp>
      <p:sp>
        <p:nvSpPr>
          <p:cNvPr id="5" name="Rounded Rectangle 4"/>
          <p:cNvSpPr/>
          <p:nvPr/>
        </p:nvSpPr>
        <p:spPr>
          <a:xfrm>
            <a:off x="457200" y="132588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1</a:t>
            </a:r>
          </a:p>
        </p:txBody>
      </p:sp>
      <p:sp>
        <p:nvSpPr>
          <p:cNvPr id="6" name="TextBox 5"/>
          <p:cNvSpPr txBox="1"/>
          <p:nvPr/>
        </p:nvSpPr>
        <p:spPr>
          <a:xfrm>
            <a:off x="1097280" y="1344168"/>
            <a:ext cx="4860036" cy="274320"/>
          </a:xfrm>
          <a:prstGeom prst="rect">
            <a:avLst/>
          </a:prstGeom>
          <a:noFill/>
        </p:spPr>
        <p:txBody>
          <a:bodyPr wrap="square" lIns="0" rIns="0" tIns="0" bIns="0" anchor="t">
            <a:spAutoFit/>
          </a:bodyPr>
          <a:lstStyle/>
          <a:p>
            <a:pPr algn="l"/>
            <a:r>
              <a:rPr sz="1250" b="1" i="0">
                <a:solidFill>
                  <a:srgbClr val="1A2130"/>
                </a:solidFill>
                <a:latin typeface="Cambria"/>
              </a:rPr>
              <a:t>Executive sponsor</a:t>
            </a:r>
          </a:p>
        </p:txBody>
      </p:sp>
      <p:sp>
        <p:nvSpPr>
          <p:cNvPr id="7" name="TextBox 6"/>
          <p:cNvSpPr txBox="1"/>
          <p:nvPr/>
        </p:nvSpPr>
        <p:spPr>
          <a:xfrm>
            <a:off x="1097280" y="1673352"/>
            <a:ext cx="4860036" cy="685800"/>
          </a:xfrm>
          <a:prstGeom prst="rect">
            <a:avLst/>
          </a:prstGeom>
          <a:noFill/>
        </p:spPr>
        <p:txBody>
          <a:bodyPr wrap="square" lIns="0" rIns="0" tIns="0" bIns="0" anchor="t">
            <a:spAutoFit/>
          </a:bodyPr>
          <a:lstStyle/>
          <a:p>
            <a:pPr algn="l"/>
            <a:r>
              <a:rPr sz="1100" b="0" i="0">
                <a:solidFill>
                  <a:srgbClr val="57626B"/>
                </a:solidFill>
                <a:latin typeface="Calibri"/>
              </a:rPr>
              <a:t>Who sponsors the program and chairs the executive data committee?</a:t>
            </a:r>
          </a:p>
        </p:txBody>
      </p:sp>
      <p:sp>
        <p:nvSpPr>
          <p:cNvPr id="8" name="Rounded Rectangle 7"/>
          <p:cNvSpPr/>
          <p:nvPr/>
        </p:nvSpPr>
        <p:spPr>
          <a:xfrm>
            <a:off x="6231636" y="132588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2</a:t>
            </a:r>
          </a:p>
        </p:txBody>
      </p:sp>
      <p:sp>
        <p:nvSpPr>
          <p:cNvPr id="9" name="TextBox 8"/>
          <p:cNvSpPr txBox="1"/>
          <p:nvPr/>
        </p:nvSpPr>
        <p:spPr>
          <a:xfrm>
            <a:off x="6871716" y="1344168"/>
            <a:ext cx="4860036" cy="274320"/>
          </a:xfrm>
          <a:prstGeom prst="rect">
            <a:avLst/>
          </a:prstGeom>
          <a:noFill/>
        </p:spPr>
        <p:txBody>
          <a:bodyPr wrap="square" lIns="0" rIns="0" tIns="0" bIns="0" anchor="t">
            <a:spAutoFit/>
          </a:bodyPr>
          <a:lstStyle/>
          <a:p>
            <a:pPr algn="l"/>
            <a:r>
              <a:rPr sz="1250" b="1" i="0">
                <a:solidFill>
                  <a:srgbClr val="1A2130"/>
                </a:solidFill>
                <a:latin typeface="Cambria"/>
              </a:rPr>
              <a:t>Placement</a:t>
            </a:r>
          </a:p>
        </p:txBody>
      </p:sp>
      <p:sp>
        <p:nvSpPr>
          <p:cNvPr id="10" name="TextBox 9"/>
          <p:cNvSpPr txBox="1"/>
          <p:nvPr/>
        </p:nvSpPr>
        <p:spPr>
          <a:xfrm>
            <a:off x="6871716" y="1673352"/>
            <a:ext cx="4860036" cy="685800"/>
          </a:xfrm>
          <a:prstGeom prst="rect">
            <a:avLst/>
          </a:prstGeom>
          <a:noFill/>
        </p:spPr>
        <p:txBody>
          <a:bodyPr wrap="square" lIns="0" rIns="0" tIns="0" bIns="0" anchor="t">
            <a:spAutoFit/>
          </a:bodyPr>
          <a:lstStyle/>
          <a:p>
            <a:pPr algn="l"/>
            <a:r>
              <a:rPr sz="1100" b="0" i="0">
                <a:solidFill>
                  <a:srgbClr val="57626B"/>
                </a:solidFill>
                <a:latin typeface="Calibri"/>
              </a:rPr>
              <a:t>Where does the DGO report (CDO to COO/CEO, CFO, CRO)? See page 7.</a:t>
            </a:r>
          </a:p>
        </p:txBody>
      </p:sp>
      <p:sp>
        <p:nvSpPr>
          <p:cNvPr id="11" name="Rounded Rectangle 10"/>
          <p:cNvSpPr/>
          <p:nvPr/>
        </p:nvSpPr>
        <p:spPr>
          <a:xfrm>
            <a:off x="457200" y="256032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3</a:t>
            </a:r>
          </a:p>
        </p:txBody>
      </p:sp>
      <p:sp>
        <p:nvSpPr>
          <p:cNvPr id="12" name="TextBox 11"/>
          <p:cNvSpPr txBox="1"/>
          <p:nvPr/>
        </p:nvSpPr>
        <p:spPr>
          <a:xfrm>
            <a:off x="1097280" y="2578608"/>
            <a:ext cx="4860036" cy="274320"/>
          </a:xfrm>
          <a:prstGeom prst="rect">
            <a:avLst/>
          </a:prstGeom>
          <a:noFill/>
        </p:spPr>
        <p:txBody>
          <a:bodyPr wrap="square" lIns="0" rIns="0" tIns="0" bIns="0" anchor="t">
            <a:spAutoFit/>
          </a:bodyPr>
          <a:lstStyle/>
          <a:p>
            <a:pPr algn="l"/>
            <a:r>
              <a:rPr sz="1250" b="1" i="0">
                <a:solidFill>
                  <a:srgbClr val="1A2130"/>
                </a:solidFill>
                <a:latin typeface="Cambria"/>
              </a:rPr>
              <a:t>Operating model</a:t>
            </a:r>
          </a:p>
        </p:txBody>
      </p:sp>
      <p:sp>
        <p:nvSpPr>
          <p:cNvPr id="13" name="TextBox 12"/>
          <p:cNvSpPr txBox="1"/>
          <p:nvPr/>
        </p:nvSpPr>
        <p:spPr>
          <a:xfrm>
            <a:off x="1097280" y="2907791"/>
            <a:ext cx="4860036" cy="685800"/>
          </a:xfrm>
          <a:prstGeom prst="rect">
            <a:avLst/>
          </a:prstGeom>
          <a:noFill/>
        </p:spPr>
        <p:txBody>
          <a:bodyPr wrap="square" lIns="0" rIns="0" tIns="0" bIns="0" anchor="t">
            <a:spAutoFit/>
          </a:bodyPr>
          <a:lstStyle/>
          <a:p>
            <a:pPr algn="l"/>
            <a:r>
              <a:rPr sz="1100" b="0" i="0">
                <a:solidFill>
                  <a:srgbClr val="57626B"/>
                </a:solidFill>
                <a:latin typeface="Calibri"/>
              </a:rPr>
              <a:t>Start centralized with a hybrid target, or hybrid from day one? See page 8.</a:t>
            </a:r>
          </a:p>
        </p:txBody>
      </p:sp>
      <p:sp>
        <p:nvSpPr>
          <p:cNvPr id="14" name="Rounded Rectangle 13"/>
          <p:cNvSpPr/>
          <p:nvPr/>
        </p:nvSpPr>
        <p:spPr>
          <a:xfrm>
            <a:off x="6231636" y="256032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4</a:t>
            </a:r>
          </a:p>
        </p:txBody>
      </p:sp>
      <p:sp>
        <p:nvSpPr>
          <p:cNvPr id="15" name="TextBox 14"/>
          <p:cNvSpPr txBox="1"/>
          <p:nvPr/>
        </p:nvSpPr>
        <p:spPr>
          <a:xfrm>
            <a:off x="6871716" y="2578608"/>
            <a:ext cx="4860036" cy="274320"/>
          </a:xfrm>
          <a:prstGeom prst="rect">
            <a:avLst/>
          </a:prstGeom>
          <a:noFill/>
        </p:spPr>
        <p:txBody>
          <a:bodyPr wrap="square" lIns="0" rIns="0" tIns="0" bIns="0" anchor="t">
            <a:spAutoFit/>
          </a:bodyPr>
          <a:lstStyle/>
          <a:p>
            <a:pPr algn="l"/>
            <a:r>
              <a:rPr sz="1250" b="1" i="0">
                <a:solidFill>
                  <a:srgbClr val="1A2130"/>
                </a:solidFill>
                <a:latin typeface="Cambria"/>
              </a:rPr>
              <a:t>First domain</a:t>
            </a:r>
          </a:p>
        </p:txBody>
      </p:sp>
      <p:sp>
        <p:nvSpPr>
          <p:cNvPr id="16" name="TextBox 15"/>
          <p:cNvSpPr txBox="1"/>
          <p:nvPr/>
        </p:nvSpPr>
        <p:spPr>
          <a:xfrm>
            <a:off x="6871716" y="2907791"/>
            <a:ext cx="4860036" cy="685800"/>
          </a:xfrm>
          <a:prstGeom prst="rect">
            <a:avLst/>
          </a:prstGeom>
          <a:noFill/>
        </p:spPr>
        <p:txBody>
          <a:bodyPr wrap="square" lIns="0" rIns="0" tIns="0" bIns="0" anchor="t">
            <a:spAutoFit/>
          </a:bodyPr>
          <a:lstStyle/>
          <a:p>
            <a:pPr algn="l"/>
            <a:r>
              <a:rPr sz="1100" b="0" i="0">
                <a:solidFill>
                  <a:srgbClr val="57626B"/>
                </a:solidFill>
                <a:latin typeface="Calibri"/>
              </a:rPr>
              <a:t>Which data domain and which business problem go first?</a:t>
            </a:r>
          </a:p>
        </p:txBody>
      </p:sp>
      <p:sp>
        <p:nvSpPr>
          <p:cNvPr id="17" name="Rounded Rectangle 16"/>
          <p:cNvSpPr/>
          <p:nvPr/>
        </p:nvSpPr>
        <p:spPr>
          <a:xfrm>
            <a:off x="457200" y="379476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5</a:t>
            </a:r>
          </a:p>
        </p:txBody>
      </p:sp>
      <p:sp>
        <p:nvSpPr>
          <p:cNvPr id="18" name="TextBox 17"/>
          <p:cNvSpPr txBox="1"/>
          <p:nvPr/>
        </p:nvSpPr>
        <p:spPr>
          <a:xfrm>
            <a:off x="1097280" y="3813048"/>
            <a:ext cx="4860036" cy="274320"/>
          </a:xfrm>
          <a:prstGeom prst="rect">
            <a:avLst/>
          </a:prstGeom>
          <a:noFill/>
        </p:spPr>
        <p:txBody>
          <a:bodyPr wrap="square" lIns="0" rIns="0" tIns="0" bIns="0" anchor="t">
            <a:spAutoFit/>
          </a:bodyPr>
          <a:lstStyle/>
          <a:p>
            <a:pPr algn="l"/>
            <a:r>
              <a:rPr sz="1250" b="1" i="0">
                <a:solidFill>
                  <a:srgbClr val="1A2130"/>
                </a:solidFill>
                <a:latin typeface="Cambria"/>
              </a:rPr>
              <a:t>Phase-1 funding</a:t>
            </a:r>
          </a:p>
        </p:txBody>
      </p:sp>
      <p:sp>
        <p:nvSpPr>
          <p:cNvPr id="19" name="TextBox 18"/>
          <p:cNvSpPr txBox="1"/>
          <p:nvPr/>
        </p:nvSpPr>
        <p:spPr>
          <a:xfrm>
            <a:off x="1097280" y="4142232"/>
            <a:ext cx="4860036" cy="685800"/>
          </a:xfrm>
          <a:prstGeom prst="rect">
            <a:avLst/>
          </a:prstGeom>
          <a:noFill/>
        </p:spPr>
        <p:txBody>
          <a:bodyPr wrap="square" lIns="0" rIns="0" tIns="0" bIns="0" anchor="t">
            <a:spAutoFit/>
          </a:bodyPr>
          <a:lstStyle/>
          <a:p>
            <a:pPr algn="l"/>
            <a:r>
              <a:rPr sz="1100" b="0" i="0">
                <a:solidFill>
                  <a:srgbClr val="57626B"/>
                </a:solidFill>
                <a:latin typeface="Calibri"/>
              </a:rPr>
              <a:t>Core team headcount and first-year tooling budget. See page 20.</a:t>
            </a:r>
          </a:p>
        </p:txBody>
      </p:sp>
      <p:sp>
        <p:nvSpPr>
          <p:cNvPr id="20" name="Rounded Rectangle 19"/>
          <p:cNvSpPr/>
          <p:nvPr/>
        </p:nvSpPr>
        <p:spPr>
          <a:xfrm>
            <a:off x="6231636" y="3794760"/>
            <a:ext cx="502920" cy="105156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r>
              <a:rPr sz="1400" b="1" i="0">
                <a:solidFill>
                  <a:srgbClr val="FFFFFF"/>
                </a:solidFill>
                <a:latin typeface="Courier New"/>
              </a:rPr>
              <a:t>6</a:t>
            </a:r>
          </a:p>
        </p:txBody>
      </p:sp>
      <p:sp>
        <p:nvSpPr>
          <p:cNvPr id="21" name="TextBox 20"/>
          <p:cNvSpPr txBox="1"/>
          <p:nvPr/>
        </p:nvSpPr>
        <p:spPr>
          <a:xfrm>
            <a:off x="6871716" y="3813048"/>
            <a:ext cx="4860036" cy="274320"/>
          </a:xfrm>
          <a:prstGeom prst="rect">
            <a:avLst/>
          </a:prstGeom>
          <a:noFill/>
        </p:spPr>
        <p:txBody>
          <a:bodyPr wrap="square" lIns="0" rIns="0" tIns="0" bIns="0" anchor="t">
            <a:spAutoFit/>
          </a:bodyPr>
          <a:lstStyle/>
          <a:p>
            <a:pPr algn="l"/>
            <a:r>
              <a:rPr sz="1250" b="1" i="0">
                <a:solidFill>
                  <a:srgbClr val="1A2130"/>
                </a:solidFill>
                <a:latin typeface="Cambria"/>
              </a:rPr>
              <a:t>Council mandate</a:t>
            </a:r>
          </a:p>
        </p:txBody>
      </p:sp>
      <p:sp>
        <p:nvSpPr>
          <p:cNvPr id="22" name="TextBox 21"/>
          <p:cNvSpPr txBox="1"/>
          <p:nvPr/>
        </p:nvSpPr>
        <p:spPr>
          <a:xfrm>
            <a:off x="6871716" y="4142232"/>
            <a:ext cx="4860036" cy="685800"/>
          </a:xfrm>
          <a:prstGeom prst="rect">
            <a:avLst/>
          </a:prstGeom>
          <a:noFill/>
        </p:spPr>
        <p:txBody>
          <a:bodyPr wrap="square" lIns="0" rIns="0" tIns="0" bIns="0" anchor="t">
            <a:spAutoFit/>
          </a:bodyPr>
          <a:lstStyle/>
          <a:p>
            <a:pPr algn="l"/>
            <a:r>
              <a:rPr sz="1100" b="0" i="0">
                <a:solidFill>
                  <a:srgbClr val="57626B"/>
                </a:solidFill>
                <a:latin typeface="Calibri"/>
              </a:rPr>
              <a:t>Membership and decision rights of the Data Governance Council. See pages 9 and 18.</a:t>
            </a:r>
          </a:p>
        </p:txBody>
      </p:sp>
      <p:sp>
        <p:nvSpPr>
          <p:cNvPr id="23" name="Rounded Rectangle 22"/>
          <p:cNvSpPr/>
          <p:nvPr/>
        </p:nvSpPr>
        <p:spPr>
          <a:xfrm>
            <a:off x="457200" y="5166360"/>
            <a:ext cx="11274552"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1150" b="1" i="0">
                <a:solidFill>
                  <a:srgbClr val="1A2130"/>
                </a:solidFill>
                <a:latin typeface="Calibri"/>
              </a:rPr>
              <a:t>Suggested next step: </a:t>
            </a:r>
            <a:r>
              <a:rPr sz="1150" b="0" i="0">
                <a:solidFill>
                  <a:srgbClr val="57626B"/>
                </a:solidFill>
                <a:latin typeface="Calibri"/>
              </a:rPr>
              <a:t>a 90-day stand-up plan with a named sponsor, the Head of Data Governance role approved, and a first council meeting on the calendar.</a:t>
            </a:r>
          </a:p>
        </p:txBody>
      </p:sp>
      <p:sp>
        <p:nvSpPr>
          <p:cNvPr id="24" name="TextBox 23"/>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0E7C66"/>
                </a:solidFill>
                <a:latin typeface="Courier New"/>
              </a:rPr>
              <a:t>FOR: LEADERS</a:t>
            </a:r>
          </a:p>
        </p:txBody>
      </p:sp>
      <p:sp>
        <p:nvSpPr>
          <p:cNvPr id="25" name="TextBox 24"/>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57626B"/>
                </a:solidFill>
                <a:latin typeface="Calibri"/>
              </a:rPr>
              <a:t>Establishing a Data Governance Office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2130"/>
        </a:solidFill>
        <a:effectLst/>
      </p:bgPr>
    </p:bg>
    <p:spTree>
      <p:nvGrpSpPr>
        <p:cNvPr id="1" name=""/>
        <p:cNvGrpSpPr/>
        <p:nvPr/>
      </p:nvGrpSpPr>
      <p:grpSpPr/>
      <p:sp>
        <p:nvSpPr>
          <p:cNvPr id="2" name="TextBox 1"/>
          <p:cNvSpPr txBox="1"/>
          <p:nvPr/>
        </p:nvSpPr>
        <p:spPr>
          <a:xfrm>
            <a:off x="914400" y="502920"/>
            <a:ext cx="10332720" cy="502920"/>
          </a:xfrm>
          <a:prstGeom prst="rect">
            <a:avLst/>
          </a:prstGeom>
          <a:noFill/>
        </p:spPr>
        <p:txBody>
          <a:bodyPr wrap="square" lIns="0" rIns="0" tIns="0" bIns="0" anchor="t">
            <a:spAutoFit/>
          </a:bodyPr>
          <a:lstStyle/>
          <a:p>
            <a:pPr algn="ctr"/>
            <a:r>
              <a:rPr sz="2800" b="1" i="0">
                <a:solidFill>
                  <a:srgbClr val="FFFFFF"/>
                </a:solidFill>
                <a:latin typeface="Cambria"/>
              </a:rPr>
              <a:t>Summary</a:t>
            </a:r>
          </a:p>
        </p:txBody>
      </p:sp>
      <p:sp>
        <p:nvSpPr>
          <p:cNvPr id="3" name="Rounded Rectangle 2"/>
          <p:cNvSpPr/>
          <p:nvPr/>
        </p:nvSpPr>
        <p:spPr>
          <a:xfrm>
            <a:off x="914400" y="1371600"/>
            <a:ext cx="3331464" cy="3108960"/>
          </a:xfrm>
          <a:prstGeom prst="roundRect">
            <a:avLst>
              <a:gd name="adj" fmla="val 10000"/>
            </a:avLst>
          </a:prstGeom>
          <a:solidFill>
            <a:srgbClr val="FFFFFF"/>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50" b="1" i="0">
                <a:solidFill>
                  <a:srgbClr val="1A2130"/>
                </a:solidFill>
                <a:latin typeface="Calibri"/>
              </a:rPr>
              <a:t>FOR SENIOR BUSINESS LEADERS</a:t>
            </a:r>
          </a:p>
          <a:p>
            <a:pPr algn="l"/>
            <a:r>
              <a:rPr sz="1150" b="0" i="0">
                <a:solidFill>
                  <a:srgbClr val="57626B"/>
                </a:solidFill>
                <a:latin typeface="Calibri"/>
              </a:rPr>
              <a:t> </a:t>
            </a:r>
          </a:p>
          <a:p>
            <a:pPr algn="l"/>
            <a:r>
              <a:rPr sz="1150" b="0" i="0">
                <a:solidFill>
                  <a:srgbClr val="57626B"/>
                </a:solidFill>
                <a:latin typeface="Calibri"/>
              </a:rPr>
              <a:t>• You own your data; the DGO makes that ownership workable</a:t>
            </a:r>
          </a:p>
          <a:p>
            <a:pPr algn="l"/>
            <a:r>
              <a:rPr sz="1150" b="0" i="0">
                <a:solidFill>
                  <a:srgbClr val="57626B"/>
                </a:solidFill>
                <a:latin typeface="Calibri"/>
              </a:rPr>
              <a:t>• Sponsor it visibly, fund remediation, review the scorecard</a:t>
            </a:r>
          </a:p>
          <a:p>
            <a:pPr algn="l"/>
            <a:r>
              <a:rPr sz="1150" b="0" i="0">
                <a:solidFill>
                  <a:srgbClr val="57626B"/>
                </a:solidFill>
                <a:latin typeface="Calibri"/>
              </a:rPr>
              <a:t>• Start narrow, prove value, then scale</a:t>
            </a:r>
          </a:p>
        </p:txBody>
      </p:sp>
      <p:sp>
        <p:nvSpPr>
          <p:cNvPr id="4" name="Rounded Rectangle 3"/>
          <p:cNvSpPr/>
          <p:nvPr/>
        </p:nvSpPr>
        <p:spPr>
          <a:xfrm>
            <a:off x="4428744" y="1371600"/>
            <a:ext cx="3331464" cy="3108960"/>
          </a:xfrm>
          <a:prstGeom prst="roundRect">
            <a:avLst>
              <a:gd name="adj" fmla="val 10000"/>
            </a:avLst>
          </a:prstGeom>
          <a:solidFill>
            <a:srgbClr val="FFFFFF"/>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50" b="1" i="0">
                <a:solidFill>
                  <a:srgbClr val="1A2130"/>
                </a:solidFill>
                <a:latin typeface="Calibri"/>
              </a:rPr>
              <a:t>FOR ARCHITECTS</a:t>
            </a:r>
          </a:p>
          <a:p>
            <a:pPr algn="l"/>
            <a:r>
              <a:rPr sz="1150" b="0" i="0">
                <a:solidFill>
                  <a:srgbClr val="57626B"/>
                </a:solidFill>
                <a:latin typeface="Calibri"/>
              </a:rPr>
              <a:t> </a:t>
            </a:r>
          </a:p>
          <a:p>
            <a:pPr algn="l"/>
            <a:r>
              <a:rPr sz="1150" b="0" i="0">
                <a:solidFill>
                  <a:srgbClr val="57626B"/>
                </a:solidFill>
                <a:latin typeface="Calibri"/>
              </a:rPr>
              <a:t>• The catalog is the hub; integrate, don't collect tools</a:t>
            </a:r>
          </a:p>
          <a:p>
            <a:pPr algn="l"/>
            <a:r>
              <a:rPr sz="1150" b="0" i="0">
                <a:solidFill>
                  <a:srgbClr val="57626B"/>
                </a:solidFill>
                <a:latin typeface="Calibri"/>
              </a:rPr>
              <a:t>• Harvest lineage and run DQ as code in the pipeline</a:t>
            </a:r>
          </a:p>
          <a:p>
            <a:pPr algn="l"/>
            <a:r>
              <a:rPr sz="1150" b="0" i="0">
                <a:solidFill>
                  <a:srgbClr val="57626B"/>
                </a:solidFill>
                <a:latin typeface="Calibri"/>
              </a:rPr>
              <a:t>• Enforce governance at the go-live gate</a:t>
            </a:r>
          </a:p>
        </p:txBody>
      </p:sp>
      <p:sp>
        <p:nvSpPr>
          <p:cNvPr id="5" name="Rounded Rectangle 4"/>
          <p:cNvSpPr/>
          <p:nvPr/>
        </p:nvSpPr>
        <p:spPr>
          <a:xfrm>
            <a:off x="7943088" y="1371600"/>
            <a:ext cx="3331464" cy="3108960"/>
          </a:xfrm>
          <a:prstGeom prst="roundRect">
            <a:avLst>
              <a:gd name="adj" fmla="val 10000"/>
            </a:avLst>
          </a:prstGeom>
          <a:solidFill>
            <a:srgbClr val="FFFFFF"/>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1150" b="1" i="0">
                <a:solidFill>
                  <a:srgbClr val="1A2130"/>
                </a:solidFill>
                <a:latin typeface="Calibri"/>
              </a:rPr>
              <a:t>FOR DATA MANAGEMENT</a:t>
            </a:r>
          </a:p>
          <a:p>
            <a:pPr algn="l"/>
            <a:r>
              <a:rPr sz="1150" b="0" i="0">
                <a:solidFill>
                  <a:srgbClr val="57626B"/>
                </a:solidFill>
                <a:latin typeface="Calibri"/>
              </a:rPr>
              <a:t> </a:t>
            </a:r>
          </a:p>
          <a:p>
            <a:pPr algn="l"/>
            <a:r>
              <a:rPr sz="1150" b="0" i="0">
                <a:solidFill>
                  <a:srgbClr val="57626B"/>
                </a:solidFill>
                <a:latin typeface="Calibri"/>
              </a:rPr>
              <a:t>• Charter, principles and RACI before process and tools</a:t>
            </a:r>
          </a:p>
          <a:p>
            <a:pPr algn="l"/>
            <a:r>
              <a:rPr sz="1150" b="0" i="0">
                <a:solidFill>
                  <a:srgbClr val="57626B"/>
                </a:solidFill>
                <a:latin typeface="Calibri"/>
              </a:rPr>
              <a:t>• CDEs, quality, lineage and issues are the core</a:t>
            </a:r>
          </a:p>
          <a:p>
            <a:pPr algn="l"/>
            <a:r>
              <a:rPr sz="1150" b="0" i="0">
                <a:solidFill>
                  <a:srgbClr val="57626B"/>
                </a:solidFill>
                <a:latin typeface="Calibri"/>
              </a:rPr>
              <a:t>• Measure coverage, quality, control, adoption and value</a:t>
            </a:r>
          </a:p>
        </p:txBody>
      </p:sp>
      <p:sp>
        <p:nvSpPr>
          <p:cNvPr id="6" name="TextBox 5"/>
          <p:cNvSpPr txBox="1"/>
          <p:nvPr/>
        </p:nvSpPr>
        <p:spPr>
          <a:xfrm>
            <a:off x="914400" y="4846320"/>
            <a:ext cx="10332720" cy="1005840"/>
          </a:xfrm>
          <a:prstGeom prst="rect">
            <a:avLst/>
          </a:prstGeom>
          <a:noFill/>
        </p:spPr>
        <p:txBody>
          <a:bodyPr wrap="square" lIns="0" rIns="0" tIns="0" bIns="0" anchor="t">
            <a:spAutoFit/>
          </a:bodyPr>
          <a:lstStyle/>
          <a:p>
            <a:pPr algn="ctr"/>
            <a:r>
              <a:rPr sz="1300" b="1" i="1">
                <a:solidFill>
                  <a:srgbClr val="CADCEA"/>
                </a:solidFill>
                <a:latin typeface="Calibri"/>
              </a:rPr>
              <a:t>A Data Governance Office succeeds when the business owns its data, the architecture makes governance automatic, and leaders can see the results every month.</a:t>
            </a:r>
          </a:p>
        </p:txBody>
      </p:sp>
      <p:sp>
        <p:nvSpPr>
          <p:cNvPr id="7" name="TextBox 6"/>
          <p:cNvSpPr txBox="1"/>
          <p:nvPr/>
        </p:nvSpPr>
        <p:spPr>
          <a:xfrm>
            <a:off x="457200" y="6473952"/>
            <a:ext cx="5486400" cy="228600"/>
          </a:xfrm>
          <a:prstGeom prst="rect">
            <a:avLst/>
          </a:prstGeom>
          <a:noFill/>
        </p:spPr>
        <p:txBody>
          <a:bodyPr wrap="square" lIns="0" rIns="0" tIns="0" bIns="0" anchor="t">
            <a:spAutoFit/>
          </a:bodyPr>
          <a:lstStyle/>
          <a:p>
            <a:pPr algn="l"/>
            <a:r>
              <a:rPr sz="900" b="1" i="0">
                <a:solidFill>
                  <a:srgbClr val="CADCEA"/>
                </a:solidFill>
                <a:latin typeface="Courier New"/>
              </a:rPr>
              <a:t>FOR: LEADERS · ARCHITECTS · DATA MANAGEMENT</a:t>
            </a:r>
          </a:p>
        </p:txBody>
      </p:sp>
      <p:sp>
        <p:nvSpPr>
          <p:cNvPr id="8" name="TextBox 7"/>
          <p:cNvSpPr txBox="1"/>
          <p:nvPr/>
        </p:nvSpPr>
        <p:spPr>
          <a:xfrm>
            <a:off x="5943600" y="6473952"/>
            <a:ext cx="5788152" cy="228600"/>
          </a:xfrm>
          <a:prstGeom prst="rect">
            <a:avLst/>
          </a:prstGeom>
          <a:noFill/>
        </p:spPr>
        <p:txBody>
          <a:bodyPr wrap="square" lIns="0" rIns="0" tIns="0" bIns="0" anchor="t">
            <a:spAutoFit/>
          </a:bodyPr>
          <a:lstStyle/>
          <a:p>
            <a:pPr algn="r"/>
            <a:r>
              <a:rPr sz="900" b="0" i="1">
                <a:solidFill>
                  <a:srgbClr val="CADCEA"/>
                </a:solidFill>
                <a:latin typeface="Calibri"/>
              </a:rPr>
              <a:t>Establishing a Data Governance Office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