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130"/>
        </a:solidFill>
        <a:effectLst/>
      </p:bgPr>
    </p:bg>
    <p:spTree>
      <p:nvGrpSpPr>
        <p:cNvPr id="1" name=""/>
        <p:cNvGrpSpPr/>
        <p:nvPr/>
      </p:nvGrpSpPr>
      <p:grpSpPr>
        <a:xfrm>
          <a:off x="0" y="0"/>
          <a:ext cx="0" cy="0"/>
          <a:chOff x="0" y="0"/>
          <a:chExt cx="0" cy="0"/>
        </a:xfrm>
      </p:grpSpPr>
      <p:sp>
        <p:nvSpPr>
          <p:cNvPr id="2" name="TextBox 1"/>
          <p:cNvSpPr txBox="1"/>
          <p:nvPr/>
        </p:nvSpPr>
        <p:spPr>
          <a:xfrm>
            <a:off x="914400" y="1005840"/>
            <a:ext cx="10332720" cy="1097280"/>
          </a:xfrm>
          <a:prstGeom prst="rect">
            <a:avLst/>
          </a:prstGeom>
          <a:noFill/>
        </p:spPr>
        <p:txBody>
          <a:bodyPr wrap="square" lIns="0" tIns="0" rIns="0" bIns="0" anchor="ctr">
            <a:spAutoFit/>
          </a:bodyPr>
          <a:lstStyle/>
          <a:p>
            <a:pPr algn="ctr"/>
            <a:r>
              <a:rPr sz="3000" b="1" i="0">
                <a:solidFill>
                  <a:srgbClr val="FFFFFF"/>
                </a:solidFill>
                <a:latin typeface="Cambria"/>
              </a:rPr>
              <a:t>Implementing the Medallion Data Model with Claude, One Use Case at a Time</a:t>
            </a:r>
          </a:p>
        </p:txBody>
      </p:sp>
      <p:sp>
        <p:nvSpPr>
          <p:cNvPr id="3" name="TextBox 2"/>
          <p:cNvSpPr txBox="1"/>
          <p:nvPr/>
        </p:nvSpPr>
        <p:spPr>
          <a:xfrm>
            <a:off x="914400" y="2194560"/>
            <a:ext cx="10332720" cy="594360"/>
          </a:xfrm>
          <a:prstGeom prst="rect">
            <a:avLst/>
          </a:prstGeom>
          <a:noFill/>
        </p:spPr>
        <p:txBody>
          <a:bodyPr wrap="square" lIns="0" tIns="0" rIns="0" bIns="0" anchor="ctr">
            <a:spAutoFit/>
          </a:bodyPr>
          <a:lstStyle/>
          <a:p>
            <a:pPr algn="ctr"/>
            <a:r>
              <a:rPr sz="1700" b="0" i="0">
                <a:solidFill>
                  <a:srgbClr val="CADCEA"/>
                </a:solidFill>
                <a:latin typeface="Cambria"/>
              </a:rPr>
              <a:t>A platform-neutral blueprint: start with an easy proof of concept, certify Gold as fit for purpose, and keep building</a:t>
            </a:r>
          </a:p>
        </p:txBody>
      </p:sp>
      <p:cxnSp>
        <p:nvCxnSpPr>
          <p:cNvPr id="4" name="Connector 3"/>
          <p:cNvCxnSpPr/>
          <p:nvPr/>
        </p:nvCxnSpPr>
        <p:spPr>
          <a:xfrm>
            <a:off x="4270248" y="3017520"/>
            <a:ext cx="3657600" cy="0"/>
          </a:xfrm>
          <a:prstGeom prst="line">
            <a:avLst/>
          </a:prstGeom>
          <a:ln w="19050">
            <a:solidFill>
              <a:srgbClr val="CADC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3200400"/>
            <a:ext cx="10332720" cy="411480"/>
          </a:xfrm>
          <a:prstGeom prst="rect">
            <a:avLst/>
          </a:prstGeom>
          <a:noFill/>
        </p:spPr>
        <p:txBody>
          <a:bodyPr wrap="square" lIns="0" tIns="0" rIns="0" bIns="0" anchor="t">
            <a:spAutoFit/>
          </a:bodyPr>
          <a:lstStyle/>
          <a:p>
            <a:pPr algn="ctr"/>
            <a:r>
              <a:rPr sz="1300" b="0" i="0">
                <a:solidFill>
                  <a:srgbClr val="CADCEA"/>
                </a:solidFill>
                <a:latin typeface="Calibri"/>
              </a:rPr>
              <a:t>Vertical slices · Slice lifecycle · Gold certification · Rollback · Roles · Accounts &amp; confidentiality · Tool choice</a:t>
            </a:r>
          </a:p>
        </p:txBody>
      </p:sp>
      <p:sp>
        <p:nvSpPr>
          <p:cNvPr id="6" name="TextBox 5"/>
          <p:cNvSpPr txBox="1"/>
          <p:nvPr/>
        </p:nvSpPr>
        <p:spPr>
          <a:xfrm>
            <a:off x="1371600" y="4160520"/>
            <a:ext cx="9418320" cy="914400"/>
          </a:xfrm>
          <a:prstGeom prst="rect">
            <a:avLst/>
          </a:prstGeom>
          <a:noFill/>
        </p:spPr>
        <p:txBody>
          <a:bodyPr wrap="square" lIns="0" tIns="0" rIns="0" bIns="0" anchor="t">
            <a:spAutoFit/>
          </a:bodyPr>
          <a:lstStyle/>
          <a:p>
            <a:pPr algn="ctr"/>
            <a:r>
              <a:rPr sz="1250" b="0" i="1">
                <a:solidFill>
                  <a:srgbClr val="FFFFFF"/>
                </a:solidFill>
                <a:latin typeface="Calibri"/>
              </a:rPr>
              <a:t>For business, data management and architecture team members. A companion to “Consumer Lending Medallion Data Model”. No pricing; account and policy details are summarized at a high level and should be confirmed against Anthropic’s current terms and with legal before an engagement.</a:t>
            </a:r>
          </a:p>
        </p:txBody>
      </p:sp>
      <p:sp>
        <p:nvSpPr>
          <p:cNvPr id="7" name="TextBox 6"/>
          <p:cNvSpPr txBox="1"/>
          <p:nvPr/>
        </p:nvSpPr>
        <p:spPr>
          <a:xfrm>
            <a:off x="914400" y="5989320"/>
            <a:ext cx="10332720" cy="365760"/>
          </a:xfrm>
          <a:prstGeom prst="rect">
            <a:avLst/>
          </a:prstGeom>
          <a:noFill/>
        </p:spPr>
        <p:txBody>
          <a:bodyPr wrap="square" lIns="0" tIns="0" rIns="0" bIns="0" anchor="t">
            <a:spAutoFit/>
          </a:bodyPr>
          <a:lstStyle/>
          <a:p>
            <a:pPr algn="ctr"/>
            <a:r>
              <a:rPr sz="1200" b="0" i="1">
                <a:solidFill>
                  <a:srgbClr val="57626B"/>
                </a:solidFill>
                <a:latin typeface="Calibri"/>
              </a:rPr>
              <a:t>Implementing the Medallion Data Model with Claude: Client Blueprint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02</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How to use this deck</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Read in order, or start with the pages for your role.</a:t>
            </a:r>
          </a:p>
        </p:txBody>
      </p:sp>
      <p:sp>
        <p:nvSpPr>
          <p:cNvPr id="5" name="TextBox 4"/>
          <p:cNvSpPr txBox="1"/>
          <p:nvPr/>
        </p:nvSpPr>
        <p:spPr>
          <a:xfrm>
            <a:off x="457200" y="1325880"/>
            <a:ext cx="5486400" cy="274320"/>
          </a:xfrm>
          <a:prstGeom prst="rect">
            <a:avLst/>
          </a:prstGeom>
          <a:noFill/>
        </p:spPr>
        <p:txBody>
          <a:bodyPr wrap="square" lIns="0" tIns="0" rIns="0" bIns="0" anchor="t">
            <a:spAutoFit/>
          </a:bodyPr>
          <a:lstStyle/>
          <a:p>
            <a:pPr algn="l"/>
            <a:r>
              <a:rPr sz="1050" b="1" i="0">
                <a:solidFill>
                  <a:srgbClr val="1A2130"/>
                </a:solidFill>
                <a:latin typeface="Courier New"/>
              </a:rPr>
              <a:t>DECK ROADMAP</a:t>
            </a:r>
          </a:p>
        </p:txBody>
      </p:sp>
      <p:sp>
        <p:nvSpPr>
          <p:cNvPr id="6" name="Rectangle 5"/>
          <p:cNvSpPr/>
          <p:nvPr/>
        </p:nvSpPr>
        <p:spPr>
          <a:xfrm>
            <a:off x="457200" y="1691640"/>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3–5</a:t>
            </a:r>
          </a:p>
        </p:txBody>
      </p:sp>
      <p:sp>
        <p:nvSpPr>
          <p:cNvPr id="7" name="TextBox 6"/>
          <p:cNvSpPr txBox="1"/>
          <p:nvPr/>
        </p:nvSpPr>
        <p:spPr>
          <a:xfrm>
            <a:off x="1371600" y="1691640"/>
            <a:ext cx="4572000" cy="402336"/>
          </a:xfrm>
          <a:prstGeom prst="rect">
            <a:avLst/>
          </a:prstGeom>
          <a:noFill/>
        </p:spPr>
        <p:txBody>
          <a:bodyPr wrap="square" lIns="0" tIns="0" rIns="0" bIns="0" anchor="ctr">
            <a:spAutoFit/>
          </a:bodyPr>
          <a:lstStyle/>
          <a:p>
            <a:pPr algn="l"/>
            <a:r>
              <a:rPr sz="1100" b="0" i="0">
                <a:solidFill>
                  <a:srgbClr val="57626B"/>
                </a:solidFill>
                <a:latin typeface="Calibri"/>
              </a:rPr>
              <a:t>Scope, vertical slices and the slice roadmap</a:t>
            </a:r>
          </a:p>
        </p:txBody>
      </p:sp>
      <p:sp>
        <p:nvSpPr>
          <p:cNvPr id="8" name="Rectangle 7"/>
          <p:cNvSpPr/>
          <p:nvPr/>
        </p:nvSpPr>
        <p:spPr>
          <a:xfrm>
            <a:off x="457200" y="2185416"/>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6–9</a:t>
            </a:r>
          </a:p>
        </p:txBody>
      </p:sp>
      <p:sp>
        <p:nvSpPr>
          <p:cNvPr id="9" name="TextBox 8"/>
          <p:cNvSpPr txBox="1"/>
          <p:nvPr/>
        </p:nvSpPr>
        <p:spPr>
          <a:xfrm>
            <a:off x="1371600" y="2185416"/>
            <a:ext cx="4572000" cy="402336"/>
          </a:xfrm>
          <a:prstGeom prst="rect">
            <a:avLst/>
          </a:prstGeom>
          <a:noFill/>
        </p:spPr>
        <p:txBody>
          <a:bodyPr wrap="square" lIns="0" tIns="0" rIns="0" bIns="0" anchor="ctr">
            <a:spAutoFit/>
          </a:bodyPr>
          <a:lstStyle/>
          <a:p>
            <a:pPr algn="l"/>
            <a:r>
              <a:rPr sz="1100" b="0" i="0">
                <a:solidFill>
                  <a:srgbClr val="57626B"/>
                </a:solidFill>
                <a:latin typeface="Calibri"/>
              </a:rPr>
              <a:t>The slice lifecycle and the Design step</a:t>
            </a:r>
          </a:p>
        </p:txBody>
      </p:sp>
      <p:sp>
        <p:nvSpPr>
          <p:cNvPr id="10" name="Rectangle 9"/>
          <p:cNvSpPr/>
          <p:nvPr/>
        </p:nvSpPr>
        <p:spPr>
          <a:xfrm>
            <a:off x="457200" y="2679192"/>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10–11</a:t>
            </a:r>
          </a:p>
        </p:txBody>
      </p:sp>
      <p:sp>
        <p:nvSpPr>
          <p:cNvPr id="11" name="TextBox 10"/>
          <p:cNvSpPr txBox="1"/>
          <p:nvPr/>
        </p:nvSpPr>
        <p:spPr>
          <a:xfrm>
            <a:off x="1371600" y="2679192"/>
            <a:ext cx="4572000" cy="402336"/>
          </a:xfrm>
          <a:prstGeom prst="rect">
            <a:avLst/>
          </a:prstGeom>
          <a:noFill/>
        </p:spPr>
        <p:txBody>
          <a:bodyPr wrap="square" lIns="0" tIns="0" rIns="0" bIns="0" anchor="ctr">
            <a:spAutoFit/>
          </a:bodyPr>
          <a:lstStyle/>
          <a:p>
            <a:pPr algn="l"/>
            <a:r>
              <a:rPr sz="1100" b="0" i="0">
                <a:solidFill>
                  <a:srgbClr val="57626B"/>
                </a:solidFill>
                <a:latin typeface="Calibri"/>
              </a:rPr>
              <a:t>Gold certification and growing the model</a:t>
            </a:r>
          </a:p>
        </p:txBody>
      </p:sp>
      <p:sp>
        <p:nvSpPr>
          <p:cNvPr id="12" name="Rectangle 11"/>
          <p:cNvSpPr/>
          <p:nvPr/>
        </p:nvSpPr>
        <p:spPr>
          <a:xfrm>
            <a:off x="457200" y="3172968"/>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12–13</a:t>
            </a:r>
          </a:p>
        </p:txBody>
      </p:sp>
      <p:sp>
        <p:nvSpPr>
          <p:cNvPr id="13" name="TextBox 12"/>
          <p:cNvSpPr txBox="1"/>
          <p:nvPr/>
        </p:nvSpPr>
        <p:spPr>
          <a:xfrm>
            <a:off x="1371600" y="3172968"/>
            <a:ext cx="4572000" cy="402336"/>
          </a:xfrm>
          <a:prstGeom prst="rect">
            <a:avLst/>
          </a:prstGeom>
          <a:noFill/>
        </p:spPr>
        <p:txBody>
          <a:bodyPr wrap="square" lIns="0" tIns="0" rIns="0" bIns="0" anchor="ctr">
            <a:spAutoFit/>
          </a:bodyPr>
          <a:lstStyle/>
          <a:p>
            <a:pPr algn="l"/>
            <a:r>
              <a:rPr sz="1100" b="0" i="0">
                <a:solidFill>
                  <a:srgbClr val="57626B"/>
                </a:solidFill>
                <a:latin typeface="Calibri"/>
              </a:rPr>
              <a:t>Repository, environments and backing out</a:t>
            </a:r>
          </a:p>
        </p:txBody>
      </p:sp>
      <p:sp>
        <p:nvSpPr>
          <p:cNvPr id="14" name="Rectangle 13"/>
          <p:cNvSpPr/>
          <p:nvPr/>
        </p:nvSpPr>
        <p:spPr>
          <a:xfrm>
            <a:off x="457200" y="3666744"/>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14</a:t>
            </a:r>
          </a:p>
        </p:txBody>
      </p:sp>
      <p:sp>
        <p:nvSpPr>
          <p:cNvPr id="15" name="TextBox 14"/>
          <p:cNvSpPr txBox="1"/>
          <p:nvPr/>
        </p:nvSpPr>
        <p:spPr>
          <a:xfrm>
            <a:off x="1371600" y="3666744"/>
            <a:ext cx="4572000" cy="402336"/>
          </a:xfrm>
          <a:prstGeom prst="rect">
            <a:avLst/>
          </a:prstGeom>
          <a:noFill/>
        </p:spPr>
        <p:txBody>
          <a:bodyPr wrap="square" lIns="0" tIns="0" rIns="0" bIns="0" anchor="ctr">
            <a:spAutoFit/>
          </a:bodyPr>
          <a:lstStyle/>
          <a:p>
            <a:pPr algn="l"/>
            <a:r>
              <a:rPr sz="1100" b="0" i="0">
                <a:solidFill>
                  <a:srgbClr val="57626B"/>
                </a:solidFill>
                <a:latin typeface="Calibri"/>
              </a:rPr>
              <a:t>Who does what</a:t>
            </a:r>
          </a:p>
        </p:txBody>
      </p:sp>
      <p:sp>
        <p:nvSpPr>
          <p:cNvPr id="16" name="Rectangle 15"/>
          <p:cNvSpPr/>
          <p:nvPr/>
        </p:nvSpPr>
        <p:spPr>
          <a:xfrm>
            <a:off x="457200" y="4160520"/>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15–18</a:t>
            </a:r>
          </a:p>
        </p:txBody>
      </p:sp>
      <p:sp>
        <p:nvSpPr>
          <p:cNvPr id="17" name="TextBox 16"/>
          <p:cNvSpPr txBox="1"/>
          <p:nvPr/>
        </p:nvSpPr>
        <p:spPr>
          <a:xfrm>
            <a:off x="1371600" y="4160520"/>
            <a:ext cx="4572000" cy="402336"/>
          </a:xfrm>
          <a:prstGeom prst="rect">
            <a:avLst/>
          </a:prstGeom>
          <a:noFill/>
        </p:spPr>
        <p:txBody>
          <a:bodyPr wrap="square" lIns="0" tIns="0" rIns="0" bIns="0" anchor="ctr">
            <a:spAutoFit/>
          </a:bodyPr>
          <a:lstStyle/>
          <a:p>
            <a:pPr algn="l"/>
            <a:r>
              <a:rPr sz="1100" b="0" i="0">
                <a:solidFill>
                  <a:srgbClr val="57626B"/>
                </a:solidFill>
                <a:latin typeface="Calibri"/>
              </a:rPr>
              <a:t>Protecting client information and firm IP; accounts</a:t>
            </a:r>
          </a:p>
        </p:txBody>
      </p:sp>
      <p:sp>
        <p:nvSpPr>
          <p:cNvPr id="18" name="Rectangle 17"/>
          <p:cNvSpPr/>
          <p:nvPr/>
        </p:nvSpPr>
        <p:spPr>
          <a:xfrm>
            <a:off x="457200" y="4654296"/>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19–21</a:t>
            </a:r>
          </a:p>
        </p:txBody>
      </p:sp>
      <p:sp>
        <p:nvSpPr>
          <p:cNvPr id="19" name="TextBox 18"/>
          <p:cNvSpPr txBox="1"/>
          <p:nvPr/>
        </p:nvSpPr>
        <p:spPr>
          <a:xfrm>
            <a:off x="1371600" y="4654296"/>
            <a:ext cx="4572000" cy="402336"/>
          </a:xfrm>
          <a:prstGeom prst="rect">
            <a:avLst/>
          </a:prstGeom>
          <a:noFill/>
        </p:spPr>
        <p:txBody>
          <a:bodyPr wrap="square" lIns="0" tIns="0" rIns="0" bIns="0" anchor="ctr">
            <a:spAutoFit/>
          </a:bodyPr>
          <a:lstStyle/>
          <a:p>
            <a:pPr algn="l"/>
            <a:r>
              <a:rPr sz="1100" b="0" i="0">
                <a:solidFill>
                  <a:srgbClr val="57626B"/>
                </a:solidFill>
                <a:latin typeface="Calibri"/>
              </a:rPr>
              <a:t>Claude model choice and AI tool comparison</a:t>
            </a:r>
          </a:p>
        </p:txBody>
      </p:sp>
      <p:sp>
        <p:nvSpPr>
          <p:cNvPr id="20" name="Rectangle 19"/>
          <p:cNvSpPr/>
          <p:nvPr/>
        </p:nvSpPr>
        <p:spPr>
          <a:xfrm>
            <a:off x="457200" y="5148072"/>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22–23</a:t>
            </a:r>
          </a:p>
        </p:txBody>
      </p:sp>
      <p:sp>
        <p:nvSpPr>
          <p:cNvPr id="21" name="TextBox 20"/>
          <p:cNvSpPr txBox="1"/>
          <p:nvPr/>
        </p:nvSpPr>
        <p:spPr>
          <a:xfrm>
            <a:off x="1371600" y="5148072"/>
            <a:ext cx="4572000" cy="402336"/>
          </a:xfrm>
          <a:prstGeom prst="rect">
            <a:avLst/>
          </a:prstGeom>
          <a:noFill/>
        </p:spPr>
        <p:txBody>
          <a:bodyPr wrap="square" lIns="0" tIns="0" rIns="0" bIns="0" anchor="ctr">
            <a:spAutoFit/>
          </a:bodyPr>
          <a:lstStyle/>
          <a:p>
            <a:pPr algn="l"/>
            <a:r>
              <a:rPr sz="1100" b="0" i="0">
                <a:solidFill>
                  <a:srgbClr val="57626B"/>
                </a:solidFill>
                <a:latin typeface="Calibri"/>
              </a:rPr>
              <a:t>Readiness checklist and summary</a:t>
            </a:r>
          </a:p>
        </p:txBody>
      </p:sp>
      <p:sp>
        <p:nvSpPr>
          <p:cNvPr id="22" name="Rectangle 21"/>
          <p:cNvSpPr/>
          <p:nvPr/>
        </p:nvSpPr>
        <p:spPr>
          <a:xfrm>
            <a:off x="457200" y="5641848"/>
            <a:ext cx="777240" cy="402336"/>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24</a:t>
            </a:r>
          </a:p>
        </p:txBody>
      </p:sp>
      <p:sp>
        <p:nvSpPr>
          <p:cNvPr id="23" name="TextBox 22"/>
          <p:cNvSpPr txBox="1"/>
          <p:nvPr/>
        </p:nvSpPr>
        <p:spPr>
          <a:xfrm>
            <a:off x="1371600" y="5641848"/>
            <a:ext cx="4572000" cy="402336"/>
          </a:xfrm>
          <a:prstGeom prst="rect">
            <a:avLst/>
          </a:prstGeom>
          <a:noFill/>
        </p:spPr>
        <p:txBody>
          <a:bodyPr wrap="square" lIns="0" tIns="0" rIns="0" bIns="0" anchor="ctr">
            <a:spAutoFit/>
          </a:bodyPr>
          <a:lstStyle/>
          <a:p>
            <a:pPr algn="l"/>
            <a:r>
              <a:rPr sz="1100" b="0" i="0">
                <a:solidFill>
                  <a:srgbClr val="57626B"/>
                </a:solidFill>
                <a:latin typeface="Calibri"/>
              </a:rPr>
              <a:t>Glossary</a:t>
            </a:r>
          </a:p>
        </p:txBody>
      </p:sp>
      <p:sp>
        <p:nvSpPr>
          <p:cNvPr id="28" name="TextBox 27"/>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03</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Scope: build and certify the model, one use case at a time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mock-up is the starting design. Each slice turns part of it into a working, signed-off part of the client’s model.</a:t>
            </a:r>
          </a:p>
        </p:txBody>
      </p:sp>
      <p:sp>
        <p:nvSpPr>
          <p:cNvPr id="5" name="Rectangle 4"/>
          <p:cNvSpPr/>
          <p:nvPr/>
        </p:nvSpPr>
        <p:spPr>
          <a:xfrm>
            <a:off x="457200" y="1371600"/>
            <a:ext cx="6583680" cy="45720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alibri"/>
              </a:rPr>
              <a:t>IN SCOPE</a:t>
            </a:r>
          </a:p>
        </p:txBody>
      </p:sp>
      <p:sp>
        <p:nvSpPr>
          <p:cNvPr id="6" name="Rectangle 5"/>
          <p:cNvSpPr/>
          <p:nvPr/>
        </p:nvSpPr>
        <p:spPr>
          <a:xfrm>
            <a:off x="457200" y="1828800"/>
            <a:ext cx="6583680" cy="141732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1A2130"/>
                </a:solidFill>
                <a:latin typeface="Calibri"/>
              </a:rPr>
              <a:t>• Delivering the Consumer Lending model in use-case slices, from source to Gold</a:t>
            </a:r>
          </a:p>
          <a:p>
            <a:pPr algn="l"/>
            <a:r>
              <a:rPr sz="1150" b="0" i="0">
                <a:solidFill>
                  <a:srgbClr val="1A2130"/>
                </a:solidFill>
                <a:latin typeface="Calibri"/>
              </a:rPr>
              <a:t>• For each slice: scope, discover, design, build, test, deploy, operate, document</a:t>
            </a:r>
          </a:p>
          <a:p>
            <a:pPr algn="l"/>
            <a:r>
              <a:rPr sz="1150" b="0" i="0">
                <a:solidFill>
                  <a:srgbClr val="1A2130"/>
                </a:solidFill>
                <a:latin typeface="Calibri"/>
              </a:rPr>
              <a:t>• Certifying each Gold object as fit for a named purpose</a:t>
            </a:r>
          </a:p>
          <a:p>
            <a:pPr algn="l"/>
            <a:r>
              <a:rPr sz="1150" b="0" i="0">
                <a:solidFill>
                  <a:srgbClr val="1A2130"/>
                </a:solidFill>
                <a:latin typeface="Calibri"/>
              </a:rPr>
              <a:t>• Growing the model slice by slice without breaking what is certified</a:t>
            </a:r>
          </a:p>
          <a:p>
            <a:pPr algn="l"/>
            <a:r>
              <a:rPr sz="1150" b="0" i="0">
                <a:solidFill>
                  <a:srgbClr val="1A2130"/>
                </a:solidFill>
                <a:latin typeface="Calibri"/>
              </a:rPr>
              <a:t>• Using Claude safely under the right account</a:t>
            </a:r>
          </a:p>
        </p:txBody>
      </p:sp>
      <p:sp>
        <p:nvSpPr>
          <p:cNvPr id="7" name="Rectangle 6"/>
          <p:cNvSpPr/>
          <p:nvPr/>
        </p:nvSpPr>
        <p:spPr>
          <a:xfrm>
            <a:off x="7315200" y="1371600"/>
            <a:ext cx="4416552" cy="45720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alibri"/>
              </a:rPr>
              <a:t>NOT COVERED HERE</a:t>
            </a:r>
          </a:p>
        </p:txBody>
      </p:sp>
      <p:sp>
        <p:nvSpPr>
          <p:cNvPr id="8" name="Rectangle 7"/>
          <p:cNvSpPr/>
          <p:nvPr/>
        </p:nvSpPr>
        <p:spPr>
          <a:xfrm>
            <a:off x="7315200" y="1828800"/>
            <a:ext cx="4416552" cy="1417320"/>
          </a:xfrm>
          <a:prstGeom prst="rect">
            <a:avLst/>
          </a:prstGeom>
          <a:solidFill>
            <a:srgbClr val="E8ECEF"/>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1A2130"/>
                </a:solidFill>
                <a:latin typeface="Calibri"/>
              </a:rPr>
              <a:t>• Choosing a platform: the blueprint works on any lakehouse or warehouse</a:t>
            </a:r>
          </a:p>
          <a:p>
            <a:pPr algn="l"/>
            <a:r>
              <a:rPr sz="1150" b="0" i="0">
                <a:solidFill>
                  <a:srgbClr val="1A2130"/>
                </a:solidFill>
                <a:latin typeface="Calibri"/>
              </a:rPr>
              <a:t>• Pricing and licensing costs</a:t>
            </a:r>
          </a:p>
          <a:p>
            <a:pPr algn="l"/>
            <a:r>
              <a:rPr sz="1150" b="0" i="0">
                <a:solidFill>
                  <a:srgbClr val="1A2130"/>
                </a:solidFill>
                <a:latin typeface="Calibri"/>
              </a:rPr>
              <a:t>• Organization design and change management</a:t>
            </a:r>
          </a:p>
          <a:p>
            <a:pPr algn="l"/>
            <a:r>
              <a:rPr sz="1150" b="0" i="0">
                <a:solidFill>
                  <a:srgbClr val="1A2130"/>
                </a:solidFill>
                <a:latin typeface="Calibri"/>
              </a:rPr>
              <a:t>• Migrating legacy reports</a:t>
            </a:r>
          </a:p>
        </p:txBody>
      </p:sp>
      <p:sp>
        <p:nvSpPr>
          <p:cNvPr id="9" name="TextBox 8"/>
          <p:cNvSpPr txBox="1"/>
          <p:nvPr/>
        </p:nvSpPr>
        <p:spPr>
          <a:xfrm>
            <a:off x="457200" y="3566160"/>
            <a:ext cx="11247120" cy="274320"/>
          </a:xfrm>
          <a:prstGeom prst="rect">
            <a:avLst/>
          </a:prstGeom>
          <a:noFill/>
        </p:spPr>
        <p:txBody>
          <a:bodyPr wrap="square" lIns="0" tIns="0" rIns="0" bIns="0" anchor="t">
            <a:spAutoFit/>
          </a:bodyPr>
          <a:lstStyle/>
          <a:p>
            <a:pPr algn="l"/>
            <a:r>
              <a:rPr sz="1050" b="1" i="0">
                <a:solidFill>
                  <a:srgbClr val="1A2130"/>
                </a:solidFill>
                <a:latin typeface="Courier New"/>
              </a:rPr>
              <a:t>REUSED FROM THE MOCK-UP (THE FIRM’S ACCELERATOR)</a:t>
            </a:r>
          </a:p>
        </p:txBody>
      </p:sp>
      <p:sp>
        <p:nvSpPr>
          <p:cNvPr id="10" name="Rounded Rectangle 9"/>
          <p:cNvSpPr/>
          <p:nvPr/>
        </p:nvSpPr>
        <p:spPr>
          <a:xfrm>
            <a:off x="457200" y="3886200"/>
            <a:ext cx="2681478"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Layer contracts &amp; conventions</a:t>
            </a:r>
          </a:p>
          <a:p>
            <a:pPr algn="l"/>
            <a:r>
              <a:rPr sz="1050" b="0" i="0">
                <a:solidFill>
                  <a:srgbClr val="57626B"/>
                </a:solidFill>
                <a:latin typeface="Calibri"/>
              </a:rPr>
              <a:t>What Bronze, Silver and Gold each guarantee</a:t>
            </a:r>
          </a:p>
        </p:txBody>
      </p:sp>
      <p:sp>
        <p:nvSpPr>
          <p:cNvPr id="11" name="Rounded Rectangle 10"/>
          <p:cNvSpPr/>
          <p:nvPr/>
        </p:nvSpPr>
        <p:spPr>
          <a:xfrm>
            <a:off x="3321558" y="3886200"/>
            <a:ext cx="2681478"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Bus matrix</a:t>
            </a:r>
          </a:p>
          <a:p>
            <a:pPr algn="l"/>
            <a:r>
              <a:rPr sz="1050" b="0" i="0">
                <a:solidFill>
                  <a:srgbClr val="57626B"/>
                </a:solidFill>
                <a:latin typeface="Calibri"/>
              </a:rPr>
              <a:t>Becomes the build plan: which facts need which dimensions</a:t>
            </a:r>
          </a:p>
        </p:txBody>
      </p:sp>
      <p:sp>
        <p:nvSpPr>
          <p:cNvPr id="12" name="Rounded Rectangle 11"/>
          <p:cNvSpPr/>
          <p:nvPr/>
        </p:nvSpPr>
        <p:spPr>
          <a:xfrm>
            <a:off x="6185916" y="3886200"/>
            <a:ext cx="2681478"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ERDs &amp; data dictionary</a:t>
            </a:r>
          </a:p>
          <a:p>
            <a:pPr algn="l"/>
            <a:r>
              <a:rPr sz="1050" b="0" i="0">
                <a:solidFill>
                  <a:srgbClr val="57626B"/>
                </a:solidFill>
                <a:latin typeface="Calibri"/>
              </a:rPr>
              <a:t>Become the design record, kept in step with what is built</a:t>
            </a:r>
          </a:p>
        </p:txBody>
      </p:sp>
      <p:sp>
        <p:nvSpPr>
          <p:cNvPr id="13" name="Rounded Rectangle 12"/>
          <p:cNvSpPr/>
          <p:nvPr/>
        </p:nvSpPr>
        <p:spPr>
          <a:xfrm>
            <a:off x="9050274" y="3886200"/>
            <a:ext cx="2681478"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Document generator</a:t>
            </a:r>
          </a:p>
          <a:p>
            <a:pPr algn="l"/>
            <a:r>
              <a:rPr sz="1050" b="0" i="0">
                <a:solidFill>
                  <a:srgbClr val="57626B"/>
                </a:solidFill>
                <a:latin typeface="Calibri"/>
              </a:rPr>
              <a:t>Regenerates the deck and dictionary every release</a:t>
            </a:r>
          </a:p>
        </p:txBody>
      </p:sp>
      <p:sp>
        <p:nvSpPr>
          <p:cNvPr id="14" name="Rounded Rectangle 13"/>
          <p:cNvSpPr/>
          <p:nvPr/>
        </p:nvSpPr>
        <p:spPr>
          <a:xfrm>
            <a:off x="457200" y="5074920"/>
            <a:ext cx="11274552" cy="6400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Platform-neutral: </a:t>
            </a:r>
            <a:r>
              <a:rPr sz="1100" b="0" i="0">
                <a:solidFill>
                  <a:srgbClr val="57626B"/>
                </a:solidFill>
                <a:latin typeface="Calibri"/>
              </a:rPr>
              <a:t>the same approach works with whatever warehouse, lakehouse, orchestration and CI/CD tools the client already uses.</a:t>
            </a:r>
          </a:p>
        </p:txBody>
      </p:sp>
      <p:sp>
        <p:nvSpPr>
          <p:cNvPr id="15" name="TextBox 14"/>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04</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Build in vertical slices, not layer by layer</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Each release delivers one use case end to end, instead of finishing one whole layer at a time.</a:t>
            </a:r>
          </a:p>
        </p:txBody>
      </p:sp>
      <p:sp>
        <p:nvSpPr>
          <p:cNvPr id="5" name="TextBox 4"/>
          <p:cNvSpPr txBox="1"/>
          <p:nvPr/>
        </p:nvSpPr>
        <p:spPr>
          <a:xfrm>
            <a:off x="457200" y="1325880"/>
            <a:ext cx="5394960" cy="274320"/>
          </a:xfrm>
          <a:prstGeom prst="rect">
            <a:avLst/>
          </a:prstGeom>
          <a:noFill/>
        </p:spPr>
        <p:txBody>
          <a:bodyPr wrap="square" lIns="0" tIns="0" rIns="0" bIns="0" anchor="t">
            <a:spAutoFit/>
          </a:bodyPr>
          <a:lstStyle/>
          <a:p>
            <a:pPr algn="l"/>
            <a:r>
              <a:rPr sz="1300" b="1" i="0">
                <a:solidFill>
                  <a:srgbClr val="1A2130"/>
                </a:solidFill>
                <a:latin typeface="Cambria"/>
              </a:rPr>
              <a:t>Layer by layer</a:t>
            </a:r>
          </a:p>
        </p:txBody>
      </p:sp>
      <p:sp>
        <p:nvSpPr>
          <p:cNvPr id="6" name="Rectangle 5"/>
          <p:cNvSpPr/>
          <p:nvPr/>
        </p:nvSpPr>
        <p:spPr>
          <a:xfrm>
            <a:off x="457200" y="1737360"/>
            <a:ext cx="868680" cy="36576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Sources</a:t>
            </a:r>
          </a:p>
        </p:txBody>
      </p:sp>
      <p:sp>
        <p:nvSpPr>
          <p:cNvPr id="7" name="Rectangle 6"/>
          <p:cNvSpPr/>
          <p:nvPr/>
        </p:nvSpPr>
        <p:spPr>
          <a:xfrm>
            <a:off x="1417320" y="1737360"/>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8" name="Rectangle 7"/>
          <p:cNvSpPr/>
          <p:nvPr/>
        </p:nvSpPr>
        <p:spPr>
          <a:xfrm>
            <a:off x="2514600" y="1737360"/>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9" name="Rectangle 8"/>
          <p:cNvSpPr/>
          <p:nvPr/>
        </p:nvSpPr>
        <p:spPr>
          <a:xfrm>
            <a:off x="3611880" y="1737360"/>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0" name="Rectangle 9"/>
          <p:cNvSpPr/>
          <p:nvPr/>
        </p:nvSpPr>
        <p:spPr>
          <a:xfrm>
            <a:off x="4709159" y="1737360"/>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1" name="Rectangle 10"/>
          <p:cNvSpPr/>
          <p:nvPr/>
        </p:nvSpPr>
        <p:spPr>
          <a:xfrm>
            <a:off x="457200" y="2157984"/>
            <a:ext cx="868680" cy="36576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Bronze</a:t>
            </a:r>
          </a:p>
        </p:txBody>
      </p:sp>
      <p:sp>
        <p:nvSpPr>
          <p:cNvPr id="12" name="Rectangle 11"/>
          <p:cNvSpPr/>
          <p:nvPr/>
        </p:nvSpPr>
        <p:spPr>
          <a:xfrm>
            <a:off x="1417320" y="2157984"/>
            <a:ext cx="1005840" cy="36576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3" name="Rectangle 12"/>
          <p:cNvSpPr/>
          <p:nvPr/>
        </p:nvSpPr>
        <p:spPr>
          <a:xfrm>
            <a:off x="2514600" y="2157984"/>
            <a:ext cx="1005840" cy="36576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4" name="Rectangle 13"/>
          <p:cNvSpPr/>
          <p:nvPr/>
        </p:nvSpPr>
        <p:spPr>
          <a:xfrm>
            <a:off x="3611880" y="2157984"/>
            <a:ext cx="1005840" cy="36576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5" name="Rectangle 14"/>
          <p:cNvSpPr/>
          <p:nvPr/>
        </p:nvSpPr>
        <p:spPr>
          <a:xfrm>
            <a:off x="4709159" y="2157984"/>
            <a:ext cx="1005840" cy="36576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6" name="Rectangle 15"/>
          <p:cNvSpPr/>
          <p:nvPr/>
        </p:nvSpPr>
        <p:spPr>
          <a:xfrm>
            <a:off x="457200" y="2578608"/>
            <a:ext cx="868680" cy="36576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Silver</a:t>
            </a:r>
          </a:p>
        </p:txBody>
      </p:sp>
      <p:sp>
        <p:nvSpPr>
          <p:cNvPr id="17" name="Rectangle 16"/>
          <p:cNvSpPr/>
          <p:nvPr/>
        </p:nvSpPr>
        <p:spPr>
          <a:xfrm>
            <a:off x="1417320" y="2578608"/>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8" name="Rectangle 17"/>
          <p:cNvSpPr/>
          <p:nvPr/>
        </p:nvSpPr>
        <p:spPr>
          <a:xfrm>
            <a:off x="2514600" y="2578608"/>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19" name="Rectangle 18"/>
          <p:cNvSpPr/>
          <p:nvPr/>
        </p:nvSpPr>
        <p:spPr>
          <a:xfrm>
            <a:off x="3611880" y="2578608"/>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0" name="Rectangle 19"/>
          <p:cNvSpPr/>
          <p:nvPr/>
        </p:nvSpPr>
        <p:spPr>
          <a:xfrm>
            <a:off x="4709159" y="2578608"/>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1" name="Rectangle 20"/>
          <p:cNvSpPr/>
          <p:nvPr/>
        </p:nvSpPr>
        <p:spPr>
          <a:xfrm>
            <a:off x="457200" y="2999232"/>
            <a:ext cx="868680" cy="365760"/>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Gold</a:t>
            </a:r>
          </a:p>
        </p:txBody>
      </p:sp>
      <p:sp>
        <p:nvSpPr>
          <p:cNvPr id="22" name="Rectangle 21"/>
          <p:cNvSpPr/>
          <p:nvPr/>
        </p:nvSpPr>
        <p:spPr>
          <a:xfrm>
            <a:off x="1417320" y="2999232"/>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3" name="Rectangle 22"/>
          <p:cNvSpPr/>
          <p:nvPr/>
        </p:nvSpPr>
        <p:spPr>
          <a:xfrm>
            <a:off x="2514600" y="2999232"/>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4" name="Rectangle 23"/>
          <p:cNvSpPr/>
          <p:nvPr/>
        </p:nvSpPr>
        <p:spPr>
          <a:xfrm>
            <a:off x="3611880" y="2999232"/>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5" name="Rectangle 24"/>
          <p:cNvSpPr/>
          <p:nvPr/>
        </p:nvSpPr>
        <p:spPr>
          <a:xfrm>
            <a:off x="4709159" y="2999232"/>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6" name="Rectangle 25"/>
          <p:cNvSpPr/>
          <p:nvPr/>
        </p:nvSpPr>
        <p:spPr>
          <a:xfrm>
            <a:off x="457200" y="3419856"/>
            <a:ext cx="868680" cy="36576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Report</a:t>
            </a:r>
          </a:p>
        </p:txBody>
      </p:sp>
      <p:sp>
        <p:nvSpPr>
          <p:cNvPr id="27" name="Rectangle 26"/>
          <p:cNvSpPr/>
          <p:nvPr/>
        </p:nvSpPr>
        <p:spPr>
          <a:xfrm>
            <a:off x="1417320" y="3419856"/>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8" name="Rectangle 27"/>
          <p:cNvSpPr/>
          <p:nvPr/>
        </p:nvSpPr>
        <p:spPr>
          <a:xfrm>
            <a:off x="2514600" y="3419856"/>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29" name="Rectangle 28"/>
          <p:cNvSpPr/>
          <p:nvPr/>
        </p:nvSpPr>
        <p:spPr>
          <a:xfrm>
            <a:off x="3611880" y="3419856"/>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30" name="Rectangle 29"/>
          <p:cNvSpPr/>
          <p:nvPr/>
        </p:nvSpPr>
        <p:spPr>
          <a:xfrm>
            <a:off x="4709159" y="3419856"/>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31" name="TextBox 30"/>
          <p:cNvSpPr txBox="1"/>
          <p:nvPr/>
        </p:nvSpPr>
        <p:spPr>
          <a:xfrm>
            <a:off x="1417320"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1</a:t>
            </a:r>
          </a:p>
        </p:txBody>
      </p:sp>
      <p:sp>
        <p:nvSpPr>
          <p:cNvPr id="32" name="TextBox 31"/>
          <p:cNvSpPr txBox="1"/>
          <p:nvPr/>
        </p:nvSpPr>
        <p:spPr>
          <a:xfrm>
            <a:off x="2514600"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2</a:t>
            </a:r>
          </a:p>
        </p:txBody>
      </p:sp>
      <p:sp>
        <p:nvSpPr>
          <p:cNvPr id="33" name="TextBox 32"/>
          <p:cNvSpPr txBox="1"/>
          <p:nvPr/>
        </p:nvSpPr>
        <p:spPr>
          <a:xfrm>
            <a:off x="3611880"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3</a:t>
            </a:r>
          </a:p>
        </p:txBody>
      </p:sp>
      <p:sp>
        <p:nvSpPr>
          <p:cNvPr id="34" name="TextBox 33"/>
          <p:cNvSpPr txBox="1"/>
          <p:nvPr/>
        </p:nvSpPr>
        <p:spPr>
          <a:xfrm>
            <a:off x="4709159"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4</a:t>
            </a:r>
          </a:p>
        </p:txBody>
      </p:sp>
      <p:sp>
        <p:nvSpPr>
          <p:cNvPr id="35" name="TextBox 34"/>
          <p:cNvSpPr txBox="1"/>
          <p:nvPr/>
        </p:nvSpPr>
        <p:spPr>
          <a:xfrm>
            <a:off x="457200" y="4096512"/>
            <a:ext cx="5394960" cy="274320"/>
          </a:xfrm>
          <a:prstGeom prst="rect">
            <a:avLst/>
          </a:prstGeom>
          <a:noFill/>
        </p:spPr>
        <p:txBody>
          <a:bodyPr wrap="square" lIns="0" tIns="0" rIns="0" bIns="0" anchor="t">
            <a:spAutoFit/>
          </a:bodyPr>
          <a:lstStyle/>
          <a:p>
            <a:pPr algn="l"/>
            <a:r>
              <a:rPr sz="1050" b="1" i="1">
                <a:solidFill>
                  <a:srgbClr val="9A3324"/>
                </a:solidFill>
                <a:latin typeface="Calibri"/>
              </a:rPr>
              <a:t>Release 1 = all of Bronze, and no report yet</a:t>
            </a:r>
          </a:p>
        </p:txBody>
      </p:sp>
      <p:sp>
        <p:nvSpPr>
          <p:cNvPr id="36" name="TextBox 35"/>
          <p:cNvSpPr txBox="1"/>
          <p:nvPr/>
        </p:nvSpPr>
        <p:spPr>
          <a:xfrm>
            <a:off x="6336792" y="1325880"/>
            <a:ext cx="5394960" cy="274320"/>
          </a:xfrm>
          <a:prstGeom prst="rect">
            <a:avLst/>
          </a:prstGeom>
          <a:noFill/>
        </p:spPr>
        <p:txBody>
          <a:bodyPr wrap="square" lIns="0" tIns="0" rIns="0" bIns="0" anchor="t">
            <a:spAutoFit/>
          </a:bodyPr>
          <a:lstStyle/>
          <a:p>
            <a:pPr algn="l"/>
            <a:r>
              <a:rPr sz="1300" b="1" i="0">
                <a:solidFill>
                  <a:srgbClr val="1A2130"/>
                </a:solidFill>
                <a:latin typeface="Cambria"/>
              </a:rPr>
              <a:t>Vertical slices (recommended)</a:t>
            </a:r>
          </a:p>
        </p:txBody>
      </p:sp>
      <p:sp>
        <p:nvSpPr>
          <p:cNvPr id="37" name="Rectangle 36"/>
          <p:cNvSpPr/>
          <p:nvPr/>
        </p:nvSpPr>
        <p:spPr>
          <a:xfrm>
            <a:off x="6336792" y="1737360"/>
            <a:ext cx="868680" cy="36576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Sources</a:t>
            </a:r>
          </a:p>
        </p:txBody>
      </p:sp>
      <p:sp>
        <p:nvSpPr>
          <p:cNvPr id="38" name="Rectangle 37"/>
          <p:cNvSpPr/>
          <p:nvPr/>
        </p:nvSpPr>
        <p:spPr>
          <a:xfrm>
            <a:off x="7296912" y="1737360"/>
            <a:ext cx="1005840" cy="36576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39" name="Rectangle 38"/>
          <p:cNvSpPr/>
          <p:nvPr/>
        </p:nvSpPr>
        <p:spPr>
          <a:xfrm>
            <a:off x="8394192" y="1737360"/>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0" name="Rectangle 39"/>
          <p:cNvSpPr/>
          <p:nvPr/>
        </p:nvSpPr>
        <p:spPr>
          <a:xfrm>
            <a:off x="9491472" y="1737360"/>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1" name="Rectangle 40"/>
          <p:cNvSpPr/>
          <p:nvPr/>
        </p:nvSpPr>
        <p:spPr>
          <a:xfrm>
            <a:off x="10588751" y="1737360"/>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2" name="Rectangle 41"/>
          <p:cNvSpPr/>
          <p:nvPr/>
        </p:nvSpPr>
        <p:spPr>
          <a:xfrm>
            <a:off x="6336792" y="2157984"/>
            <a:ext cx="868680" cy="36576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Bronze</a:t>
            </a:r>
          </a:p>
        </p:txBody>
      </p:sp>
      <p:sp>
        <p:nvSpPr>
          <p:cNvPr id="43" name="Rectangle 42"/>
          <p:cNvSpPr/>
          <p:nvPr/>
        </p:nvSpPr>
        <p:spPr>
          <a:xfrm>
            <a:off x="7296912" y="2157984"/>
            <a:ext cx="1005840" cy="36576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4" name="Rectangle 43"/>
          <p:cNvSpPr/>
          <p:nvPr/>
        </p:nvSpPr>
        <p:spPr>
          <a:xfrm>
            <a:off x="8394192" y="2157984"/>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5" name="Rectangle 44"/>
          <p:cNvSpPr/>
          <p:nvPr/>
        </p:nvSpPr>
        <p:spPr>
          <a:xfrm>
            <a:off x="9491472" y="2157984"/>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6" name="Rectangle 45"/>
          <p:cNvSpPr/>
          <p:nvPr/>
        </p:nvSpPr>
        <p:spPr>
          <a:xfrm>
            <a:off x="10588751" y="2157984"/>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7" name="Rectangle 46"/>
          <p:cNvSpPr/>
          <p:nvPr/>
        </p:nvSpPr>
        <p:spPr>
          <a:xfrm>
            <a:off x="6336792" y="2578608"/>
            <a:ext cx="868680" cy="36576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Silver</a:t>
            </a:r>
          </a:p>
        </p:txBody>
      </p:sp>
      <p:sp>
        <p:nvSpPr>
          <p:cNvPr id="48" name="Rectangle 47"/>
          <p:cNvSpPr/>
          <p:nvPr/>
        </p:nvSpPr>
        <p:spPr>
          <a:xfrm>
            <a:off x="7296912" y="2578608"/>
            <a:ext cx="1005840" cy="36576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49" name="Rectangle 48"/>
          <p:cNvSpPr/>
          <p:nvPr/>
        </p:nvSpPr>
        <p:spPr>
          <a:xfrm>
            <a:off x="8394192" y="2578608"/>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0" name="Rectangle 49"/>
          <p:cNvSpPr/>
          <p:nvPr/>
        </p:nvSpPr>
        <p:spPr>
          <a:xfrm>
            <a:off x="9491472" y="2578608"/>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1" name="Rectangle 50"/>
          <p:cNvSpPr/>
          <p:nvPr/>
        </p:nvSpPr>
        <p:spPr>
          <a:xfrm>
            <a:off x="10588751" y="2578608"/>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2" name="Rectangle 51"/>
          <p:cNvSpPr/>
          <p:nvPr/>
        </p:nvSpPr>
        <p:spPr>
          <a:xfrm>
            <a:off x="6336792" y="2999232"/>
            <a:ext cx="868680" cy="365760"/>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Gold</a:t>
            </a:r>
          </a:p>
        </p:txBody>
      </p:sp>
      <p:sp>
        <p:nvSpPr>
          <p:cNvPr id="53" name="Rectangle 52"/>
          <p:cNvSpPr/>
          <p:nvPr/>
        </p:nvSpPr>
        <p:spPr>
          <a:xfrm>
            <a:off x="7296912" y="2999232"/>
            <a:ext cx="1005840" cy="365760"/>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4" name="Rectangle 53"/>
          <p:cNvSpPr/>
          <p:nvPr/>
        </p:nvSpPr>
        <p:spPr>
          <a:xfrm>
            <a:off x="8394192" y="2999232"/>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5" name="Rectangle 54"/>
          <p:cNvSpPr/>
          <p:nvPr/>
        </p:nvSpPr>
        <p:spPr>
          <a:xfrm>
            <a:off x="9491472" y="2999232"/>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6" name="Rectangle 55"/>
          <p:cNvSpPr/>
          <p:nvPr/>
        </p:nvSpPr>
        <p:spPr>
          <a:xfrm>
            <a:off x="10588751" y="2999232"/>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7" name="Rectangle 56"/>
          <p:cNvSpPr/>
          <p:nvPr/>
        </p:nvSpPr>
        <p:spPr>
          <a:xfrm>
            <a:off x="6336792" y="3419856"/>
            <a:ext cx="868680" cy="36576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950" b="1" i="0">
                <a:solidFill>
                  <a:srgbClr val="FFFFFF"/>
                </a:solidFill>
                <a:latin typeface="Calibri"/>
              </a:rPr>
              <a:t>Report</a:t>
            </a:r>
          </a:p>
        </p:txBody>
      </p:sp>
      <p:sp>
        <p:nvSpPr>
          <p:cNvPr id="58" name="Rectangle 57"/>
          <p:cNvSpPr/>
          <p:nvPr/>
        </p:nvSpPr>
        <p:spPr>
          <a:xfrm>
            <a:off x="7296912" y="3419856"/>
            <a:ext cx="1005840" cy="36576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59" name="Rectangle 58"/>
          <p:cNvSpPr/>
          <p:nvPr/>
        </p:nvSpPr>
        <p:spPr>
          <a:xfrm>
            <a:off x="8394192" y="3419856"/>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60" name="Rectangle 59"/>
          <p:cNvSpPr/>
          <p:nvPr/>
        </p:nvSpPr>
        <p:spPr>
          <a:xfrm>
            <a:off x="9491472" y="3419856"/>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61" name="Rectangle 60"/>
          <p:cNvSpPr/>
          <p:nvPr/>
        </p:nvSpPr>
        <p:spPr>
          <a:xfrm>
            <a:off x="10588751" y="3419856"/>
            <a:ext cx="1005840" cy="3657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sp>
        <p:nvSpPr>
          <p:cNvPr id="62" name="TextBox 61"/>
          <p:cNvSpPr txBox="1"/>
          <p:nvPr/>
        </p:nvSpPr>
        <p:spPr>
          <a:xfrm>
            <a:off x="7296912"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1</a:t>
            </a:r>
          </a:p>
        </p:txBody>
      </p:sp>
      <p:sp>
        <p:nvSpPr>
          <p:cNvPr id="63" name="TextBox 62"/>
          <p:cNvSpPr txBox="1"/>
          <p:nvPr/>
        </p:nvSpPr>
        <p:spPr>
          <a:xfrm>
            <a:off x="8394192"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2</a:t>
            </a:r>
          </a:p>
        </p:txBody>
      </p:sp>
      <p:sp>
        <p:nvSpPr>
          <p:cNvPr id="64" name="TextBox 63"/>
          <p:cNvSpPr txBox="1"/>
          <p:nvPr/>
        </p:nvSpPr>
        <p:spPr>
          <a:xfrm>
            <a:off x="9491472"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3</a:t>
            </a:r>
          </a:p>
        </p:txBody>
      </p:sp>
      <p:sp>
        <p:nvSpPr>
          <p:cNvPr id="65" name="TextBox 64"/>
          <p:cNvSpPr txBox="1"/>
          <p:nvPr/>
        </p:nvSpPr>
        <p:spPr>
          <a:xfrm>
            <a:off x="10588751" y="3840480"/>
            <a:ext cx="1005840" cy="228600"/>
          </a:xfrm>
          <a:prstGeom prst="rect">
            <a:avLst/>
          </a:prstGeom>
          <a:noFill/>
        </p:spPr>
        <p:txBody>
          <a:bodyPr wrap="square" lIns="0" tIns="0" rIns="0" bIns="0" anchor="t">
            <a:spAutoFit/>
          </a:bodyPr>
          <a:lstStyle/>
          <a:p>
            <a:pPr algn="ctr"/>
            <a:r>
              <a:rPr sz="850" b="0" i="0">
                <a:solidFill>
                  <a:srgbClr val="57626B"/>
                </a:solidFill>
                <a:latin typeface="Calibri"/>
              </a:rPr>
              <a:t>Use case 4</a:t>
            </a:r>
          </a:p>
        </p:txBody>
      </p:sp>
      <p:sp>
        <p:nvSpPr>
          <p:cNvPr id="66" name="TextBox 65"/>
          <p:cNvSpPr txBox="1"/>
          <p:nvPr/>
        </p:nvSpPr>
        <p:spPr>
          <a:xfrm>
            <a:off x="6336792" y="4096512"/>
            <a:ext cx="5394960" cy="274320"/>
          </a:xfrm>
          <a:prstGeom prst="rect">
            <a:avLst/>
          </a:prstGeom>
          <a:noFill/>
        </p:spPr>
        <p:txBody>
          <a:bodyPr wrap="square" lIns="0" tIns="0" rIns="0" bIns="0" anchor="t">
            <a:spAutoFit/>
          </a:bodyPr>
          <a:lstStyle/>
          <a:p>
            <a:pPr algn="l"/>
            <a:r>
              <a:rPr sz="1050" b="1" i="1">
                <a:solidFill>
                  <a:srgbClr val="9A3324"/>
                </a:solidFill>
                <a:latin typeface="Calibri"/>
              </a:rPr>
              <a:t>Release 1 = one use case, working end to end</a:t>
            </a:r>
          </a:p>
        </p:txBody>
      </p:sp>
      <p:sp>
        <p:nvSpPr>
          <p:cNvPr id="67" name="Rounded Rectangle 66"/>
          <p:cNvSpPr/>
          <p:nvPr/>
        </p:nvSpPr>
        <p:spPr>
          <a:xfrm>
            <a:off x="457200" y="4480560"/>
            <a:ext cx="5394960" cy="822960"/>
          </a:xfrm>
          <a:prstGeom prst="roundRect">
            <a:avLst>
              <a:gd name="adj" fmla="val 10000"/>
            </a:avLst>
          </a:prstGeom>
          <a:solidFill>
            <a:srgbClr val="F6E6E3"/>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0" i="0">
                <a:solidFill>
                  <a:srgbClr val="1A2130"/>
                </a:solidFill>
                <a:latin typeface="Calibri"/>
              </a:rPr>
              <a:t>• Nothing usable until Gold is finished</a:t>
            </a:r>
          </a:p>
          <a:p>
            <a:pPr algn="l"/>
            <a:r>
              <a:rPr sz="1100" b="0" i="0">
                <a:solidFill>
                  <a:srgbClr val="1A2130"/>
                </a:solidFill>
                <a:latin typeface="Calibri"/>
              </a:rPr>
              <a:t>• Business sign-off and rework come late</a:t>
            </a:r>
          </a:p>
          <a:p>
            <a:pPr algn="l"/>
            <a:r>
              <a:rPr sz="1100" b="0" i="0">
                <a:solidFill>
                  <a:srgbClr val="1A2130"/>
                </a:solidFill>
                <a:latin typeface="Calibri"/>
              </a:rPr>
              <a:t>• Builds tables no report may ever need</a:t>
            </a:r>
          </a:p>
        </p:txBody>
      </p:sp>
      <p:sp>
        <p:nvSpPr>
          <p:cNvPr id="68" name="Rounded Rectangle 67"/>
          <p:cNvSpPr/>
          <p:nvPr/>
        </p:nvSpPr>
        <p:spPr>
          <a:xfrm>
            <a:off x="6336792" y="4480560"/>
            <a:ext cx="5394960" cy="822960"/>
          </a:xfrm>
          <a:prstGeom prst="roundRect">
            <a:avLst>
              <a:gd name="adj" fmla="val 10000"/>
            </a:avLst>
          </a:prstGeom>
          <a:solidFill>
            <a:srgbClr val="E3F1EC"/>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0" i="0">
                <a:solidFill>
                  <a:srgbClr val="1A2130"/>
                </a:solidFill>
                <a:latin typeface="Calibri"/>
              </a:rPr>
              <a:t>• A working, certified report with every slice</a:t>
            </a:r>
          </a:p>
          <a:p>
            <a:pPr algn="l"/>
            <a:r>
              <a:rPr sz="1100" b="0" i="0">
                <a:solidFill>
                  <a:srgbClr val="1A2130"/>
                </a:solidFill>
                <a:latin typeface="Calibri"/>
              </a:rPr>
              <a:t>• Feedback and sign-off early, on real use</a:t>
            </a:r>
          </a:p>
          <a:p>
            <a:pPr algn="l"/>
            <a:r>
              <a:rPr sz="1100" b="0" i="0">
                <a:solidFill>
                  <a:srgbClr val="1A2130"/>
                </a:solidFill>
                <a:latin typeface="Calibri"/>
              </a:rPr>
              <a:t>• Only builds what an approved use case needs</a:t>
            </a:r>
          </a:p>
        </p:txBody>
      </p:sp>
      <p:sp>
        <p:nvSpPr>
          <p:cNvPr id="69" name="Rounded Rectangle 68"/>
          <p:cNvSpPr/>
          <p:nvPr/>
        </p:nvSpPr>
        <p:spPr>
          <a:xfrm>
            <a:off x="457200" y="5486400"/>
            <a:ext cx="11274552" cy="548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Shared pieces are built once: </a:t>
            </a:r>
            <a:r>
              <a:rPr sz="1100" b="0" i="0">
                <a:solidFill>
                  <a:srgbClr val="57626B"/>
                </a:solidFill>
                <a:latin typeface="Calibri"/>
              </a:rPr>
              <a:t>the first slice that needs a conformed dimension builds it; later slices reuse it.</a:t>
            </a:r>
          </a:p>
        </p:txBody>
      </p:sp>
      <p:sp>
        <p:nvSpPr>
          <p:cNvPr id="70" name="TextBox 69"/>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05</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Slice roadmap: easy proof of concept first, then build out</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Illustrative order using the ten use cases in the data model deck. Each slice reuses what earlier slices built.</a:t>
            </a:r>
          </a:p>
        </p:txBody>
      </p:sp>
      <p:graphicFrame>
        <p:nvGraphicFramePr>
          <p:cNvPr id="5" name="Table 4"/>
          <p:cNvGraphicFramePr>
            <a:graphicFrameLocks noGrp="1"/>
          </p:cNvGraphicFramePr>
          <p:nvPr/>
        </p:nvGraphicFramePr>
        <p:xfrm>
          <a:off x="457200" y="1280160"/>
          <a:ext cx="11274552" cy="4581144"/>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gridCol w="2039112">
                  <a:extLst>
                    <a:ext uri="{9D8B030D-6E8A-4147-A177-3AD203B41FA5}">
                      <a16:colId xmlns:a16="http://schemas.microsoft.com/office/drawing/2014/main" val="20005"/>
                    </a:ext>
                  </a:extLst>
                </a:gridCol>
              </a:tblGrid>
              <a:tr h="329184">
                <a:tc>
                  <a:txBody>
                    <a:bodyPr/>
                    <a:lstStyle/>
                    <a:p>
                      <a:pPr algn="l"/>
                      <a:r>
                        <a:rPr sz="950" b="1" i="0">
                          <a:solidFill>
                            <a:srgbClr val="CADCEA"/>
                          </a:solidFill>
                          <a:latin typeface="Calibri"/>
                        </a:rPr>
                        <a:t>Wave</a:t>
                      </a:r>
                    </a:p>
                  </a:txBody>
                  <a:tcPr marL="64008" marR="64008" marT="27432" marB="27432" anchor="ctr">
                    <a:solidFill>
                      <a:srgbClr val="1A2130"/>
                    </a:solidFill>
                  </a:tcPr>
                </a:tc>
                <a:tc>
                  <a:txBody>
                    <a:bodyPr/>
                    <a:lstStyle/>
                    <a:p>
                      <a:pPr algn="l"/>
                      <a:r>
                        <a:rPr sz="950" b="1" i="0">
                          <a:solidFill>
                            <a:srgbClr val="CADCEA"/>
                          </a:solidFill>
                          <a:latin typeface="Calibri"/>
                        </a:rPr>
                        <a:t>Slice (use case)</a:t>
                      </a:r>
                    </a:p>
                  </a:txBody>
                  <a:tcPr marL="64008" marR="64008" marT="27432" marB="27432" anchor="ctr">
                    <a:solidFill>
                      <a:srgbClr val="1A2130"/>
                    </a:solidFill>
                  </a:tcPr>
                </a:tc>
                <a:tc>
                  <a:txBody>
                    <a:bodyPr/>
                    <a:lstStyle/>
                    <a:p>
                      <a:pPr algn="l"/>
                      <a:r>
                        <a:rPr sz="950" b="1" i="0">
                          <a:solidFill>
                            <a:srgbClr val="CADCEA"/>
                          </a:solidFill>
                          <a:latin typeface="Calibri"/>
                        </a:rPr>
                        <a:t>Why here</a:t>
                      </a:r>
                    </a:p>
                  </a:txBody>
                  <a:tcPr marL="64008" marR="64008" marT="27432" marB="27432" anchor="ctr">
                    <a:solidFill>
                      <a:srgbClr val="1A2130"/>
                    </a:solidFill>
                  </a:tcPr>
                </a:tc>
                <a:tc>
                  <a:txBody>
                    <a:bodyPr/>
                    <a:lstStyle/>
                    <a:p>
                      <a:pPr algn="l"/>
                      <a:r>
                        <a:rPr sz="950" b="1" i="0">
                          <a:solidFill>
                            <a:srgbClr val="CADCEA"/>
                          </a:solidFill>
                          <a:latin typeface="Calibri"/>
                        </a:rPr>
                        <a:t>New sources</a:t>
                      </a:r>
                    </a:p>
                  </a:txBody>
                  <a:tcPr marL="64008" marR="64008" marT="27432" marB="27432" anchor="ctr">
                    <a:solidFill>
                      <a:srgbClr val="1A2130"/>
                    </a:solidFill>
                  </a:tcPr>
                </a:tc>
                <a:tc>
                  <a:txBody>
                    <a:bodyPr/>
                    <a:lstStyle/>
                    <a:p>
                      <a:pPr algn="l"/>
                      <a:r>
                        <a:rPr sz="950" b="1" i="0">
                          <a:solidFill>
                            <a:srgbClr val="CADCEA"/>
                          </a:solidFill>
                          <a:latin typeface="Calibri"/>
                        </a:rPr>
                        <a:t>New Gold objects</a:t>
                      </a:r>
                    </a:p>
                  </a:txBody>
                  <a:tcPr marL="64008" marR="64008" marT="27432" marB="27432" anchor="ctr">
                    <a:solidFill>
                      <a:srgbClr val="1A2130"/>
                    </a:solidFill>
                  </a:tcPr>
                </a:tc>
                <a:tc>
                  <a:txBody>
                    <a:bodyPr/>
                    <a:lstStyle/>
                    <a:p>
                      <a:pPr algn="l"/>
                      <a:r>
                        <a:rPr sz="950" b="1" i="0">
                          <a:solidFill>
                            <a:srgbClr val="CADCEA"/>
                          </a:solidFill>
                          <a:latin typeface="Calibri"/>
                        </a:rPr>
                        <a:t>Reuses</a:t>
                      </a:r>
                    </a:p>
                  </a:txBody>
                  <a:tcPr marL="64008" marR="64008" marT="27432" marB="27432" anchor="ctr">
                    <a:solidFill>
                      <a:srgbClr val="1A2130"/>
                    </a:solidFill>
                  </a:tcPr>
                </a:tc>
                <a:extLst>
                  <a:ext uri="{0D108BD9-81ED-4DB2-BD59-A6C34878D82A}">
                    <a16:rowId xmlns:a16="http://schemas.microsoft.com/office/drawing/2014/main" val="10000"/>
                  </a:ext>
                </a:extLst>
              </a:tr>
              <a:tr h="425196">
                <a:tc>
                  <a:txBody>
                    <a:bodyPr/>
                    <a:lstStyle/>
                    <a:p>
                      <a:pPr algn="l"/>
                      <a:r>
                        <a:rPr sz="950" b="1" i="0">
                          <a:solidFill>
                            <a:srgbClr val="1A2130"/>
                          </a:solidFill>
                          <a:latin typeface="Calibri"/>
                        </a:rPr>
                        <a:t>0  POC</a:t>
                      </a:r>
                    </a:p>
                  </a:txBody>
                  <a:tcPr marL="64008" marR="64008" marT="27432" marB="27432" anchor="ctr">
                    <a:solidFill>
                      <a:srgbClr val="F6EFDA"/>
                    </a:solidFill>
                  </a:tcPr>
                </a:tc>
                <a:tc>
                  <a:txBody>
                    <a:bodyPr/>
                    <a:lstStyle/>
                    <a:p>
                      <a:pPr algn="l"/>
                      <a:r>
                        <a:rPr sz="950" b="0" i="0">
                          <a:solidFill>
                            <a:srgbClr val="57626B"/>
                          </a:solidFill>
                          <a:latin typeface="Calibri"/>
                        </a:rPr>
                        <a:t>Origination funnel</a:t>
                      </a:r>
                    </a:p>
                  </a:txBody>
                  <a:tcPr marL="64008" marR="64008" marT="27432" marB="27432" anchor="ctr">
                    <a:solidFill>
                      <a:srgbClr val="FFFFFF"/>
                    </a:solidFill>
                  </a:tcPr>
                </a:tc>
                <a:tc>
                  <a:txBody>
                    <a:bodyPr/>
                    <a:lstStyle/>
                    <a:p>
                      <a:pPr algn="l"/>
                      <a:r>
                        <a:rPr sz="950" b="0" i="0">
                          <a:solidFill>
                            <a:srgbClr val="57626B"/>
                          </a:solidFill>
                          <a:latin typeface="Calibri"/>
                        </a:rPr>
                        <a:t>One source, simple grain; proves the pattern end to end</a:t>
                      </a:r>
                    </a:p>
                  </a:txBody>
                  <a:tcPr marL="64008" marR="64008" marT="27432" marB="27432" anchor="ctr">
                    <a:solidFill>
                      <a:srgbClr val="FFFFFF"/>
                    </a:solidFill>
                  </a:tcPr>
                </a:tc>
                <a:tc>
                  <a:txBody>
                    <a:bodyPr/>
                    <a:lstStyle/>
                    <a:p>
                      <a:pPr algn="l"/>
                      <a:r>
                        <a:rPr sz="950" b="0" i="0">
                          <a:solidFill>
                            <a:srgbClr val="57626B"/>
                          </a:solidFill>
                          <a:latin typeface="Calibri"/>
                        </a:rPr>
                        <a:t>LOS</a:t>
                      </a:r>
                    </a:p>
                  </a:txBody>
                  <a:tcPr marL="64008" marR="64008" marT="27432" marB="27432" anchor="ctr">
                    <a:solidFill>
                      <a:srgbClr val="FFFFFF"/>
                    </a:solidFill>
                  </a:tcPr>
                </a:tc>
                <a:tc>
                  <a:txBody>
                    <a:bodyPr/>
                    <a:lstStyle/>
                    <a:p>
                      <a:pPr algn="l"/>
                      <a:r>
                        <a:rPr sz="950" b="0" i="0">
                          <a:solidFill>
                            <a:srgbClr val="57626B"/>
                          </a:solidFill>
                          <a:latin typeface="Calibri"/>
                        </a:rPr>
                        <a:t>fact_application, dim_date, dim_product, dim_channel</a:t>
                      </a:r>
                    </a:p>
                  </a:txBody>
                  <a:tcPr marL="64008" marR="64008" marT="27432" marB="27432" anchor="ctr">
                    <a:solidFill>
                      <a:srgbClr val="FFFFFF"/>
                    </a:solidFill>
                  </a:tcPr>
                </a:tc>
                <a:tc>
                  <a:txBody>
                    <a:bodyPr/>
                    <a:lstStyle/>
                    <a:p>
                      <a:pPr algn="l"/>
                      <a:r>
                        <a:rPr sz="950" b="0" i="0">
                          <a:solidFill>
                            <a:srgbClr val="57626B"/>
                          </a:solidFill>
                          <a:latin typeface="Calibri"/>
                        </a:rPr>
                        <a:t>—</a:t>
                      </a:r>
                    </a:p>
                  </a:txBody>
                  <a:tcPr marL="64008" marR="64008" marT="27432" marB="27432" anchor="ctr">
                    <a:solidFill>
                      <a:srgbClr val="FFFFFF"/>
                    </a:solidFill>
                  </a:tcPr>
                </a:tc>
                <a:extLst>
                  <a:ext uri="{0D108BD9-81ED-4DB2-BD59-A6C34878D82A}">
                    <a16:rowId xmlns:a16="http://schemas.microsoft.com/office/drawing/2014/main" val="10001"/>
                  </a:ext>
                </a:extLst>
              </a:tr>
              <a:tr h="425196">
                <a:tc>
                  <a:txBody>
                    <a:bodyPr/>
                    <a:lstStyle/>
                    <a:p>
                      <a:pPr algn="l"/>
                      <a:r>
                        <a:rPr sz="950" b="1" i="0">
                          <a:solidFill>
                            <a:srgbClr val="1A2130"/>
                          </a:solidFill>
                          <a:latin typeface="Calibri"/>
                        </a:rPr>
                        <a:t>1</a:t>
                      </a:r>
                    </a:p>
                  </a:txBody>
                  <a:tcPr marL="64008" marR="64008" marT="27432" marB="27432" anchor="ctr">
                    <a:solidFill>
                      <a:srgbClr val="F4F6F2"/>
                    </a:solidFill>
                  </a:tcPr>
                </a:tc>
                <a:tc>
                  <a:txBody>
                    <a:bodyPr/>
                    <a:lstStyle/>
                    <a:p>
                      <a:pPr algn="l"/>
                      <a:r>
                        <a:rPr sz="950" b="0" i="0">
                          <a:solidFill>
                            <a:srgbClr val="57626B"/>
                          </a:solidFill>
                          <a:latin typeface="Calibri"/>
                        </a:rPr>
                        <a:t>Portfolio performance</a:t>
                      </a:r>
                    </a:p>
                  </a:txBody>
                  <a:tcPr marL="64008" marR="64008" marT="27432" marB="27432" anchor="ctr">
                    <a:solidFill>
                      <a:srgbClr val="F4F6F2"/>
                    </a:solidFill>
                  </a:tcPr>
                </a:tc>
                <a:tc>
                  <a:txBody>
                    <a:bodyPr/>
                    <a:lstStyle/>
                    <a:p>
                      <a:pPr algn="l"/>
                      <a:r>
                        <a:rPr sz="950" b="0" i="0">
                          <a:solidFill>
                            <a:srgbClr val="57626B"/>
                          </a:solidFill>
                          <a:latin typeface="Calibri"/>
                        </a:rPr>
                        <a:t>Builds the loan snapshot and the facility dimension</a:t>
                      </a:r>
                    </a:p>
                  </a:txBody>
                  <a:tcPr marL="64008" marR="64008" marT="27432" marB="27432" anchor="ctr">
                    <a:solidFill>
                      <a:srgbClr val="F4F6F2"/>
                    </a:solidFill>
                  </a:tcPr>
                </a:tc>
                <a:tc>
                  <a:txBody>
                    <a:bodyPr/>
                    <a:lstStyle/>
                    <a:p>
                      <a:pPr algn="l"/>
                      <a:r>
                        <a:rPr sz="950" b="0" i="0">
                          <a:solidFill>
                            <a:srgbClr val="57626B"/>
                          </a:solidFill>
                          <a:latin typeface="Calibri"/>
                        </a:rPr>
                        <a:t>CORE, CARD, REF</a:t>
                      </a:r>
                    </a:p>
                  </a:txBody>
                  <a:tcPr marL="64008" marR="64008" marT="27432" marB="27432" anchor="ctr">
                    <a:solidFill>
                      <a:srgbClr val="F4F6F2"/>
                    </a:solidFill>
                  </a:tcPr>
                </a:tc>
                <a:tc>
                  <a:txBody>
                    <a:bodyPr/>
                    <a:lstStyle/>
                    <a:p>
                      <a:pPr algn="l"/>
                      <a:r>
                        <a:rPr sz="950" b="0" i="0">
                          <a:solidFill>
                            <a:srgbClr val="57626B"/>
                          </a:solidFill>
                          <a:latin typeface="Calibri"/>
                        </a:rPr>
                        <a:t>fact_loan_monthly_snapshot, dim_account, dim_facility</a:t>
                      </a:r>
                    </a:p>
                  </a:txBody>
                  <a:tcPr marL="64008" marR="64008" marT="27432" marB="27432" anchor="ctr">
                    <a:solidFill>
                      <a:srgbClr val="F4F6F2"/>
                    </a:solidFill>
                  </a:tcPr>
                </a:tc>
                <a:tc>
                  <a:txBody>
                    <a:bodyPr/>
                    <a:lstStyle/>
                    <a:p>
                      <a:pPr algn="l"/>
                      <a:r>
                        <a:rPr sz="950" b="0" i="0">
                          <a:solidFill>
                            <a:srgbClr val="57626B"/>
                          </a:solidFill>
                          <a:latin typeface="Calibri"/>
                        </a:rPr>
                        <a:t>dim_date, dim_product</a:t>
                      </a:r>
                    </a:p>
                  </a:txBody>
                  <a:tcPr marL="64008" marR="64008" marT="27432" marB="27432" anchor="ctr">
                    <a:solidFill>
                      <a:srgbClr val="F4F6F2"/>
                    </a:solidFill>
                  </a:tcPr>
                </a:tc>
                <a:extLst>
                  <a:ext uri="{0D108BD9-81ED-4DB2-BD59-A6C34878D82A}">
                    <a16:rowId xmlns:a16="http://schemas.microsoft.com/office/drawing/2014/main" val="10002"/>
                  </a:ext>
                </a:extLst>
              </a:tr>
              <a:tr h="425196">
                <a:tc>
                  <a:txBody>
                    <a:bodyPr/>
                    <a:lstStyle/>
                    <a:p>
                      <a:pPr algn="l"/>
                      <a:r>
                        <a:rPr sz="950" b="1" i="0">
                          <a:solidFill>
                            <a:srgbClr val="1A2130"/>
                          </a:solidFill>
                          <a:latin typeface="Calibri"/>
                        </a:rPr>
                        <a:t>1</a:t>
                      </a:r>
                    </a:p>
                  </a:txBody>
                  <a:tcPr marL="64008" marR="64008" marT="27432" marB="27432" anchor="ctr">
                    <a:solidFill>
                      <a:srgbClr val="FFFFFF"/>
                    </a:solidFill>
                  </a:tcPr>
                </a:tc>
                <a:tc>
                  <a:txBody>
                    <a:bodyPr/>
                    <a:lstStyle/>
                    <a:p>
                      <a:pPr algn="l"/>
                      <a:r>
                        <a:rPr sz="950" b="0" i="0">
                          <a:solidFill>
                            <a:srgbClr val="57626B"/>
                          </a:solidFill>
                          <a:latin typeface="Calibri"/>
                        </a:rPr>
                        <a:t>Delinquency &amp; roll rates</a:t>
                      </a:r>
                    </a:p>
                  </a:txBody>
                  <a:tcPr marL="64008" marR="64008" marT="27432" marB="27432" anchor="ctr">
                    <a:solidFill>
                      <a:srgbClr val="FFFFFF"/>
                    </a:solidFill>
                  </a:tcPr>
                </a:tc>
                <a:tc>
                  <a:txBody>
                    <a:bodyPr/>
                    <a:lstStyle/>
                    <a:p>
                      <a:pPr algn="l"/>
                      <a:r>
                        <a:rPr sz="950" b="0" i="0">
                          <a:solidFill>
                            <a:srgbClr val="57626B"/>
                          </a:solidFill>
                          <a:latin typeface="Calibri"/>
                        </a:rPr>
                        <a:t>Adds one dimension to the loan snapshot</a:t>
                      </a:r>
                    </a:p>
                  </a:txBody>
                  <a:tcPr marL="64008" marR="64008" marT="27432" marB="27432" anchor="ctr">
                    <a:solidFill>
                      <a:srgbClr val="FFFFFF"/>
                    </a:solidFill>
                  </a:tcPr>
                </a:tc>
                <a:tc>
                  <a:txBody>
                    <a:bodyPr/>
                    <a:lstStyle/>
                    <a:p>
                      <a:pPr algn="l"/>
                      <a:r>
                        <a:rPr sz="950" b="0" i="0">
                          <a:solidFill>
                            <a:srgbClr val="57626B"/>
                          </a:solidFill>
                          <a:latin typeface="Calibri"/>
                        </a:rPr>
                        <a:t>—</a:t>
                      </a:r>
                    </a:p>
                  </a:txBody>
                  <a:tcPr marL="64008" marR="64008" marT="27432" marB="27432" anchor="ctr">
                    <a:solidFill>
                      <a:srgbClr val="FFFFFF"/>
                    </a:solidFill>
                  </a:tcPr>
                </a:tc>
                <a:tc>
                  <a:txBody>
                    <a:bodyPr/>
                    <a:lstStyle/>
                    <a:p>
                      <a:pPr algn="l"/>
                      <a:r>
                        <a:rPr sz="950" b="0" i="0">
                          <a:solidFill>
                            <a:srgbClr val="57626B"/>
                          </a:solidFill>
                          <a:latin typeface="Calibri"/>
                        </a:rPr>
                        <a:t>dim_delinquency_status</a:t>
                      </a:r>
                    </a:p>
                  </a:txBody>
                  <a:tcPr marL="64008" marR="64008" marT="27432" marB="27432" anchor="ctr">
                    <a:solidFill>
                      <a:srgbClr val="FFFFFF"/>
                    </a:solidFill>
                  </a:tcPr>
                </a:tc>
                <a:tc>
                  <a:txBody>
                    <a:bodyPr/>
                    <a:lstStyle/>
                    <a:p>
                      <a:pPr algn="l"/>
                      <a:r>
                        <a:rPr sz="950" b="0" i="0">
                          <a:solidFill>
                            <a:srgbClr val="57626B"/>
                          </a:solidFill>
                          <a:latin typeface="Calibri"/>
                        </a:rPr>
                        <a:t>loan snapshot, dim_account</a:t>
                      </a:r>
                    </a:p>
                  </a:txBody>
                  <a:tcPr marL="64008" marR="64008" marT="27432" marB="27432" anchor="ctr">
                    <a:solidFill>
                      <a:srgbClr val="FFFFFF"/>
                    </a:solidFill>
                  </a:tcPr>
                </a:tc>
                <a:extLst>
                  <a:ext uri="{0D108BD9-81ED-4DB2-BD59-A6C34878D82A}">
                    <a16:rowId xmlns:a16="http://schemas.microsoft.com/office/drawing/2014/main" val="10003"/>
                  </a:ext>
                </a:extLst>
              </a:tr>
              <a:tr h="425196">
                <a:tc>
                  <a:txBody>
                    <a:bodyPr/>
                    <a:lstStyle/>
                    <a:p>
                      <a:pPr algn="l"/>
                      <a:r>
                        <a:rPr sz="950" b="1" i="0">
                          <a:solidFill>
                            <a:srgbClr val="1A2130"/>
                          </a:solidFill>
                          <a:latin typeface="Calibri"/>
                        </a:rPr>
                        <a:t>2</a:t>
                      </a:r>
                    </a:p>
                  </a:txBody>
                  <a:tcPr marL="64008" marR="64008" marT="27432" marB="27432" anchor="ctr">
                    <a:solidFill>
                      <a:srgbClr val="F4F6F2"/>
                    </a:solidFill>
                  </a:tcPr>
                </a:tc>
                <a:tc>
                  <a:txBody>
                    <a:bodyPr/>
                    <a:lstStyle/>
                    <a:p>
                      <a:pPr algn="l"/>
                      <a:r>
                        <a:rPr sz="950" b="0" i="0">
                          <a:solidFill>
                            <a:srgbClr val="57626B"/>
                          </a:solidFill>
                          <a:latin typeface="Calibri"/>
                        </a:rPr>
                        <a:t>Subledger-to-GL tie-out</a:t>
                      </a:r>
                    </a:p>
                  </a:txBody>
                  <a:tcPr marL="64008" marR="64008" marT="27432" marB="27432" anchor="ctr">
                    <a:solidFill>
                      <a:srgbClr val="F4F6F2"/>
                    </a:solidFill>
                  </a:tcPr>
                </a:tc>
                <a:tc>
                  <a:txBody>
                    <a:bodyPr/>
                    <a:lstStyle/>
                    <a:p>
                      <a:pPr algn="l"/>
                      <a:r>
                        <a:rPr sz="950" b="0" i="0">
                          <a:solidFill>
                            <a:srgbClr val="57626B"/>
                          </a:solidFill>
                          <a:latin typeface="Calibri"/>
                        </a:rPr>
                        <a:t>Proves balances before regulatory use</a:t>
                      </a:r>
                    </a:p>
                  </a:txBody>
                  <a:tcPr marL="64008" marR="64008" marT="27432" marB="27432" anchor="ctr">
                    <a:solidFill>
                      <a:srgbClr val="F4F6F2"/>
                    </a:solidFill>
                  </a:tcPr>
                </a:tc>
                <a:tc>
                  <a:txBody>
                    <a:bodyPr/>
                    <a:lstStyle/>
                    <a:p>
                      <a:pPr algn="l"/>
                      <a:r>
                        <a:rPr sz="950" b="0" i="0">
                          <a:solidFill>
                            <a:srgbClr val="57626B"/>
                          </a:solidFill>
                          <a:latin typeface="Calibri"/>
                        </a:rPr>
                        <a:t>GL</a:t>
                      </a:r>
                    </a:p>
                  </a:txBody>
                  <a:tcPr marL="64008" marR="64008" marT="27432" marB="27432" anchor="ctr">
                    <a:solidFill>
                      <a:srgbClr val="F4F6F2"/>
                    </a:solidFill>
                  </a:tcPr>
                </a:tc>
                <a:tc>
                  <a:txBody>
                    <a:bodyPr/>
                    <a:lstStyle/>
                    <a:p>
                      <a:pPr algn="l"/>
                      <a:r>
                        <a:rPr sz="950" b="0" i="0">
                          <a:solidFill>
                            <a:srgbClr val="57626B"/>
                          </a:solidFill>
                          <a:latin typeface="Calibri"/>
                        </a:rPr>
                        <a:t>GL tie-out view</a:t>
                      </a:r>
                    </a:p>
                  </a:txBody>
                  <a:tcPr marL="64008" marR="64008" marT="27432" marB="27432" anchor="ctr">
                    <a:solidFill>
                      <a:srgbClr val="F4F6F2"/>
                    </a:solidFill>
                  </a:tcPr>
                </a:tc>
                <a:tc>
                  <a:txBody>
                    <a:bodyPr/>
                    <a:lstStyle/>
                    <a:p>
                      <a:pPr algn="l"/>
                      <a:r>
                        <a:rPr sz="950" b="0" i="0">
                          <a:solidFill>
                            <a:srgbClr val="57626B"/>
                          </a:solidFill>
                          <a:latin typeface="Calibri"/>
                        </a:rPr>
                        <a:t>loan snapshot</a:t>
                      </a:r>
                    </a:p>
                  </a:txBody>
                  <a:tcPr marL="64008" marR="64008" marT="27432" marB="27432" anchor="ctr">
                    <a:solidFill>
                      <a:srgbClr val="F4F6F2"/>
                    </a:solidFill>
                  </a:tcPr>
                </a:tc>
                <a:extLst>
                  <a:ext uri="{0D108BD9-81ED-4DB2-BD59-A6C34878D82A}">
                    <a16:rowId xmlns:a16="http://schemas.microsoft.com/office/drawing/2014/main" val="10004"/>
                  </a:ext>
                </a:extLst>
              </a:tr>
              <a:tr h="425196">
                <a:tc>
                  <a:txBody>
                    <a:bodyPr/>
                    <a:lstStyle/>
                    <a:p>
                      <a:pPr algn="l"/>
                      <a:r>
                        <a:rPr sz="950" b="1" i="0">
                          <a:solidFill>
                            <a:srgbClr val="1A2130"/>
                          </a:solidFill>
                          <a:latin typeface="Calibri"/>
                        </a:rPr>
                        <a:t>2</a:t>
                      </a:r>
                    </a:p>
                  </a:txBody>
                  <a:tcPr marL="64008" marR="64008" marT="27432" marB="27432" anchor="ctr">
                    <a:solidFill>
                      <a:srgbClr val="FFFFFF"/>
                    </a:solidFill>
                  </a:tcPr>
                </a:tc>
                <a:tc>
                  <a:txBody>
                    <a:bodyPr/>
                    <a:lstStyle/>
                    <a:p>
                      <a:pPr algn="l"/>
                      <a:r>
                        <a:rPr sz="950" b="0" i="0">
                          <a:solidFill>
                            <a:srgbClr val="57626B"/>
                          </a:solidFill>
                          <a:latin typeface="Calibri"/>
                        </a:rPr>
                        <a:t>Call Report RC-C / RC-N</a:t>
                      </a:r>
                    </a:p>
                  </a:txBody>
                  <a:tcPr marL="64008" marR="64008" marT="27432" marB="27432" anchor="ctr">
                    <a:solidFill>
                      <a:srgbClr val="FFFFFF"/>
                    </a:solidFill>
                  </a:tcPr>
                </a:tc>
                <a:tc>
                  <a:txBody>
                    <a:bodyPr/>
                    <a:lstStyle/>
                    <a:p>
                      <a:pPr algn="l"/>
                      <a:r>
                        <a:rPr sz="950" b="0" i="0">
                          <a:solidFill>
                            <a:srgbClr val="57626B"/>
                          </a:solidFill>
                          <a:latin typeface="Calibri"/>
                        </a:rPr>
                        <a:t>Control-grade; the highest sign-off bar</a:t>
                      </a:r>
                    </a:p>
                  </a:txBody>
                  <a:tcPr marL="64008" marR="64008" marT="27432" marB="27432" anchor="ctr">
                    <a:solidFill>
                      <a:srgbClr val="FFFFFF"/>
                    </a:solidFill>
                  </a:tcPr>
                </a:tc>
                <a:tc>
                  <a:txBody>
                    <a:bodyPr/>
                    <a:lstStyle/>
                    <a:p>
                      <a:pPr algn="l"/>
                      <a:r>
                        <a:rPr sz="950" b="0" i="0">
                          <a:solidFill>
                            <a:srgbClr val="57626B"/>
                          </a:solidFill>
                          <a:latin typeface="Calibri"/>
                        </a:rPr>
                        <a:t>—</a:t>
                      </a:r>
                    </a:p>
                  </a:txBody>
                  <a:tcPr marL="64008" marR="64008" marT="27432" marB="27432" anchor="ctr">
                    <a:solidFill>
                      <a:srgbClr val="FFFFFF"/>
                    </a:solidFill>
                  </a:tcPr>
                </a:tc>
                <a:tc>
                  <a:txBody>
                    <a:bodyPr/>
                    <a:lstStyle/>
                    <a:p>
                      <a:pPr algn="l"/>
                      <a:r>
                        <a:rPr sz="950" b="0" i="0">
                          <a:solidFill>
                            <a:srgbClr val="57626B"/>
                          </a:solidFill>
                          <a:latin typeface="Calibri"/>
                        </a:rPr>
                        <a:t>Regulatory reporting views</a:t>
                      </a:r>
                    </a:p>
                  </a:txBody>
                  <a:tcPr marL="64008" marR="64008" marT="27432" marB="27432" anchor="ctr">
                    <a:solidFill>
                      <a:srgbClr val="FFFFFF"/>
                    </a:solidFill>
                  </a:tcPr>
                </a:tc>
                <a:tc>
                  <a:txBody>
                    <a:bodyPr/>
                    <a:lstStyle/>
                    <a:p>
                      <a:pPr algn="l"/>
                      <a:r>
                        <a:rPr sz="950" b="0" i="0">
                          <a:solidFill>
                            <a:srgbClr val="57626B"/>
                          </a:solidFill>
                          <a:latin typeface="Calibri"/>
                        </a:rPr>
                        <a:t>loan snapshot, dim_facility, dim_delinquency_status</a:t>
                      </a:r>
                    </a:p>
                  </a:txBody>
                  <a:tcPr marL="64008" marR="64008" marT="27432" marB="27432" anchor="ctr">
                    <a:solidFill>
                      <a:srgbClr val="FFFFFF"/>
                    </a:solidFill>
                  </a:tcPr>
                </a:tc>
                <a:extLst>
                  <a:ext uri="{0D108BD9-81ED-4DB2-BD59-A6C34878D82A}">
                    <a16:rowId xmlns:a16="http://schemas.microsoft.com/office/drawing/2014/main" val="10005"/>
                  </a:ext>
                </a:extLst>
              </a:tr>
              <a:tr h="425196">
                <a:tc>
                  <a:txBody>
                    <a:bodyPr/>
                    <a:lstStyle/>
                    <a:p>
                      <a:pPr algn="l"/>
                      <a:r>
                        <a:rPr sz="950" b="1" i="0">
                          <a:solidFill>
                            <a:srgbClr val="1A2130"/>
                          </a:solidFill>
                          <a:latin typeface="Calibri"/>
                        </a:rPr>
                        <a:t>3</a:t>
                      </a:r>
                    </a:p>
                  </a:txBody>
                  <a:tcPr marL="64008" marR="64008" marT="27432" marB="27432" anchor="ctr">
                    <a:solidFill>
                      <a:srgbClr val="F4F6F2"/>
                    </a:solidFill>
                  </a:tcPr>
                </a:tc>
                <a:tc>
                  <a:txBody>
                    <a:bodyPr/>
                    <a:lstStyle/>
                    <a:p>
                      <a:pPr algn="l"/>
                      <a:r>
                        <a:rPr sz="950" b="0" i="0">
                          <a:solidFill>
                            <a:srgbClr val="57626B"/>
                          </a:solidFill>
                          <a:latin typeface="Calibri"/>
                        </a:rPr>
                        <a:t>Vintage analysis</a:t>
                      </a:r>
                    </a:p>
                  </a:txBody>
                  <a:tcPr marL="64008" marR="64008" marT="27432" marB="27432" anchor="ctr">
                    <a:solidFill>
                      <a:srgbClr val="F4F6F2"/>
                    </a:solidFill>
                  </a:tcPr>
                </a:tc>
                <a:tc>
                  <a:txBody>
                    <a:bodyPr/>
                    <a:lstStyle/>
                    <a:p>
                      <a:pPr algn="l"/>
                      <a:r>
                        <a:rPr sz="950" b="0" i="0">
                          <a:solidFill>
                            <a:srgbClr val="57626B"/>
                          </a:solidFill>
                          <a:latin typeface="Calibri"/>
                        </a:rPr>
                        <a:t>Adds origination attributes</a:t>
                      </a:r>
                    </a:p>
                  </a:txBody>
                  <a:tcPr marL="64008" marR="64008" marT="27432" marB="27432" anchor="ctr">
                    <a:solidFill>
                      <a:srgbClr val="F4F6F2"/>
                    </a:solidFill>
                  </a:tcPr>
                </a:tc>
                <a:tc>
                  <a:txBody>
                    <a:bodyPr/>
                    <a:lstStyle/>
                    <a:p>
                      <a:pPr algn="l"/>
                      <a:r>
                        <a:rPr sz="950" b="0" i="0">
                          <a:solidFill>
                            <a:srgbClr val="57626B"/>
                          </a:solidFill>
                          <a:latin typeface="Calibri"/>
                        </a:rPr>
                        <a:t>CBR, VAL</a:t>
                      </a:r>
                    </a:p>
                  </a:txBody>
                  <a:tcPr marL="64008" marR="64008" marT="27432" marB="27432" anchor="ctr">
                    <a:solidFill>
                      <a:srgbClr val="F4F6F2"/>
                    </a:solidFill>
                  </a:tcPr>
                </a:tc>
                <a:tc>
                  <a:txBody>
                    <a:bodyPr/>
                    <a:lstStyle/>
                    <a:p>
                      <a:pPr algn="l"/>
                      <a:r>
                        <a:rPr sz="950" b="0" i="0">
                          <a:solidFill>
                            <a:srgbClr val="57626B"/>
                          </a:solidFill>
                          <a:latin typeface="Calibri"/>
                        </a:rPr>
                        <a:t>Origination FICO and LTV on dim_account</a:t>
                      </a:r>
                    </a:p>
                  </a:txBody>
                  <a:tcPr marL="64008" marR="64008" marT="27432" marB="27432" anchor="ctr">
                    <a:solidFill>
                      <a:srgbClr val="F4F6F2"/>
                    </a:solidFill>
                  </a:tcPr>
                </a:tc>
                <a:tc>
                  <a:txBody>
                    <a:bodyPr/>
                    <a:lstStyle/>
                    <a:p>
                      <a:pPr algn="l"/>
                      <a:r>
                        <a:rPr sz="950" b="0" i="0">
                          <a:solidFill>
                            <a:srgbClr val="57626B"/>
                          </a:solidFill>
                          <a:latin typeface="Calibri"/>
                        </a:rPr>
                        <a:t>loan snapshot, dim_account</a:t>
                      </a:r>
                    </a:p>
                  </a:txBody>
                  <a:tcPr marL="64008" marR="64008" marT="27432" marB="27432" anchor="ctr">
                    <a:solidFill>
                      <a:srgbClr val="F4F6F2"/>
                    </a:solidFill>
                  </a:tcPr>
                </a:tc>
                <a:extLst>
                  <a:ext uri="{0D108BD9-81ED-4DB2-BD59-A6C34878D82A}">
                    <a16:rowId xmlns:a16="http://schemas.microsoft.com/office/drawing/2014/main" val="10006"/>
                  </a:ext>
                </a:extLst>
              </a:tr>
              <a:tr h="425196">
                <a:tc>
                  <a:txBody>
                    <a:bodyPr/>
                    <a:lstStyle/>
                    <a:p>
                      <a:pPr algn="l"/>
                      <a:r>
                        <a:rPr sz="950" b="1" i="0">
                          <a:solidFill>
                            <a:srgbClr val="1A2130"/>
                          </a:solidFill>
                          <a:latin typeface="Calibri"/>
                        </a:rPr>
                        <a:t>3</a:t>
                      </a:r>
                    </a:p>
                  </a:txBody>
                  <a:tcPr marL="64008" marR="64008" marT="27432" marB="27432" anchor="ctr">
                    <a:solidFill>
                      <a:srgbClr val="FFFFFF"/>
                    </a:solidFill>
                  </a:tcPr>
                </a:tc>
                <a:tc>
                  <a:txBody>
                    <a:bodyPr/>
                    <a:lstStyle/>
                    <a:p>
                      <a:pPr algn="l"/>
                      <a:r>
                        <a:rPr sz="950" b="0" i="0">
                          <a:solidFill>
                            <a:srgbClr val="57626B"/>
                          </a:solidFill>
                          <a:latin typeface="Calibri"/>
                        </a:rPr>
                        <a:t>Exposure &amp; utilization (EAD), RC-L</a:t>
                      </a:r>
                    </a:p>
                  </a:txBody>
                  <a:tcPr marL="64008" marR="64008" marT="27432" marB="27432" anchor="ctr">
                    <a:solidFill>
                      <a:srgbClr val="FFFFFF"/>
                    </a:solidFill>
                  </a:tcPr>
                </a:tc>
                <a:tc>
                  <a:txBody>
                    <a:bodyPr/>
                    <a:lstStyle/>
                    <a:p>
                      <a:pPr algn="l"/>
                      <a:r>
                        <a:rPr sz="950" b="0" i="0">
                          <a:solidFill>
                            <a:srgbClr val="57626B"/>
                          </a:solidFill>
                          <a:latin typeface="Calibri"/>
                        </a:rPr>
                        <a:t>Adds undrawn limits and exposure</a:t>
                      </a:r>
                    </a:p>
                  </a:txBody>
                  <a:tcPr marL="64008" marR="64008" marT="27432" marB="27432" anchor="ctr">
                    <a:solidFill>
                      <a:srgbClr val="FFFFFF"/>
                    </a:solidFill>
                  </a:tcPr>
                </a:tc>
                <a:tc>
                  <a:txBody>
                    <a:bodyPr/>
                    <a:lstStyle/>
                    <a:p>
                      <a:pPr algn="l"/>
                      <a:r>
                        <a:rPr sz="950" b="0" i="0">
                          <a:solidFill>
                            <a:srgbClr val="57626B"/>
                          </a:solidFill>
                          <a:latin typeface="Calibri"/>
                        </a:rPr>
                        <a:t>RSK</a:t>
                      </a:r>
                    </a:p>
                  </a:txBody>
                  <a:tcPr marL="64008" marR="64008" marT="27432" marB="27432" anchor="ctr">
                    <a:solidFill>
                      <a:srgbClr val="FFFFFF"/>
                    </a:solidFill>
                  </a:tcPr>
                </a:tc>
                <a:tc>
                  <a:txBody>
                    <a:bodyPr/>
                    <a:lstStyle/>
                    <a:p>
                      <a:pPr algn="l"/>
                      <a:r>
                        <a:rPr sz="950" b="0" i="0">
                          <a:solidFill>
                            <a:srgbClr val="57626B"/>
                          </a:solidFill>
                          <a:latin typeface="Calibri"/>
                        </a:rPr>
                        <a:t>fact_facility_monthly_snapshot</a:t>
                      </a:r>
                    </a:p>
                  </a:txBody>
                  <a:tcPr marL="64008" marR="64008" marT="27432" marB="27432" anchor="ctr">
                    <a:solidFill>
                      <a:srgbClr val="FFFFFF"/>
                    </a:solidFill>
                  </a:tcPr>
                </a:tc>
                <a:tc>
                  <a:txBody>
                    <a:bodyPr/>
                    <a:lstStyle/>
                    <a:p>
                      <a:pPr algn="l"/>
                      <a:r>
                        <a:rPr sz="950" b="0" i="0">
                          <a:solidFill>
                            <a:srgbClr val="57626B"/>
                          </a:solidFill>
                          <a:latin typeface="Calibri"/>
                        </a:rPr>
                        <a:t>dim_facility, dim_product</a:t>
                      </a:r>
                    </a:p>
                  </a:txBody>
                  <a:tcPr marL="64008" marR="64008" marT="27432" marB="27432" anchor="ctr">
                    <a:solidFill>
                      <a:srgbClr val="FFFFFF"/>
                    </a:solidFill>
                  </a:tcPr>
                </a:tc>
                <a:extLst>
                  <a:ext uri="{0D108BD9-81ED-4DB2-BD59-A6C34878D82A}">
                    <a16:rowId xmlns:a16="http://schemas.microsoft.com/office/drawing/2014/main" val="10007"/>
                  </a:ext>
                </a:extLst>
              </a:tr>
              <a:tr h="425196">
                <a:tc>
                  <a:txBody>
                    <a:bodyPr/>
                    <a:lstStyle/>
                    <a:p>
                      <a:pPr algn="l"/>
                      <a:r>
                        <a:rPr sz="950" b="1" i="0">
                          <a:solidFill>
                            <a:srgbClr val="1A2130"/>
                          </a:solidFill>
                          <a:latin typeface="Calibri"/>
                        </a:rPr>
                        <a:t>3</a:t>
                      </a:r>
                    </a:p>
                  </a:txBody>
                  <a:tcPr marL="64008" marR="64008" marT="27432" marB="27432" anchor="ctr">
                    <a:solidFill>
                      <a:srgbClr val="F4F6F2"/>
                    </a:solidFill>
                  </a:tcPr>
                </a:tc>
                <a:tc>
                  <a:txBody>
                    <a:bodyPr/>
                    <a:lstStyle/>
                    <a:p>
                      <a:pPr algn="l"/>
                      <a:r>
                        <a:rPr sz="950" b="0" i="0">
                          <a:solidFill>
                            <a:srgbClr val="57626B"/>
                          </a:solidFill>
                          <a:latin typeface="Calibri"/>
                        </a:rPr>
                        <a:t>Credit losses &amp; CECL</a:t>
                      </a:r>
                    </a:p>
                  </a:txBody>
                  <a:tcPr marL="64008" marR="64008" marT="27432" marB="27432" anchor="ctr">
                    <a:solidFill>
                      <a:srgbClr val="F4F6F2"/>
                    </a:solidFill>
                  </a:tcPr>
                </a:tc>
                <a:tc>
                  <a:txBody>
                    <a:bodyPr/>
                    <a:lstStyle/>
                    <a:p>
                      <a:pPr algn="l"/>
                      <a:r>
                        <a:rPr sz="950" b="0" i="0">
                          <a:solidFill>
                            <a:srgbClr val="57626B"/>
                          </a:solidFill>
                          <a:latin typeface="Calibri"/>
                        </a:rPr>
                        <a:t>Adds funded and unfunded allowance, charge-offs</a:t>
                      </a:r>
                    </a:p>
                  </a:txBody>
                  <a:tcPr marL="64008" marR="64008" marT="27432" marB="27432" anchor="ctr">
                    <a:solidFill>
                      <a:srgbClr val="F4F6F2"/>
                    </a:solidFill>
                  </a:tcPr>
                </a:tc>
                <a:tc>
                  <a:txBody>
                    <a:bodyPr/>
                    <a:lstStyle/>
                    <a:p>
                      <a:pPr algn="l"/>
                      <a:r>
                        <a:rPr sz="950" b="0" i="0">
                          <a:solidFill>
                            <a:srgbClr val="57626B"/>
                          </a:solidFill>
                          <a:latin typeface="Calibri"/>
                        </a:rPr>
                        <a:t>—</a:t>
                      </a:r>
                    </a:p>
                  </a:txBody>
                  <a:tcPr marL="64008" marR="64008" marT="27432" marB="27432" anchor="ctr">
                    <a:solidFill>
                      <a:srgbClr val="F4F6F2"/>
                    </a:solidFill>
                  </a:tcPr>
                </a:tc>
                <a:tc>
                  <a:txBody>
                    <a:bodyPr/>
                    <a:lstStyle/>
                    <a:p>
                      <a:pPr algn="l"/>
                      <a:r>
                        <a:rPr sz="950" b="0" i="0">
                          <a:solidFill>
                            <a:srgbClr val="57626B"/>
                          </a:solidFill>
                          <a:latin typeface="Calibri"/>
                        </a:rPr>
                        <a:t>fact_loan_transaction; allowance measures</a:t>
                      </a:r>
                    </a:p>
                  </a:txBody>
                  <a:tcPr marL="64008" marR="64008" marT="27432" marB="27432" anchor="ctr">
                    <a:solidFill>
                      <a:srgbClr val="F4F6F2"/>
                    </a:solidFill>
                  </a:tcPr>
                </a:tc>
                <a:tc>
                  <a:txBody>
                    <a:bodyPr/>
                    <a:lstStyle/>
                    <a:p>
                      <a:pPr algn="l"/>
                      <a:r>
                        <a:rPr sz="950" b="0" i="0">
                          <a:solidFill>
                            <a:srgbClr val="57626B"/>
                          </a:solidFill>
                          <a:latin typeface="Calibri"/>
                        </a:rPr>
                        <a:t>both snapshots</a:t>
                      </a:r>
                    </a:p>
                  </a:txBody>
                  <a:tcPr marL="64008" marR="64008" marT="27432" marB="27432" anchor="ctr">
                    <a:solidFill>
                      <a:srgbClr val="F4F6F2"/>
                    </a:solidFill>
                  </a:tcPr>
                </a:tc>
                <a:extLst>
                  <a:ext uri="{0D108BD9-81ED-4DB2-BD59-A6C34878D82A}">
                    <a16:rowId xmlns:a16="http://schemas.microsoft.com/office/drawing/2014/main" val="10008"/>
                  </a:ext>
                </a:extLst>
              </a:tr>
              <a:tr h="425196">
                <a:tc>
                  <a:txBody>
                    <a:bodyPr/>
                    <a:lstStyle/>
                    <a:p>
                      <a:pPr algn="l"/>
                      <a:r>
                        <a:rPr sz="950" b="1" i="0">
                          <a:solidFill>
                            <a:srgbClr val="1A2130"/>
                          </a:solidFill>
                          <a:latin typeface="Calibri"/>
                        </a:rPr>
                        <a:t>4</a:t>
                      </a:r>
                    </a:p>
                  </a:txBody>
                  <a:tcPr marL="64008" marR="64008" marT="27432" marB="27432" anchor="ctr">
                    <a:solidFill>
                      <a:srgbClr val="FFFFFF"/>
                    </a:solidFill>
                  </a:tcPr>
                </a:tc>
                <a:tc>
                  <a:txBody>
                    <a:bodyPr/>
                    <a:lstStyle/>
                    <a:p>
                      <a:pPr algn="l"/>
                      <a:r>
                        <a:rPr sz="950" b="0" i="0">
                          <a:solidFill>
                            <a:srgbClr val="57626B"/>
                          </a:solidFill>
                          <a:latin typeface="Calibri"/>
                        </a:rPr>
                        <a:t>Collections effectiveness</a:t>
                      </a:r>
                    </a:p>
                  </a:txBody>
                  <a:tcPr marL="64008" marR="64008" marT="27432" marB="27432" anchor="ctr">
                    <a:solidFill>
                      <a:srgbClr val="FFFFFF"/>
                    </a:solidFill>
                  </a:tcPr>
                </a:tc>
                <a:tc>
                  <a:txBody>
                    <a:bodyPr/>
                    <a:lstStyle/>
                    <a:p>
                      <a:pPr algn="l"/>
                      <a:r>
                        <a:rPr sz="950" b="0" i="0">
                          <a:solidFill>
                            <a:srgbClr val="57626B"/>
                          </a:solidFill>
                          <a:latin typeface="Calibri"/>
                        </a:rPr>
                        <a:t>Adds operational data</a:t>
                      </a:r>
                    </a:p>
                  </a:txBody>
                  <a:tcPr marL="64008" marR="64008" marT="27432" marB="27432" anchor="ctr">
                    <a:solidFill>
                      <a:srgbClr val="FFFFFF"/>
                    </a:solidFill>
                  </a:tcPr>
                </a:tc>
                <a:tc>
                  <a:txBody>
                    <a:bodyPr/>
                    <a:lstStyle/>
                    <a:p>
                      <a:pPr algn="l"/>
                      <a:r>
                        <a:rPr sz="950" b="0" i="0">
                          <a:solidFill>
                            <a:srgbClr val="57626B"/>
                          </a:solidFill>
                          <a:latin typeface="Calibri"/>
                        </a:rPr>
                        <a:t>COL, PAY</a:t>
                      </a:r>
                    </a:p>
                  </a:txBody>
                  <a:tcPr marL="64008" marR="64008" marT="27432" marB="27432" anchor="ctr">
                    <a:solidFill>
                      <a:srgbClr val="FFFFFF"/>
                    </a:solidFill>
                  </a:tcPr>
                </a:tc>
                <a:tc>
                  <a:txBody>
                    <a:bodyPr/>
                    <a:lstStyle/>
                    <a:p>
                      <a:pPr algn="l"/>
                      <a:r>
                        <a:rPr sz="950" b="0" i="0">
                          <a:solidFill>
                            <a:srgbClr val="57626B"/>
                          </a:solidFill>
                          <a:latin typeface="Calibri"/>
                        </a:rPr>
                        <a:t>in_collections_flag on loan snapshot</a:t>
                      </a:r>
                    </a:p>
                  </a:txBody>
                  <a:tcPr marL="64008" marR="64008" marT="27432" marB="27432" anchor="ctr">
                    <a:solidFill>
                      <a:srgbClr val="FFFFFF"/>
                    </a:solidFill>
                  </a:tcPr>
                </a:tc>
                <a:tc>
                  <a:txBody>
                    <a:bodyPr/>
                    <a:lstStyle/>
                    <a:p>
                      <a:pPr algn="l"/>
                      <a:r>
                        <a:rPr sz="950" b="0" i="0">
                          <a:solidFill>
                            <a:srgbClr val="57626B"/>
                          </a:solidFill>
                          <a:latin typeface="Calibri"/>
                        </a:rPr>
                        <a:t>fact_loan_transaction</a:t>
                      </a:r>
                    </a:p>
                  </a:txBody>
                  <a:tcPr marL="64008" marR="64008" marT="27432" marB="27432" anchor="ctr">
                    <a:solidFill>
                      <a:srgbClr val="FFFFFF"/>
                    </a:solidFill>
                  </a:tcPr>
                </a:tc>
                <a:extLst>
                  <a:ext uri="{0D108BD9-81ED-4DB2-BD59-A6C34878D82A}">
                    <a16:rowId xmlns:a16="http://schemas.microsoft.com/office/drawing/2014/main" val="10009"/>
                  </a:ext>
                </a:extLst>
              </a:tr>
              <a:tr h="425196">
                <a:tc>
                  <a:txBody>
                    <a:bodyPr/>
                    <a:lstStyle/>
                    <a:p>
                      <a:pPr algn="l"/>
                      <a:r>
                        <a:rPr sz="950" b="1" i="0">
                          <a:solidFill>
                            <a:srgbClr val="1A2130"/>
                          </a:solidFill>
                          <a:latin typeface="Calibri"/>
                        </a:rPr>
                        <a:t>4</a:t>
                      </a:r>
                    </a:p>
                  </a:txBody>
                  <a:tcPr marL="64008" marR="64008" marT="27432" marB="27432" anchor="ctr">
                    <a:solidFill>
                      <a:srgbClr val="F4F6F2"/>
                    </a:solidFill>
                  </a:tcPr>
                </a:tc>
                <a:tc>
                  <a:txBody>
                    <a:bodyPr/>
                    <a:lstStyle/>
                    <a:p>
                      <a:pPr algn="l"/>
                      <a:r>
                        <a:rPr sz="950" b="0" i="0">
                          <a:solidFill>
                            <a:srgbClr val="57626B"/>
                          </a:solidFill>
                          <a:latin typeface="Calibri"/>
                        </a:rPr>
                        <a:t>HMDA &amp; fair lending</a:t>
                      </a:r>
                    </a:p>
                  </a:txBody>
                  <a:tcPr marL="64008" marR="64008" marT="27432" marB="27432" anchor="ctr">
                    <a:solidFill>
                      <a:srgbClr val="F4F6F2"/>
                    </a:solidFill>
                  </a:tcPr>
                </a:tc>
                <a:tc>
                  <a:txBody>
                    <a:bodyPr/>
                    <a:lstStyle/>
                    <a:p>
                      <a:pPr algn="l"/>
                      <a:r>
                        <a:rPr sz="950" b="0" i="0">
                          <a:solidFill>
                            <a:srgbClr val="57626B"/>
                          </a:solidFill>
                          <a:latin typeface="Calibri"/>
                        </a:rPr>
                        <a:t>Most sensitive; needs customer and geography</a:t>
                      </a:r>
                    </a:p>
                  </a:txBody>
                  <a:tcPr marL="64008" marR="64008" marT="27432" marB="27432" anchor="ctr">
                    <a:solidFill>
                      <a:srgbClr val="F4F6F2"/>
                    </a:solidFill>
                  </a:tcPr>
                </a:tc>
                <a:tc>
                  <a:txBody>
                    <a:bodyPr/>
                    <a:lstStyle/>
                    <a:p>
                      <a:pPr algn="l"/>
                      <a:r>
                        <a:rPr sz="950" b="0" i="0">
                          <a:solidFill>
                            <a:srgbClr val="57626B"/>
                          </a:solidFill>
                          <a:latin typeface="Calibri"/>
                        </a:rPr>
                        <a:t>MDM</a:t>
                      </a:r>
                    </a:p>
                  </a:txBody>
                  <a:tcPr marL="64008" marR="64008" marT="27432" marB="27432" anchor="ctr">
                    <a:solidFill>
                      <a:srgbClr val="F4F6F2"/>
                    </a:solidFill>
                  </a:tcPr>
                </a:tc>
                <a:tc>
                  <a:txBody>
                    <a:bodyPr/>
                    <a:lstStyle/>
                    <a:p>
                      <a:pPr algn="l"/>
                      <a:r>
                        <a:rPr sz="950" b="0" i="0">
                          <a:solidFill>
                            <a:srgbClr val="57626B"/>
                          </a:solidFill>
                          <a:latin typeface="Calibri"/>
                        </a:rPr>
                        <a:t>dim_customer, dim_geography, bridge_facility_customer</a:t>
                      </a:r>
                    </a:p>
                  </a:txBody>
                  <a:tcPr marL="64008" marR="64008" marT="27432" marB="27432" anchor="ctr">
                    <a:solidFill>
                      <a:srgbClr val="F4F6F2"/>
                    </a:solidFill>
                  </a:tcPr>
                </a:tc>
                <a:tc>
                  <a:txBody>
                    <a:bodyPr/>
                    <a:lstStyle/>
                    <a:p>
                      <a:pPr algn="l"/>
                      <a:r>
                        <a:rPr sz="950" b="0" i="0">
                          <a:solidFill>
                            <a:srgbClr val="57626B"/>
                          </a:solidFill>
                          <a:latin typeface="Calibri"/>
                        </a:rPr>
                        <a:t>fact_application</a:t>
                      </a:r>
                    </a:p>
                  </a:txBody>
                  <a:tcPr marL="64008" marR="64008" marT="27432" marB="27432" anchor="ctr">
                    <a:solidFill>
                      <a:srgbClr val="F4F6F2"/>
                    </a:solidFill>
                  </a:tcPr>
                </a:tc>
                <a:extLst>
                  <a:ext uri="{0D108BD9-81ED-4DB2-BD59-A6C34878D82A}">
                    <a16:rowId xmlns:a16="http://schemas.microsoft.com/office/drawing/2014/main" val="10010"/>
                  </a:ext>
                </a:extLst>
              </a:tr>
            </a:tbl>
          </a:graphicData>
        </a:graphic>
      </p:graphicFrame>
      <p:sp>
        <p:nvSpPr>
          <p:cNvPr id="6" name="Rounded Rectangle 5"/>
          <p:cNvSpPr/>
          <p:nvPr/>
        </p:nvSpPr>
        <p:spPr>
          <a:xfrm>
            <a:off x="457200" y="5943600"/>
            <a:ext cx="11274552" cy="4572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A2130"/>
                </a:solidFill>
                <a:latin typeface="Calibri"/>
              </a:rPr>
              <a:t>Reorder to the client’s priorities, </a:t>
            </a:r>
            <a:r>
              <a:rPr sz="1050" b="0" i="0">
                <a:solidFill>
                  <a:srgbClr val="57626B"/>
                </a:solidFill>
                <a:latin typeface="Calibri"/>
              </a:rPr>
              <a:t>but keep the proof of concept small and put control-grade slices after balances are proven.</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06</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Every slice follows one lifecycle, with a gate at each step</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No step starts until the previous gate is passed. A slice is done when its Gold objects are certified.</a:t>
            </a:r>
          </a:p>
        </p:txBody>
      </p:sp>
      <p:sp>
        <p:nvSpPr>
          <p:cNvPr id="5" name="Rectangle 4"/>
          <p:cNvSpPr/>
          <p:nvPr/>
        </p:nvSpPr>
        <p:spPr>
          <a:xfrm>
            <a:off x="457200" y="1371600"/>
            <a:ext cx="257860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1  SCOPE</a:t>
            </a:r>
          </a:p>
        </p:txBody>
      </p:sp>
      <p:sp>
        <p:nvSpPr>
          <p:cNvPr id="6" name="Rectangle 5"/>
          <p:cNvSpPr/>
          <p:nvPr/>
        </p:nvSpPr>
        <p:spPr>
          <a:xfrm>
            <a:off x="457200" y="175564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Use case, measures, sources and Gold objects agreed</a:t>
            </a:r>
          </a:p>
        </p:txBody>
      </p:sp>
      <p:sp>
        <p:nvSpPr>
          <p:cNvPr id="7" name="TextBox 6"/>
          <p:cNvSpPr txBox="1"/>
          <p:nvPr/>
        </p:nvSpPr>
        <p:spPr>
          <a:xfrm>
            <a:off x="457200" y="258775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sponsor approval</a:t>
            </a:r>
          </a:p>
        </p:txBody>
      </p:sp>
      <p:cxnSp>
        <p:nvCxnSpPr>
          <p:cNvPr id="8" name="Connector 7"/>
          <p:cNvCxnSpPr/>
          <p:nvPr/>
        </p:nvCxnSpPr>
        <p:spPr>
          <a:xfrm>
            <a:off x="3035808" y="1563624"/>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355848" y="1371600"/>
            <a:ext cx="257860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2  DISCOVER</a:t>
            </a:r>
          </a:p>
        </p:txBody>
      </p:sp>
      <p:sp>
        <p:nvSpPr>
          <p:cNvPr id="10" name="Rectangle 9"/>
          <p:cNvSpPr/>
          <p:nvPr/>
        </p:nvSpPr>
        <p:spPr>
          <a:xfrm>
            <a:off x="3355848" y="175564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Sources analyzed and profiled inside the client environment</a:t>
            </a:r>
          </a:p>
        </p:txBody>
      </p:sp>
      <p:sp>
        <p:nvSpPr>
          <p:cNvPr id="11" name="TextBox 10"/>
          <p:cNvSpPr txBox="1"/>
          <p:nvPr/>
        </p:nvSpPr>
        <p:spPr>
          <a:xfrm>
            <a:off x="3355848" y="258775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data owner review</a:t>
            </a:r>
          </a:p>
        </p:txBody>
      </p:sp>
      <p:cxnSp>
        <p:nvCxnSpPr>
          <p:cNvPr id="12" name="Connector 11"/>
          <p:cNvCxnSpPr/>
          <p:nvPr/>
        </p:nvCxnSpPr>
        <p:spPr>
          <a:xfrm>
            <a:off x="5934456" y="1563624"/>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254496" y="1371600"/>
            <a:ext cx="2578608" cy="384048"/>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3  DESIGN</a:t>
            </a:r>
          </a:p>
        </p:txBody>
      </p:sp>
      <p:sp>
        <p:nvSpPr>
          <p:cNvPr id="14" name="Rectangle 13"/>
          <p:cNvSpPr/>
          <p:nvPr/>
        </p:nvSpPr>
        <p:spPr>
          <a:xfrm>
            <a:off x="6254496" y="175564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Slice metadata: tables, keys, grain, mappings, rules</a:t>
            </a:r>
          </a:p>
        </p:txBody>
      </p:sp>
      <p:sp>
        <p:nvSpPr>
          <p:cNvPr id="15" name="TextBox 14"/>
          <p:cNvSpPr txBox="1"/>
          <p:nvPr/>
        </p:nvSpPr>
        <p:spPr>
          <a:xfrm>
            <a:off x="6254496" y="258775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design review</a:t>
            </a:r>
          </a:p>
        </p:txBody>
      </p:sp>
      <p:cxnSp>
        <p:nvCxnSpPr>
          <p:cNvPr id="16" name="Connector 15"/>
          <p:cNvCxnSpPr/>
          <p:nvPr/>
        </p:nvCxnSpPr>
        <p:spPr>
          <a:xfrm>
            <a:off x="8833104" y="1563624"/>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153144" y="1371600"/>
            <a:ext cx="2578608" cy="384048"/>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4  BUILD</a:t>
            </a:r>
          </a:p>
        </p:txBody>
      </p:sp>
      <p:sp>
        <p:nvSpPr>
          <p:cNvPr id="18" name="Rectangle 17"/>
          <p:cNvSpPr/>
          <p:nvPr/>
        </p:nvSpPr>
        <p:spPr>
          <a:xfrm>
            <a:off x="9153144" y="175564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Tables and pipelines built as code from the design</a:t>
            </a:r>
          </a:p>
        </p:txBody>
      </p:sp>
      <p:sp>
        <p:nvSpPr>
          <p:cNvPr id="19" name="TextBox 18"/>
          <p:cNvSpPr txBox="1"/>
          <p:nvPr/>
        </p:nvSpPr>
        <p:spPr>
          <a:xfrm>
            <a:off x="9153144" y="258775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code review</a:t>
            </a:r>
          </a:p>
        </p:txBody>
      </p:sp>
      <p:sp>
        <p:nvSpPr>
          <p:cNvPr id="20" name="Rectangle 19"/>
          <p:cNvSpPr/>
          <p:nvPr/>
        </p:nvSpPr>
        <p:spPr>
          <a:xfrm>
            <a:off x="457200" y="3246120"/>
            <a:ext cx="2578608" cy="384048"/>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5  TEST</a:t>
            </a:r>
          </a:p>
        </p:txBody>
      </p:sp>
      <p:sp>
        <p:nvSpPr>
          <p:cNvPr id="21" name="Rectangle 20"/>
          <p:cNvSpPr/>
          <p:nvPr/>
        </p:nvSpPr>
        <p:spPr>
          <a:xfrm>
            <a:off x="457200" y="363016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Unit, reconciliation, data quality and user acceptance</a:t>
            </a:r>
          </a:p>
        </p:txBody>
      </p:sp>
      <p:sp>
        <p:nvSpPr>
          <p:cNvPr id="22" name="TextBox 21"/>
          <p:cNvSpPr txBox="1"/>
          <p:nvPr/>
        </p:nvSpPr>
        <p:spPr>
          <a:xfrm>
            <a:off x="457200" y="446227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QA and UAT sign-off</a:t>
            </a:r>
          </a:p>
        </p:txBody>
      </p:sp>
      <p:cxnSp>
        <p:nvCxnSpPr>
          <p:cNvPr id="23" name="Connector 22"/>
          <p:cNvCxnSpPr/>
          <p:nvPr/>
        </p:nvCxnSpPr>
        <p:spPr>
          <a:xfrm>
            <a:off x="3035808" y="3438144"/>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355848" y="3246120"/>
            <a:ext cx="2578608" cy="384048"/>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6  DEPLOY</a:t>
            </a:r>
          </a:p>
        </p:txBody>
      </p:sp>
      <p:sp>
        <p:nvSpPr>
          <p:cNvPr id="25" name="Rectangle 24"/>
          <p:cNvSpPr/>
          <p:nvPr/>
        </p:nvSpPr>
        <p:spPr>
          <a:xfrm>
            <a:off x="3355848" y="363016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Released through test to production</a:t>
            </a:r>
          </a:p>
        </p:txBody>
      </p:sp>
      <p:sp>
        <p:nvSpPr>
          <p:cNvPr id="26" name="TextBox 25"/>
          <p:cNvSpPr txBox="1"/>
          <p:nvPr/>
        </p:nvSpPr>
        <p:spPr>
          <a:xfrm>
            <a:off x="3355848" y="446227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change approval</a:t>
            </a:r>
          </a:p>
        </p:txBody>
      </p:sp>
      <p:cxnSp>
        <p:nvCxnSpPr>
          <p:cNvPr id="27" name="Connector 26"/>
          <p:cNvCxnSpPr/>
          <p:nvPr/>
        </p:nvCxnSpPr>
        <p:spPr>
          <a:xfrm>
            <a:off x="5934456" y="3438144"/>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6254496" y="3246120"/>
            <a:ext cx="2578608" cy="384048"/>
          </a:xfrm>
          <a:prstGeom prst="rect">
            <a:avLst/>
          </a:prstGeom>
          <a:solidFill>
            <a:srgbClr val="0E7C66"/>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7  OPERATE</a:t>
            </a:r>
          </a:p>
        </p:txBody>
      </p:sp>
      <p:sp>
        <p:nvSpPr>
          <p:cNvPr id="29" name="Rectangle 28"/>
          <p:cNvSpPr/>
          <p:nvPr/>
        </p:nvSpPr>
        <p:spPr>
          <a:xfrm>
            <a:off x="6254496" y="363016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Monitored against freshness, volume and quality targets</a:t>
            </a:r>
          </a:p>
        </p:txBody>
      </p:sp>
      <p:sp>
        <p:nvSpPr>
          <p:cNvPr id="30" name="TextBox 29"/>
          <p:cNvSpPr txBox="1"/>
          <p:nvPr/>
        </p:nvSpPr>
        <p:spPr>
          <a:xfrm>
            <a:off x="6254496" y="446227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stable period met</a:t>
            </a:r>
          </a:p>
        </p:txBody>
      </p:sp>
      <p:cxnSp>
        <p:nvCxnSpPr>
          <p:cNvPr id="31" name="Connector 30"/>
          <p:cNvCxnSpPr/>
          <p:nvPr/>
        </p:nvCxnSpPr>
        <p:spPr>
          <a:xfrm>
            <a:off x="8833104" y="3438144"/>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153144" y="3246120"/>
            <a:ext cx="2578608" cy="384048"/>
          </a:xfrm>
          <a:prstGeom prst="rect">
            <a:avLst/>
          </a:prstGeom>
          <a:solidFill>
            <a:srgbClr val="0E7C66"/>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ourier New"/>
              </a:rPr>
              <a:t>8  DOCUMENT</a:t>
            </a:r>
          </a:p>
        </p:txBody>
      </p:sp>
      <p:sp>
        <p:nvSpPr>
          <p:cNvPr id="33" name="Rectangle 32"/>
          <p:cNvSpPr/>
          <p:nvPr/>
        </p:nvSpPr>
        <p:spPr>
          <a:xfrm>
            <a:off x="9153144" y="3630168"/>
            <a:ext cx="2578608"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Deck, dictionary, lineage and catalog regenerated</a:t>
            </a:r>
          </a:p>
        </p:txBody>
      </p:sp>
      <p:sp>
        <p:nvSpPr>
          <p:cNvPr id="34" name="TextBox 33"/>
          <p:cNvSpPr txBox="1"/>
          <p:nvPr/>
        </p:nvSpPr>
        <p:spPr>
          <a:xfrm>
            <a:off x="9153144" y="4462272"/>
            <a:ext cx="2578608" cy="256032"/>
          </a:xfrm>
          <a:prstGeom prst="rect">
            <a:avLst/>
          </a:prstGeom>
          <a:noFill/>
        </p:spPr>
        <p:txBody>
          <a:bodyPr wrap="square" lIns="0" tIns="0" rIns="0" bIns="0" anchor="t">
            <a:spAutoFit/>
          </a:bodyPr>
          <a:lstStyle/>
          <a:p>
            <a:pPr algn="l"/>
            <a:r>
              <a:rPr sz="1000" b="1" i="0">
                <a:solidFill>
                  <a:srgbClr val="9A3324"/>
                </a:solidFill>
                <a:latin typeface="Calibri"/>
              </a:rPr>
              <a:t>Gate: Gold certified</a:t>
            </a:r>
          </a:p>
        </p:txBody>
      </p:sp>
      <p:cxnSp>
        <p:nvCxnSpPr>
          <p:cNvPr id="35" name="Connector 34"/>
          <p:cNvCxnSpPr/>
          <p:nvPr/>
        </p:nvCxnSpPr>
        <p:spPr>
          <a:xfrm>
            <a:off x="10442448" y="2834640"/>
            <a:ext cx="0" cy="228600"/>
          </a:xfrm>
          <a:prstGeom prst="line">
            <a:avLst/>
          </a:prstGeom>
          <a:ln w="22225">
            <a:solidFill>
              <a:srgbClr val="1A213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746504" y="3063240"/>
            <a:ext cx="8695944" cy="0"/>
          </a:xfrm>
          <a:prstGeom prst="line">
            <a:avLst/>
          </a:prstGeom>
          <a:ln w="22225">
            <a:solidFill>
              <a:srgbClr val="1A213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746504" y="3063240"/>
            <a:ext cx="0" cy="18288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57200" y="5257800"/>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Then the next slice starts. </a:t>
            </a:r>
            <a:r>
              <a:rPr sz="1100" b="0" i="0">
                <a:solidFill>
                  <a:srgbClr val="57626B"/>
                </a:solidFill>
                <a:latin typeface="Calibri"/>
              </a:rPr>
              <a:t>Steps 1–2 of the next slice can overlap with steps 6–8 of the current one; gates are never skipped. Details on pages 7–8.</a:t>
            </a:r>
          </a:p>
        </p:txBody>
      </p:sp>
      <p:sp>
        <p:nvSpPr>
          <p:cNvPr id="39" name="TextBox 38"/>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07</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Lifecycle detail (1 of 2): scope, discover, design, build</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Claude drafts, generates and checks. People approve each gate.</a:t>
            </a:r>
          </a:p>
        </p:txBody>
      </p:sp>
      <p:graphicFrame>
        <p:nvGraphicFramePr>
          <p:cNvPr id="5" name="Table 4"/>
          <p:cNvGraphicFramePr>
            <a:graphicFrameLocks noGrp="1"/>
          </p:cNvGraphicFramePr>
          <p:nvPr/>
        </p:nvGraphicFramePr>
        <p:xfrm>
          <a:off x="457200" y="1325880"/>
          <a:ext cx="11274552" cy="475488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365760">
                <a:tc>
                  <a:txBody>
                    <a:bodyPr/>
                    <a:lstStyle/>
                    <a:p>
                      <a:pPr algn="l"/>
                      <a:r>
                        <a:rPr sz="1050" b="1" i="0">
                          <a:solidFill>
                            <a:srgbClr val="CADCEA"/>
                          </a:solidFill>
                          <a:latin typeface="Calibri"/>
                        </a:rPr>
                        <a:t>Step</a:t>
                      </a:r>
                    </a:p>
                  </a:txBody>
                  <a:tcPr marL="64008" marR="64008" marT="27432" marB="27432" anchor="ctr">
                    <a:solidFill>
                      <a:srgbClr val="1A2130"/>
                    </a:solidFill>
                  </a:tcPr>
                </a:tc>
                <a:tc>
                  <a:txBody>
                    <a:bodyPr/>
                    <a:lstStyle/>
                    <a:p>
                      <a:pPr algn="l"/>
                      <a:r>
                        <a:rPr sz="1050" b="1" i="0">
                          <a:solidFill>
                            <a:srgbClr val="CADCEA"/>
                          </a:solidFill>
                          <a:latin typeface="Calibri"/>
                        </a:rPr>
                        <a:t>What happens</a:t>
                      </a:r>
                    </a:p>
                  </a:txBody>
                  <a:tcPr marL="64008" marR="64008" marT="27432" marB="27432" anchor="ctr">
                    <a:solidFill>
                      <a:srgbClr val="1A2130"/>
                    </a:solidFill>
                  </a:tcPr>
                </a:tc>
                <a:tc>
                  <a:txBody>
                    <a:bodyPr/>
                    <a:lstStyle/>
                    <a:p>
                      <a:pPr algn="l"/>
                      <a:r>
                        <a:rPr sz="1050" b="1" i="0">
                          <a:solidFill>
                            <a:srgbClr val="CADCEA"/>
                          </a:solidFill>
                          <a:latin typeface="Calibri"/>
                        </a:rPr>
                        <a:t>Where Claude helps</a:t>
                      </a:r>
                    </a:p>
                  </a:txBody>
                  <a:tcPr marL="64008" marR="64008" marT="27432" marB="27432" anchor="ctr">
                    <a:solidFill>
                      <a:srgbClr val="1A2130"/>
                    </a:solidFill>
                  </a:tcPr>
                </a:tc>
                <a:tc>
                  <a:txBody>
                    <a:bodyPr/>
                    <a:lstStyle/>
                    <a:p>
                      <a:pPr algn="l"/>
                      <a:r>
                        <a:rPr sz="1050" b="1" i="0">
                          <a:solidFill>
                            <a:srgbClr val="CADCEA"/>
                          </a:solidFill>
                          <a:latin typeface="Calibri"/>
                        </a:rPr>
                        <a:t>Approved by</a:t>
                      </a:r>
                    </a:p>
                  </a:txBody>
                  <a:tcPr marL="64008" marR="64008" marT="27432" marB="27432" anchor="ctr">
                    <a:solidFill>
                      <a:srgbClr val="1A2130"/>
                    </a:solidFill>
                  </a:tcPr>
                </a:tc>
                <a:tc>
                  <a:txBody>
                    <a:bodyPr/>
                    <a:lstStyle/>
                    <a:p>
                      <a:pPr algn="l"/>
                      <a:r>
                        <a:rPr sz="1050" b="1" i="0">
                          <a:solidFill>
                            <a:srgbClr val="CADCEA"/>
                          </a:solidFill>
                          <a:latin typeface="Calibri"/>
                        </a:rPr>
                        <a:t>Done when</a:t>
                      </a:r>
                    </a:p>
                  </a:txBody>
                  <a:tcPr marL="64008" marR="64008" marT="27432" marB="27432" anchor="ctr">
                    <a:solidFill>
                      <a:srgbClr val="1A2130"/>
                    </a:solidFill>
                  </a:tcPr>
                </a:tc>
                <a:extLst>
                  <a:ext uri="{0D108BD9-81ED-4DB2-BD59-A6C34878D82A}">
                    <a16:rowId xmlns:a16="http://schemas.microsoft.com/office/drawing/2014/main" val="10000"/>
                  </a:ext>
                </a:extLst>
              </a:tr>
              <a:tr h="1097280">
                <a:tc>
                  <a:txBody>
                    <a:bodyPr/>
                    <a:lstStyle/>
                    <a:p>
                      <a:pPr algn="l"/>
                      <a:r>
                        <a:rPr sz="1050" b="1" i="0">
                          <a:solidFill>
                            <a:srgbClr val="1A2130"/>
                          </a:solidFill>
                          <a:latin typeface="Calibri"/>
                        </a:rPr>
                        <a:t>1  Scope</a:t>
                      </a:r>
                    </a:p>
                  </a:txBody>
                  <a:tcPr marL="64008" marR="64008" marT="27432" marB="27432" anchor="ctr">
                    <a:solidFill>
                      <a:srgbClr val="FFFFFF"/>
                    </a:solidFill>
                  </a:tcPr>
                </a:tc>
                <a:tc>
                  <a:txBody>
                    <a:bodyPr/>
                    <a:lstStyle/>
                    <a:p>
                      <a:pPr algn="l"/>
                      <a:r>
                        <a:rPr sz="1050" b="0" i="0">
                          <a:solidFill>
                            <a:srgbClr val="57626B"/>
                          </a:solidFill>
                          <a:latin typeface="Calibri"/>
                        </a:rPr>
                        <a:t>Pick the use case; list its reports, measures, sources and Gold objects from the bus matrix</a:t>
                      </a:r>
                    </a:p>
                  </a:txBody>
                  <a:tcPr marL="64008" marR="64008" marT="27432" marB="27432" anchor="ctr">
                    <a:solidFill>
                      <a:srgbClr val="FFFFFF"/>
                    </a:solidFill>
                  </a:tcPr>
                </a:tc>
                <a:tc>
                  <a:txBody>
                    <a:bodyPr/>
                    <a:lstStyle/>
                    <a:p>
                      <a:pPr algn="l"/>
                      <a:r>
                        <a:rPr sz="1050" b="0" i="0">
                          <a:solidFill>
                            <a:srgbClr val="57626B"/>
                          </a:solidFill>
                          <a:latin typeface="Calibri"/>
                        </a:rPr>
                        <a:t>Proposes slice boundaries and the objects needed; flags dependencies on earlier slices</a:t>
                      </a:r>
                    </a:p>
                  </a:txBody>
                  <a:tcPr marL="64008" marR="64008" marT="27432" marB="27432" anchor="ctr">
                    <a:solidFill>
                      <a:srgbClr val="FFFFFF"/>
                    </a:solidFill>
                  </a:tcPr>
                </a:tc>
                <a:tc>
                  <a:txBody>
                    <a:bodyPr/>
                    <a:lstStyle/>
                    <a:p>
                      <a:pPr algn="l"/>
                      <a:r>
                        <a:rPr sz="1050" b="0" i="0">
                          <a:solidFill>
                            <a:srgbClr val="57626B"/>
                          </a:solidFill>
                          <a:latin typeface="Calibri"/>
                        </a:rPr>
                        <a:t>Business sponsor; architect</a:t>
                      </a:r>
                    </a:p>
                  </a:txBody>
                  <a:tcPr marL="64008" marR="64008" marT="27432" marB="27432" anchor="ctr">
                    <a:solidFill>
                      <a:srgbClr val="FFFFFF"/>
                    </a:solidFill>
                  </a:tcPr>
                </a:tc>
                <a:tc>
                  <a:txBody>
                    <a:bodyPr/>
                    <a:lstStyle/>
                    <a:p>
                      <a:pPr algn="l"/>
                      <a:r>
                        <a:rPr sz="1050" b="0" i="0">
                          <a:solidFill>
                            <a:srgbClr val="57626B"/>
                          </a:solidFill>
                          <a:latin typeface="Calibri"/>
                        </a:rPr>
                        <a:t>Use case, measures and acceptance criteria agreed</a:t>
                      </a:r>
                    </a:p>
                  </a:txBody>
                  <a:tcPr marL="64008" marR="64008" marT="27432" marB="27432" anchor="ctr">
                    <a:solidFill>
                      <a:srgbClr val="FFFFFF"/>
                    </a:solidFill>
                  </a:tcPr>
                </a:tc>
                <a:extLst>
                  <a:ext uri="{0D108BD9-81ED-4DB2-BD59-A6C34878D82A}">
                    <a16:rowId xmlns:a16="http://schemas.microsoft.com/office/drawing/2014/main" val="10001"/>
                  </a:ext>
                </a:extLst>
              </a:tr>
              <a:tr h="1097280">
                <a:tc>
                  <a:txBody>
                    <a:bodyPr/>
                    <a:lstStyle/>
                    <a:p>
                      <a:pPr algn="l"/>
                      <a:r>
                        <a:rPr sz="1050" b="1" i="0">
                          <a:solidFill>
                            <a:srgbClr val="1A2130"/>
                          </a:solidFill>
                          <a:latin typeface="Calibri"/>
                        </a:rPr>
                        <a:t>2  Discover</a:t>
                      </a:r>
                    </a:p>
                  </a:txBody>
                  <a:tcPr marL="64008" marR="64008" marT="27432" marB="27432" anchor="ctr">
                    <a:solidFill>
                      <a:srgbClr val="F4F6F2"/>
                    </a:solidFill>
                  </a:tcPr>
                </a:tc>
                <a:tc>
                  <a:txBody>
                    <a:bodyPr/>
                    <a:lstStyle/>
                    <a:p>
                      <a:pPr algn="l"/>
                      <a:r>
                        <a:rPr sz="1050" b="0" i="0">
                          <a:solidFill>
                            <a:srgbClr val="57626B"/>
                          </a:solidFill>
                          <a:latin typeface="Calibri"/>
                        </a:rPr>
                        <a:t>Analyze source layouts, keys, volumes and known issues; profile inside the client environment</a:t>
                      </a:r>
                    </a:p>
                  </a:txBody>
                  <a:tcPr marL="64008" marR="64008" marT="27432" marB="27432" anchor="ctr">
                    <a:solidFill>
                      <a:srgbClr val="F4F6F2"/>
                    </a:solidFill>
                  </a:tcPr>
                </a:tc>
                <a:tc>
                  <a:txBody>
                    <a:bodyPr/>
                    <a:lstStyle/>
                    <a:p>
                      <a:pPr algn="l"/>
                      <a:r>
                        <a:rPr sz="1050" b="0" i="0">
                          <a:solidFill>
                            <a:srgbClr val="57626B"/>
                          </a:solidFill>
                          <a:latin typeface="Calibri"/>
                        </a:rPr>
                        <a:t>Writes profiling queries; interprets aggregate results; lists gaps and questions</a:t>
                      </a:r>
                    </a:p>
                  </a:txBody>
                  <a:tcPr marL="64008" marR="64008" marT="27432" marB="27432" anchor="ctr">
                    <a:solidFill>
                      <a:srgbClr val="F4F6F2"/>
                    </a:solidFill>
                  </a:tcPr>
                </a:tc>
                <a:tc>
                  <a:txBody>
                    <a:bodyPr/>
                    <a:lstStyle/>
                    <a:p>
                      <a:pPr algn="l"/>
                      <a:r>
                        <a:rPr sz="1050" b="0" i="0">
                          <a:solidFill>
                            <a:srgbClr val="57626B"/>
                          </a:solidFill>
                          <a:latin typeface="Calibri"/>
                        </a:rPr>
                        <a:t>Data owners; source SMEs</a:t>
                      </a:r>
                    </a:p>
                  </a:txBody>
                  <a:tcPr marL="64008" marR="64008" marT="27432" marB="27432" anchor="ctr">
                    <a:solidFill>
                      <a:srgbClr val="F4F6F2"/>
                    </a:solidFill>
                  </a:tcPr>
                </a:tc>
                <a:tc>
                  <a:txBody>
                    <a:bodyPr/>
                    <a:lstStyle/>
                    <a:p>
                      <a:pPr algn="l"/>
                      <a:r>
                        <a:rPr sz="1050" b="0" i="0">
                          <a:solidFill>
                            <a:srgbClr val="57626B"/>
                          </a:solidFill>
                          <a:latin typeface="Calibri"/>
                        </a:rPr>
                        <a:t>Sources understood; known issues logged</a:t>
                      </a:r>
                    </a:p>
                  </a:txBody>
                  <a:tcPr marL="64008" marR="64008" marT="27432" marB="27432" anchor="ctr">
                    <a:solidFill>
                      <a:srgbClr val="F4F6F2"/>
                    </a:solidFill>
                  </a:tcPr>
                </a:tc>
                <a:extLst>
                  <a:ext uri="{0D108BD9-81ED-4DB2-BD59-A6C34878D82A}">
                    <a16:rowId xmlns:a16="http://schemas.microsoft.com/office/drawing/2014/main" val="10002"/>
                  </a:ext>
                </a:extLst>
              </a:tr>
              <a:tr h="1097280">
                <a:tc>
                  <a:txBody>
                    <a:bodyPr/>
                    <a:lstStyle/>
                    <a:p>
                      <a:pPr algn="l"/>
                      <a:r>
                        <a:rPr sz="1050" b="1" i="0">
                          <a:solidFill>
                            <a:srgbClr val="1A2130"/>
                          </a:solidFill>
                          <a:latin typeface="Calibri"/>
                        </a:rPr>
                        <a:t>3  Design</a:t>
                      </a:r>
                    </a:p>
                  </a:txBody>
                  <a:tcPr marL="64008" marR="64008" marT="27432" marB="27432" anchor="ctr">
                    <a:solidFill>
                      <a:srgbClr val="FFFFFF"/>
                    </a:solidFill>
                  </a:tcPr>
                </a:tc>
                <a:tc>
                  <a:txBody>
                    <a:bodyPr/>
                    <a:lstStyle/>
                    <a:p>
                      <a:pPr algn="l"/>
                      <a:r>
                        <a:rPr sz="1050" b="0" i="0">
                          <a:solidFill>
                            <a:srgbClr val="57626B"/>
                          </a:solidFill>
                          <a:latin typeface="Calibri"/>
                        </a:rPr>
                        <a:t>Fill in the slice’s metadata: tables, keys, relationships, grain, mappings, definitions, DQ rules (page §DESIGN)</a:t>
                      </a:r>
                    </a:p>
                  </a:txBody>
                  <a:tcPr marL="64008" marR="64008" marT="27432" marB="27432" anchor="ctr">
                    <a:solidFill>
                      <a:srgbClr val="FFFFFF"/>
                    </a:solidFill>
                  </a:tcPr>
                </a:tc>
                <a:tc>
                  <a:txBody>
                    <a:bodyPr/>
                    <a:lstStyle/>
                    <a:p>
                      <a:pPr algn="l"/>
                      <a:r>
                        <a:rPr sz="1050" b="0" i="0">
                          <a:solidFill>
                            <a:srgbClr val="57626B"/>
                          </a:solidFill>
                          <a:latin typeface="Calibri"/>
                        </a:rPr>
                        <a:t>Drafts metadata from DDL, mappings and dictionaries; checks consistency with certified objects</a:t>
                      </a:r>
                    </a:p>
                  </a:txBody>
                  <a:tcPr marL="64008" marR="64008" marT="27432" marB="27432" anchor="ctr">
                    <a:solidFill>
                      <a:srgbClr val="FFFFFF"/>
                    </a:solidFill>
                  </a:tcPr>
                </a:tc>
                <a:tc>
                  <a:txBody>
                    <a:bodyPr/>
                    <a:lstStyle/>
                    <a:p>
                      <a:pPr algn="l"/>
                      <a:r>
                        <a:rPr sz="1050" b="0" i="0">
                          <a:solidFill>
                            <a:srgbClr val="57626B"/>
                          </a:solidFill>
                          <a:latin typeface="Calibri"/>
                        </a:rPr>
                        <a:t>Architect; data stewards</a:t>
                      </a:r>
                    </a:p>
                  </a:txBody>
                  <a:tcPr marL="64008" marR="64008" marT="27432" marB="27432" anchor="ctr">
                    <a:solidFill>
                      <a:srgbClr val="FFFFFF"/>
                    </a:solidFill>
                  </a:tcPr>
                </a:tc>
                <a:tc>
                  <a:txBody>
                    <a:bodyPr/>
                    <a:lstStyle/>
                    <a:p>
                      <a:pPr algn="l"/>
                      <a:r>
                        <a:rPr sz="1050" b="0" i="0">
                          <a:solidFill>
                            <a:srgbClr val="57626B"/>
                          </a:solidFill>
                          <a:latin typeface="Calibri"/>
                        </a:rPr>
                        <a:t>Design review passed; metadata committed</a:t>
                      </a:r>
                    </a:p>
                  </a:txBody>
                  <a:tcPr marL="64008" marR="64008" marT="27432" marB="27432" anchor="ctr">
                    <a:solidFill>
                      <a:srgbClr val="FFFFFF"/>
                    </a:solidFill>
                  </a:tcPr>
                </a:tc>
                <a:extLst>
                  <a:ext uri="{0D108BD9-81ED-4DB2-BD59-A6C34878D82A}">
                    <a16:rowId xmlns:a16="http://schemas.microsoft.com/office/drawing/2014/main" val="10003"/>
                  </a:ext>
                </a:extLst>
              </a:tr>
              <a:tr h="1097280">
                <a:tc>
                  <a:txBody>
                    <a:bodyPr/>
                    <a:lstStyle/>
                    <a:p>
                      <a:pPr algn="l"/>
                      <a:r>
                        <a:rPr sz="1050" b="1" i="0">
                          <a:solidFill>
                            <a:srgbClr val="1A2130"/>
                          </a:solidFill>
                          <a:latin typeface="Calibri"/>
                        </a:rPr>
                        <a:t>4  Build</a:t>
                      </a:r>
                    </a:p>
                  </a:txBody>
                  <a:tcPr marL="64008" marR="64008" marT="27432" marB="27432" anchor="ctr">
                    <a:solidFill>
                      <a:srgbClr val="F4F6F2"/>
                    </a:solidFill>
                  </a:tcPr>
                </a:tc>
                <a:tc>
                  <a:txBody>
                    <a:bodyPr/>
                    <a:lstStyle/>
                    <a:p>
                      <a:pPr algn="l"/>
                      <a:r>
                        <a:rPr sz="1050" b="0" i="0">
                          <a:solidFill>
                            <a:srgbClr val="57626B"/>
                          </a:solidFill>
                          <a:latin typeface="Calibri"/>
                        </a:rPr>
                        <a:t>Create tables and pipelines from the approved design, as code</a:t>
                      </a:r>
                    </a:p>
                  </a:txBody>
                  <a:tcPr marL="64008" marR="64008" marT="27432" marB="27432" anchor="ctr">
                    <a:solidFill>
                      <a:srgbClr val="F4F6F2"/>
                    </a:solidFill>
                  </a:tcPr>
                </a:tc>
                <a:tc>
                  <a:txBody>
                    <a:bodyPr/>
                    <a:lstStyle/>
                    <a:p>
                      <a:pPr algn="l"/>
                      <a:r>
                        <a:rPr sz="1050" b="0" i="0">
                          <a:solidFill>
                            <a:srgbClr val="57626B"/>
                          </a:solidFill>
                          <a:latin typeface="Calibri"/>
                        </a:rPr>
                        <a:t>Generates DDL, pipeline code and DQ rules from the metadata; reviews code</a:t>
                      </a:r>
                    </a:p>
                  </a:txBody>
                  <a:tcPr marL="64008" marR="64008" marT="27432" marB="27432" anchor="ctr">
                    <a:solidFill>
                      <a:srgbClr val="F4F6F2"/>
                    </a:solidFill>
                  </a:tcPr>
                </a:tc>
                <a:tc>
                  <a:txBody>
                    <a:bodyPr/>
                    <a:lstStyle/>
                    <a:p>
                      <a:pPr algn="l"/>
                      <a:r>
                        <a:rPr sz="1050" b="0" i="0">
                          <a:solidFill>
                            <a:srgbClr val="57626B"/>
                          </a:solidFill>
                          <a:latin typeface="Calibri"/>
                        </a:rPr>
                        <a:t>Engineering lead (code review)</a:t>
                      </a:r>
                    </a:p>
                  </a:txBody>
                  <a:tcPr marL="64008" marR="64008" marT="27432" marB="27432" anchor="ctr">
                    <a:solidFill>
                      <a:srgbClr val="F4F6F2"/>
                    </a:solidFill>
                  </a:tcPr>
                </a:tc>
                <a:tc>
                  <a:txBody>
                    <a:bodyPr/>
                    <a:lstStyle/>
                    <a:p>
                      <a:pPr algn="l"/>
                      <a:r>
                        <a:rPr sz="1050" b="0" i="0">
                          <a:solidFill>
                            <a:srgbClr val="57626B"/>
                          </a:solidFill>
                          <a:latin typeface="Calibri"/>
                        </a:rPr>
                        <a:t>Code merged; runs cleanly in dev</a:t>
                      </a:r>
                    </a:p>
                  </a:txBody>
                  <a:tcPr marL="64008" marR="64008" marT="27432" marB="27432" anchor="ctr">
                    <a:solidFill>
                      <a:srgbClr val="F4F6F2"/>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08</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Lifecycle detail (2 of 2): test, deploy, operate, document</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later steps prove the slice works and keep it working.</a:t>
            </a:r>
          </a:p>
        </p:txBody>
      </p:sp>
      <p:graphicFrame>
        <p:nvGraphicFramePr>
          <p:cNvPr id="5" name="Table 4"/>
          <p:cNvGraphicFramePr>
            <a:graphicFrameLocks noGrp="1"/>
          </p:cNvGraphicFramePr>
          <p:nvPr/>
        </p:nvGraphicFramePr>
        <p:xfrm>
          <a:off x="457200" y="1325880"/>
          <a:ext cx="11274552" cy="475488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365760">
                <a:tc>
                  <a:txBody>
                    <a:bodyPr/>
                    <a:lstStyle/>
                    <a:p>
                      <a:pPr algn="l"/>
                      <a:r>
                        <a:rPr sz="1050" b="1" i="0">
                          <a:solidFill>
                            <a:srgbClr val="CADCEA"/>
                          </a:solidFill>
                          <a:latin typeface="Calibri"/>
                        </a:rPr>
                        <a:t>Step</a:t>
                      </a:r>
                    </a:p>
                  </a:txBody>
                  <a:tcPr marL="64008" marR="64008" marT="27432" marB="27432" anchor="ctr">
                    <a:solidFill>
                      <a:srgbClr val="1A2130"/>
                    </a:solidFill>
                  </a:tcPr>
                </a:tc>
                <a:tc>
                  <a:txBody>
                    <a:bodyPr/>
                    <a:lstStyle/>
                    <a:p>
                      <a:pPr algn="l"/>
                      <a:r>
                        <a:rPr sz="1050" b="1" i="0">
                          <a:solidFill>
                            <a:srgbClr val="CADCEA"/>
                          </a:solidFill>
                          <a:latin typeface="Calibri"/>
                        </a:rPr>
                        <a:t>What happens</a:t>
                      </a:r>
                    </a:p>
                  </a:txBody>
                  <a:tcPr marL="64008" marR="64008" marT="27432" marB="27432" anchor="ctr">
                    <a:solidFill>
                      <a:srgbClr val="1A2130"/>
                    </a:solidFill>
                  </a:tcPr>
                </a:tc>
                <a:tc>
                  <a:txBody>
                    <a:bodyPr/>
                    <a:lstStyle/>
                    <a:p>
                      <a:pPr algn="l"/>
                      <a:r>
                        <a:rPr sz="1050" b="1" i="0">
                          <a:solidFill>
                            <a:srgbClr val="CADCEA"/>
                          </a:solidFill>
                          <a:latin typeface="Calibri"/>
                        </a:rPr>
                        <a:t>Where Claude helps</a:t>
                      </a:r>
                    </a:p>
                  </a:txBody>
                  <a:tcPr marL="64008" marR="64008" marT="27432" marB="27432" anchor="ctr">
                    <a:solidFill>
                      <a:srgbClr val="1A2130"/>
                    </a:solidFill>
                  </a:tcPr>
                </a:tc>
                <a:tc>
                  <a:txBody>
                    <a:bodyPr/>
                    <a:lstStyle/>
                    <a:p>
                      <a:pPr algn="l"/>
                      <a:r>
                        <a:rPr sz="1050" b="1" i="0">
                          <a:solidFill>
                            <a:srgbClr val="CADCEA"/>
                          </a:solidFill>
                          <a:latin typeface="Calibri"/>
                        </a:rPr>
                        <a:t>Approved by</a:t>
                      </a:r>
                    </a:p>
                  </a:txBody>
                  <a:tcPr marL="64008" marR="64008" marT="27432" marB="27432" anchor="ctr">
                    <a:solidFill>
                      <a:srgbClr val="1A2130"/>
                    </a:solidFill>
                  </a:tcPr>
                </a:tc>
                <a:tc>
                  <a:txBody>
                    <a:bodyPr/>
                    <a:lstStyle/>
                    <a:p>
                      <a:pPr algn="l"/>
                      <a:r>
                        <a:rPr sz="1050" b="1" i="0">
                          <a:solidFill>
                            <a:srgbClr val="CADCEA"/>
                          </a:solidFill>
                          <a:latin typeface="Calibri"/>
                        </a:rPr>
                        <a:t>Done when</a:t>
                      </a:r>
                    </a:p>
                  </a:txBody>
                  <a:tcPr marL="64008" marR="64008" marT="27432" marB="27432" anchor="ctr">
                    <a:solidFill>
                      <a:srgbClr val="1A2130"/>
                    </a:solidFill>
                  </a:tcPr>
                </a:tc>
                <a:extLst>
                  <a:ext uri="{0D108BD9-81ED-4DB2-BD59-A6C34878D82A}">
                    <a16:rowId xmlns:a16="http://schemas.microsoft.com/office/drawing/2014/main" val="10000"/>
                  </a:ext>
                </a:extLst>
              </a:tr>
              <a:tr h="1097280">
                <a:tc>
                  <a:txBody>
                    <a:bodyPr/>
                    <a:lstStyle/>
                    <a:p>
                      <a:pPr algn="l"/>
                      <a:r>
                        <a:rPr sz="1050" b="1" i="0">
                          <a:solidFill>
                            <a:srgbClr val="1A2130"/>
                          </a:solidFill>
                          <a:latin typeface="Calibri"/>
                        </a:rPr>
                        <a:t>5  Test</a:t>
                      </a:r>
                    </a:p>
                  </a:txBody>
                  <a:tcPr marL="64008" marR="64008" marT="27432" marB="27432" anchor="ctr">
                    <a:solidFill>
                      <a:srgbClr val="FFFFFF"/>
                    </a:solidFill>
                  </a:tcPr>
                </a:tc>
                <a:tc>
                  <a:txBody>
                    <a:bodyPr/>
                    <a:lstStyle/>
                    <a:p>
                      <a:pPr algn="l"/>
                      <a:r>
                        <a:rPr sz="1050" b="0" i="0">
                          <a:solidFill>
                            <a:srgbClr val="57626B"/>
                          </a:solidFill>
                          <a:latin typeface="Calibri"/>
                        </a:rPr>
                        <a:t>Unit tests, reconciliation to source and GL, DQ thresholds, user acceptance testing (UAT)</a:t>
                      </a:r>
                    </a:p>
                  </a:txBody>
                  <a:tcPr marL="64008" marR="64008" marT="27432" marB="27432" anchor="ctr">
                    <a:solidFill>
                      <a:srgbClr val="FFFFFF"/>
                    </a:solidFill>
                  </a:tcPr>
                </a:tc>
                <a:tc>
                  <a:txBody>
                    <a:bodyPr/>
                    <a:lstStyle/>
                    <a:p>
                      <a:pPr algn="l"/>
                      <a:r>
                        <a:rPr sz="1050" b="0" i="0">
                          <a:solidFill>
                            <a:srgbClr val="57626B"/>
                          </a:solidFill>
                          <a:latin typeface="Calibri"/>
                        </a:rPr>
                        <a:t>Generates test cases and reconciliation queries; summarizes results</a:t>
                      </a:r>
                    </a:p>
                  </a:txBody>
                  <a:tcPr marL="64008" marR="64008" marT="27432" marB="27432" anchor="ctr">
                    <a:solidFill>
                      <a:srgbClr val="FFFFFF"/>
                    </a:solidFill>
                  </a:tcPr>
                </a:tc>
                <a:tc>
                  <a:txBody>
                    <a:bodyPr/>
                    <a:lstStyle/>
                    <a:p>
                      <a:pPr algn="l"/>
                      <a:r>
                        <a:rPr sz="1050" b="0" i="0">
                          <a:solidFill>
                            <a:srgbClr val="57626B"/>
                          </a:solidFill>
                          <a:latin typeface="Calibri"/>
                        </a:rPr>
                        <a:t>QA lead; business users (UAT)</a:t>
                      </a:r>
                    </a:p>
                  </a:txBody>
                  <a:tcPr marL="64008" marR="64008" marT="27432" marB="27432" anchor="ctr">
                    <a:solidFill>
                      <a:srgbClr val="FFFFFF"/>
                    </a:solidFill>
                  </a:tcPr>
                </a:tc>
                <a:tc>
                  <a:txBody>
                    <a:bodyPr/>
                    <a:lstStyle/>
                    <a:p>
                      <a:pPr algn="l"/>
                      <a:r>
                        <a:rPr sz="1050" b="0" i="0">
                          <a:solidFill>
                            <a:srgbClr val="57626B"/>
                          </a:solidFill>
                          <a:latin typeface="Calibri"/>
                        </a:rPr>
                        <a:t>All tests pass; UAT signed</a:t>
                      </a:r>
                    </a:p>
                  </a:txBody>
                  <a:tcPr marL="64008" marR="64008" marT="27432" marB="27432" anchor="ctr">
                    <a:solidFill>
                      <a:srgbClr val="FFFFFF"/>
                    </a:solidFill>
                  </a:tcPr>
                </a:tc>
                <a:extLst>
                  <a:ext uri="{0D108BD9-81ED-4DB2-BD59-A6C34878D82A}">
                    <a16:rowId xmlns:a16="http://schemas.microsoft.com/office/drawing/2014/main" val="10001"/>
                  </a:ext>
                </a:extLst>
              </a:tr>
              <a:tr h="1097280">
                <a:tc>
                  <a:txBody>
                    <a:bodyPr/>
                    <a:lstStyle/>
                    <a:p>
                      <a:pPr algn="l"/>
                      <a:r>
                        <a:rPr sz="1050" b="1" i="0">
                          <a:solidFill>
                            <a:srgbClr val="1A2130"/>
                          </a:solidFill>
                          <a:latin typeface="Calibri"/>
                        </a:rPr>
                        <a:t>6  Deploy</a:t>
                      </a:r>
                    </a:p>
                  </a:txBody>
                  <a:tcPr marL="64008" marR="64008" marT="27432" marB="27432" anchor="ctr">
                    <a:solidFill>
                      <a:srgbClr val="F4F6F2"/>
                    </a:solidFill>
                  </a:tcPr>
                </a:tc>
                <a:tc>
                  <a:txBody>
                    <a:bodyPr/>
                    <a:lstStyle/>
                    <a:p>
                      <a:pPr algn="l"/>
                      <a:r>
                        <a:rPr sz="1050" b="0" i="0">
                          <a:solidFill>
                            <a:srgbClr val="57626B"/>
                          </a:solidFill>
                          <a:latin typeface="Calibri"/>
                        </a:rPr>
                        <a:t>Release through test to production under change control</a:t>
                      </a:r>
                    </a:p>
                  </a:txBody>
                  <a:tcPr marL="64008" marR="64008" marT="27432" marB="27432" anchor="ctr">
                    <a:solidFill>
                      <a:srgbClr val="F4F6F2"/>
                    </a:solidFill>
                  </a:tcPr>
                </a:tc>
                <a:tc>
                  <a:txBody>
                    <a:bodyPr/>
                    <a:lstStyle/>
                    <a:p>
                      <a:pPr algn="l"/>
                      <a:r>
                        <a:rPr sz="1050" b="0" i="0">
                          <a:solidFill>
                            <a:srgbClr val="57626B"/>
                          </a:solidFill>
                          <a:latin typeface="Calibri"/>
                        </a:rPr>
                        <a:t>Drafts release notes, deployment steps and the rollback plan</a:t>
                      </a:r>
                    </a:p>
                  </a:txBody>
                  <a:tcPr marL="64008" marR="64008" marT="27432" marB="27432" anchor="ctr">
                    <a:solidFill>
                      <a:srgbClr val="F4F6F2"/>
                    </a:solidFill>
                  </a:tcPr>
                </a:tc>
                <a:tc>
                  <a:txBody>
                    <a:bodyPr/>
                    <a:lstStyle/>
                    <a:p>
                      <a:pPr algn="l"/>
                      <a:r>
                        <a:rPr sz="1050" b="0" i="0">
                          <a:solidFill>
                            <a:srgbClr val="57626B"/>
                          </a:solidFill>
                          <a:latin typeface="Calibri"/>
                        </a:rPr>
                        <a:t>Change board; platform owner</a:t>
                      </a:r>
                    </a:p>
                  </a:txBody>
                  <a:tcPr marL="64008" marR="64008" marT="27432" marB="27432" anchor="ctr">
                    <a:solidFill>
                      <a:srgbClr val="F4F6F2"/>
                    </a:solidFill>
                  </a:tcPr>
                </a:tc>
                <a:tc>
                  <a:txBody>
                    <a:bodyPr/>
                    <a:lstStyle/>
                    <a:p>
                      <a:pPr algn="l"/>
                      <a:r>
                        <a:rPr sz="1050" b="0" i="0">
                          <a:solidFill>
                            <a:srgbClr val="57626B"/>
                          </a:solidFill>
                          <a:latin typeface="Calibri"/>
                        </a:rPr>
                        <a:t>Live in production; rollback plan tested</a:t>
                      </a:r>
                    </a:p>
                  </a:txBody>
                  <a:tcPr marL="64008" marR="64008" marT="27432" marB="27432" anchor="ctr">
                    <a:solidFill>
                      <a:srgbClr val="F4F6F2"/>
                    </a:solidFill>
                  </a:tcPr>
                </a:tc>
                <a:extLst>
                  <a:ext uri="{0D108BD9-81ED-4DB2-BD59-A6C34878D82A}">
                    <a16:rowId xmlns:a16="http://schemas.microsoft.com/office/drawing/2014/main" val="10002"/>
                  </a:ext>
                </a:extLst>
              </a:tr>
              <a:tr h="1097280">
                <a:tc>
                  <a:txBody>
                    <a:bodyPr/>
                    <a:lstStyle/>
                    <a:p>
                      <a:pPr algn="l"/>
                      <a:r>
                        <a:rPr sz="1050" b="1" i="0">
                          <a:solidFill>
                            <a:srgbClr val="1A2130"/>
                          </a:solidFill>
                          <a:latin typeface="Calibri"/>
                        </a:rPr>
                        <a:t>7  Operate</a:t>
                      </a:r>
                    </a:p>
                  </a:txBody>
                  <a:tcPr marL="64008" marR="64008" marT="27432" marB="27432" anchor="ctr">
                    <a:solidFill>
                      <a:srgbClr val="FFFFFF"/>
                    </a:solidFill>
                  </a:tcPr>
                </a:tc>
                <a:tc>
                  <a:txBody>
                    <a:bodyPr/>
                    <a:lstStyle/>
                    <a:p>
                      <a:pPr algn="l"/>
                      <a:r>
                        <a:rPr sz="1050" b="0" i="0">
                          <a:solidFill>
                            <a:srgbClr val="57626B"/>
                          </a:solidFill>
                          <a:latin typeface="Calibri"/>
                        </a:rPr>
                        <a:t>Monitor freshness, volumes and data quality; handle incidents to SLA</a:t>
                      </a:r>
                    </a:p>
                  </a:txBody>
                  <a:tcPr marL="64008" marR="64008" marT="27432" marB="27432" anchor="ctr">
                    <a:solidFill>
                      <a:srgbClr val="FFFFFF"/>
                    </a:solidFill>
                  </a:tcPr>
                </a:tc>
                <a:tc>
                  <a:txBody>
                    <a:bodyPr/>
                    <a:lstStyle/>
                    <a:p>
                      <a:pPr algn="l"/>
                      <a:r>
                        <a:rPr sz="1050" b="0" i="0">
                          <a:solidFill>
                            <a:srgbClr val="57626B"/>
                          </a:solidFill>
                          <a:latin typeface="Calibri"/>
                        </a:rPr>
                        <a:t>Triages alerts; summarizes incidents with evidence</a:t>
                      </a:r>
                    </a:p>
                  </a:txBody>
                  <a:tcPr marL="64008" marR="64008" marT="27432" marB="27432" anchor="ctr">
                    <a:solidFill>
                      <a:srgbClr val="FFFFFF"/>
                    </a:solidFill>
                  </a:tcPr>
                </a:tc>
                <a:tc>
                  <a:txBody>
                    <a:bodyPr/>
                    <a:lstStyle/>
                    <a:p>
                      <a:pPr algn="l"/>
                      <a:r>
                        <a:rPr sz="1050" b="0" i="0">
                          <a:solidFill>
                            <a:srgbClr val="57626B"/>
                          </a:solidFill>
                          <a:latin typeface="Calibri"/>
                        </a:rPr>
                        <a:t>Production support; data owner</a:t>
                      </a:r>
                    </a:p>
                  </a:txBody>
                  <a:tcPr marL="64008" marR="64008" marT="27432" marB="27432" anchor="ctr">
                    <a:solidFill>
                      <a:srgbClr val="FFFFFF"/>
                    </a:solidFill>
                  </a:tcPr>
                </a:tc>
                <a:tc>
                  <a:txBody>
                    <a:bodyPr/>
                    <a:lstStyle/>
                    <a:p>
                      <a:pPr algn="l"/>
                      <a:r>
                        <a:rPr sz="1050" b="0" i="0">
                          <a:solidFill>
                            <a:srgbClr val="57626B"/>
                          </a:solidFill>
                          <a:latin typeface="Calibri"/>
                        </a:rPr>
                        <a:t>Stable for an agreed period, e.g., two month-end cycles</a:t>
                      </a:r>
                    </a:p>
                  </a:txBody>
                  <a:tcPr marL="64008" marR="64008" marT="27432" marB="27432" anchor="ctr">
                    <a:solidFill>
                      <a:srgbClr val="FFFFFF"/>
                    </a:solidFill>
                  </a:tcPr>
                </a:tc>
                <a:extLst>
                  <a:ext uri="{0D108BD9-81ED-4DB2-BD59-A6C34878D82A}">
                    <a16:rowId xmlns:a16="http://schemas.microsoft.com/office/drawing/2014/main" val="10003"/>
                  </a:ext>
                </a:extLst>
              </a:tr>
              <a:tr h="1097280">
                <a:tc>
                  <a:txBody>
                    <a:bodyPr/>
                    <a:lstStyle/>
                    <a:p>
                      <a:pPr algn="l"/>
                      <a:r>
                        <a:rPr sz="1050" b="1" i="0">
                          <a:solidFill>
                            <a:srgbClr val="1A2130"/>
                          </a:solidFill>
                          <a:latin typeface="Calibri"/>
                        </a:rPr>
                        <a:t>8  Document</a:t>
                      </a:r>
                    </a:p>
                  </a:txBody>
                  <a:tcPr marL="64008" marR="64008" marT="27432" marB="27432" anchor="ctr">
                    <a:solidFill>
                      <a:srgbClr val="F4F6F2"/>
                    </a:solidFill>
                  </a:tcPr>
                </a:tc>
                <a:tc>
                  <a:txBody>
                    <a:bodyPr/>
                    <a:lstStyle/>
                    <a:p>
                      <a:pPr algn="l"/>
                      <a:r>
                        <a:rPr sz="1050" b="0" i="0">
                          <a:solidFill>
                            <a:srgbClr val="57626B"/>
                          </a:solidFill>
                          <a:latin typeface="Calibri"/>
                        </a:rPr>
                        <a:t>Regenerate the deck, dictionary and lineage; update the catalog; certify Gold</a:t>
                      </a:r>
                    </a:p>
                  </a:txBody>
                  <a:tcPr marL="64008" marR="64008" marT="27432" marB="27432" anchor="ctr">
                    <a:solidFill>
                      <a:srgbClr val="F4F6F2"/>
                    </a:solidFill>
                  </a:tcPr>
                </a:tc>
                <a:tc>
                  <a:txBody>
                    <a:bodyPr/>
                    <a:lstStyle/>
                    <a:p>
                      <a:pPr algn="l"/>
                      <a:r>
                        <a:rPr sz="1050" b="0" i="0">
                          <a:solidFill>
                            <a:srgbClr val="57626B"/>
                          </a:solidFill>
                          <a:latin typeface="Calibri"/>
                        </a:rPr>
                        <a:t>Regenerates documents and lists what changed since the last release</a:t>
                      </a:r>
                    </a:p>
                  </a:txBody>
                  <a:tcPr marL="64008" marR="64008" marT="27432" marB="27432" anchor="ctr">
                    <a:solidFill>
                      <a:srgbClr val="F4F6F2"/>
                    </a:solidFill>
                  </a:tcPr>
                </a:tc>
                <a:tc>
                  <a:txBody>
                    <a:bodyPr/>
                    <a:lstStyle/>
                    <a:p>
                      <a:pPr algn="l"/>
                      <a:r>
                        <a:rPr sz="1050" b="0" i="0">
                          <a:solidFill>
                            <a:srgbClr val="57626B"/>
                          </a:solidFill>
                          <a:latin typeface="Calibri"/>
                        </a:rPr>
                        <a:t>Data stewards; business sponsor</a:t>
                      </a:r>
                    </a:p>
                  </a:txBody>
                  <a:tcPr marL="64008" marR="64008" marT="27432" marB="27432" anchor="ctr">
                    <a:solidFill>
                      <a:srgbClr val="F4F6F2"/>
                    </a:solidFill>
                  </a:tcPr>
                </a:tc>
                <a:tc>
                  <a:txBody>
                    <a:bodyPr/>
                    <a:lstStyle/>
                    <a:p>
                      <a:pPr algn="l"/>
                      <a:r>
                        <a:rPr sz="1050" b="0" i="0">
                          <a:solidFill>
                            <a:srgbClr val="57626B"/>
                          </a:solidFill>
                          <a:latin typeface="Calibri"/>
                        </a:rPr>
                        <a:t>Documentation matches production; Gold certified (page §CERTIFY)</a:t>
                      </a:r>
                    </a:p>
                  </a:txBody>
                  <a:tcPr marL="64008" marR="64008" marT="27432" marB="27432" anchor="ctr">
                    <a:solidFill>
                      <a:srgbClr val="F4F6F2"/>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09</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Inside the Design step: fill in the model in a fixed order</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Each slice fills in only the sections it touches. Page numbers refer to the Consumer Lending Medallion Data Model deck.</a:t>
            </a:r>
          </a:p>
        </p:txBody>
      </p:sp>
      <p:sp>
        <p:nvSpPr>
          <p:cNvPr id="5" name="Rectangle 4"/>
          <p:cNvSpPr/>
          <p:nvPr/>
        </p:nvSpPr>
        <p:spPr>
          <a:xfrm>
            <a:off x="457200" y="1463040"/>
            <a:ext cx="502920" cy="109728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1</a:t>
            </a:r>
          </a:p>
        </p:txBody>
      </p:sp>
      <p:sp>
        <p:nvSpPr>
          <p:cNvPr id="6" name="Rectangle 5"/>
          <p:cNvSpPr/>
          <p:nvPr/>
        </p:nvSpPr>
        <p:spPr>
          <a:xfrm>
            <a:off x="960120" y="14630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Source systems</a:t>
            </a:r>
          </a:p>
          <a:p>
            <a:pPr algn="l"/>
            <a:r>
              <a:rPr sz="1150" b="0" i="0">
                <a:solidFill>
                  <a:srgbClr val="57626B"/>
                </a:solidFill>
                <a:latin typeface="Calibri"/>
              </a:rPr>
              <a:t>p.4</a:t>
            </a:r>
          </a:p>
        </p:txBody>
      </p:sp>
      <p:cxnSp>
        <p:nvCxnSpPr>
          <p:cNvPr id="7" name="Connector 6"/>
          <p:cNvCxnSpPr/>
          <p:nvPr/>
        </p:nvCxnSpPr>
        <p:spPr>
          <a:xfrm>
            <a:off x="3035808" y="201168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355848" y="1463040"/>
            <a:ext cx="502920" cy="1097280"/>
          </a:xfrm>
          <a:prstGeom prst="rect">
            <a:avLst/>
          </a:prstGeom>
          <a:solidFill>
            <a:srgbClr val="8A5A2B"/>
          </a:solidFill>
          <a:ln w="12700">
            <a:solidFill>
              <a:srgbClr val="8A5A2B"/>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2</a:t>
            </a:r>
          </a:p>
        </p:txBody>
      </p:sp>
      <p:sp>
        <p:nvSpPr>
          <p:cNvPr id="9" name="Rectangle 8"/>
          <p:cNvSpPr/>
          <p:nvPr/>
        </p:nvSpPr>
        <p:spPr>
          <a:xfrm>
            <a:off x="3858768" y="14630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Bronze inventory</a:t>
            </a:r>
          </a:p>
          <a:p>
            <a:pPr algn="l"/>
            <a:r>
              <a:rPr sz="1150" b="0" i="0">
                <a:solidFill>
                  <a:srgbClr val="57626B"/>
                </a:solidFill>
                <a:latin typeface="Calibri"/>
              </a:rPr>
              <a:t>p.12</a:t>
            </a:r>
          </a:p>
        </p:txBody>
      </p:sp>
      <p:cxnSp>
        <p:nvCxnSpPr>
          <p:cNvPr id="10" name="Connector 9"/>
          <p:cNvCxnSpPr/>
          <p:nvPr/>
        </p:nvCxnSpPr>
        <p:spPr>
          <a:xfrm>
            <a:off x="5934456" y="201168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254496" y="1463040"/>
            <a:ext cx="502920" cy="109728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3</a:t>
            </a:r>
          </a:p>
        </p:txBody>
      </p:sp>
      <p:sp>
        <p:nvSpPr>
          <p:cNvPr id="12" name="Rectangle 11"/>
          <p:cNvSpPr/>
          <p:nvPr/>
        </p:nvSpPr>
        <p:spPr>
          <a:xfrm>
            <a:off x="6757416" y="14630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Silver tables &amp; columns</a:t>
            </a:r>
          </a:p>
          <a:p>
            <a:pPr algn="l"/>
            <a:r>
              <a:rPr sz="1150" b="0" i="0">
                <a:solidFill>
                  <a:srgbClr val="57626B"/>
                </a:solidFill>
                <a:latin typeface="Calibri"/>
              </a:rPr>
              <a:t>p.13–15, 23–29</a:t>
            </a:r>
          </a:p>
        </p:txBody>
      </p:sp>
      <p:cxnSp>
        <p:nvCxnSpPr>
          <p:cNvPr id="13" name="Connector 12"/>
          <p:cNvCxnSpPr/>
          <p:nvPr/>
        </p:nvCxnSpPr>
        <p:spPr>
          <a:xfrm>
            <a:off x="8833104" y="201168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9153144" y="1463040"/>
            <a:ext cx="502920" cy="109728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4</a:t>
            </a:r>
          </a:p>
        </p:txBody>
      </p:sp>
      <p:sp>
        <p:nvSpPr>
          <p:cNvPr id="15" name="Rectangle 14"/>
          <p:cNvSpPr/>
          <p:nvPr/>
        </p:nvSpPr>
        <p:spPr>
          <a:xfrm>
            <a:off x="9656064" y="14630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Relationships &amp; cardinality</a:t>
            </a:r>
          </a:p>
          <a:p>
            <a:pPr algn="l"/>
            <a:r>
              <a:rPr sz="1150" b="0" i="0">
                <a:solidFill>
                  <a:srgbClr val="57626B"/>
                </a:solidFill>
                <a:latin typeface="Calibri"/>
              </a:rPr>
              <a:t>p.13–17</a:t>
            </a:r>
          </a:p>
        </p:txBody>
      </p:sp>
      <p:sp>
        <p:nvSpPr>
          <p:cNvPr id="16" name="Rectangle 15"/>
          <p:cNvSpPr/>
          <p:nvPr/>
        </p:nvSpPr>
        <p:spPr>
          <a:xfrm>
            <a:off x="457200" y="3063240"/>
            <a:ext cx="502920" cy="1097280"/>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5</a:t>
            </a:r>
          </a:p>
        </p:txBody>
      </p:sp>
      <p:sp>
        <p:nvSpPr>
          <p:cNvPr id="17" name="Rectangle 16"/>
          <p:cNvSpPr/>
          <p:nvPr/>
        </p:nvSpPr>
        <p:spPr>
          <a:xfrm>
            <a:off x="960120" y="30632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Gold facts, dimensions &amp; grain</a:t>
            </a:r>
          </a:p>
          <a:p>
            <a:pPr algn="l"/>
            <a:r>
              <a:rPr sz="1150" b="0" i="0">
                <a:solidFill>
                  <a:srgbClr val="57626B"/>
                </a:solidFill>
                <a:latin typeface="Calibri"/>
              </a:rPr>
              <a:t>p.18–21, 30–34</a:t>
            </a:r>
          </a:p>
        </p:txBody>
      </p:sp>
      <p:cxnSp>
        <p:nvCxnSpPr>
          <p:cNvPr id="18" name="Connector 17"/>
          <p:cNvCxnSpPr/>
          <p:nvPr/>
        </p:nvCxnSpPr>
        <p:spPr>
          <a:xfrm>
            <a:off x="3035808" y="361188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355848" y="3063240"/>
            <a:ext cx="502920" cy="109728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6</a:t>
            </a:r>
          </a:p>
        </p:txBody>
      </p:sp>
      <p:sp>
        <p:nvSpPr>
          <p:cNvPr id="20" name="Rectangle 19"/>
          <p:cNvSpPr/>
          <p:nvPr/>
        </p:nvSpPr>
        <p:spPr>
          <a:xfrm>
            <a:off x="3858768" y="30632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Definitions &amp; data classes</a:t>
            </a:r>
          </a:p>
          <a:p>
            <a:pPr algn="l"/>
            <a:r>
              <a:rPr sz="1150" b="0" i="0">
                <a:solidFill>
                  <a:srgbClr val="57626B"/>
                </a:solidFill>
                <a:latin typeface="Calibri"/>
              </a:rPr>
              <a:t>p.22–34</a:t>
            </a:r>
          </a:p>
        </p:txBody>
      </p:sp>
      <p:cxnSp>
        <p:nvCxnSpPr>
          <p:cNvPr id="21" name="Connector 20"/>
          <p:cNvCxnSpPr/>
          <p:nvPr/>
        </p:nvCxnSpPr>
        <p:spPr>
          <a:xfrm>
            <a:off x="5934456" y="361188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254496" y="3063240"/>
            <a:ext cx="502920" cy="109728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7</a:t>
            </a:r>
          </a:p>
        </p:txBody>
      </p:sp>
      <p:sp>
        <p:nvSpPr>
          <p:cNvPr id="23" name="Rectangle 22"/>
          <p:cNvSpPr/>
          <p:nvPr/>
        </p:nvSpPr>
        <p:spPr>
          <a:xfrm>
            <a:off x="6757416" y="30632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Lineage &amp; transformation rules</a:t>
            </a:r>
          </a:p>
          <a:p>
            <a:pPr algn="l"/>
            <a:r>
              <a:rPr sz="1150" b="0" i="0">
                <a:solidFill>
                  <a:srgbClr val="57626B"/>
                </a:solidFill>
                <a:latin typeface="Calibri"/>
              </a:rPr>
              <a:t>p.35–37</a:t>
            </a:r>
          </a:p>
        </p:txBody>
      </p:sp>
      <p:cxnSp>
        <p:nvCxnSpPr>
          <p:cNvPr id="24" name="Connector 23"/>
          <p:cNvCxnSpPr/>
          <p:nvPr/>
        </p:nvCxnSpPr>
        <p:spPr>
          <a:xfrm>
            <a:off x="8833104" y="361188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153144" y="3063240"/>
            <a:ext cx="502920" cy="109728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800" b="1" i="0">
                <a:solidFill>
                  <a:srgbClr val="FFFFFF"/>
                </a:solidFill>
                <a:latin typeface="Cambria"/>
              </a:rPr>
              <a:t>8</a:t>
            </a:r>
          </a:p>
        </p:txBody>
      </p:sp>
      <p:sp>
        <p:nvSpPr>
          <p:cNvPr id="26" name="Rectangle 25"/>
          <p:cNvSpPr/>
          <p:nvPr/>
        </p:nvSpPr>
        <p:spPr>
          <a:xfrm>
            <a:off x="9656064" y="3063240"/>
            <a:ext cx="2075688" cy="109728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Data quality checks</a:t>
            </a:r>
          </a:p>
          <a:p>
            <a:pPr algn="l"/>
            <a:r>
              <a:rPr sz="1150" b="0" i="0">
                <a:solidFill>
                  <a:srgbClr val="57626B"/>
                </a:solidFill>
                <a:latin typeface="Calibri"/>
              </a:rPr>
              <a:t>p.38</a:t>
            </a:r>
          </a:p>
        </p:txBody>
      </p:sp>
      <p:cxnSp>
        <p:nvCxnSpPr>
          <p:cNvPr id="27" name="Connector 26"/>
          <p:cNvCxnSpPr/>
          <p:nvPr/>
        </p:nvCxnSpPr>
        <p:spPr>
          <a:xfrm>
            <a:off x="10442448" y="2560320"/>
            <a:ext cx="0" cy="256032"/>
          </a:xfrm>
          <a:prstGeom prst="line">
            <a:avLst/>
          </a:prstGeom>
          <a:ln w="22225">
            <a:solidFill>
              <a:srgbClr val="1A21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746504" y="2816352"/>
            <a:ext cx="8695944" cy="0"/>
          </a:xfrm>
          <a:prstGeom prst="line">
            <a:avLst/>
          </a:prstGeom>
          <a:ln w="22225">
            <a:solidFill>
              <a:srgbClr val="1A21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746504" y="2816352"/>
            <a:ext cx="0" cy="246888"/>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57200" y="4572000"/>
            <a:ext cx="5486400"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Why this order: </a:t>
            </a:r>
            <a:r>
              <a:rPr sz="1100" b="0" i="0">
                <a:solidFill>
                  <a:srgbClr val="57626B"/>
                </a:solidFill>
                <a:latin typeface="Calibri"/>
              </a:rPr>
              <a:t>names first, structure next, meaning last. Relationships need the tables; Gold grain needs the relationships; lineage needs both ends.</a:t>
            </a:r>
          </a:p>
        </p:txBody>
      </p:sp>
      <p:sp>
        <p:nvSpPr>
          <p:cNvPr id="31" name="Rounded Rectangle 30"/>
          <p:cNvSpPr/>
          <p:nvPr/>
        </p:nvSpPr>
        <p:spPr>
          <a:xfrm>
            <a:off x="6245352" y="4572000"/>
            <a:ext cx="5486400"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Example, the POC slice: </a:t>
            </a:r>
            <a:r>
              <a:rPr sz="1100" b="0" i="0">
                <a:solidFill>
                  <a:srgbClr val="57626B"/>
                </a:solidFill>
                <a:latin typeface="Calibri"/>
              </a:rPr>
              <a:t>fills in LOS sources, three Bronze tables, four Silver tables and one fact. Later slices add rows to the same metadata files.</a:t>
            </a:r>
          </a:p>
        </p:txBody>
      </p:sp>
      <p:sp>
        <p:nvSpPr>
          <p:cNvPr id="32" name="TextBox 3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10</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Gold sign-off: certifying an object as fit for purpose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Certification is earned per Gold object, for a named use, against agreed criteria. It can be withdrawn.</a:t>
            </a:r>
          </a:p>
        </p:txBody>
      </p:sp>
      <p:sp>
        <p:nvSpPr>
          <p:cNvPr id="5" name="Rectangle 4"/>
          <p:cNvSpPr/>
          <p:nvPr/>
        </p:nvSpPr>
        <p:spPr>
          <a:xfrm>
            <a:off x="457200" y="1325880"/>
            <a:ext cx="2578608" cy="36576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ourier New"/>
              </a:rPr>
              <a:t>DRAFT</a:t>
            </a:r>
          </a:p>
        </p:txBody>
      </p:sp>
      <p:sp>
        <p:nvSpPr>
          <p:cNvPr id="6" name="Rectangle 5"/>
          <p:cNvSpPr/>
          <p:nvPr/>
        </p:nvSpPr>
        <p:spPr>
          <a:xfrm>
            <a:off x="457200" y="1691640"/>
            <a:ext cx="2578608" cy="4572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7626B"/>
                </a:solidFill>
                <a:latin typeface="Calibri"/>
              </a:rPr>
              <a:t>Built in dev; not for use</a:t>
            </a:r>
          </a:p>
        </p:txBody>
      </p:sp>
      <p:cxnSp>
        <p:nvCxnSpPr>
          <p:cNvPr id="7" name="Connector 6"/>
          <p:cNvCxnSpPr/>
          <p:nvPr/>
        </p:nvCxnSpPr>
        <p:spPr>
          <a:xfrm>
            <a:off x="3035808" y="150876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355848" y="1325880"/>
            <a:ext cx="2578608" cy="36576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ourier New"/>
              </a:rPr>
              <a:t>IN TEST</a:t>
            </a:r>
          </a:p>
        </p:txBody>
      </p:sp>
      <p:sp>
        <p:nvSpPr>
          <p:cNvPr id="9" name="Rectangle 8"/>
          <p:cNvSpPr/>
          <p:nvPr/>
        </p:nvSpPr>
        <p:spPr>
          <a:xfrm>
            <a:off x="3355848" y="1691640"/>
            <a:ext cx="2578608" cy="4572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7626B"/>
                </a:solidFill>
                <a:latin typeface="Calibri"/>
              </a:rPr>
              <a:t>In the test environment; UAT under way</a:t>
            </a:r>
          </a:p>
        </p:txBody>
      </p:sp>
      <p:cxnSp>
        <p:nvCxnSpPr>
          <p:cNvPr id="10" name="Connector 9"/>
          <p:cNvCxnSpPr/>
          <p:nvPr/>
        </p:nvCxnSpPr>
        <p:spPr>
          <a:xfrm>
            <a:off x="5934456" y="150876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254496" y="1325880"/>
            <a:ext cx="2578608" cy="365760"/>
          </a:xfrm>
          <a:prstGeom prst="rect">
            <a:avLst/>
          </a:prstGeom>
          <a:solidFill>
            <a:srgbClr val="0E7C66"/>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ourier New"/>
              </a:rPr>
              <a:t>CERTIFIED</a:t>
            </a:r>
          </a:p>
        </p:txBody>
      </p:sp>
      <p:sp>
        <p:nvSpPr>
          <p:cNvPr id="12" name="Rectangle 11"/>
          <p:cNvSpPr/>
          <p:nvPr/>
        </p:nvSpPr>
        <p:spPr>
          <a:xfrm>
            <a:off x="6254496" y="1691640"/>
            <a:ext cx="2578608" cy="4572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7626B"/>
                </a:solidFill>
                <a:latin typeface="Calibri"/>
              </a:rPr>
              <a:t>Fit for the named use; consumers may rely on it</a:t>
            </a:r>
          </a:p>
        </p:txBody>
      </p:sp>
      <p:cxnSp>
        <p:nvCxnSpPr>
          <p:cNvPr id="13" name="Connector 12"/>
          <p:cNvCxnSpPr/>
          <p:nvPr/>
        </p:nvCxnSpPr>
        <p:spPr>
          <a:xfrm>
            <a:off x="8833104" y="1508760"/>
            <a:ext cx="320040" cy="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9153144" y="1325880"/>
            <a:ext cx="2578608" cy="365760"/>
          </a:xfrm>
          <a:prstGeom prst="rect">
            <a:avLst/>
          </a:prstGeom>
          <a:solidFill>
            <a:srgbClr val="9A3324"/>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ourier New"/>
              </a:rPr>
              <a:t>UNDER REVIEW</a:t>
            </a:r>
          </a:p>
        </p:txBody>
      </p:sp>
      <p:sp>
        <p:nvSpPr>
          <p:cNvPr id="15" name="Rectangle 14"/>
          <p:cNvSpPr/>
          <p:nvPr/>
        </p:nvSpPr>
        <p:spPr>
          <a:xfrm>
            <a:off x="9153144" y="1691640"/>
            <a:ext cx="2578608" cy="4572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0" i="0">
                <a:solidFill>
                  <a:srgbClr val="57626B"/>
                </a:solidFill>
                <a:latin typeface="Calibri"/>
              </a:rPr>
              <a:t>A breach or change; consumers warned</a:t>
            </a:r>
          </a:p>
        </p:txBody>
      </p:sp>
      <p:cxnSp>
        <p:nvCxnSpPr>
          <p:cNvPr id="16" name="Connector 15"/>
          <p:cNvCxnSpPr/>
          <p:nvPr/>
        </p:nvCxnSpPr>
        <p:spPr>
          <a:xfrm>
            <a:off x="10442448" y="2148840"/>
            <a:ext cx="0" cy="182880"/>
          </a:xfrm>
          <a:prstGeom prst="line">
            <a:avLst/>
          </a:prstGeom>
          <a:ln w="19050">
            <a:solidFill>
              <a:srgbClr val="9A332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543800" y="2331720"/>
            <a:ext cx="2898648" cy="0"/>
          </a:xfrm>
          <a:prstGeom prst="line">
            <a:avLst/>
          </a:prstGeom>
          <a:ln w="19050">
            <a:solidFill>
              <a:srgbClr val="9A332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543800" y="2148840"/>
            <a:ext cx="0" cy="182880"/>
          </a:xfrm>
          <a:prstGeom prst="line">
            <a:avLst/>
          </a:prstGeom>
          <a:ln w="19050">
            <a:solidFill>
              <a:srgbClr val="9A33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26679" y="2350008"/>
            <a:ext cx="2743200" cy="201168"/>
          </a:xfrm>
          <a:prstGeom prst="rect">
            <a:avLst/>
          </a:prstGeom>
          <a:noFill/>
        </p:spPr>
        <p:txBody>
          <a:bodyPr wrap="square" lIns="0" tIns="0" rIns="0" bIns="0" anchor="t">
            <a:spAutoFit/>
          </a:bodyPr>
          <a:lstStyle/>
          <a:p>
            <a:pPr algn="l"/>
            <a:r>
              <a:rPr sz="900" b="0" i="1">
                <a:solidFill>
                  <a:srgbClr val="9A3324"/>
                </a:solidFill>
                <a:latin typeface="Calibri"/>
              </a:rPr>
              <a:t>fixed and re-checked</a:t>
            </a:r>
          </a:p>
        </p:txBody>
      </p:sp>
      <p:graphicFrame>
        <p:nvGraphicFramePr>
          <p:cNvPr id="20" name="Table 19"/>
          <p:cNvGraphicFramePr>
            <a:graphicFrameLocks noGrp="1"/>
          </p:cNvGraphicFramePr>
          <p:nvPr/>
        </p:nvGraphicFramePr>
        <p:xfrm>
          <a:off x="457200" y="2651760"/>
          <a:ext cx="11274552" cy="2816352"/>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9184">
                <a:tc>
                  <a:txBody>
                    <a:bodyPr/>
                    <a:lstStyle/>
                    <a:p>
                      <a:pPr algn="l"/>
                      <a:r>
                        <a:rPr sz="1050" b="1" i="0">
                          <a:solidFill>
                            <a:srgbClr val="CADCEA"/>
                          </a:solidFill>
                          <a:latin typeface="Calibri"/>
                        </a:rPr>
                        <a:t>Criterion</a:t>
                      </a:r>
                    </a:p>
                  </a:txBody>
                  <a:tcPr marL="64008" marR="64008" marT="27432" marB="27432" anchor="ctr">
                    <a:solidFill>
                      <a:srgbClr val="1A2130"/>
                    </a:solidFill>
                  </a:tcPr>
                </a:tc>
                <a:tc>
                  <a:txBody>
                    <a:bodyPr/>
                    <a:lstStyle/>
                    <a:p>
                      <a:pPr algn="l"/>
                      <a:r>
                        <a:rPr sz="1050" b="1" i="0">
                          <a:solidFill>
                            <a:srgbClr val="CADCEA"/>
                          </a:solidFill>
                          <a:latin typeface="Calibri"/>
                        </a:rPr>
                        <a:t>Evidence</a:t>
                      </a:r>
                    </a:p>
                  </a:txBody>
                  <a:tcPr marL="64008" marR="64008" marT="27432" marB="27432" anchor="ctr">
                    <a:solidFill>
                      <a:srgbClr val="1A2130"/>
                    </a:solidFill>
                  </a:tcPr>
                </a:tc>
                <a:tc>
                  <a:txBody>
                    <a:bodyPr/>
                    <a:lstStyle/>
                    <a:p>
                      <a:pPr algn="l"/>
                      <a:r>
                        <a:rPr sz="1050" b="1" i="0">
                          <a:solidFill>
                            <a:srgbClr val="CADCEA"/>
                          </a:solidFill>
                          <a:latin typeface="Calibri"/>
                        </a:rPr>
                        <a:t>Signed by</a:t>
                      </a:r>
                    </a:p>
                  </a:txBody>
                  <a:tcPr marL="64008" marR="64008" marT="27432" marB="27432" anchor="ctr">
                    <a:solidFill>
                      <a:srgbClr val="1A2130"/>
                    </a:solidFill>
                  </a:tcPr>
                </a:tc>
                <a:extLst>
                  <a:ext uri="{0D108BD9-81ED-4DB2-BD59-A6C34878D82A}">
                    <a16:rowId xmlns:a16="http://schemas.microsoft.com/office/drawing/2014/main" val="10000"/>
                  </a:ext>
                </a:extLst>
              </a:tr>
              <a:tr h="310896">
                <a:tc>
                  <a:txBody>
                    <a:bodyPr/>
                    <a:lstStyle/>
                    <a:p>
                      <a:pPr algn="l"/>
                      <a:r>
                        <a:rPr sz="1050" b="1" i="0">
                          <a:solidFill>
                            <a:srgbClr val="1A2130"/>
                          </a:solidFill>
                          <a:latin typeface="Calibri"/>
                        </a:rPr>
                        <a:t>Grain declared and tested</a:t>
                      </a:r>
                    </a:p>
                  </a:txBody>
                  <a:tcPr marL="64008" marR="64008" marT="27432" marB="27432" anchor="ctr">
                    <a:solidFill>
                      <a:srgbClr val="FFFFFF"/>
                    </a:solidFill>
                  </a:tcPr>
                </a:tc>
                <a:tc>
                  <a:txBody>
                    <a:bodyPr/>
                    <a:lstStyle/>
                    <a:p>
                      <a:pPr algn="l"/>
                      <a:r>
                        <a:rPr sz="1050" b="0" i="0">
                          <a:solidFill>
                            <a:srgbClr val="57626B"/>
                          </a:solidFill>
                          <a:latin typeface="Calibri"/>
                        </a:rPr>
                        <a:t>Duplicate check passes on every load</a:t>
                      </a:r>
                    </a:p>
                  </a:txBody>
                  <a:tcPr marL="64008" marR="64008" marT="27432" marB="27432" anchor="ctr">
                    <a:solidFill>
                      <a:srgbClr val="FFFFFF"/>
                    </a:solidFill>
                  </a:tcPr>
                </a:tc>
                <a:tc>
                  <a:txBody>
                    <a:bodyPr/>
                    <a:lstStyle/>
                    <a:p>
                      <a:pPr algn="l"/>
                      <a:r>
                        <a:rPr sz="1050" b="0" i="0">
                          <a:solidFill>
                            <a:srgbClr val="57626B"/>
                          </a:solidFill>
                          <a:latin typeface="Calibri"/>
                        </a:rPr>
                        <a:t>Architect</a:t>
                      </a:r>
                    </a:p>
                  </a:txBody>
                  <a:tcPr marL="64008" marR="64008" marT="27432" marB="27432" anchor="ctr">
                    <a:solidFill>
                      <a:srgbClr val="FFFFFF"/>
                    </a:solidFill>
                  </a:tcPr>
                </a:tc>
                <a:extLst>
                  <a:ext uri="{0D108BD9-81ED-4DB2-BD59-A6C34878D82A}">
                    <a16:rowId xmlns:a16="http://schemas.microsoft.com/office/drawing/2014/main" val="10001"/>
                  </a:ext>
                </a:extLst>
              </a:tr>
              <a:tr h="310896">
                <a:tc>
                  <a:txBody>
                    <a:bodyPr/>
                    <a:lstStyle/>
                    <a:p>
                      <a:pPr algn="l"/>
                      <a:r>
                        <a:rPr sz="1050" b="1" i="0">
                          <a:solidFill>
                            <a:srgbClr val="1A2130"/>
                          </a:solidFill>
                          <a:latin typeface="Calibri"/>
                        </a:rPr>
                        <a:t>Reconciles to source and GL</a:t>
                      </a:r>
                    </a:p>
                  </a:txBody>
                  <a:tcPr marL="64008" marR="64008" marT="27432" marB="27432" anchor="ctr">
                    <a:solidFill>
                      <a:srgbClr val="F4F6F2"/>
                    </a:solidFill>
                  </a:tcPr>
                </a:tc>
                <a:tc>
                  <a:txBody>
                    <a:bodyPr/>
                    <a:lstStyle/>
                    <a:p>
                      <a:pPr algn="l"/>
                      <a:r>
                        <a:rPr sz="1050" b="0" i="0">
                          <a:solidFill>
                            <a:srgbClr val="57626B"/>
                          </a:solidFill>
                          <a:latin typeface="Calibri"/>
                        </a:rPr>
                        <a:t>Balances within agreed tolerance for two consecutive cycles</a:t>
                      </a:r>
                    </a:p>
                  </a:txBody>
                  <a:tcPr marL="64008" marR="64008" marT="27432" marB="27432" anchor="ctr">
                    <a:solidFill>
                      <a:srgbClr val="F4F6F2"/>
                    </a:solidFill>
                  </a:tcPr>
                </a:tc>
                <a:tc>
                  <a:txBody>
                    <a:bodyPr/>
                    <a:lstStyle/>
                    <a:p>
                      <a:pPr algn="l"/>
                      <a:r>
                        <a:rPr sz="1050" b="0" i="0">
                          <a:solidFill>
                            <a:srgbClr val="57626B"/>
                          </a:solidFill>
                          <a:latin typeface="Calibri"/>
                        </a:rPr>
                        <a:t>Finance / controllership</a:t>
                      </a:r>
                    </a:p>
                  </a:txBody>
                  <a:tcPr marL="64008" marR="64008" marT="27432" marB="27432" anchor="ctr">
                    <a:solidFill>
                      <a:srgbClr val="F4F6F2"/>
                    </a:solidFill>
                  </a:tcPr>
                </a:tc>
                <a:extLst>
                  <a:ext uri="{0D108BD9-81ED-4DB2-BD59-A6C34878D82A}">
                    <a16:rowId xmlns:a16="http://schemas.microsoft.com/office/drawing/2014/main" val="10002"/>
                  </a:ext>
                </a:extLst>
              </a:tr>
              <a:tr h="310896">
                <a:tc>
                  <a:txBody>
                    <a:bodyPr/>
                    <a:lstStyle/>
                    <a:p>
                      <a:pPr algn="l"/>
                      <a:r>
                        <a:rPr sz="1050" b="1" i="0">
                          <a:solidFill>
                            <a:srgbClr val="1A2130"/>
                          </a:solidFill>
                          <a:latin typeface="Calibri"/>
                        </a:rPr>
                        <a:t>Data quality at threshold</a:t>
                      </a:r>
                    </a:p>
                  </a:txBody>
                  <a:tcPr marL="64008" marR="64008" marT="27432" marB="27432" anchor="ctr">
                    <a:solidFill>
                      <a:srgbClr val="FFFFFF"/>
                    </a:solidFill>
                  </a:tcPr>
                </a:tc>
                <a:tc>
                  <a:txBody>
                    <a:bodyPr/>
                    <a:lstStyle/>
                    <a:p>
                      <a:pPr algn="l"/>
                      <a:r>
                        <a:rPr sz="1050" b="0" i="0">
                          <a:solidFill>
                            <a:srgbClr val="57626B"/>
                          </a:solidFill>
                          <a:latin typeface="Calibri"/>
                        </a:rPr>
                        <a:t>Critical rules pass; quality scores above target</a:t>
                      </a:r>
                    </a:p>
                  </a:txBody>
                  <a:tcPr marL="64008" marR="64008" marT="27432" marB="27432" anchor="ctr">
                    <a:solidFill>
                      <a:srgbClr val="FFFFFF"/>
                    </a:solidFill>
                  </a:tcPr>
                </a:tc>
                <a:tc>
                  <a:txBody>
                    <a:bodyPr/>
                    <a:lstStyle/>
                    <a:p>
                      <a:pPr algn="l"/>
                      <a:r>
                        <a:rPr sz="1050" b="0" i="0">
                          <a:solidFill>
                            <a:srgbClr val="57626B"/>
                          </a:solidFill>
                          <a:latin typeface="Calibri"/>
                        </a:rPr>
                        <a:t>Data quality lead</a:t>
                      </a:r>
                    </a:p>
                  </a:txBody>
                  <a:tcPr marL="64008" marR="64008" marT="27432" marB="27432" anchor="ctr">
                    <a:solidFill>
                      <a:srgbClr val="FFFFFF"/>
                    </a:solidFill>
                  </a:tcPr>
                </a:tc>
                <a:extLst>
                  <a:ext uri="{0D108BD9-81ED-4DB2-BD59-A6C34878D82A}">
                    <a16:rowId xmlns:a16="http://schemas.microsoft.com/office/drawing/2014/main" val="10003"/>
                  </a:ext>
                </a:extLst>
              </a:tr>
              <a:tr h="310896">
                <a:tc>
                  <a:txBody>
                    <a:bodyPr/>
                    <a:lstStyle/>
                    <a:p>
                      <a:pPr algn="l"/>
                      <a:r>
                        <a:rPr sz="1050" b="1" i="0">
                          <a:solidFill>
                            <a:srgbClr val="1A2130"/>
                          </a:solidFill>
                          <a:latin typeface="Calibri"/>
                        </a:rPr>
                        <a:t>Definitions approved</a:t>
                      </a:r>
                    </a:p>
                  </a:txBody>
                  <a:tcPr marL="64008" marR="64008" marT="27432" marB="27432" anchor="ctr">
                    <a:solidFill>
                      <a:srgbClr val="F4F6F2"/>
                    </a:solidFill>
                  </a:tcPr>
                </a:tc>
                <a:tc>
                  <a:txBody>
                    <a:bodyPr/>
                    <a:lstStyle/>
                    <a:p>
                      <a:pPr algn="l"/>
                      <a:r>
                        <a:rPr sz="1050" b="0" i="0">
                          <a:solidFill>
                            <a:srgbClr val="57626B"/>
                          </a:solidFill>
                          <a:latin typeface="Calibri"/>
                        </a:rPr>
                        <a:t>Every measure and attribute defined in the dictionary</a:t>
                      </a:r>
                    </a:p>
                  </a:txBody>
                  <a:tcPr marL="64008" marR="64008" marT="27432" marB="27432" anchor="ctr">
                    <a:solidFill>
                      <a:srgbClr val="F4F6F2"/>
                    </a:solidFill>
                  </a:tcPr>
                </a:tc>
                <a:tc>
                  <a:txBody>
                    <a:bodyPr/>
                    <a:lstStyle/>
                    <a:p>
                      <a:pPr algn="l"/>
                      <a:r>
                        <a:rPr sz="1050" b="0" i="0">
                          <a:solidFill>
                            <a:srgbClr val="57626B"/>
                          </a:solidFill>
                          <a:latin typeface="Calibri"/>
                        </a:rPr>
                        <a:t>Data owner / steward</a:t>
                      </a:r>
                    </a:p>
                  </a:txBody>
                  <a:tcPr marL="64008" marR="64008" marT="27432" marB="27432" anchor="ctr">
                    <a:solidFill>
                      <a:srgbClr val="F4F6F2"/>
                    </a:solidFill>
                  </a:tcPr>
                </a:tc>
                <a:extLst>
                  <a:ext uri="{0D108BD9-81ED-4DB2-BD59-A6C34878D82A}">
                    <a16:rowId xmlns:a16="http://schemas.microsoft.com/office/drawing/2014/main" val="10004"/>
                  </a:ext>
                </a:extLst>
              </a:tr>
              <a:tr h="310896">
                <a:tc>
                  <a:txBody>
                    <a:bodyPr/>
                    <a:lstStyle/>
                    <a:p>
                      <a:pPr algn="l"/>
                      <a:r>
                        <a:rPr sz="1050" b="1" i="0">
                          <a:solidFill>
                            <a:srgbClr val="1A2130"/>
                          </a:solidFill>
                          <a:latin typeface="Calibri"/>
                        </a:rPr>
                        <a:t>Lineage registered</a:t>
                      </a:r>
                    </a:p>
                  </a:txBody>
                  <a:tcPr marL="64008" marR="64008" marT="27432" marB="27432" anchor="ctr">
                    <a:solidFill>
                      <a:srgbClr val="FFFFFF"/>
                    </a:solidFill>
                  </a:tcPr>
                </a:tc>
                <a:tc>
                  <a:txBody>
                    <a:bodyPr/>
                    <a:lstStyle/>
                    <a:p>
                      <a:pPr algn="l"/>
                      <a:r>
                        <a:rPr sz="1050" b="0" i="0">
                          <a:solidFill>
                            <a:srgbClr val="57626B"/>
                          </a:solidFill>
                          <a:latin typeface="Calibri"/>
                        </a:rPr>
                        <a:t>Source-to-report lineage recorded in the catalog</a:t>
                      </a:r>
                    </a:p>
                  </a:txBody>
                  <a:tcPr marL="64008" marR="64008" marT="27432" marB="27432" anchor="ctr">
                    <a:solidFill>
                      <a:srgbClr val="FFFFFF"/>
                    </a:solidFill>
                  </a:tcPr>
                </a:tc>
                <a:tc>
                  <a:txBody>
                    <a:bodyPr/>
                    <a:lstStyle/>
                    <a:p>
                      <a:pPr algn="l"/>
                      <a:r>
                        <a:rPr sz="1050" b="0" i="0">
                          <a:solidFill>
                            <a:srgbClr val="57626B"/>
                          </a:solidFill>
                          <a:latin typeface="Calibri"/>
                        </a:rPr>
                        <a:t>Data management</a:t>
                      </a:r>
                    </a:p>
                  </a:txBody>
                  <a:tcPr marL="64008" marR="64008" marT="27432" marB="27432" anchor="ctr">
                    <a:solidFill>
                      <a:srgbClr val="FFFFFF"/>
                    </a:solidFill>
                  </a:tcPr>
                </a:tc>
                <a:extLst>
                  <a:ext uri="{0D108BD9-81ED-4DB2-BD59-A6C34878D82A}">
                    <a16:rowId xmlns:a16="http://schemas.microsoft.com/office/drawing/2014/main" val="10005"/>
                  </a:ext>
                </a:extLst>
              </a:tr>
              <a:tr h="310896">
                <a:tc>
                  <a:txBody>
                    <a:bodyPr/>
                    <a:lstStyle/>
                    <a:p>
                      <a:pPr algn="l"/>
                      <a:r>
                        <a:rPr sz="1050" b="1" i="0">
                          <a:solidFill>
                            <a:srgbClr val="1A2130"/>
                          </a:solidFill>
                          <a:latin typeface="Calibri"/>
                        </a:rPr>
                        <a:t>Access and classification applied</a:t>
                      </a:r>
                    </a:p>
                  </a:txBody>
                  <a:tcPr marL="64008" marR="64008" marT="27432" marB="27432" anchor="ctr">
                    <a:solidFill>
                      <a:srgbClr val="F4F6F2"/>
                    </a:solidFill>
                  </a:tcPr>
                </a:tc>
                <a:tc>
                  <a:txBody>
                    <a:bodyPr/>
                    <a:lstStyle/>
                    <a:p>
                      <a:pPr algn="l"/>
                      <a:r>
                        <a:rPr sz="1050" b="0" i="0">
                          <a:solidFill>
                            <a:srgbClr val="57626B"/>
                          </a:solidFill>
                          <a:latin typeface="Calibri"/>
                        </a:rPr>
                        <a:t>PII rules and access roles enforced</a:t>
                      </a:r>
                    </a:p>
                  </a:txBody>
                  <a:tcPr marL="64008" marR="64008" marT="27432" marB="27432" anchor="ctr">
                    <a:solidFill>
                      <a:srgbClr val="F4F6F2"/>
                    </a:solidFill>
                  </a:tcPr>
                </a:tc>
                <a:tc>
                  <a:txBody>
                    <a:bodyPr/>
                    <a:lstStyle/>
                    <a:p>
                      <a:pPr algn="l"/>
                      <a:r>
                        <a:rPr sz="1050" b="0" i="0">
                          <a:solidFill>
                            <a:srgbClr val="57626B"/>
                          </a:solidFill>
                          <a:latin typeface="Calibri"/>
                        </a:rPr>
                        <a:t>Security / privacy</a:t>
                      </a:r>
                    </a:p>
                  </a:txBody>
                  <a:tcPr marL="64008" marR="64008" marT="27432" marB="27432" anchor="ctr">
                    <a:solidFill>
                      <a:srgbClr val="F4F6F2"/>
                    </a:solidFill>
                  </a:tcPr>
                </a:tc>
                <a:extLst>
                  <a:ext uri="{0D108BD9-81ED-4DB2-BD59-A6C34878D82A}">
                    <a16:rowId xmlns:a16="http://schemas.microsoft.com/office/drawing/2014/main" val="10006"/>
                  </a:ext>
                </a:extLst>
              </a:tr>
              <a:tr h="310896">
                <a:tc>
                  <a:txBody>
                    <a:bodyPr/>
                    <a:lstStyle/>
                    <a:p>
                      <a:pPr algn="l"/>
                      <a:r>
                        <a:rPr sz="1050" b="1" i="0">
                          <a:solidFill>
                            <a:srgbClr val="1A2130"/>
                          </a:solidFill>
                          <a:latin typeface="Calibri"/>
                        </a:rPr>
                        <a:t>Fit for the named use</a:t>
                      </a:r>
                    </a:p>
                  </a:txBody>
                  <a:tcPr marL="64008" marR="64008" marT="27432" marB="27432" anchor="ctr">
                    <a:solidFill>
                      <a:srgbClr val="FFFFFF"/>
                    </a:solidFill>
                  </a:tcPr>
                </a:tc>
                <a:tc>
                  <a:txBody>
                    <a:bodyPr/>
                    <a:lstStyle/>
                    <a:p>
                      <a:pPr algn="l"/>
                      <a:r>
                        <a:rPr sz="1050" b="0" i="0">
                          <a:solidFill>
                            <a:srgbClr val="57626B"/>
                          </a:solidFill>
                          <a:latin typeface="Calibri"/>
                        </a:rPr>
                        <a:t>UAT signed for the use case, e.g., RC-N reporting</a:t>
                      </a:r>
                    </a:p>
                  </a:txBody>
                  <a:tcPr marL="64008" marR="64008" marT="27432" marB="27432" anchor="ctr">
                    <a:solidFill>
                      <a:srgbClr val="FFFFFF"/>
                    </a:solidFill>
                  </a:tcPr>
                </a:tc>
                <a:tc>
                  <a:txBody>
                    <a:bodyPr/>
                    <a:lstStyle/>
                    <a:p>
                      <a:pPr algn="l"/>
                      <a:r>
                        <a:rPr sz="1050" b="0" i="0">
                          <a:solidFill>
                            <a:srgbClr val="57626B"/>
                          </a:solidFill>
                          <a:latin typeface="Calibri"/>
                        </a:rPr>
                        <a:t>Business sponsor</a:t>
                      </a:r>
                    </a:p>
                  </a:txBody>
                  <a:tcPr marL="64008" marR="64008" marT="27432" marB="27432" anchor="ctr">
                    <a:solidFill>
                      <a:srgbClr val="FFFFFF"/>
                    </a:solidFill>
                  </a:tcPr>
                </a:tc>
                <a:extLst>
                  <a:ext uri="{0D108BD9-81ED-4DB2-BD59-A6C34878D82A}">
                    <a16:rowId xmlns:a16="http://schemas.microsoft.com/office/drawing/2014/main" val="10007"/>
                  </a:ext>
                </a:extLst>
              </a:tr>
              <a:tr h="310896">
                <a:tc>
                  <a:txBody>
                    <a:bodyPr/>
                    <a:lstStyle/>
                    <a:p>
                      <a:pPr algn="l"/>
                      <a:r>
                        <a:rPr sz="1050" b="1" i="0">
                          <a:solidFill>
                            <a:srgbClr val="1A2130"/>
                          </a:solidFill>
                          <a:latin typeface="Calibri"/>
                        </a:rPr>
                        <a:t>Operable</a:t>
                      </a:r>
                    </a:p>
                  </a:txBody>
                  <a:tcPr marL="64008" marR="64008" marT="27432" marB="27432" anchor="ctr">
                    <a:solidFill>
                      <a:srgbClr val="F4F6F2"/>
                    </a:solidFill>
                  </a:tcPr>
                </a:tc>
                <a:tc>
                  <a:txBody>
                    <a:bodyPr/>
                    <a:lstStyle/>
                    <a:p>
                      <a:pPr algn="l"/>
                      <a:r>
                        <a:rPr sz="1050" b="0" i="0">
                          <a:solidFill>
                            <a:srgbClr val="57626B"/>
                          </a:solidFill>
                          <a:latin typeface="Calibri"/>
                        </a:rPr>
                        <a:t>Monitoring, runbook and SLA in place</a:t>
                      </a:r>
                    </a:p>
                  </a:txBody>
                  <a:tcPr marL="64008" marR="64008" marT="27432" marB="27432" anchor="ctr">
                    <a:solidFill>
                      <a:srgbClr val="F4F6F2"/>
                    </a:solidFill>
                  </a:tcPr>
                </a:tc>
                <a:tc>
                  <a:txBody>
                    <a:bodyPr/>
                    <a:lstStyle/>
                    <a:p>
                      <a:pPr algn="l"/>
                      <a:r>
                        <a:rPr sz="1050" b="0" i="0">
                          <a:solidFill>
                            <a:srgbClr val="57626B"/>
                          </a:solidFill>
                          <a:latin typeface="Calibri"/>
                        </a:rPr>
                        <a:t>Production support</a:t>
                      </a:r>
                    </a:p>
                  </a:txBody>
                  <a:tcPr marL="64008" marR="64008" marT="27432" marB="27432" anchor="ctr">
                    <a:solidFill>
                      <a:srgbClr val="F4F6F2"/>
                    </a:solidFill>
                  </a:tcPr>
                </a:tc>
                <a:extLst>
                  <a:ext uri="{0D108BD9-81ED-4DB2-BD59-A6C34878D82A}">
                    <a16:rowId xmlns:a16="http://schemas.microsoft.com/office/drawing/2014/main" val="10008"/>
                  </a:ext>
                </a:extLst>
              </a:tr>
            </a:tbl>
          </a:graphicData>
        </a:graphic>
      </p:graphicFrame>
      <p:sp>
        <p:nvSpPr>
          <p:cNvPr id="21" name="Rounded Rectangle 20"/>
          <p:cNvSpPr/>
          <p:nvPr/>
        </p:nvSpPr>
        <p:spPr>
          <a:xfrm>
            <a:off x="457200" y="5669280"/>
            <a:ext cx="11274552" cy="6400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A2130"/>
                </a:solidFill>
                <a:latin typeface="Calibri"/>
              </a:rPr>
              <a:t>Fit for purpose means fit for a named use: </a:t>
            </a:r>
            <a:r>
              <a:rPr sz="1050" b="0" i="0">
                <a:solidFill>
                  <a:srgbClr val="57626B"/>
                </a:solidFill>
                <a:latin typeface="Calibri"/>
              </a:rPr>
              <a:t>an object certified for management reporting is not automatically certified for a regulatory filing. Each use is signed off separately.</a:t>
            </a:r>
          </a:p>
        </p:txBody>
      </p:sp>
      <p:sp>
        <p:nvSpPr>
          <p:cNvPr id="22" name="TextBox 2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11</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Growing the model without breaking what is certified</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Each slice adds to the model. Certified objects change only through controlled, tested releases.</a:t>
            </a:r>
          </a:p>
        </p:txBody>
      </p:sp>
      <p:sp>
        <p:nvSpPr>
          <p:cNvPr id="5" name="Rounded Rectangle 4"/>
          <p:cNvSpPr/>
          <p:nvPr/>
        </p:nvSpPr>
        <p:spPr>
          <a:xfrm>
            <a:off x="457200" y="1371600"/>
            <a:ext cx="3605784"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Reuse, don’t copy</a:t>
            </a:r>
          </a:p>
          <a:p>
            <a:pPr algn="l"/>
            <a:r>
              <a:rPr sz="1100" b="0" i="0">
                <a:solidFill>
                  <a:srgbClr val="57626B"/>
                </a:solidFill>
                <a:latin typeface="Calibri"/>
              </a:rPr>
              <a:t>Later slices join to existing conformed dimensions. The bus matrix shows what already exists.</a:t>
            </a:r>
          </a:p>
        </p:txBody>
      </p:sp>
      <p:sp>
        <p:nvSpPr>
          <p:cNvPr id="6" name="Rounded Rectangle 5"/>
          <p:cNvSpPr/>
          <p:nvPr/>
        </p:nvSpPr>
        <p:spPr>
          <a:xfrm>
            <a:off x="4291584" y="1371600"/>
            <a:ext cx="3605784"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Additive changes first</a:t>
            </a:r>
          </a:p>
          <a:p>
            <a:pPr algn="l"/>
            <a:r>
              <a:rPr sz="1100" b="0" i="0">
                <a:solidFill>
                  <a:srgbClr val="57626B"/>
                </a:solidFill>
                <a:latin typeface="Calibri"/>
              </a:rPr>
              <a:t>Add columns, rows and tables. Avoid renaming a certified field or changing what it means.</a:t>
            </a:r>
          </a:p>
        </p:txBody>
      </p:sp>
      <p:sp>
        <p:nvSpPr>
          <p:cNvPr id="7" name="Rounded Rectangle 6"/>
          <p:cNvSpPr/>
          <p:nvPr/>
        </p:nvSpPr>
        <p:spPr>
          <a:xfrm>
            <a:off x="8125968" y="1371600"/>
            <a:ext cx="3605784"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Unknown members fill gaps</a:t>
            </a:r>
          </a:p>
          <a:p>
            <a:pPr algn="l"/>
            <a:r>
              <a:rPr sz="1100" b="0" i="0">
                <a:solidFill>
                  <a:srgbClr val="57626B"/>
                </a:solidFill>
                <a:latin typeface="Calibri"/>
              </a:rPr>
              <a:t>The POC sets customer and geography keys to -1 until Wave 4 adds those dimensions; history is then backfilled.</a:t>
            </a:r>
          </a:p>
        </p:txBody>
      </p:sp>
      <p:sp>
        <p:nvSpPr>
          <p:cNvPr id="8" name="Rounded Rectangle 7"/>
          <p:cNvSpPr/>
          <p:nvPr/>
        </p:nvSpPr>
        <p:spPr>
          <a:xfrm>
            <a:off x="457200" y="2880360"/>
            <a:ext cx="3605784"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Version the Gold contract</a:t>
            </a:r>
          </a:p>
          <a:p>
            <a:pPr algn="l"/>
            <a:r>
              <a:rPr sz="1100" b="0" i="0">
                <a:solidFill>
                  <a:srgbClr val="57626B"/>
                </a:solidFill>
                <a:latin typeface="Calibri"/>
              </a:rPr>
              <a:t>A breaking change gets a new version and a migration window for consumers.</a:t>
            </a:r>
          </a:p>
        </p:txBody>
      </p:sp>
      <p:sp>
        <p:nvSpPr>
          <p:cNvPr id="9" name="Rounded Rectangle 8"/>
          <p:cNvSpPr/>
          <p:nvPr/>
        </p:nvSpPr>
        <p:spPr>
          <a:xfrm>
            <a:off x="4291584" y="2880360"/>
            <a:ext cx="3605784"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Regression-test certified objects</a:t>
            </a:r>
          </a:p>
          <a:p>
            <a:pPr algn="l"/>
            <a:r>
              <a:rPr sz="1100" b="0" i="0">
                <a:solidFill>
                  <a:srgbClr val="57626B"/>
                </a:solidFill>
                <a:latin typeface="Calibri"/>
              </a:rPr>
              <a:t>Every release re-runs the tests of everything already certified.</a:t>
            </a:r>
          </a:p>
        </p:txBody>
      </p:sp>
      <p:sp>
        <p:nvSpPr>
          <p:cNvPr id="10" name="Rounded Rectangle 9"/>
          <p:cNvSpPr/>
          <p:nvPr/>
        </p:nvSpPr>
        <p:spPr>
          <a:xfrm>
            <a:off x="8125968" y="2880360"/>
            <a:ext cx="3605784"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Recertify on material change</a:t>
            </a:r>
          </a:p>
          <a:p>
            <a:pPr algn="l"/>
            <a:r>
              <a:rPr sz="1100" b="0" i="0">
                <a:solidFill>
                  <a:srgbClr val="57626B"/>
                </a:solidFill>
                <a:latin typeface="Calibri"/>
              </a:rPr>
              <a:t>If a certified object’s logic changes, it goes back to In Test for that change.</a:t>
            </a:r>
          </a:p>
        </p:txBody>
      </p:sp>
      <p:sp>
        <p:nvSpPr>
          <p:cNvPr id="11" name="Rounded Rectangle 10"/>
          <p:cNvSpPr/>
          <p:nvPr/>
        </p:nvSpPr>
        <p:spPr>
          <a:xfrm>
            <a:off x="457200" y="4572000"/>
            <a:ext cx="11274552" cy="822960"/>
          </a:xfrm>
          <a:prstGeom prst="roundRect">
            <a:avLst>
              <a:gd name="adj" fmla="val 10000"/>
            </a:avLst>
          </a:prstGeom>
          <a:solidFill>
            <a:srgbClr val="F6EFDA"/>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The documentation grows too: </a:t>
            </a:r>
            <a:r>
              <a:rPr sz="1150" b="0" i="0">
                <a:solidFill>
                  <a:srgbClr val="57626B"/>
                </a:solidFill>
                <a:latin typeface="Calibri"/>
              </a:rPr>
              <a:t>each release regenerates the deck, dictionary and lineage from the same metadata, so the design record never falls behind what is in production.</a:t>
            </a:r>
          </a:p>
        </p:txBody>
      </p:sp>
      <p:sp>
        <p:nvSpPr>
          <p:cNvPr id="12" name="TextBox 1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12</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One repository, three environments</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Everything needed to rebuild a slice lives in version control. Releases move from dev to test to production.</a:t>
            </a:r>
          </a:p>
        </p:txBody>
      </p:sp>
      <p:sp>
        <p:nvSpPr>
          <p:cNvPr id="5" name="TextBox 4"/>
          <p:cNvSpPr txBox="1"/>
          <p:nvPr/>
        </p:nvSpPr>
        <p:spPr>
          <a:xfrm>
            <a:off x="457200" y="1325880"/>
            <a:ext cx="5486400" cy="274320"/>
          </a:xfrm>
          <a:prstGeom prst="rect">
            <a:avLst/>
          </a:prstGeom>
          <a:noFill/>
        </p:spPr>
        <p:txBody>
          <a:bodyPr wrap="square" lIns="0" tIns="0" rIns="0" bIns="0" anchor="t">
            <a:spAutoFit/>
          </a:bodyPr>
          <a:lstStyle/>
          <a:p>
            <a:pPr algn="l"/>
            <a:r>
              <a:rPr sz="1050" b="1" i="0">
                <a:solidFill>
                  <a:srgbClr val="1A2130"/>
                </a:solidFill>
                <a:latin typeface="Courier New"/>
              </a:rPr>
              <a:t>WHAT THE REPOSITORY HOLDS</a:t>
            </a:r>
          </a:p>
        </p:txBody>
      </p:sp>
      <p:sp>
        <p:nvSpPr>
          <p:cNvPr id="6" name="Rectangle 5"/>
          <p:cNvSpPr/>
          <p:nvPr/>
        </p:nvSpPr>
        <p:spPr>
          <a:xfrm>
            <a:off x="457200" y="1691640"/>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metadata/</a:t>
            </a:r>
          </a:p>
        </p:txBody>
      </p:sp>
      <p:sp>
        <p:nvSpPr>
          <p:cNvPr id="7" name="TextBox 6"/>
          <p:cNvSpPr txBox="1"/>
          <p:nvPr/>
        </p:nvSpPr>
        <p:spPr>
          <a:xfrm>
            <a:off x="2057400" y="1691640"/>
            <a:ext cx="3657600" cy="384048"/>
          </a:xfrm>
          <a:prstGeom prst="rect">
            <a:avLst/>
          </a:prstGeom>
          <a:noFill/>
        </p:spPr>
        <p:txBody>
          <a:bodyPr wrap="square" lIns="0" tIns="0" rIns="0" bIns="0" anchor="ctr">
            <a:spAutoFit/>
          </a:bodyPr>
          <a:lstStyle/>
          <a:p>
            <a:pPr algn="l"/>
            <a:r>
              <a:rPr sz="1100" b="0" i="0">
                <a:solidFill>
                  <a:srgbClr val="57626B"/>
                </a:solidFill>
                <a:latin typeface="Calibri"/>
              </a:rPr>
              <a:t>sources, tables, columns, relationships, lineage</a:t>
            </a:r>
          </a:p>
        </p:txBody>
      </p:sp>
      <p:sp>
        <p:nvSpPr>
          <p:cNvPr id="8" name="Rectangle 7"/>
          <p:cNvSpPr/>
          <p:nvPr/>
        </p:nvSpPr>
        <p:spPr>
          <a:xfrm>
            <a:off x="457200" y="2148840"/>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ddl/</a:t>
            </a:r>
          </a:p>
        </p:txBody>
      </p:sp>
      <p:sp>
        <p:nvSpPr>
          <p:cNvPr id="9" name="TextBox 8"/>
          <p:cNvSpPr txBox="1"/>
          <p:nvPr/>
        </p:nvSpPr>
        <p:spPr>
          <a:xfrm>
            <a:off x="2057400" y="2148840"/>
            <a:ext cx="3657600" cy="384048"/>
          </a:xfrm>
          <a:prstGeom prst="rect">
            <a:avLst/>
          </a:prstGeom>
          <a:noFill/>
        </p:spPr>
        <p:txBody>
          <a:bodyPr wrap="square" lIns="0" tIns="0" rIns="0" bIns="0" anchor="ctr">
            <a:spAutoFit/>
          </a:bodyPr>
          <a:lstStyle/>
          <a:p>
            <a:pPr algn="l"/>
            <a:r>
              <a:rPr sz="1100" b="0" i="0">
                <a:solidFill>
                  <a:srgbClr val="57626B"/>
                </a:solidFill>
                <a:latin typeface="Calibri"/>
              </a:rPr>
              <a:t>table definitions and schema migrations</a:t>
            </a:r>
          </a:p>
        </p:txBody>
      </p:sp>
      <p:sp>
        <p:nvSpPr>
          <p:cNvPr id="10" name="Rectangle 9"/>
          <p:cNvSpPr/>
          <p:nvPr/>
        </p:nvSpPr>
        <p:spPr>
          <a:xfrm>
            <a:off x="457200" y="2606040"/>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pipelines/</a:t>
            </a:r>
          </a:p>
        </p:txBody>
      </p:sp>
      <p:sp>
        <p:nvSpPr>
          <p:cNvPr id="11" name="TextBox 10"/>
          <p:cNvSpPr txBox="1"/>
          <p:nvPr/>
        </p:nvSpPr>
        <p:spPr>
          <a:xfrm>
            <a:off x="2057400" y="2606040"/>
            <a:ext cx="3657600" cy="384048"/>
          </a:xfrm>
          <a:prstGeom prst="rect">
            <a:avLst/>
          </a:prstGeom>
          <a:noFill/>
        </p:spPr>
        <p:txBody>
          <a:bodyPr wrap="square" lIns="0" tIns="0" rIns="0" bIns="0" anchor="ctr">
            <a:spAutoFit/>
          </a:bodyPr>
          <a:lstStyle/>
          <a:p>
            <a:pPr algn="l"/>
            <a:r>
              <a:rPr sz="1100" b="0" i="0">
                <a:solidFill>
                  <a:srgbClr val="57626B"/>
                </a:solidFill>
                <a:latin typeface="Calibri"/>
              </a:rPr>
              <a:t>Bronze, Silver and Gold load code</a:t>
            </a:r>
          </a:p>
        </p:txBody>
      </p:sp>
      <p:sp>
        <p:nvSpPr>
          <p:cNvPr id="12" name="Rectangle 11"/>
          <p:cNvSpPr/>
          <p:nvPr/>
        </p:nvSpPr>
        <p:spPr>
          <a:xfrm>
            <a:off x="457200" y="3063240"/>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dq_rules/</a:t>
            </a:r>
          </a:p>
        </p:txBody>
      </p:sp>
      <p:sp>
        <p:nvSpPr>
          <p:cNvPr id="13" name="TextBox 12"/>
          <p:cNvSpPr txBox="1"/>
          <p:nvPr/>
        </p:nvSpPr>
        <p:spPr>
          <a:xfrm>
            <a:off x="2057400" y="3063240"/>
            <a:ext cx="3657600" cy="384048"/>
          </a:xfrm>
          <a:prstGeom prst="rect">
            <a:avLst/>
          </a:prstGeom>
          <a:noFill/>
        </p:spPr>
        <p:txBody>
          <a:bodyPr wrap="square" lIns="0" tIns="0" rIns="0" bIns="0" anchor="ctr">
            <a:spAutoFit/>
          </a:bodyPr>
          <a:lstStyle/>
          <a:p>
            <a:pPr algn="l"/>
            <a:r>
              <a:rPr sz="1100" b="0" i="0">
                <a:solidFill>
                  <a:srgbClr val="57626B"/>
                </a:solidFill>
                <a:latin typeface="Calibri"/>
              </a:rPr>
              <a:t>data quality rules as code</a:t>
            </a:r>
          </a:p>
        </p:txBody>
      </p:sp>
      <p:sp>
        <p:nvSpPr>
          <p:cNvPr id="14" name="Rectangle 13"/>
          <p:cNvSpPr/>
          <p:nvPr/>
        </p:nvSpPr>
        <p:spPr>
          <a:xfrm>
            <a:off x="457200" y="3520440"/>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tests/</a:t>
            </a:r>
          </a:p>
        </p:txBody>
      </p:sp>
      <p:sp>
        <p:nvSpPr>
          <p:cNvPr id="15" name="TextBox 14"/>
          <p:cNvSpPr txBox="1"/>
          <p:nvPr/>
        </p:nvSpPr>
        <p:spPr>
          <a:xfrm>
            <a:off x="2057400" y="3520440"/>
            <a:ext cx="3657600" cy="384048"/>
          </a:xfrm>
          <a:prstGeom prst="rect">
            <a:avLst/>
          </a:prstGeom>
          <a:noFill/>
        </p:spPr>
        <p:txBody>
          <a:bodyPr wrap="square" lIns="0" tIns="0" rIns="0" bIns="0" anchor="ctr">
            <a:spAutoFit/>
          </a:bodyPr>
          <a:lstStyle/>
          <a:p>
            <a:pPr algn="l"/>
            <a:r>
              <a:rPr sz="1100" b="0" i="0">
                <a:solidFill>
                  <a:srgbClr val="57626B"/>
                </a:solidFill>
                <a:latin typeface="Calibri"/>
              </a:rPr>
              <a:t>unit, reconciliation and regression tests</a:t>
            </a:r>
          </a:p>
        </p:txBody>
      </p:sp>
      <p:sp>
        <p:nvSpPr>
          <p:cNvPr id="16" name="Rectangle 15"/>
          <p:cNvSpPr/>
          <p:nvPr/>
        </p:nvSpPr>
        <p:spPr>
          <a:xfrm>
            <a:off x="457200" y="3977639"/>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docs/</a:t>
            </a:r>
          </a:p>
        </p:txBody>
      </p:sp>
      <p:sp>
        <p:nvSpPr>
          <p:cNvPr id="17" name="TextBox 16"/>
          <p:cNvSpPr txBox="1"/>
          <p:nvPr/>
        </p:nvSpPr>
        <p:spPr>
          <a:xfrm>
            <a:off x="2057400" y="3977639"/>
            <a:ext cx="3657600" cy="384048"/>
          </a:xfrm>
          <a:prstGeom prst="rect">
            <a:avLst/>
          </a:prstGeom>
          <a:noFill/>
        </p:spPr>
        <p:txBody>
          <a:bodyPr wrap="square" lIns="0" tIns="0" rIns="0" bIns="0" anchor="ctr">
            <a:spAutoFit/>
          </a:bodyPr>
          <a:lstStyle/>
          <a:p>
            <a:pPr algn="l"/>
            <a:r>
              <a:rPr sz="1100" b="0" i="0">
                <a:solidFill>
                  <a:srgbClr val="57626B"/>
                </a:solidFill>
                <a:latin typeface="Calibri"/>
              </a:rPr>
              <a:t>deck and dictionary generator</a:t>
            </a:r>
          </a:p>
        </p:txBody>
      </p:sp>
      <p:sp>
        <p:nvSpPr>
          <p:cNvPr id="18" name="Rectangle 17"/>
          <p:cNvSpPr/>
          <p:nvPr/>
        </p:nvSpPr>
        <p:spPr>
          <a:xfrm>
            <a:off x="457200" y="4434840"/>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releases/</a:t>
            </a:r>
          </a:p>
        </p:txBody>
      </p:sp>
      <p:sp>
        <p:nvSpPr>
          <p:cNvPr id="19" name="TextBox 18"/>
          <p:cNvSpPr txBox="1"/>
          <p:nvPr/>
        </p:nvSpPr>
        <p:spPr>
          <a:xfrm>
            <a:off x="2057400" y="4434840"/>
            <a:ext cx="3657600" cy="384048"/>
          </a:xfrm>
          <a:prstGeom prst="rect">
            <a:avLst/>
          </a:prstGeom>
          <a:noFill/>
        </p:spPr>
        <p:txBody>
          <a:bodyPr wrap="square" lIns="0" tIns="0" rIns="0" bIns="0" anchor="ctr">
            <a:spAutoFit/>
          </a:bodyPr>
          <a:lstStyle/>
          <a:p>
            <a:pPr algn="l"/>
            <a:r>
              <a:rPr sz="1100" b="0" i="0">
                <a:solidFill>
                  <a:srgbClr val="57626B"/>
                </a:solidFill>
                <a:latin typeface="Calibri"/>
              </a:rPr>
              <a:t>documentation for each certified release</a:t>
            </a:r>
          </a:p>
        </p:txBody>
      </p:sp>
      <p:sp>
        <p:nvSpPr>
          <p:cNvPr id="20" name="Rectangle 19"/>
          <p:cNvSpPr/>
          <p:nvPr/>
        </p:nvSpPr>
        <p:spPr>
          <a:xfrm>
            <a:off x="457200" y="4892040"/>
            <a:ext cx="1463040"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1" i="0">
                <a:solidFill>
                  <a:srgbClr val="FFFFFF"/>
                </a:solidFill>
                <a:latin typeface="Courier New"/>
              </a:rPr>
              <a:t>decisions/</a:t>
            </a:r>
          </a:p>
        </p:txBody>
      </p:sp>
      <p:sp>
        <p:nvSpPr>
          <p:cNvPr id="21" name="TextBox 20"/>
          <p:cNvSpPr txBox="1"/>
          <p:nvPr/>
        </p:nvSpPr>
        <p:spPr>
          <a:xfrm>
            <a:off x="2057400" y="4892040"/>
            <a:ext cx="3657600" cy="384048"/>
          </a:xfrm>
          <a:prstGeom prst="rect">
            <a:avLst/>
          </a:prstGeom>
          <a:noFill/>
        </p:spPr>
        <p:txBody>
          <a:bodyPr wrap="square" lIns="0" tIns="0" rIns="0" bIns="0" anchor="ctr">
            <a:spAutoFit/>
          </a:bodyPr>
          <a:lstStyle/>
          <a:p>
            <a:pPr algn="l"/>
            <a:r>
              <a:rPr sz="1100" b="0" i="0">
                <a:solidFill>
                  <a:srgbClr val="57626B"/>
                </a:solidFill>
                <a:latin typeface="Calibri"/>
              </a:rPr>
              <a:t>decision log</a:t>
            </a:r>
          </a:p>
        </p:txBody>
      </p:sp>
      <p:sp>
        <p:nvSpPr>
          <p:cNvPr id="22" name="TextBox 21"/>
          <p:cNvSpPr txBox="1"/>
          <p:nvPr/>
        </p:nvSpPr>
        <p:spPr>
          <a:xfrm>
            <a:off x="6245352" y="1325880"/>
            <a:ext cx="5486400" cy="274320"/>
          </a:xfrm>
          <a:prstGeom prst="rect">
            <a:avLst/>
          </a:prstGeom>
          <a:noFill/>
        </p:spPr>
        <p:txBody>
          <a:bodyPr wrap="square" lIns="0" tIns="0" rIns="0" bIns="0" anchor="t">
            <a:spAutoFit/>
          </a:bodyPr>
          <a:lstStyle/>
          <a:p>
            <a:pPr algn="l"/>
            <a:r>
              <a:rPr sz="1050" b="1" i="0">
                <a:solidFill>
                  <a:srgbClr val="1A2130"/>
                </a:solidFill>
                <a:latin typeface="Courier New"/>
              </a:rPr>
              <a:t>HOW RELEASES MOVE</a:t>
            </a:r>
          </a:p>
        </p:txBody>
      </p:sp>
      <p:sp>
        <p:nvSpPr>
          <p:cNvPr id="23" name="Rectangle 22"/>
          <p:cNvSpPr/>
          <p:nvPr/>
        </p:nvSpPr>
        <p:spPr>
          <a:xfrm>
            <a:off x="6245352" y="1691640"/>
            <a:ext cx="1188720" cy="777240"/>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ourier New"/>
              </a:rPr>
              <a:t>DEV</a:t>
            </a:r>
          </a:p>
        </p:txBody>
      </p:sp>
      <p:sp>
        <p:nvSpPr>
          <p:cNvPr id="24" name="Rectangle 23"/>
          <p:cNvSpPr/>
          <p:nvPr/>
        </p:nvSpPr>
        <p:spPr>
          <a:xfrm>
            <a:off x="7434072" y="1691640"/>
            <a:ext cx="4297680"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0" i="0">
                <a:solidFill>
                  <a:srgbClr val="57626B"/>
                </a:solidFill>
                <a:latin typeface="Calibri"/>
              </a:rPr>
              <a:t>Masked or synthetic data. Claude-assisted build and unit tests.</a:t>
            </a:r>
          </a:p>
        </p:txBody>
      </p:sp>
      <p:cxnSp>
        <p:nvCxnSpPr>
          <p:cNvPr id="25" name="Connector 24"/>
          <p:cNvCxnSpPr/>
          <p:nvPr/>
        </p:nvCxnSpPr>
        <p:spPr>
          <a:xfrm>
            <a:off x="6839712" y="2468880"/>
            <a:ext cx="0" cy="22860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245352" y="2697480"/>
            <a:ext cx="1188720" cy="777240"/>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ourier New"/>
              </a:rPr>
              <a:t>TEST</a:t>
            </a:r>
          </a:p>
        </p:txBody>
      </p:sp>
      <p:sp>
        <p:nvSpPr>
          <p:cNvPr id="27" name="Rectangle 26"/>
          <p:cNvSpPr/>
          <p:nvPr/>
        </p:nvSpPr>
        <p:spPr>
          <a:xfrm>
            <a:off x="7434072" y="2697480"/>
            <a:ext cx="4297680"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0" i="0">
                <a:solidFill>
                  <a:srgbClr val="57626B"/>
                </a:solidFill>
                <a:latin typeface="Calibri"/>
              </a:rPr>
              <a:t>Masked copy of production structures. QA, reconciliation and UAT.</a:t>
            </a:r>
          </a:p>
        </p:txBody>
      </p:sp>
      <p:cxnSp>
        <p:nvCxnSpPr>
          <p:cNvPr id="28" name="Connector 27"/>
          <p:cNvCxnSpPr/>
          <p:nvPr/>
        </p:nvCxnSpPr>
        <p:spPr>
          <a:xfrm>
            <a:off x="6839712" y="3474720"/>
            <a:ext cx="0" cy="228600"/>
          </a:xfrm>
          <a:prstGeom prst="line">
            <a:avLst/>
          </a:prstGeom>
          <a:ln w="22225">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245352" y="3703320"/>
            <a:ext cx="1188720" cy="777240"/>
          </a:xfrm>
          <a:prstGeom prst="rect">
            <a:avLst/>
          </a:prstGeom>
          <a:solidFill>
            <a:srgbClr val="0E7C66"/>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ourier New"/>
              </a:rPr>
              <a:t>PROD</a:t>
            </a:r>
          </a:p>
        </p:txBody>
      </p:sp>
      <p:sp>
        <p:nvSpPr>
          <p:cNvPr id="30" name="Rectangle 29"/>
          <p:cNvSpPr/>
          <p:nvPr/>
        </p:nvSpPr>
        <p:spPr>
          <a:xfrm>
            <a:off x="7434072" y="3703320"/>
            <a:ext cx="4297680" cy="77724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0" i="0">
                <a:solidFill>
                  <a:srgbClr val="57626B"/>
                </a:solidFill>
                <a:latin typeface="Calibri"/>
              </a:rPr>
              <a:t>Controlled release under change approval. Monitored.</a:t>
            </a:r>
          </a:p>
        </p:txBody>
      </p:sp>
      <p:sp>
        <p:nvSpPr>
          <p:cNvPr id="31" name="Rounded Rectangle 30"/>
          <p:cNvSpPr/>
          <p:nvPr/>
        </p:nvSpPr>
        <p:spPr>
          <a:xfrm>
            <a:off x="6245352" y="4754880"/>
            <a:ext cx="5486400" cy="594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A2130"/>
                </a:solidFill>
                <a:latin typeface="Calibri"/>
              </a:rPr>
              <a:t>Branch per slice; tag per certified release, </a:t>
            </a:r>
            <a:r>
              <a:rPr sz="1050" b="0" i="0">
                <a:solidFill>
                  <a:srgbClr val="57626B"/>
                </a:solidFill>
                <a:latin typeface="Calibri"/>
              </a:rPr>
              <a:t>e.g., slice-01-portfolio-v1.0</a:t>
            </a:r>
          </a:p>
        </p:txBody>
      </p:sp>
      <p:sp>
        <p:nvSpPr>
          <p:cNvPr id="32" name="Rounded Rectangle 31"/>
          <p:cNvSpPr/>
          <p:nvPr/>
        </p:nvSpPr>
        <p:spPr>
          <a:xfrm>
            <a:off x="457200" y="5669280"/>
            <a:ext cx="11274552" cy="594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A2130"/>
                </a:solidFill>
                <a:latin typeface="Calibri"/>
              </a:rPr>
              <a:t>Platform-neutral: </a:t>
            </a:r>
            <a:r>
              <a:rPr sz="1050" b="0" i="0">
                <a:solidFill>
                  <a:srgbClr val="57626B"/>
                </a:solidFill>
                <a:latin typeface="Calibri"/>
              </a:rPr>
              <a:t>any warehouse or lakehouse, orchestration tool and CI/CD service the client already runs. The folders stay the same.</a:t>
            </a:r>
          </a:p>
        </p:txBody>
      </p:sp>
      <p:sp>
        <p:nvSpPr>
          <p:cNvPr id="33" name="TextBox 32"/>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13</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Backing out: at every level, not just the documents</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Because everything is versioned and Bronze keeps every load, any step can be undone and restarted.</a:t>
            </a:r>
          </a:p>
        </p:txBody>
      </p:sp>
      <p:graphicFrame>
        <p:nvGraphicFramePr>
          <p:cNvPr id="5" name="Table 4"/>
          <p:cNvGraphicFramePr>
            <a:graphicFrameLocks noGrp="1"/>
          </p:cNvGraphicFramePr>
          <p:nvPr/>
        </p:nvGraphicFramePr>
        <p:xfrm>
          <a:off x="457200" y="1325880"/>
          <a:ext cx="11274552" cy="356616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2953512">
                  <a:extLst>
                    <a:ext uri="{9D8B030D-6E8A-4147-A177-3AD203B41FA5}">
                      <a16:colId xmlns:a16="http://schemas.microsoft.com/office/drawing/2014/main" val="20003"/>
                    </a:ext>
                  </a:extLst>
                </a:gridCol>
              </a:tblGrid>
              <a:tr h="365760">
                <a:tc>
                  <a:txBody>
                    <a:bodyPr/>
                    <a:lstStyle/>
                    <a:p>
                      <a:pPr algn="l"/>
                      <a:r>
                        <a:rPr sz="1050" b="1" i="0">
                          <a:solidFill>
                            <a:srgbClr val="CADCEA"/>
                          </a:solidFill>
                          <a:latin typeface="Calibri"/>
                        </a:rPr>
                        <a:t>Level</a:t>
                      </a:r>
                    </a:p>
                  </a:txBody>
                  <a:tcPr marL="64008" marR="64008" marT="27432" marB="27432" anchor="ctr">
                    <a:solidFill>
                      <a:srgbClr val="1A2130"/>
                    </a:solidFill>
                  </a:tcPr>
                </a:tc>
                <a:tc>
                  <a:txBody>
                    <a:bodyPr/>
                    <a:lstStyle/>
                    <a:p>
                      <a:pPr algn="l"/>
                      <a:r>
                        <a:rPr sz="1050" b="1" i="0">
                          <a:solidFill>
                            <a:srgbClr val="CADCEA"/>
                          </a:solidFill>
                          <a:latin typeface="Calibri"/>
                        </a:rPr>
                        <a:t>Situation</a:t>
                      </a:r>
                    </a:p>
                  </a:txBody>
                  <a:tcPr marL="64008" marR="64008" marT="27432" marB="27432" anchor="ctr">
                    <a:solidFill>
                      <a:srgbClr val="1A2130"/>
                    </a:solidFill>
                  </a:tcPr>
                </a:tc>
                <a:tc>
                  <a:txBody>
                    <a:bodyPr/>
                    <a:lstStyle/>
                    <a:p>
                      <a:pPr algn="l"/>
                      <a:r>
                        <a:rPr sz="1050" b="1" i="0">
                          <a:solidFill>
                            <a:srgbClr val="CADCEA"/>
                          </a:solidFill>
                          <a:latin typeface="Calibri"/>
                        </a:rPr>
                        <a:t>How to back out</a:t>
                      </a:r>
                    </a:p>
                  </a:txBody>
                  <a:tcPr marL="64008" marR="64008" marT="27432" marB="27432" anchor="ctr">
                    <a:solidFill>
                      <a:srgbClr val="1A2130"/>
                    </a:solidFill>
                  </a:tcPr>
                </a:tc>
                <a:tc>
                  <a:txBody>
                    <a:bodyPr/>
                    <a:lstStyle/>
                    <a:p>
                      <a:pPr algn="l"/>
                      <a:r>
                        <a:rPr sz="1050" b="1" i="0">
                          <a:solidFill>
                            <a:srgbClr val="CADCEA"/>
                          </a:solidFill>
                          <a:latin typeface="Calibri"/>
                        </a:rPr>
                        <a:t>Why it is safe</a:t>
                      </a:r>
                    </a:p>
                  </a:txBody>
                  <a:tcPr marL="64008" marR="64008" marT="27432" marB="27432" anchor="ctr">
                    <a:solidFill>
                      <a:srgbClr val="1A2130"/>
                    </a:solidFill>
                  </a:tcPr>
                </a:tc>
                <a:extLst>
                  <a:ext uri="{0D108BD9-81ED-4DB2-BD59-A6C34878D82A}">
                    <a16:rowId xmlns:a16="http://schemas.microsoft.com/office/drawing/2014/main" val="10000"/>
                  </a:ext>
                </a:extLst>
              </a:tr>
              <a:tr h="640080">
                <a:tc>
                  <a:txBody>
                    <a:bodyPr/>
                    <a:lstStyle/>
                    <a:p>
                      <a:pPr algn="l"/>
                      <a:r>
                        <a:rPr sz="1050" b="1" i="0">
                          <a:solidFill>
                            <a:srgbClr val="1A2130"/>
                          </a:solidFill>
                          <a:latin typeface="Calibri"/>
                        </a:rPr>
                        <a:t>Design</a:t>
                      </a:r>
                    </a:p>
                  </a:txBody>
                  <a:tcPr marL="64008" marR="64008" marT="27432" marB="27432" anchor="ctr">
                    <a:solidFill>
                      <a:srgbClr val="FFFFFF"/>
                    </a:solidFill>
                  </a:tcPr>
                </a:tc>
                <a:tc>
                  <a:txBody>
                    <a:bodyPr/>
                    <a:lstStyle/>
                    <a:p>
                      <a:pPr algn="l"/>
                      <a:r>
                        <a:rPr sz="1050" b="0" i="0">
                          <a:solidFill>
                            <a:srgbClr val="57626B"/>
                          </a:solidFill>
                          <a:latin typeface="Calibri"/>
                        </a:rPr>
                        <a:t>A metadata change is wrong</a:t>
                      </a:r>
                    </a:p>
                  </a:txBody>
                  <a:tcPr marL="64008" marR="64008" marT="27432" marB="27432" anchor="ctr">
                    <a:solidFill>
                      <a:srgbClr val="FFFFFF"/>
                    </a:solidFill>
                  </a:tcPr>
                </a:tc>
                <a:tc>
                  <a:txBody>
                    <a:bodyPr/>
                    <a:lstStyle/>
                    <a:p>
                      <a:pPr algn="l"/>
                      <a:r>
                        <a:rPr sz="1050" b="0" i="0">
                          <a:solidFill>
                            <a:srgbClr val="57626B"/>
                          </a:solidFill>
                          <a:latin typeface="Calibri"/>
                        </a:rPr>
                        <a:t>Revert the commit; regenerate the design record</a:t>
                      </a:r>
                    </a:p>
                  </a:txBody>
                  <a:tcPr marL="64008" marR="64008" marT="27432" marB="27432" anchor="ctr">
                    <a:solidFill>
                      <a:srgbClr val="FFFFFF"/>
                    </a:solidFill>
                  </a:tcPr>
                </a:tc>
                <a:tc>
                  <a:txBody>
                    <a:bodyPr/>
                    <a:lstStyle/>
                    <a:p>
                      <a:pPr algn="l"/>
                      <a:r>
                        <a:rPr sz="1050" b="0" i="0">
                          <a:solidFill>
                            <a:srgbClr val="57626B"/>
                          </a:solidFill>
                          <a:latin typeface="Calibri"/>
                        </a:rPr>
                        <a:t>Nothing has been built from it yet</a:t>
                      </a:r>
                    </a:p>
                  </a:txBody>
                  <a:tcPr marL="64008" marR="64008" marT="27432" marB="27432" anchor="ctr">
                    <a:solidFill>
                      <a:srgbClr val="FFFFFF"/>
                    </a:solidFill>
                  </a:tcPr>
                </a:tc>
                <a:extLst>
                  <a:ext uri="{0D108BD9-81ED-4DB2-BD59-A6C34878D82A}">
                    <a16:rowId xmlns:a16="http://schemas.microsoft.com/office/drawing/2014/main" val="10001"/>
                  </a:ext>
                </a:extLst>
              </a:tr>
              <a:tr h="640080">
                <a:tc>
                  <a:txBody>
                    <a:bodyPr/>
                    <a:lstStyle/>
                    <a:p>
                      <a:pPr algn="l"/>
                      <a:r>
                        <a:rPr sz="1050" b="1" i="0">
                          <a:solidFill>
                            <a:srgbClr val="1A2130"/>
                          </a:solidFill>
                          <a:latin typeface="Calibri"/>
                        </a:rPr>
                        <a:t>Build</a:t>
                      </a:r>
                    </a:p>
                  </a:txBody>
                  <a:tcPr marL="64008" marR="64008" marT="27432" marB="27432" anchor="ctr">
                    <a:solidFill>
                      <a:srgbClr val="F4F6F2"/>
                    </a:solidFill>
                  </a:tcPr>
                </a:tc>
                <a:tc>
                  <a:txBody>
                    <a:bodyPr/>
                    <a:lstStyle/>
                    <a:p>
                      <a:pPr algn="l"/>
                      <a:r>
                        <a:rPr sz="1050" b="0" i="0">
                          <a:solidFill>
                            <a:srgbClr val="57626B"/>
                          </a:solidFill>
                          <a:latin typeface="Calibri"/>
                        </a:rPr>
                        <a:t>Code in progress is wrong</a:t>
                      </a:r>
                    </a:p>
                  </a:txBody>
                  <a:tcPr marL="64008" marR="64008" marT="27432" marB="27432" anchor="ctr">
                    <a:solidFill>
                      <a:srgbClr val="F4F6F2"/>
                    </a:solidFill>
                  </a:tcPr>
                </a:tc>
                <a:tc>
                  <a:txBody>
                    <a:bodyPr/>
                    <a:lstStyle/>
                    <a:p>
                      <a:pPr algn="l"/>
                      <a:r>
                        <a:rPr sz="1050" b="0" i="0">
                          <a:solidFill>
                            <a:srgbClr val="57626B"/>
                          </a:solidFill>
                          <a:latin typeface="Calibri"/>
                        </a:rPr>
                        <a:t>Revert the commit, or abandon the slice branch</a:t>
                      </a:r>
                    </a:p>
                  </a:txBody>
                  <a:tcPr marL="64008" marR="64008" marT="27432" marB="27432" anchor="ctr">
                    <a:solidFill>
                      <a:srgbClr val="F4F6F2"/>
                    </a:solidFill>
                  </a:tcPr>
                </a:tc>
                <a:tc>
                  <a:txBody>
                    <a:bodyPr/>
                    <a:lstStyle/>
                    <a:p>
                      <a:pPr algn="l"/>
                      <a:r>
                        <a:rPr sz="1050" b="0" i="0">
                          <a:solidFill>
                            <a:srgbClr val="57626B"/>
                          </a:solidFill>
                          <a:latin typeface="Calibri"/>
                        </a:rPr>
                        <a:t>The main line was never touched</a:t>
                      </a:r>
                    </a:p>
                  </a:txBody>
                  <a:tcPr marL="64008" marR="64008" marT="27432" marB="27432" anchor="ctr">
                    <a:solidFill>
                      <a:srgbClr val="F4F6F2"/>
                    </a:solidFill>
                  </a:tcPr>
                </a:tc>
                <a:extLst>
                  <a:ext uri="{0D108BD9-81ED-4DB2-BD59-A6C34878D82A}">
                    <a16:rowId xmlns:a16="http://schemas.microsoft.com/office/drawing/2014/main" val="10002"/>
                  </a:ext>
                </a:extLst>
              </a:tr>
              <a:tr h="640080">
                <a:tc>
                  <a:txBody>
                    <a:bodyPr/>
                    <a:lstStyle/>
                    <a:p>
                      <a:pPr algn="l"/>
                      <a:r>
                        <a:rPr sz="1050" b="1" i="0">
                          <a:solidFill>
                            <a:srgbClr val="1A2130"/>
                          </a:solidFill>
                          <a:latin typeface="Calibri"/>
                        </a:rPr>
                        <a:t>Release</a:t>
                      </a:r>
                    </a:p>
                  </a:txBody>
                  <a:tcPr marL="64008" marR="64008" marT="27432" marB="27432" anchor="ctr">
                    <a:solidFill>
                      <a:srgbClr val="FFFFFF"/>
                    </a:solidFill>
                  </a:tcPr>
                </a:tc>
                <a:tc>
                  <a:txBody>
                    <a:bodyPr/>
                    <a:lstStyle/>
                    <a:p>
                      <a:pPr algn="l"/>
                      <a:r>
                        <a:rPr sz="1050" b="0" i="0">
                          <a:solidFill>
                            <a:srgbClr val="57626B"/>
                          </a:solidFill>
                          <a:latin typeface="Calibri"/>
                        </a:rPr>
                        <a:t>A deployment causes problems</a:t>
                      </a:r>
                    </a:p>
                  </a:txBody>
                  <a:tcPr marL="64008" marR="64008" marT="27432" marB="27432" anchor="ctr">
                    <a:solidFill>
                      <a:srgbClr val="FFFFFF"/>
                    </a:solidFill>
                  </a:tcPr>
                </a:tc>
                <a:tc>
                  <a:txBody>
                    <a:bodyPr/>
                    <a:lstStyle/>
                    <a:p>
                      <a:pPr algn="l"/>
                      <a:r>
                        <a:rPr sz="1050" b="0" i="0">
                          <a:solidFill>
                            <a:srgbClr val="57626B"/>
                          </a:solidFill>
                          <a:latin typeface="Calibri"/>
                        </a:rPr>
                        <a:t>Roll back the release: reverse the schema migration, redeploy the prior code, reload from Bronze</a:t>
                      </a:r>
                    </a:p>
                  </a:txBody>
                  <a:tcPr marL="64008" marR="64008" marT="27432" marB="27432" anchor="ctr">
                    <a:solidFill>
                      <a:srgbClr val="FFFFFF"/>
                    </a:solidFill>
                  </a:tcPr>
                </a:tc>
                <a:tc>
                  <a:txBody>
                    <a:bodyPr/>
                    <a:lstStyle/>
                    <a:p>
                      <a:pPr algn="l"/>
                      <a:r>
                        <a:rPr sz="1050" b="0" i="0">
                          <a:solidFill>
                            <a:srgbClr val="57626B"/>
                          </a:solidFill>
                          <a:latin typeface="Calibri"/>
                        </a:rPr>
                        <a:t>Bronze keeps every load, so data can be replayed</a:t>
                      </a:r>
                    </a:p>
                  </a:txBody>
                  <a:tcPr marL="64008" marR="64008" marT="27432" marB="27432" anchor="ctr">
                    <a:solidFill>
                      <a:srgbClr val="FFFFFF"/>
                    </a:solidFill>
                  </a:tcPr>
                </a:tc>
                <a:extLst>
                  <a:ext uri="{0D108BD9-81ED-4DB2-BD59-A6C34878D82A}">
                    <a16:rowId xmlns:a16="http://schemas.microsoft.com/office/drawing/2014/main" val="10003"/>
                  </a:ext>
                </a:extLst>
              </a:tr>
              <a:tr h="640080">
                <a:tc>
                  <a:txBody>
                    <a:bodyPr/>
                    <a:lstStyle/>
                    <a:p>
                      <a:pPr algn="l"/>
                      <a:r>
                        <a:rPr sz="1050" b="1" i="0">
                          <a:solidFill>
                            <a:srgbClr val="1A2130"/>
                          </a:solidFill>
                          <a:latin typeface="Calibri"/>
                        </a:rPr>
                        <a:t>Certification</a:t>
                      </a:r>
                    </a:p>
                  </a:txBody>
                  <a:tcPr marL="64008" marR="64008" marT="27432" marB="27432" anchor="ctr">
                    <a:solidFill>
                      <a:srgbClr val="F4F6F2"/>
                    </a:solidFill>
                  </a:tcPr>
                </a:tc>
                <a:tc>
                  <a:txBody>
                    <a:bodyPr/>
                    <a:lstStyle/>
                    <a:p>
                      <a:pPr algn="l"/>
                      <a:r>
                        <a:rPr sz="1050" b="0" i="0">
                          <a:solidFill>
                            <a:srgbClr val="57626B"/>
                          </a:solidFill>
                          <a:latin typeface="Calibri"/>
                        </a:rPr>
                        <a:t>A certified object fails its criteria</a:t>
                      </a:r>
                    </a:p>
                  </a:txBody>
                  <a:tcPr marL="64008" marR="64008" marT="27432" marB="27432" anchor="ctr">
                    <a:solidFill>
                      <a:srgbClr val="F4F6F2"/>
                    </a:solidFill>
                  </a:tcPr>
                </a:tc>
                <a:tc>
                  <a:txBody>
                    <a:bodyPr/>
                    <a:lstStyle/>
                    <a:p>
                      <a:pPr algn="l"/>
                      <a:r>
                        <a:rPr sz="1050" b="0" i="0">
                          <a:solidFill>
                            <a:srgbClr val="57626B"/>
                          </a:solidFill>
                          <a:latin typeface="Calibri"/>
                        </a:rPr>
                        <a:t>Mark it Under Review; notify consumers; fix and recertify</a:t>
                      </a:r>
                    </a:p>
                  </a:txBody>
                  <a:tcPr marL="64008" marR="64008" marT="27432" marB="27432" anchor="ctr">
                    <a:solidFill>
                      <a:srgbClr val="F4F6F2"/>
                    </a:solidFill>
                  </a:tcPr>
                </a:tc>
                <a:tc>
                  <a:txBody>
                    <a:bodyPr/>
                    <a:lstStyle/>
                    <a:p>
                      <a:pPr algn="l"/>
                      <a:r>
                        <a:rPr sz="1050" b="0" i="0">
                          <a:solidFill>
                            <a:srgbClr val="57626B"/>
                          </a:solidFill>
                          <a:latin typeface="Calibri"/>
                        </a:rPr>
                        <a:t>Consumers know not to rely on it meanwhile</a:t>
                      </a:r>
                    </a:p>
                  </a:txBody>
                  <a:tcPr marL="64008" marR="64008" marT="27432" marB="27432" anchor="ctr">
                    <a:solidFill>
                      <a:srgbClr val="F4F6F2"/>
                    </a:solidFill>
                  </a:tcPr>
                </a:tc>
                <a:extLst>
                  <a:ext uri="{0D108BD9-81ED-4DB2-BD59-A6C34878D82A}">
                    <a16:rowId xmlns:a16="http://schemas.microsoft.com/office/drawing/2014/main" val="10004"/>
                  </a:ext>
                </a:extLst>
              </a:tr>
              <a:tr h="640080">
                <a:tc>
                  <a:txBody>
                    <a:bodyPr/>
                    <a:lstStyle/>
                    <a:p>
                      <a:pPr algn="l"/>
                      <a:r>
                        <a:rPr sz="1050" b="1" i="0">
                          <a:solidFill>
                            <a:srgbClr val="1A2130"/>
                          </a:solidFill>
                          <a:latin typeface="Calibri"/>
                        </a:rPr>
                        <a:t>Whole slice</a:t>
                      </a:r>
                    </a:p>
                  </a:txBody>
                  <a:tcPr marL="64008" marR="64008" marT="27432" marB="27432" anchor="ctr">
                    <a:solidFill>
                      <a:srgbClr val="FFFFFF"/>
                    </a:solidFill>
                  </a:tcPr>
                </a:tc>
                <a:tc>
                  <a:txBody>
                    <a:bodyPr/>
                    <a:lstStyle/>
                    <a:p>
                      <a:pPr algn="l"/>
                      <a:r>
                        <a:rPr sz="1050" b="0" i="0">
                          <a:solidFill>
                            <a:srgbClr val="57626B"/>
                          </a:solidFill>
                          <a:latin typeface="Calibri"/>
                        </a:rPr>
                        <a:t>The slice is not worth continuing</a:t>
                      </a:r>
                    </a:p>
                  </a:txBody>
                  <a:tcPr marL="64008" marR="64008" marT="27432" marB="27432" anchor="ctr">
                    <a:solidFill>
                      <a:srgbClr val="FFFFFF"/>
                    </a:solidFill>
                  </a:tcPr>
                </a:tc>
                <a:tc>
                  <a:txBody>
                    <a:bodyPr/>
                    <a:lstStyle/>
                    <a:p>
                      <a:pPr algn="l"/>
                      <a:r>
                        <a:rPr sz="1050" b="0" i="0">
                          <a:solidFill>
                            <a:srgbClr val="57626B"/>
                          </a:solidFill>
                          <a:latin typeface="Calibri"/>
                        </a:rPr>
                        <a:t>Retire its Gold objects; keep shared dimensions others use</a:t>
                      </a:r>
                    </a:p>
                  </a:txBody>
                  <a:tcPr marL="64008" marR="64008" marT="27432" marB="27432" anchor="ctr">
                    <a:solidFill>
                      <a:srgbClr val="FFFFFF"/>
                    </a:solidFill>
                  </a:tcPr>
                </a:tc>
                <a:tc>
                  <a:txBody>
                    <a:bodyPr/>
                    <a:lstStyle/>
                    <a:p>
                      <a:pPr algn="l"/>
                      <a:r>
                        <a:rPr sz="1050" b="0" i="0">
                          <a:solidFill>
                            <a:srgbClr val="57626B"/>
                          </a:solidFill>
                          <a:latin typeface="Calibri"/>
                        </a:rPr>
                        <a:t>Slices are independent by design</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457200" y="5120640"/>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A2130"/>
                </a:solidFill>
                <a:latin typeface="Calibri"/>
              </a:rPr>
              <a:t>New information arrives? </a:t>
            </a:r>
            <a:r>
              <a:rPr sz="1050" b="0" i="0">
                <a:solidFill>
                  <a:srgbClr val="57626B"/>
                </a:solidFill>
                <a:latin typeface="Calibri"/>
              </a:rPr>
              <a:t>start a fresh branch, file the new documents by delivery date, and rerun the affected steps. The decision log records why. Claude Code checkpoints also rewind edits within a session.</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14</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Who does what</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Claude drafts, generates and checks. People decide and approve every gate.</a:t>
            </a:r>
          </a:p>
        </p:txBody>
      </p:sp>
      <p:sp>
        <p:nvSpPr>
          <p:cNvPr id="5" name="Rectangle 4"/>
          <p:cNvSpPr/>
          <p:nvPr/>
        </p:nvSpPr>
        <p:spPr>
          <a:xfrm>
            <a:off x="457200" y="1325880"/>
            <a:ext cx="2926080" cy="47548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Business sponsors</a:t>
            </a:r>
          </a:p>
        </p:txBody>
      </p:sp>
      <p:sp>
        <p:nvSpPr>
          <p:cNvPr id="6" name="Rectangle 5"/>
          <p:cNvSpPr/>
          <p:nvPr/>
        </p:nvSpPr>
        <p:spPr>
          <a:xfrm>
            <a:off x="3383280" y="1325880"/>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Choose and prioritize use cases; approve definitions; certify Gold objects for their named use.</a:t>
            </a:r>
          </a:p>
        </p:txBody>
      </p:sp>
      <p:sp>
        <p:nvSpPr>
          <p:cNvPr id="7" name="Rectangle 6"/>
          <p:cNvSpPr/>
          <p:nvPr/>
        </p:nvSpPr>
        <p:spPr>
          <a:xfrm>
            <a:off x="457200" y="1874519"/>
            <a:ext cx="2926080" cy="47548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Data management</a:t>
            </a:r>
          </a:p>
        </p:txBody>
      </p:sp>
      <p:sp>
        <p:nvSpPr>
          <p:cNvPr id="8" name="Rectangle 7"/>
          <p:cNvSpPr/>
          <p:nvPr/>
        </p:nvSpPr>
        <p:spPr>
          <a:xfrm>
            <a:off x="3383280" y="1874519"/>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Stewards review definitions, classes and lineage; the data quality lead approves rules and thresholds.</a:t>
            </a:r>
          </a:p>
        </p:txBody>
      </p:sp>
      <p:sp>
        <p:nvSpPr>
          <p:cNvPr id="9" name="Rectangle 8"/>
          <p:cNvSpPr/>
          <p:nvPr/>
        </p:nvSpPr>
        <p:spPr>
          <a:xfrm>
            <a:off x="457200" y="2423160"/>
            <a:ext cx="2926080" cy="47548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Architecture</a:t>
            </a:r>
          </a:p>
        </p:txBody>
      </p:sp>
      <p:sp>
        <p:nvSpPr>
          <p:cNvPr id="10" name="Rectangle 9"/>
          <p:cNvSpPr/>
          <p:nvPr/>
        </p:nvSpPr>
        <p:spPr>
          <a:xfrm>
            <a:off x="3383280" y="2423160"/>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Owns layer contracts, keys, grain and the bus matrix; runs design reviews.</a:t>
            </a:r>
          </a:p>
        </p:txBody>
      </p:sp>
      <p:sp>
        <p:nvSpPr>
          <p:cNvPr id="11" name="Rectangle 10"/>
          <p:cNvSpPr/>
          <p:nvPr/>
        </p:nvSpPr>
        <p:spPr>
          <a:xfrm>
            <a:off x="457200" y="2971800"/>
            <a:ext cx="2926080" cy="475488"/>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Data engineering</a:t>
            </a:r>
          </a:p>
        </p:txBody>
      </p:sp>
      <p:sp>
        <p:nvSpPr>
          <p:cNvPr id="12" name="Rectangle 11"/>
          <p:cNvSpPr/>
          <p:nvPr/>
        </p:nvSpPr>
        <p:spPr>
          <a:xfrm>
            <a:off x="3383280" y="2971800"/>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Builds and reviews pipelines and DDL; owns code quality.</a:t>
            </a:r>
          </a:p>
        </p:txBody>
      </p:sp>
      <p:sp>
        <p:nvSpPr>
          <p:cNvPr id="13" name="Rectangle 12"/>
          <p:cNvSpPr/>
          <p:nvPr/>
        </p:nvSpPr>
        <p:spPr>
          <a:xfrm>
            <a:off x="457200" y="3520439"/>
            <a:ext cx="2926080" cy="475488"/>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QA and testing</a:t>
            </a:r>
          </a:p>
        </p:txBody>
      </p:sp>
      <p:sp>
        <p:nvSpPr>
          <p:cNvPr id="14" name="Rectangle 13"/>
          <p:cNvSpPr/>
          <p:nvPr/>
        </p:nvSpPr>
        <p:spPr>
          <a:xfrm>
            <a:off x="3383280" y="3520439"/>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Runs unit, reconciliation and regression tests; coordinates UAT.</a:t>
            </a:r>
          </a:p>
        </p:txBody>
      </p:sp>
      <p:sp>
        <p:nvSpPr>
          <p:cNvPr id="15" name="Rectangle 14"/>
          <p:cNvSpPr/>
          <p:nvPr/>
        </p:nvSpPr>
        <p:spPr>
          <a:xfrm>
            <a:off x="457200" y="4069080"/>
            <a:ext cx="2926080" cy="475488"/>
          </a:xfrm>
          <a:prstGeom prst="rect">
            <a:avLst/>
          </a:prstGeom>
          <a:solidFill>
            <a:srgbClr val="5B6770"/>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Platform and production support</a:t>
            </a:r>
          </a:p>
        </p:txBody>
      </p:sp>
      <p:sp>
        <p:nvSpPr>
          <p:cNvPr id="16" name="Rectangle 15"/>
          <p:cNvSpPr/>
          <p:nvPr/>
        </p:nvSpPr>
        <p:spPr>
          <a:xfrm>
            <a:off x="3383280" y="4069080"/>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Environments, releases, monitoring and incident response.</a:t>
            </a:r>
          </a:p>
        </p:txBody>
      </p:sp>
      <p:sp>
        <p:nvSpPr>
          <p:cNvPr id="17" name="Rectangle 16"/>
          <p:cNvSpPr/>
          <p:nvPr/>
        </p:nvSpPr>
        <p:spPr>
          <a:xfrm>
            <a:off x="457200" y="4617720"/>
            <a:ext cx="2926080" cy="475488"/>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Firm consultant</a:t>
            </a:r>
          </a:p>
        </p:txBody>
      </p:sp>
      <p:sp>
        <p:nvSpPr>
          <p:cNvPr id="18" name="Rectangle 17"/>
          <p:cNvSpPr/>
          <p:nvPr/>
        </p:nvSpPr>
        <p:spPr>
          <a:xfrm>
            <a:off x="3383280" y="4617720"/>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Runs the slice lifecycle, brings the accelerator, keeps the decision log.</a:t>
            </a:r>
          </a:p>
        </p:txBody>
      </p:sp>
      <p:sp>
        <p:nvSpPr>
          <p:cNvPr id="19" name="Rectangle 18"/>
          <p:cNvSpPr/>
          <p:nvPr/>
        </p:nvSpPr>
        <p:spPr>
          <a:xfrm>
            <a:off x="457200" y="5166360"/>
            <a:ext cx="2926080" cy="475488"/>
          </a:xfrm>
          <a:prstGeom prst="rect">
            <a:avLst/>
          </a:prstGeom>
          <a:solidFill>
            <a:srgbClr val="0E7C66"/>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Claude</a:t>
            </a:r>
          </a:p>
        </p:txBody>
      </p:sp>
      <p:sp>
        <p:nvSpPr>
          <p:cNvPr id="20" name="Rectangle 19"/>
          <p:cNvSpPr/>
          <p:nvPr/>
        </p:nvSpPr>
        <p:spPr>
          <a:xfrm>
            <a:off x="3383280" y="5166360"/>
            <a:ext cx="8348472" cy="475488"/>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0" i="0">
                <a:solidFill>
                  <a:srgbClr val="57626B"/>
                </a:solidFill>
                <a:latin typeface="Calibri"/>
              </a:rPr>
              <a:t>Drafts metadata, code, tests and documents; flags gaps. Never the final approver.</a:t>
            </a:r>
          </a:p>
        </p:txBody>
      </p:sp>
      <p:sp>
        <p:nvSpPr>
          <p:cNvPr id="21" name="Rounded Rectangle 20"/>
          <p:cNvSpPr/>
          <p:nvPr/>
        </p:nvSpPr>
        <p:spPr>
          <a:xfrm>
            <a:off x="457200" y="5806440"/>
            <a:ext cx="11274552" cy="5029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Human in the loop: </a:t>
            </a:r>
            <a:r>
              <a:rPr sz="1100" b="0" i="0">
                <a:solidFill>
                  <a:srgbClr val="57626B"/>
                </a:solidFill>
                <a:latin typeface="Calibri"/>
              </a:rPr>
              <a:t>nothing Claude produces reaches production or certification without the named approver.</a:t>
            </a:r>
          </a:p>
        </p:txBody>
      </p:sp>
      <p:sp>
        <p:nvSpPr>
          <p:cNvPr id="22" name="TextBox 2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15</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Protect two things: client information and firm IP</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They have different owners, so they live in different places and follow different rules.</a:t>
            </a:r>
          </a:p>
        </p:txBody>
      </p:sp>
      <p:sp>
        <p:nvSpPr>
          <p:cNvPr id="5" name="Rectangle 4"/>
          <p:cNvSpPr/>
          <p:nvPr/>
        </p:nvSpPr>
        <p:spPr>
          <a:xfrm>
            <a:off x="457200" y="1371600"/>
            <a:ext cx="5486400" cy="502920"/>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alibri"/>
              </a:rPr>
              <a:t>THE CLIENT’S CONFIDENTIAL INFORMATION</a:t>
            </a:r>
          </a:p>
        </p:txBody>
      </p:sp>
      <p:sp>
        <p:nvSpPr>
          <p:cNvPr id="6" name="Rectangle 5"/>
          <p:cNvSpPr/>
          <p:nvPr/>
        </p:nvSpPr>
        <p:spPr>
          <a:xfrm>
            <a:off x="457200" y="1874519"/>
            <a:ext cx="5486400" cy="2011680"/>
          </a:xfrm>
          <a:prstGeom prst="rect">
            <a:avLst/>
          </a:prstGeom>
          <a:solidFill>
            <a:srgbClr val="F6EFDA"/>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200" b="0" i="0">
                <a:solidFill>
                  <a:srgbClr val="1A2130"/>
                </a:solidFill>
                <a:latin typeface="Calibri"/>
              </a:rPr>
              <a:t>• DDL, mappings, dictionaries, pipeline code, test results</a:t>
            </a:r>
          </a:p>
          <a:p>
            <a:pPr algn="l"/>
            <a:r>
              <a:rPr sz="1200" b="0" i="0">
                <a:solidFill>
                  <a:srgbClr val="1A2130"/>
                </a:solidFill>
                <a:latin typeface="Calibri"/>
              </a:rPr>
              <a:t>• System names, internal control IDs, exam findings</a:t>
            </a:r>
          </a:p>
          <a:p>
            <a:pPr algn="l"/>
            <a:r>
              <a:rPr sz="1200" b="0" i="0">
                <a:solidFill>
                  <a:srgbClr val="1A2130"/>
                </a:solidFill>
                <a:latin typeface="Calibri"/>
              </a:rPr>
              <a:t>• The built model, its data and its documentation</a:t>
            </a:r>
          </a:p>
          <a:p>
            <a:pPr algn="l"/>
            <a:r>
              <a:rPr sz="1200" b="0" i="0">
                <a:solidFill>
                  <a:srgbClr val="1A2130"/>
                </a:solidFill>
                <a:latin typeface="Calibri"/>
              </a:rPr>
              <a:t>• Customer records and PII: never shared with Claude</a:t>
            </a:r>
          </a:p>
        </p:txBody>
      </p:sp>
      <p:sp>
        <p:nvSpPr>
          <p:cNvPr id="7" name="Rectangle 6"/>
          <p:cNvSpPr/>
          <p:nvPr/>
        </p:nvSpPr>
        <p:spPr>
          <a:xfrm>
            <a:off x="457200" y="3977639"/>
            <a:ext cx="5486400" cy="6858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Rule: </a:t>
            </a:r>
            <a:r>
              <a:rPr sz="1100" b="0" i="0">
                <a:solidFill>
                  <a:srgbClr val="57626B"/>
                </a:solidFill>
                <a:latin typeface="Calibri"/>
              </a:rPr>
              <a:t>Stays in the client’s environment, under the client’s agreements.</a:t>
            </a:r>
          </a:p>
        </p:txBody>
      </p:sp>
      <p:sp>
        <p:nvSpPr>
          <p:cNvPr id="8" name="Rectangle 7"/>
          <p:cNvSpPr/>
          <p:nvPr/>
        </p:nvSpPr>
        <p:spPr>
          <a:xfrm>
            <a:off x="6245352" y="1371600"/>
            <a:ext cx="5486400" cy="50292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alibri"/>
              </a:rPr>
              <a:t>THE FIRM’S INTELLECTUAL PROPERTY</a:t>
            </a:r>
          </a:p>
        </p:txBody>
      </p:sp>
      <p:sp>
        <p:nvSpPr>
          <p:cNvPr id="9" name="Rectangle 8"/>
          <p:cNvSpPr/>
          <p:nvPr/>
        </p:nvSpPr>
        <p:spPr>
          <a:xfrm>
            <a:off x="6245352" y="1874519"/>
            <a:ext cx="5486400" cy="2011680"/>
          </a:xfrm>
          <a:prstGeom prst="rect">
            <a:avLst/>
          </a:prstGeom>
          <a:solidFill>
            <a:srgbClr val="E8ECEF"/>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200" b="0" i="0">
                <a:solidFill>
                  <a:srgbClr val="1A2130"/>
                </a:solidFill>
                <a:latin typeface="Calibri"/>
              </a:rPr>
              <a:t>• Build script, toolkit and deck templates</a:t>
            </a:r>
          </a:p>
          <a:p>
            <a:pPr algn="l"/>
            <a:r>
              <a:rPr sz="1200" b="0" i="0">
                <a:solidFill>
                  <a:srgbClr val="1A2130"/>
                </a:solidFill>
                <a:latin typeface="Calibri"/>
              </a:rPr>
              <a:t>• Modeling patterns, conventions and layer contracts</a:t>
            </a:r>
          </a:p>
          <a:p>
            <a:pPr algn="l"/>
            <a:r>
              <a:rPr sz="1200" b="0" i="0">
                <a:solidFill>
                  <a:srgbClr val="1A2130"/>
                </a:solidFill>
                <a:latin typeface="Calibri"/>
              </a:rPr>
              <a:t>• Check catalogs, playbooks and this method</a:t>
            </a:r>
          </a:p>
          <a:p>
            <a:pPr algn="l"/>
            <a:r>
              <a:rPr sz="1200" b="0" i="0">
                <a:solidFill>
                  <a:srgbClr val="1A2130"/>
                </a:solidFill>
                <a:latin typeface="Calibri"/>
              </a:rPr>
              <a:t>• Generic mock-up content (no client names)</a:t>
            </a:r>
          </a:p>
        </p:txBody>
      </p:sp>
      <p:sp>
        <p:nvSpPr>
          <p:cNvPr id="10" name="Rectangle 9"/>
          <p:cNvSpPr/>
          <p:nvPr/>
        </p:nvSpPr>
        <p:spPr>
          <a:xfrm>
            <a:off x="6245352" y="3977639"/>
            <a:ext cx="5486400" cy="6858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Rule: </a:t>
            </a:r>
            <a:r>
              <a:rPr sz="1100" b="0" i="0">
                <a:solidFill>
                  <a:srgbClr val="57626B"/>
                </a:solidFill>
                <a:latin typeface="Calibri"/>
              </a:rPr>
              <a:t>Built and maintained in the firm’s environment; brought in under the engagement contract.</a:t>
            </a:r>
          </a:p>
        </p:txBody>
      </p:sp>
      <p:sp>
        <p:nvSpPr>
          <p:cNvPr id="11" name="Rounded Rectangle 10"/>
          <p:cNvSpPr/>
          <p:nvPr/>
        </p:nvSpPr>
        <p:spPr>
          <a:xfrm>
            <a:off x="457200" y="4937760"/>
            <a:ext cx="11274552" cy="10058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Contract point: </a:t>
            </a:r>
            <a:r>
              <a:rPr sz="1100" b="0" i="0">
                <a:solidFill>
                  <a:srgbClr val="57626B"/>
                </a:solidFill>
                <a:latin typeface="Calibri"/>
              </a:rPr>
              <a:t>the engagement contract should say who owns the deliverables, that the firm’s pre-existing accelerators stay the firm’s, and that AI tools may be used on named, in-scope metadata, code and aggregate results. Confirm ownership of AI outputs against Anthropic’s current commercial terms with legal.</a:t>
            </a:r>
          </a:p>
        </p:txBody>
      </p:sp>
      <p:sp>
        <p:nvSpPr>
          <p:cNvPr id="12" name="TextBox 1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16</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Claude account options: which one to use for what</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High level and without pricing. Terms change: confirm current details at anthropic.com/legal and the Anthropic Trust Center.</a:t>
            </a:r>
          </a:p>
        </p:txBody>
      </p:sp>
      <p:sp>
        <p:nvSpPr>
          <p:cNvPr id="5" name="Rounded Rectangle 4"/>
          <p:cNvSpPr/>
          <p:nvPr/>
        </p:nvSpPr>
        <p:spPr>
          <a:xfrm>
            <a:off x="457200" y="1234440"/>
            <a:ext cx="11274552" cy="566928"/>
          </a:xfrm>
          <a:prstGeom prst="roundRect">
            <a:avLst>
              <a:gd name="adj" fmla="val 10000"/>
            </a:avLst>
          </a:prstGeom>
          <a:solidFill>
            <a:srgbClr val="E8ECEF"/>
          </a:solidFill>
          <a:ln w="12700">
            <a:solidFill>
              <a:srgbClr val="5B677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1A2130"/>
                </a:solidFill>
                <a:latin typeface="Calibri"/>
              </a:rPr>
              <a:t>How to read this table: </a:t>
            </a:r>
            <a:r>
              <a:rPr sz="1000" b="0" i="0">
                <a:solidFill>
                  <a:srgbClr val="57626B"/>
                </a:solidFill>
                <a:latin typeface="Calibri"/>
              </a:rPr>
              <a:t>each row is a way to get access to Claude. The two middle columns describe how that account handles your data and what security controls it offers. The two right-hand columns answer the questions that matter on an engagement: can the client’s material go in, and can the firm build its own IP there?</a:t>
            </a:r>
          </a:p>
        </p:txBody>
      </p:sp>
      <p:graphicFrame>
        <p:nvGraphicFramePr>
          <p:cNvPr id="6" name="Table 5"/>
          <p:cNvGraphicFramePr>
            <a:graphicFrameLocks noGrp="1"/>
          </p:cNvGraphicFramePr>
          <p:nvPr/>
        </p:nvGraphicFramePr>
        <p:xfrm>
          <a:off x="457200" y="2103120"/>
          <a:ext cx="11274552" cy="3547872"/>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176272">
                  <a:extLst>
                    <a:ext uri="{9D8B030D-6E8A-4147-A177-3AD203B41FA5}">
                      <a16:colId xmlns:a16="http://schemas.microsoft.com/office/drawing/2014/main" val="20004"/>
                    </a:ext>
                  </a:extLst>
                </a:gridCol>
              </a:tblGrid>
              <a:tr h="530352">
                <a:tc>
                  <a:txBody>
                    <a:bodyPr/>
                    <a:lstStyle/>
                    <a:p>
                      <a:pPr algn="l"/>
                      <a:r>
                        <a:rPr sz="1000" b="1" i="0">
                          <a:solidFill>
                            <a:srgbClr val="CADCEA"/>
                          </a:solidFill>
                          <a:latin typeface="Calibri"/>
                        </a:rPr>
                        <a:t>Account type</a:t>
                      </a:r>
                    </a:p>
                  </a:txBody>
                  <a:tcPr marL="64008" marR="64008" marT="27432" marB="27432" anchor="ctr">
                    <a:solidFill>
                      <a:srgbClr val="1A2130"/>
                    </a:solidFill>
                  </a:tcPr>
                </a:tc>
                <a:tc>
                  <a:txBody>
                    <a:bodyPr/>
                    <a:lstStyle/>
                    <a:p>
                      <a:pPr algn="l"/>
                      <a:r>
                        <a:rPr sz="1000" b="1" i="0">
                          <a:solidFill>
                            <a:srgbClr val="FFFFFF"/>
                          </a:solidFill>
                          <a:latin typeface="Calibri"/>
                        </a:rPr>
                        <a:t>Is what you type used to train Anthropic’s models?</a:t>
                      </a:r>
                    </a:p>
                  </a:txBody>
                  <a:tcPr marL="64008" marR="64008" marT="27432" marB="27432" anchor="ctr">
                    <a:solidFill>
                      <a:srgbClr val="5B6770"/>
                    </a:solidFill>
                  </a:tcPr>
                </a:tc>
                <a:tc>
                  <a:txBody>
                    <a:bodyPr/>
                    <a:lstStyle/>
                    <a:p>
                      <a:pPr algn="l"/>
                      <a:r>
                        <a:rPr sz="1000" b="1" i="0">
                          <a:solidFill>
                            <a:srgbClr val="FFFFFF"/>
                          </a:solidFill>
                          <a:latin typeface="Calibri"/>
                        </a:rPr>
                        <a:t>Admin and security controls available</a:t>
                      </a:r>
                    </a:p>
                  </a:txBody>
                  <a:tcPr marL="64008" marR="64008" marT="27432" marB="27432" anchor="ctr">
                    <a:solidFill>
                      <a:srgbClr val="5B6770"/>
                    </a:solidFill>
                  </a:tcPr>
                </a:tc>
                <a:tc>
                  <a:txBody>
                    <a:bodyPr/>
                    <a:lstStyle/>
                    <a:p>
                      <a:pPr algn="l"/>
                      <a:r>
                        <a:rPr sz="1000" b="1" i="0">
                          <a:solidFill>
                            <a:srgbClr val="FFFFFF"/>
                          </a:solidFill>
                          <a:latin typeface="Calibri"/>
                        </a:rPr>
                        <a:t>OK for the client’s confidential material?</a:t>
                      </a:r>
                    </a:p>
                  </a:txBody>
                  <a:tcPr marL="64008" marR="64008" marT="27432" marB="27432" anchor="ctr">
                    <a:solidFill>
                      <a:srgbClr val="86650F"/>
                    </a:solidFill>
                  </a:tcPr>
                </a:tc>
                <a:tc>
                  <a:txBody>
                    <a:bodyPr/>
                    <a:lstStyle/>
                    <a:p>
                      <a:pPr algn="l"/>
                      <a:r>
                        <a:rPr sz="1000" b="1" i="0">
                          <a:solidFill>
                            <a:srgbClr val="FFFFFF"/>
                          </a:solidFill>
                          <a:latin typeface="Calibri"/>
                        </a:rPr>
                        <a:t>OK for building the firm’s own IP?</a:t>
                      </a:r>
                    </a:p>
                  </a:txBody>
                  <a:tcPr marL="64008" marR="64008" marT="27432" marB="27432" anchor="ctr">
                    <a:solidFill>
                      <a:srgbClr val="1A2130"/>
                    </a:solidFill>
                  </a:tcPr>
                </a:tc>
                <a:extLst>
                  <a:ext uri="{0D108BD9-81ED-4DB2-BD59-A6C34878D82A}">
                    <a16:rowId xmlns:a16="http://schemas.microsoft.com/office/drawing/2014/main" val="10000"/>
                  </a:ext>
                </a:extLst>
              </a:tr>
              <a:tr h="603504">
                <a:tc>
                  <a:txBody>
                    <a:bodyPr/>
                    <a:lstStyle/>
                    <a:p>
                      <a:pPr algn="l"/>
                      <a:r>
                        <a:rPr sz="1000" b="1" i="0">
                          <a:solidFill>
                            <a:srgbClr val="1A2130"/>
                          </a:solidFill>
                          <a:latin typeface="Calibri"/>
                        </a:rPr>
                        <a:t>Consumer plans
(Free, Pro, Max)</a:t>
                      </a:r>
                    </a:p>
                  </a:txBody>
                  <a:tcPr marL="64008" marR="64008" marT="27432" marB="27432" anchor="ctr">
                    <a:solidFill>
                      <a:srgbClr val="FFFFFF"/>
                    </a:solidFill>
                  </a:tcPr>
                </a:tc>
                <a:tc>
                  <a:txBody>
                    <a:bodyPr/>
                    <a:lstStyle/>
                    <a:p>
                      <a:pPr algn="l"/>
                      <a:r>
                        <a:rPr sz="1000" b="0" i="0">
                          <a:solidFill>
                            <a:srgbClr val="57626B"/>
                          </a:solidFill>
                          <a:latin typeface="Calibri"/>
                        </a:rPr>
                        <a:t>Depends on each user’s own privacy setting</a:t>
                      </a:r>
                    </a:p>
                  </a:txBody>
                  <a:tcPr marL="64008" marR="64008" marT="27432" marB="27432" anchor="ctr">
                    <a:solidFill>
                      <a:srgbClr val="FFFFFF"/>
                    </a:solidFill>
                  </a:tcPr>
                </a:tc>
                <a:tc>
                  <a:txBody>
                    <a:bodyPr/>
                    <a:lstStyle/>
                    <a:p>
                      <a:pPr algn="l"/>
                      <a:r>
                        <a:rPr sz="1000" b="0" i="0">
                          <a:solidFill>
                            <a:srgbClr val="57626B"/>
                          </a:solidFill>
                          <a:latin typeface="Calibri"/>
                        </a:rPr>
                        <a:t>None beyond the individual user’s settings</a:t>
                      </a:r>
                    </a:p>
                  </a:txBody>
                  <a:tcPr marL="64008" marR="64008" marT="27432" marB="27432" anchor="ctr">
                    <a:solidFill>
                      <a:srgbClr val="FFFFFF"/>
                    </a:solidFill>
                  </a:tcPr>
                </a:tc>
                <a:tc>
                  <a:txBody>
                    <a:bodyPr/>
                    <a:lstStyle/>
                    <a:p>
                      <a:pPr algn="l"/>
                      <a:r>
                        <a:rPr sz="1000" b="1" i="0">
                          <a:solidFill>
                            <a:srgbClr val="9A3324"/>
                          </a:solidFill>
                          <a:latin typeface="Calibri"/>
                        </a:rPr>
                        <a:t>No: </a:t>
                      </a:r>
                      <a:r>
                        <a:rPr sz="1000" b="0" i="0">
                          <a:solidFill>
                            <a:srgbClr val="57626B"/>
                          </a:solidFill>
                          <a:latin typeface="Calibri"/>
                        </a:rPr>
                        <a:t>personal account; the client has no contract with Anthropic</a:t>
                      </a:r>
                    </a:p>
                  </a:txBody>
                  <a:tcPr marL="64008" marR="64008" marT="27432" marB="27432" anchor="ctr">
                    <a:solidFill>
                      <a:srgbClr val="FFFFFF"/>
                    </a:solidFill>
                  </a:tcPr>
                </a:tc>
                <a:tc>
                  <a:txBody>
                    <a:bodyPr/>
                    <a:lstStyle/>
                    <a:p>
                      <a:pPr algn="l"/>
                      <a:r>
                        <a:rPr sz="1000" b="1" i="0">
                          <a:solidFill>
                            <a:srgbClr val="9A3324"/>
                          </a:solidFill>
                          <a:latin typeface="Calibri"/>
                        </a:rPr>
                        <a:t>No: </a:t>
                      </a:r>
                      <a:r>
                        <a:rPr sz="1000" b="0" i="0">
                          <a:solidFill>
                            <a:srgbClr val="57626B"/>
                          </a:solidFill>
                          <a:latin typeface="Calibri"/>
                        </a:rPr>
                        <a:t>the firm does not control the account</a:t>
                      </a:r>
                    </a:p>
                  </a:txBody>
                  <a:tcPr marL="64008" marR="64008" marT="27432" marB="27432" anchor="ctr">
                    <a:solidFill>
                      <a:srgbClr val="FFFFFF"/>
                    </a:solidFill>
                  </a:tcPr>
                </a:tc>
                <a:extLst>
                  <a:ext uri="{0D108BD9-81ED-4DB2-BD59-A6C34878D82A}">
                    <a16:rowId xmlns:a16="http://schemas.microsoft.com/office/drawing/2014/main" val="10001"/>
                  </a:ext>
                </a:extLst>
              </a:tr>
              <a:tr h="603504">
                <a:tc>
                  <a:txBody>
                    <a:bodyPr/>
                    <a:lstStyle/>
                    <a:p>
                      <a:pPr algn="l"/>
                      <a:r>
                        <a:rPr sz="1000" b="1" i="0">
                          <a:solidFill>
                            <a:srgbClr val="1A2130"/>
                          </a:solidFill>
                          <a:latin typeface="Calibri"/>
                        </a:rPr>
                        <a:t>Claude for Work: Team</a:t>
                      </a:r>
                    </a:p>
                  </a:txBody>
                  <a:tcPr marL="64008" marR="64008" marT="27432" marB="27432" anchor="ctr">
                    <a:solidFill>
                      <a:srgbClr val="F4F6F2"/>
                    </a:solidFill>
                  </a:tcPr>
                </a:tc>
                <a:tc>
                  <a:txBody>
                    <a:bodyPr/>
                    <a:lstStyle/>
                    <a:p>
                      <a:pPr algn="l"/>
                      <a:r>
                        <a:rPr sz="1000" b="0" i="0">
                          <a:solidFill>
                            <a:srgbClr val="57626B"/>
                          </a:solidFill>
                          <a:latin typeface="Calibri"/>
                        </a:rPr>
                        <a:t>No, not by default (commercial terms)</a:t>
                      </a:r>
                    </a:p>
                  </a:txBody>
                  <a:tcPr marL="64008" marR="64008" marT="27432" marB="27432" anchor="ctr">
                    <a:solidFill>
                      <a:srgbClr val="F4F6F2"/>
                    </a:solidFill>
                  </a:tcPr>
                </a:tc>
                <a:tc>
                  <a:txBody>
                    <a:bodyPr/>
                    <a:lstStyle/>
                    <a:p>
                      <a:pPr algn="l"/>
                      <a:r>
                        <a:rPr sz="1000" b="0" i="0">
                          <a:solidFill>
                            <a:srgbClr val="57626B"/>
                          </a:solidFill>
                          <a:latin typeface="Calibri"/>
                        </a:rPr>
                        <a:t>Admin console, central billing, add and remove members</a:t>
                      </a:r>
                    </a:p>
                  </a:txBody>
                  <a:tcPr marL="64008" marR="64008" marT="27432" marB="27432" anchor="ctr">
                    <a:solidFill>
                      <a:srgbClr val="F4F6F2"/>
                    </a:solidFill>
                  </a:tcPr>
                </a:tc>
                <a:tc>
                  <a:txBody>
                    <a:bodyPr/>
                    <a:lstStyle/>
                    <a:p>
                      <a:pPr algn="l"/>
                      <a:r>
                        <a:rPr sz="1000" b="1" i="0">
                          <a:solidFill>
                            <a:srgbClr val="0E7C66"/>
                          </a:solidFill>
                          <a:latin typeface="Calibri"/>
                        </a:rPr>
                        <a:t>Yes, </a:t>
                      </a:r>
                      <a:r>
                        <a:rPr sz="1000" b="0" i="0">
                          <a:solidFill>
                            <a:srgbClr val="57626B"/>
                          </a:solidFill>
                          <a:latin typeface="Calibri"/>
                        </a:rPr>
                        <a:t>but only if the workspace belongs to the client</a:t>
                      </a:r>
                    </a:p>
                  </a:txBody>
                  <a:tcPr marL="64008" marR="64008" marT="27432" marB="27432" anchor="ctr">
                    <a:solidFill>
                      <a:srgbClr val="F4F6F2"/>
                    </a:solidFill>
                  </a:tcPr>
                </a:tc>
                <a:tc>
                  <a:txBody>
                    <a:bodyPr/>
                    <a:lstStyle/>
                    <a:p>
                      <a:pPr algn="l"/>
                      <a:r>
                        <a:rPr sz="1000" b="1" i="0">
                          <a:solidFill>
                            <a:srgbClr val="0E7C66"/>
                          </a:solidFill>
                          <a:latin typeface="Calibri"/>
                        </a:rPr>
                        <a:t>Yes: </a:t>
                      </a:r>
                      <a:r>
                        <a:rPr sz="1000" b="0" i="0">
                          <a:solidFill>
                            <a:srgbClr val="57626B"/>
                          </a:solidFill>
                          <a:latin typeface="Calibri"/>
                        </a:rPr>
                        <a:t>suitable for smaller firm teams</a:t>
                      </a:r>
                    </a:p>
                  </a:txBody>
                  <a:tcPr marL="64008" marR="64008" marT="27432" marB="27432" anchor="ctr">
                    <a:solidFill>
                      <a:srgbClr val="F4F6F2"/>
                    </a:solidFill>
                  </a:tcPr>
                </a:tc>
                <a:extLst>
                  <a:ext uri="{0D108BD9-81ED-4DB2-BD59-A6C34878D82A}">
                    <a16:rowId xmlns:a16="http://schemas.microsoft.com/office/drawing/2014/main" val="10002"/>
                  </a:ext>
                </a:extLst>
              </a:tr>
              <a:tr h="603504">
                <a:tc>
                  <a:txBody>
                    <a:bodyPr/>
                    <a:lstStyle/>
                    <a:p>
                      <a:pPr algn="l"/>
                      <a:r>
                        <a:rPr sz="1000" b="1" i="0">
                          <a:solidFill>
                            <a:srgbClr val="1A2130"/>
                          </a:solidFill>
                          <a:latin typeface="Calibri"/>
                        </a:rPr>
                        <a:t>Claude for Work: Enterprise</a:t>
                      </a:r>
                    </a:p>
                  </a:txBody>
                  <a:tcPr marL="64008" marR="64008" marT="27432" marB="27432" anchor="ctr">
                    <a:solidFill>
                      <a:srgbClr val="FFFFFF"/>
                    </a:solidFill>
                  </a:tcPr>
                </a:tc>
                <a:tc>
                  <a:txBody>
                    <a:bodyPr/>
                    <a:lstStyle/>
                    <a:p>
                      <a:pPr algn="l"/>
                      <a:r>
                        <a:rPr sz="1000" b="0" i="0">
                          <a:solidFill>
                            <a:srgbClr val="57626B"/>
                          </a:solidFill>
                          <a:latin typeface="Calibri"/>
                        </a:rPr>
                        <a:t>No, not by default (commercial terms)</a:t>
                      </a:r>
                    </a:p>
                  </a:txBody>
                  <a:tcPr marL="64008" marR="64008" marT="27432" marB="27432" anchor="ctr">
                    <a:solidFill>
                      <a:srgbClr val="FFFFFF"/>
                    </a:solidFill>
                  </a:tcPr>
                </a:tc>
                <a:tc>
                  <a:txBody>
                    <a:bodyPr/>
                    <a:lstStyle/>
                    <a:p>
                      <a:pPr algn="l"/>
                      <a:r>
                        <a:rPr sz="1000" b="0" i="0">
                          <a:solidFill>
                            <a:srgbClr val="57626B"/>
                          </a:solidFill>
                          <a:latin typeface="Calibri"/>
                        </a:rPr>
                        <a:t>Single sign-on, audit logs, role-based access, data-retention settings</a:t>
                      </a:r>
                    </a:p>
                  </a:txBody>
                  <a:tcPr marL="64008" marR="64008" marT="27432" marB="27432" anchor="ctr">
                    <a:solidFill>
                      <a:srgbClr val="FFFFFF"/>
                    </a:solidFill>
                  </a:tcPr>
                </a:tc>
                <a:tc>
                  <a:txBody>
                    <a:bodyPr/>
                    <a:lstStyle/>
                    <a:p>
                      <a:pPr algn="l"/>
                      <a:r>
                        <a:rPr sz="1000" b="1" i="0">
                          <a:solidFill>
                            <a:srgbClr val="0E7C66"/>
                          </a:solidFill>
                          <a:latin typeface="Calibri"/>
                        </a:rPr>
                        <a:t>Yes, </a:t>
                      </a:r>
                      <a:r>
                        <a:rPr sz="1000" b="0" i="0">
                          <a:solidFill>
                            <a:srgbClr val="57626B"/>
                          </a:solidFill>
                          <a:latin typeface="Calibri"/>
                        </a:rPr>
                        <a:t>but only if the workspace belongs to the client</a:t>
                      </a:r>
                    </a:p>
                  </a:txBody>
                  <a:tcPr marL="64008" marR="64008" marT="27432" marB="27432" anchor="ctr">
                    <a:solidFill>
                      <a:srgbClr val="FFFFFF"/>
                    </a:solidFill>
                  </a:tcPr>
                </a:tc>
                <a:tc>
                  <a:txBody>
                    <a:bodyPr/>
                    <a:lstStyle/>
                    <a:p>
                      <a:pPr algn="l"/>
                      <a:r>
                        <a:rPr sz="1000" b="1" i="0">
                          <a:solidFill>
                            <a:srgbClr val="0E7C66"/>
                          </a:solidFill>
                          <a:latin typeface="Calibri"/>
                        </a:rPr>
                        <a:t>Yes: </a:t>
                      </a:r>
                      <a:r>
                        <a:rPr sz="1000" b="0" i="0">
                          <a:solidFill>
                            <a:srgbClr val="57626B"/>
                          </a:solidFill>
                          <a:latin typeface="Calibri"/>
                        </a:rPr>
                        <a:t>recommended for the firm</a:t>
                      </a:r>
                    </a:p>
                  </a:txBody>
                  <a:tcPr marL="64008" marR="64008" marT="27432" marB="27432" anchor="ctr">
                    <a:solidFill>
                      <a:srgbClr val="FFFFFF"/>
                    </a:solidFill>
                  </a:tcPr>
                </a:tc>
                <a:extLst>
                  <a:ext uri="{0D108BD9-81ED-4DB2-BD59-A6C34878D82A}">
                    <a16:rowId xmlns:a16="http://schemas.microsoft.com/office/drawing/2014/main" val="10003"/>
                  </a:ext>
                </a:extLst>
              </a:tr>
              <a:tr h="603504">
                <a:tc>
                  <a:txBody>
                    <a:bodyPr/>
                    <a:lstStyle/>
                    <a:p>
                      <a:pPr algn="l"/>
                      <a:r>
                        <a:rPr sz="1000" b="1" i="0">
                          <a:solidFill>
                            <a:srgbClr val="1A2130"/>
                          </a:solidFill>
                          <a:latin typeface="Calibri"/>
                        </a:rPr>
                        <a:t>Anthropic API
(including Claude Code)</a:t>
                      </a:r>
                    </a:p>
                  </a:txBody>
                  <a:tcPr marL="64008" marR="64008" marT="27432" marB="27432" anchor="ctr">
                    <a:solidFill>
                      <a:srgbClr val="F4F6F2"/>
                    </a:solidFill>
                  </a:tcPr>
                </a:tc>
                <a:tc>
                  <a:txBody>
                    <a:bodyPr/>
                    <a:lstStyle/>
                    <a:p>
                      <a:pPr algn="l"/>
                      <a:r>
                        <a:rPr sz="1000" b="0" i="0">
                          <a:solidFill>
                            <a:srgbClr val="57626B"/>
                          </a:solidFill>
                          <a:latin typeface="Calibri"/>
                        </a:rPr>
                        <a:t>No, not by default; zero data retention available by agreement</a:t>
                      </a:r>
                    </a:p>
                  </a:txBody>
                  <a:tcPr marL="64008" marR="64008" marT="27432" marB="27432" anchor="ctr">
                    <a:solidFill>
                      <a:srgbClr val="F4F6F2"/>
                    </a:solidFill>
                  </a:tcPr>
                </a:tc>
                <a:tc>
                  <a:txBody>
                    <a:bodyPr/>
                    <a:lstStyle/>
                    <a:p>
                      <a:pPr algn="l"/>
                      <a:r>
                        <a:rPr sz="1000" b="0" i="0">
                          <a:solidFill>
                            <a:srgbClr val="57626B"/>
                          </a:solidFill>
                          <a:latin typeface="Calibri"/>
                        </a:rPr>
                        <a:t>Organization-level keys, workspaces, usage limits</a:t>
                      </a:r>
                    </a:p>
                  </a:txBody>
                  <a:tcPr marL="64008" marR="64008" marT="27432" marB="27432" anchor="ctr">
                    <a:solidFill>
                      <a:srgbClr val="F4F6F2"/>
                    </a:solidFill>
                  </a:tcPr>
                </a:tc>
                <a:tc>
                  <a:txBody>
                    <a:bodyPr/>
                    <a:lstStyle/>
                    <a:p>
                      <a:pPr algn="l"/>
                      <a:r>
                        <a:rPr sz="1000" b="1" i="0">
                          <a:solidFill>
                            <a:srgbClr val="0E7C66"/>
                          </a:solidFill>
                          <a:latin typeface="Calibri"/>
                        </a:rPr>
                        <a:t>Yes, </a:t>
                      </a:r>
                      <a:r>
                        <a:rPr sz="1000" b="0" i="0">
                          <a:solidFill>
                            <a:srgbClr val="57626B"/>
                          </a:solidFill>
                          <a:latin typeface="Calibri"/>
                        </a:rPr>
                        <a:t>when run under the client’s own API organization</a:t>
                      </a:r>
                    </a:p>
                  </a:txBody>
                  <a:tcPr marL="64008" marR="64008" marT="27432" marB="27432" anchor="ctr">
                    <a:solidFill>
                      <a:srgbClr val="F4F6F2"/>
                    </a:solidFill>
                  </a:tcPr>
                </a:tc>
                <a:tc>
                  <a:txBody>
                    <a:bodyPr/>
                    <a:lstStyle/>
                    <a:p>
                      <a:pPr algn="l"/>
                      <a:r>
                        <a:rPr sz="1000" b="1" i="0">
                          <a:solidFill>
                            <a:srgbClr val="0E7C66"/>
                          </a:solidFill>
                          <a:latin typeface="Calibri"/>
                        </a:rPr>
                        <a:t>Yes: </a:t>
                      </a:r>
                      <a:r>
                        <a:rPr sz="1000" b="0" i="0">
                          <a:solidFill>
                            <a:srgbClr val="57626B"/>
                          </a:solidFill>
                          <a:latin typeface="Calibri"/>
                        </a:rPr>
                        <a:t>for automated pipelines and Claude Code</a:t>
                      </a:r>
                    </a:p>
                  </a:txBody>
                  <a:tcPr marL="64008" marR="64008" marT="27432" marB="27432" anchor="ctr">
                    <a:solidFill>
                      <a:srgbClr val="F4F6F2"/>
                    </a:solidFill>
                  </a:tcPr>
                </a:tc>
                <a:extLst>
                  <a:ext uri="{0D108BD9-81ED-4DB2-BD59-A6C34878D82A}">
                    <a16:rowId xmlns:a16="http://schemas.microsoft.com/office/drawing/2014/main" val="10004"/>
                  </a:ext>
                </a:extLst>
              </a:tr>
              <a:tr h="603504">
                <a:tc>
                  <a:txBody>
                    <a:bodyPr/>
                    <a:lstStyle/>
                    <a:p>
                      <a:pPr algn="l"/>
                      <a:r>
                        <a:rPr sz="1000" b="1" i="0">
                          <a:solidFill>
                            <a:srgbClr val="1A2130"/>
                          </a:solidFill>
                          <a:latin typeface="Calibri"/>
                        </a:rPr>
                        <a:t>Claude in the client’s cloud
(Amazon Bedrock, Google Vertex AI, Microsoft Foundry)</a:t>
                      </a:r>
                    </a:p>
                  </a:txBody>
                  <a:tcPr marL="64008" marR="64008" marT="27432" marB="27432" anchor="ctr">
                    <a:solidFill>
                      <a:srgbClr val="FFFFFF"/>
                    </a:solidFill>
                  </a:tcPr>
                </a:tc>
                <a:tc>
                  <a:txBody>
                    <a:bodyPr/>
                    <a:lstStyle/>
                    <a:p>
                      <a:pPr algn="l"/>
                      <a:r>
                        <a:rPr sz="1000" b="0" i="0">
                          <a:solidFill>
                            <a:srgbClr val="57626B"/>
                          </a:solidFill>
                          <a:latin typeface="Calibri"/>
                        </a:rPr>
                        <a:t>Governed by the client’s agreement with that cloud provider</a:t>
                      </a:r>
                    </a:p>
                  </a:txBody>
                  <a:tcPr marL="64008" marR="64008" marT="27432" marB="27432" anchor="ctr">
                    <a:solidFill>
                      <a:srgbClr val="FFFFFF"/>
                    </a:solidFill>
                  </a:tcPr>
                </a:tc>
                <a:tc>
                  <a:txBody>
                    <a:bodyPr/>
                    <a:lstStyle/>
                    <a:p>
                      <a:pPr algn="l"/>
                      <a:r>
                        <a:rPr sz="1000" b="0" i="0">
                          <a:solidFill>
                            <a:srgbClr val="57626B"/>
                          </a:solidFill>
                          <a:latin typeface="Calibri"/>
                        </a:rPr>
                        <a:t>The client’s own identity, network and logging controls</a:t>
                      </a:r>
                    </a:p>
                  </a:txBody>
                  <a:tcPr marL="64008" marR="64008" marT="27432" marB="27432" anchor="ctr">
                    <a:solidFill>
                      <a:srgbClr val="FFFFFF"/>
                    </a:solidFill>
                  </a:tcPr>
                </a:tc>
                <a:tc>
                  <a:txBody>
                    <a:bodyPr/>
                    <a:lstStyle/>
                    <a:p>
                      <a:pPr algn="l"/>
                      <a:r>
                        <a:rPr sz="1000" b="1" i="0">
                          <a:solidFill>
                            <a:srgbClr val="0E7C66"/>
                          </a:solidFill>
                          <a:latin typeface="Calibri"/>
                        </a:rPr>
                        <a:t>Yes: </a:t>
                      </a:r>
                      <a:r>
                        <a:rPr sz="1000" b="0" i="0">
                          <a:solidFill>
                            <a:srgbClr val="57626B"/>
                          </a:solidFill>
                          <a:latin typeface="Calibri"/>
                        </a:rPr>
                        <a:t>often the easiest for the client’s security team to approve</a:t>
                      </a:r>
                    </a:p>
                  </a:txBody>
                  <a:tcPr marL="64008" marR="64008" marT="27432" marB="27432" anchor="ctr">
                    <a:solidFill>
                      <a:srgbClr val="FFFFFF"/>
                    </a:solidFill>
                  </a:tcPr>
                </a:tc>
                <a:tc>
                  <a:txBody>
                    <a:bodyPr/>
                    <a:lstStyle/>
                    <a:p>
                      <a:pPr algn="l"/>
                      <a:r>
                        <a:rPr sz="1000" b="1" i="0">
                          <a:solidFill>
                            <a:srgbClr val="57626B"/>
                          </a:solidFill>
                          <a:latin typeface="Calibri"/>
                        </a:rPr>
                        <a:t>n/a: </a:t>
                      </a:r>
                      <a:r>
                        <a:rPr sz="1000" b="0" i="0">
                          <a:solidFill>
                            <a:srgbClr val="57626B"/>
                          </a:solidFill>
                          <a:latin typeface="Calibri"/>
                        </a:rPr>
                        <a:t>the account belongs to the client</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2788920" y="1865376"/>
            <a:ext cx="4434840" cy="219456"/>
          </a:xfrm>
          <a:prstGeom prst="rect">
            <a:avLst/>
          </a:prstGeom>
          <a:noFill/>
        </p:spPr>
        <p:txBody>
          <a:bodyPr wrap="square" lIns="0" tIns="0" rIns="0" bIns="0" anchor="t">
            <a:spAutoFit/>
          </a:bodyPr>
          <a:lstStyle/>
          <a:p>
            <a:pPr algn="ctr"/>
            <a:r>
              <a:rPr sz="900" b="1" i="1">
                <a:solidFill>
                  <a:srgbClr val="5B6770"/>
                </a:solidFill>
                <a:latin typeface="Calibri"/>
              </a:rPr>
              <a:t>←  How the account handles data  →</a:t>
            </a:r>
          </a:p>
        </p:txBody>
      </p:sp>
      <p:sp>
        <p:nvSpPr>
          <p:cNvPr id="8" name="TextBox 7"/>
          <p:cNvSpPr txBox="1"/>
          <p:nvPr/>
        </p:nvSpPr>
        <p:spPr>
          <a:xfrm>
            <a:off x="7269480" y="1865376"/>
            <a:ext cx="4507992" cy="219456"/>
          </a:xfrm>
          <a:prstGeom prst="rect">
            <a:avLst/>
          </a:prstGeom>
          <a:noFill/>
        </p:spPr>
        <p:txBody>
          <a:bodyPr wrap="square" lIns="0" tIns="0" rIns="0" bIns="0" anchor="t">
            <a:spAutoFit/>
          </a:bodyPr>
          <a:lstStyle/>
          <a:p>
            <a:pPr algn="ctr"/>
            <a:r>
              <a:rPr sz="900" b="1" i="1">
                <a:solidFill>
                  <a:srgbClr val="86650F"/>
                </a:solidFill>
                <a:latin typeface="Calibri"/>
              </a:rPr>
              <a:t>←  What it means for the engagement  →</a:t>
            </a:r>
          </a:p>
        </p:txBody>
      </p:sp>
      <p:sp>
        <p:nvSpPr>
          <p:cNvPr id="9" name="Rounded Rectangle 8"/>
          <p:cNvSpPr/>
          <p:nvPr/>
        </p:nvSpPr>
        <p:spPr>
          <a:xfrm>
            <a:off x="457200" y="5925312"/>
            <a:ext cx="11274552" cy="47548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A2130"/>
                </a:solidFill>
                <a:latin typeface="Calibri"/>
              </a:rPr>
              <a:t>Bottom line: </a:t>
            </a:r>
            <a:r>
              <a:rPr sz="1050" b="0" i="0">
                <a:solidFill>
                  <a:srgbClr val="57626B"/>
                </a:solidFill>
                <a:latin typeface="Calibri"/>
              </a:rPr>
              <a:t>never put client material in a personal or consumer account, even a paid one. Use an account the client controls, or one both contracts explicitly allow.</a:t>
            </a:r>
          </a:p>
        </p:txBody>
      </p:sp>
      <p:sp>
        <p:nvSpPr>
          <p:cNvPr id="10" name="TextBox 9"/>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17</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Recommended arrangement: two environments, one method</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Firm IP is built at the firm. Client material is handled only inside the client’s environment.</a:t>
            </a:r>
          </a:p>
        </p:txBody>
      </p:sp>
      <p:sp>
        <p:nvSpPr>
          <p:cNvPr id="5" name="Rectangle 4"/>
          <p:cNvSpPr/>
          <p:nvPr/>
        </p:nvSpPr>
        <p:spPr>
          <a:xfrm>
            <a:off x="457200" y="1371600"/>
            <a:ext cx="4937760" cy="50292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alibri"/>
              </a:rPr>
              <a:t>FIRM ENVIRONMENT</a:t>
            </a:r>
          </a:p>
        </p:txBody>
      </p:sp>
      <p:sp>
        <p:nvSpPr>
          <p:cNvPr id="6" name="Rectangle 5"/>
          <p:cNvSpPr/>
          <p:nvPr/>
        </p:nvSpPr>
        <p:spPr>
          <a:xfrm>
            <a:off x="457200" y="1874519"/>
            <a:ext cx="4937760" cy="1600200"/>
          </a:xfrm>
          <a:prstGeom prst="rect">
            <a:avLst/>
          </a:prstGeom>
          <a:solidFill>
            <a:srgbClr val="E8ECEF"/>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1" i="0">
                <a:solidFill>
                  <a:srgbClr val="1A2130"/>
                </a:solidFill>
                <a:latin typeface="Calibri"/>
              </a:rPr>
              <a:t>Account: </a:t>
            </a:r>
            <a:r>
              <a:rPr sz="1150" b="0" i="0">
                <a:solidFill>
                  <a:srgbClr val="57626B"/>
                </a:solidFill>
                <a:latin typeface="Calibri"/>
              </a:rPr>
              <a:t>firm’s Claude Enterprise workspace or API organization</a:t>
            </a:r>
          </a:p>
          <a:p>
            <a:pPr algn="l"/>
            <a:r>
              <a:rPr sz="1150" b="0" i="0">
                <a:solidFill>
                  <a:srgbClr val="1A2130"/>
                </a:solidFill>
                <a:latin typeface="Calibri"/>
              </a:rPr>
              <a:t> </a:t>
            </a:r>
          </a:p>
          <a:p>
            <a:pPr algn="l"/>
            <a:r>
              <a:rPr sz="1150" b="0" i="0">
                <a:solidFill>
                  <a:srgbClr val="1A2130"/>
                </a:solidFill>
                <a:latin typeface="Calibri"/>
              </a:rPr>
              <a:t>• Build and improve the accelerator: script, templates, check catalog</a:t>
            </a:r>
          </a:p>
          <a:p>
            <a:pPr algn="l"/>
            <a:r>
              <a:rPr sz="1150" b="0" i="0">
                <a:solidFill>
                  <a:srgbClr val="1A2130"/>
                </a:solidFill>
                <a:latin typeface="Calibri"/>
              </a:rPr>
              <a:t>• Test only on synthetic or mock-up metadata</a:t>
            </a:r>
          </a:p>
          <a:p>
            <a:pPr algn="l"/>
            <a:r>
              <a:rPr sz="1150" b="0" i="0">
                <a:solidFill>
                  <a:srgbClr val="1A2130"/>
                </a:solidFill>
                <a:latin typeface="Calibri"/>
              </a:rPr>
              <a:t>• Firm repository holds the IP and its history</a:t>
            </a:r>
          </a:p>
        </p:txBody>
      </p:sp>
      <p:sp>
        <p:nvSpPr>
          <p:cNvPr id="7" name="Rectangle 6"/>
          <p:cNvSpPr/>
          <p:nvPr/>
        </p:nvSpPr>
        <p:spPr>
          <a:xfrm>
            <a:off x="6793992" y="1371600"/>
            <a:ext cx="4937760" cy="502920"/>
          </a:xfrm>
          <a:prstGeom prst="rect">
            <a:avLst/>
          </a:prstGeom>
          <a:solidFill>
            <a:srgbClr val="86650F"/>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FFFFFF"/>
                </a:solidFill>
                <a:latin typeface="Calibri"/>
              </a:rPr>
              <a:t>CLIENT ENVIRONMENT</a:t>
            </a:r>
          </a:p>
        </p:txBody>
      </p:sp>
      <p:sp>
        <p:nvSpPr>
          <p:cNvPr id="8" name="Rectangle 7"/>
          <p:cNvSpPr/>
          <p:nvPr/>
        </p:nvSpPr>
        <p:spPr>
          <a:xfrm>
            <a:off x="6793992" y="1874519"/>
            <a:ext cx="4937760" cy="1600200"/>
          </a:xfrm>
          <a:prstGeom prst="rect">
            <a:avLst/>
          </a:prstGeom>
          <a:solidFill>
            <a:srgbClr val="F6EFDA"/>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1" i="0">
                <a:solidFill>
                  <a:srgbClr val="1A2130"/>
                </a:solidFill>
                <a:latin typeface="Calibri"/>
              </a:rPr>
              <a:t>Account: </a:t>
            </a:r>
            <a:r>
              <a:rPr sz="1150" b="0" i="0">
                <a:solidFill>
                  <a:srgbClr val="57626B"/>
                </a:solidFill>
                <a:latin typeface="Calibri"/>
              </a:rPr>
              <a:t>client-provided Claude seat, client API organization, or Claude in the client’s cloud</a:t>
            </a:r>
          </a:p>
          <a:p>
            <a:pPr algn="l"/>
            <a:r>
              <a:rPr sz="1150" b="0" i="0">
                <a:solidFill>
                  <a:srgbClr val="1A2130"/>
                </a:solidFill>
                <a:latin typeface="Calibri"/>
              </a:rPr>
              <a:t> </a:t>
            </a:r>
          </a:p>
          <a:p>
            <a:pPr algn="l"/>
            <a:r>
              <a:rPr sz="1150" b="0" i="0">
                <a:solidFill>
                  <a:srgbClr val="1A2130"/>
                </a:solidFill>
                <a:latin typeface="Calibri"/>
              </a:rPr>
              <a:t>• Real metadata, code and aggregate profiles handled here only</a:t>
            </a:r>
          </a:p>
          <a:p>
            <a:pPr algn="l"/>
            <a:r>
              <a:rPr sz="1150" b="0" i="0">
                <a:solidFill>
                  <a:srgbClr val="1A2130"/>
                </a:solidFill>
                <a:latin typeface="Calibri"/>
              </a:rPr>
              <a:t>• Client repository holds metadata, code, tests and releases</a:t>
            </a:r>
          </a:p>
          <a:p>
            <a:pPr algn="l"/>
            <a:r>
              <a:rPr sz="1150" b="0" i="0">
                <a:solidFill>
                  <a:srgbClr val="1A2130"/>
                </a:solidFill>
                <a:latin typeface="Calibri"/>
              </a:rPr>
              <a:t>• Client identity, logging and retention controls apply</a:t>
            </a:r>
          </a:p>
        </p:txBody>
      </p:sp>
      <p:cxnSp>
        <p:nvCxnSpPr>
          <p:cNvPr id="9" name="Connector 8"/>
          <p:cNvCxnSpPr/>
          <p:nvPr/>
        </p:nvCxnSpPr>
        <p:spPr>
          <a:xfrm>
            <a:off x="5440680" y="2514600"/>
            <a:ext cx="1307592" cy="0"/>
          </a:xfrm>
          <a:prstGeom prst="line">
            <a:avLst/>
          </a:prstGeom>
          <a:ln w="25400">
            <a:solidFill>
              <a:srgbClr val="1A21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40680" y="2011680"/>
            <a:ext cx="1307592" cy="457200"/>
          </a:xfrm>
          <a:prstGeom prst="rect">
            <a:avLst/>
          </a:prstGeom>
          <a:noFill/>
        </p:spPr>
        <p:txBody>
          <a:bodyPr wrap="square" lIns="0" tIns="0" rIns="0" bIns="0" anchor="t">
            <a:spAutoFit/>
          </a:bodyPr>
          <a:lstStyle/>
          <a:p>
            <a:pPr algn="ctr"/>
            <a:r>
              <a:rPr sz="950" b="1" i="0">
                <a:solidFill>
                  <a:srgbClr val="1A2130"/>
                </a:solidFill>
                <a:latin typeface="Calibri"/>
              </a:rPr>
              <a:t>Accelerator licensed in</a:t>
            </a:r>
          </a:p>
        </p:txBody>
      </p:sp>
      <p:cxnSp>
        <p:nvCxnSpPr>
          <p:cNvPr id="11" name="Connector 10"/>
          <p:cNvCxnSpPr/>
          <p:nvPr/>
        </p:nvCxnSpPr>
        <p:spPr>
          <a:xfrm flipH="1">
            <a:off x="5440680" y="3017520"/>
            <a:ext cx="1307592" cy="0"/>
          </a:xfrm>
          <a:prstGeom prst="line">
            <a:avLst/>
          </a:prstGeom>
          <a:ln w="25400">
            <a:solidFill>
              <a:srgbClr val="9A332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40680" y="3063240"/>
            <a:ext cx="1307592" cy="548640"/>
          </a:xfrm>
          <a:prstGeom prst="rect">
            <a:avLst/>
          </a:prstGeom>
          <a:noFill/>
        </p:spPr>
        <p:txBody>
          <a:bodyPr wrap="square" lIns="0" tIns="0" rIns="0" bIns="0" anchor="t">
            <a:spAutoFit/>
          </a:bodyPr>
          <a:lstStyle/>
          <a:p>
            <a:pPr algn="ctr"/>
            <a:r>
              <a:rPr sz="950" b="1" i="0">
                <a:solidFill>
                  <a:srgbClr val="9A3324"/>
                </a:solidFill>
                <a:latin typeface="Calibri"/>
              </a:rPr>
              <a:t>Only generic lessons flow back</a:t>
            </a:r>
          </a:p>
        </p:txBody>
      </p:sp>
      <p:sp>
        <p:nvSpPr>
          <p:cNvPr id="13" name="TextBox 12"/>
          <p:cNvSpPr txBox="1"/>
          <p:nvPr/>
        </p:nvSpPr>
        <p:spPr>
          <a:xfrm>
            <a:off x="457200" y="3840480"/>
            <a:ext cx="11247120" cy="274320"/>
          </a:xfrm>
          <a:prstGeom prst="rect">
            <a:avLst/>
          </a:prstGeom>
          <a:noFill/>
        </p:spPr>
        <p:txBody>
          <a:bodyPr wrap="square" lIns="0" tIns="0" rIns="0" bIns="0" anchor="t">
            <a:spAutoFit/>
          </a:bodyPr>
          <a:lstStyle/>
          <a:p>
            <a:pPr algn="l"/>
            <a:r>
              <a:rPr sz="1050" b="1" i="0">
                <a:solidFill>
                  <a:srgbClr val="1A2130"/>
                </a:solidFill>
                <a:latin typeface="Courier New"/>
              </a:rPr>
              <a:t>IF THE CLIENT HAS NO CLAUDE ACCESS</a:t>
            </a:r>
          </a:p>
        </p:txBody>
      </p:sp>
      <p:sp>
        <p:nvSpPr>
          <p:cNvPr id="14" name="Rounded Rectangle 13"/>
          <p:cNvSpPr/>
          <p:nvPr/>
        </p:nvSpPr>
        <p:spPr>
          <a:xfrm>
            <a:off x="457200" y="4160520"/>
            <a:ext cx="3605784"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Option A: </a:t>
            </a:r>
            <a:r>
              <a:rPr sz="1050" b="0" i="0">
                <a:solidFill>
                  <a:srgbClr val="57626B"/>
                </a:solidFill>
                <a:latin typeface="Calibri"/>
              </a:rPr>
              <a:t>Claude in the client’s existing cloud: usually the fastest security approval</a:t>
            </a:r>
          </a:p>
        </p:txBody>
      </p:sp>
      <p:sp>
        <p:nvSpPr>
          <p:cNvPr id="15" name="Rounded Rectangle 14"/>
          <p:cNvSpPr/>
          <p:nvPr/>
        </p:nvSpPr>
        <p:spPr>
          <a:xfrm>
            <a:off x="4291584" y="4160520"/>
            <a:ext cx="3605784"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Option B: </a:t>
            </a:r>
            <a:r>
              <a:rPr sz="1050" b="0" i="0">
                <a:solidFill>
                  <a:srgbClr val="57626B"/>
                </a:solidFill>
                <a:latin typeface="Calibri"/>
              </a:rPr>
              <a:t>Work under the firm’s Enterprise account only with the client’s written approval that names the tool and the data in scope</a:t>
            </a:r>
          </a:p>
        </p:txBody>
      </p:sp>
      <p:sp>
        <p:nvSpPr>
          <p:cNvPr id="16" name="Rounded Rectangle 15"/>
          <p:cNvSpPr/>
          <p:nvPr/>
        </p:nvSpPr>
        <p:spPr>
          <a:xfrm>
            <a:off x="8125968" y="4160520"/>
            <a:ext cx="3605784"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Option C: </a:t>
            </a:r>
            <a:r>
              <a:rPr sz="1050" b="0" i="0">
                <a:solidFill>
                  <a:srgbClr val="57626B"/>
                </a:solidFill>
                <a:latin typeface="Calibri"/>
              </a:rPr>
              <a:t>Rename everything before sharing, or run the generator locally so Claude never sees real names (next page)</a:t>
            </a:r>
          </a:p>
        </p:txBody>
      </p:sp>
      <p:sp>
        <p:nvSpPr>
          <p:cNvPr id="17" name="TextBox 1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18</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Share less: metadata, code and aggregate results only</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strongest protection is not sending sensitive material at all. These practices work under any account.</a:t>
            </a:r>
          </a:p>
        </p:txBody>
      </p:sp>
      <p:sp>
        <p:nvSpPr>
          <p:cNvPr id="5" name="Rounded Rectangle 4"/>
          <p:cNvSpPr/>
          <p:nvPr/>
        </p:nvSpPr>
        <p:spPr>
          <a:xfrm>
            <a:off x="457200" y="1371600"/>
            <a:ext cx="5486400" cy="1097280"/>
          </a:xfrm>
          <a:prstGeom prst="roundRect">
            <a:avLst>
              <a:gd name="adj" fmla="val 10000"/>
            </a:avLst>
          </a:prstGeom>
          <a:solidFill>
            <a:srgbClr val="E3F1EC"/>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1" i="0">
                <a:solidFill>
                  <a:srgbClr val="0E7C66"/>
                </a:solidFill>
                <a:latin typeface="Calibri"/>
              </a:rPr>
              <a:t>Run the generator locally</a:t>
            </a:r>
          </a:p>
          <a:p>
            <a:pPr algn="l"/>
            <a:r>
              <a:rPr sz="1150" b="0" i="0">
                <a:solidFill>
                  <a:srgbClr val="57626B"/>
                </a:solidFill>
                <a:latin typeface="Calibri"/>
              </a:rPr>
              <a:t>Claude builds and tests the script on placeholder metadata; the real metadata is filled in and rendered on the client’s machine. Claude never sees real names.</a:t>
            </a:r>
          </a:p>
        </p:txBody>
      </p:sp>
      <p:sp>
        <p:nvSpPr>
          <p:cNvPr id="6" name="Rounded Rectangle 5"/>
          <p:cNvSpPr/>
          <p:nvPr/>
        </p:nvSpPr>
        <p:spPr>
          <a:xfrm>
            <a:off x="6245352" y="1371600"/>
            <a:ext cx="5486400" cy="1097280"/>
          </a:xfrm>
          <a:prstGeom prst="roundRect">
            <a:avLst>
              <a:gd name="adj" fmla="val 10000"/>
            </a:avLst>
          </a:prstGeom>
          <a:solidFill>
            <a:srgbClr val="E3F1EC"/>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1" i="0">
                <a:solidFill>
                  <a:srgbClr val="0E7C66"/>
                </a:solidFill>
                <a:latin typeface="Calibri"/>
              </a:rPr>
              <a:t>Rename consistently before sharing</a:t>
            </a:r>
          </a:p>
          <a:p>
            <a:pPr algn="l"/>
            <a:r>
              <a:rPr sz="1150" b="0" i="0">
                <a:solidFill>
                  <a:srgbClr val="57626B"/>
                </a:solidFill>
                <a:latin typeface="Calibri"/>
              </a:rPr>
              <a:t>When Claude must reason over DDL or code, replace system, schema and table names (“SystemZ” → “SRC_A”). Keep the key locally and substitute real names back with a script.</a:t>
            </a:r>
          </a:p>
        </p:txBody>
      </p:sp>
      <p:sp>
        <p:nvSpPr>
          <p:cNvPr id="7" name="Rounded Rectangle 6"/>
          <p:cNvSpPr/>
          <p:nvPr/>
        </p:nvSpPr>
        <p:spPr>
          <a:xfrm>
            <a:off x="457200" y="2651760"/>
            <a:ext cx="5486400" cy="1097280"/>
          </a:xfrm>
          <a:prstGeom prst="roundRect">
            <a:avLst>
              <a:gd name="adj" fmla="val 10000"/>
            </a:avLst>
          </a:prstGeom>
          <a:solidFill>
            <a:srgbClr val="F6E6E3"/>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1" i="0">
                <a:solidFill>
                  <a:srgbClr val="9A3324"/>
                </a:solidFill>
                <a:latin typeface="Calibri"/>
              </a:rPr>
              <a:t>Aggregates only, never rows</a:t>
            </a:r>
          </a:p>
          <a:p>
            <a:pPr algn="l"/>
            <a:r>
              <a:rPr sz="1150" b="0" i="0">
                <a:solidFill>
                  <a:srgbClr val="57626B"/>
                </a:solidFill>
                <a:latin typeface="Calibri"/>
              </a:rPr>
              <a:t>Profiling runs inside the client environment. Claude sees counts, null rates and ranges, never rows, account numbers or PII.</a:t>
            </a:r>
          </a:p>
        </p:txBody>
      </p:sp>
      <p:sp>
        <p:nvSpPr>
          <p:cNvPr id="8" name="Rounded Rectangle 7"/>
          <p:cNvSpPr/>
          <p:nvPr/>
        </p:nvSpPr>
        <p:spPr>
          <a:xfrm>
            <a:off x="6245352" y="2651760"/>
            <a:ext cx="5486400" cy="1097280"/>
          </a:xfrm>
          <a:prstGeom prst="roundRect">
            <a:avLst>
              <a:gd name="adj" fmla="val 10000"/>
            </a:avLst>
          </a:prstGeom>
          <a:solidFill>
            <a:srgbClr val="F6E6E3"/>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1" i="0">
                <a:solidFill>
                  <a:srgbClr val="9A3324"/>
                </a:solidFill>
                <a:latin typeface="Calibri"/>
              </a:rPr>
              <a:t>Keep regulatory context generic</a:t>
            </a:r>
          </a:p>
          <a:p>
            <a:pPr algn="l"/>
            <a:r>
              <a:rPr sz="1150" b="0" i="0">
                <a:solidFill>
                  <a:srgbClr val="57626B"/>
                </a:solidFill>
                <a:latin typeface="Calibri"/>
              </a:rPr>
              <a:t>“Call Report RC-N mapping” is public. Internal control IDs, exam findings and issue details are not.</a:t>
            </a:r>
          </a:p>
        </p:txBody>
      </p:sp>
      <p:sp>
        <p:nvSpPr>
          <p:cNvPr id="9" name="Rounded Rectangle 8"/>
          <p:cNvSpPr/>
          <p:nvPr/>
        </p:nvSpPr>
        <p:spPr>
          <a:xfrm>
            <a:off x="457200" y="4114800"/>
            <a:ext cx="11274552"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What to tell the client: </a:t>
            </a:r>
            <a:r>
              <a:rPr sz="1150" b="0" i="0">
                <a:solidFill>
                  <a:srgbClr val="57626B"/>
                </a:solidFill>
                <a:latin typeface="Calibri"/>
              </a:rPr>
              <a:t>“We’ll use Claude under your agreement or your cloud tenancy, where inputs aren’t used for training. Only metadata, code and aggregate profiling results are in scope, never customer records. Your people approve every step.”</a:t>
            </a:r>
          </a:p>
        </p:txBody>
      </p:sp>
      <p:sp>
        <p:nvSpPr>
          <p:cNvPr id="10" name="TextBox 9"/>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19</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Which Claude model for which task</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Match the model to the task. Model names reflect the lineup at the time of writing and will change.</a:t>
            </a:r>
          </a:p>
        </p:txBody>
      </p:sp>
      <p:graphicFrame>
        <p:nvGraphicFramePr>
          <p:cNvPr id="5" name="Table 4"/>
          <p:cNvGraphicFramePr>
            <a:graphicFrameLocks noGrp="1"/>
          </p:cNvGraphicFramePr>
          <p:nvPr/>
        </p:nvGraphicFramePr>
        <p:xfrm>
          <a:off x="457200" y="1325880"/>
          <a:ext cx="11274552" cy="3785616"/>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384048">
                <a:tc>
                  <a:txBody>
                    <a:bodyPr/>
                    <a:lstStyle/>
                    <a:p>
                      <a:pPr algn="l"/>
                      <a:r>
                        <a:rPr sz="1100" b="1" i="0">
                          <a:solidFill>
                            <a:srgbClr val="CADCEA"/>
                          </a:solidFill>
                          <a:latin typeface="Calibri"/>
                        </a:rPr>
                        <a:t>Task in the slice lifecycle</a:t>
                      </a:r>
                    </a:p>
                  </a:txBody>
                  <a:tcPr marL="64008" marR="64008" marT="27432" marB="27432" anchor="ctr">
                    <a:solidFill>
                      <a:srgbClr val="1A2130"/>
                    </a:solidFill>
                  </a:tcPr>
                </a:tc>
                <a:tc>
                  <a:txBody>
                    <a:bodyPr/>
                    <a:lstStyle/>
                    <a:p>
                      <a:pPr algn="l"/>
                      <a:r>
                        <a:rPr sz="1100" b="1" i="0">
                          <a:solidFill>
                            <a:srgbClr val="CADCEA"/>
                          </a:solidFill>
                          <a:latin typeface="Calibri"/>
                        </a:rPr>
                        <a:t>Suggested model</a:t>
                      </a:r>
                    </a:p>
                  </a:txBody>
                  <a:tcPr marL="64008" marR="64008" marT="27432" marB="27432" anchor="ctr">
                    <a:solidFill>
                      <a:srgbClr val="1A2130"/>
                    </a:solidFill>
                  </a:tcPr>
                </a:tc>
                <a:tc>
                  <a:txBody>
                    <a:bodyPr/>
                    <a:lstStyle/>
                    <a:p>
                      <a:pPr algn="l"/>
                      <a:r>
                        <a:rPr sz="1100" b="1" i="0">
                          <a:solidFill>
                            <a:srgbClr val="CADCEA"/>
                          </a:solidFill>
                          <a:latin typeface="Calibri"/>
                        </a:rPr>
                        <a:t>Why</a:t>
                      </a:r>
                    </a:p>
                  </a:txBody>
                  <a:tcPr marL="64008" marR="64008" marT="27432" marB="27432" anchor="ctr">
                    <a:solidFill>
                      <a:srgbClr val="1A2130"/>
                    </a:solidFill>
                  </a:tcPr>
                </a:tc>
                <a:extLst>
                  <a:ext uri="{0D108BD9-81ED-4DB2-BD59-A6C34878D82A}">
                    <a16:rowId xmlns:a16="http://schemas.microsoft.com/office/drawing/2014/main" val="10000"/>
                  </a:ext>
                </a:extLst>
              </a:tr>
              <a:tr h="566928">
                <a:tc>
                  <a:txBody>
                    <a:bodyPr/>
                    <a:lstStyle/>
                    <a:p>
                      <a:pPr algn="l"/>
                      <a:r>
                        <a:rPr sz="1100" b="1" i="0">
                          <a:solidFill>
                            <a:srgbClr val="1A2130"/>
                          </a:solidFill>
                          <a:latin typeface="Calibri"/>
                        </a:rPr>
                        <a:t>Inferring relationships, cardinality and grain; designing Gold facts</a:t>
                      </a:r>
                    </a:p>
                  </a:txBody>
                  <a:tcPr marL="64008" marR="64008" marT="27432" marB="27432" anchor="ctr">
                    <a:solidFill>
                      <a:srgbClr val="FFFFFF"/>
                    </a:solidFill>
                  </a:tcPr>
                </a:tc>
                <a:tc>
                  <a:txBody>
                    <a:bodyPr/>
                    <a:lstStyle/>
                    <a:p>
                      <a:pPr algn="l"/>
                      <a:r>
                        <a:rPr sz="1100" b="0" i="0">
                          <a:solidFill>
                            <a:srgbClr val="57626B"/>
                          </a:solidFill>
                          <a:latin typeface="Calibri"/>
                        </a:rPr>
                        <a:t>Claude Opus 5.5</a:t>
                      </a:r>
                    </a:p>
                  </a:txBody>
                  <a:tcPr marL="64008" marR="64008" marT="27432" marB="27432" anchor="ctr">
                    <a:solidFill>
                      <a:srgbClr val="FFFFFF"/>
                    </a:solidFill>
                  </a:tcPr>
                </a:tc>
                <a:tc>
                  <a:txBody>
                    <a:bodyPr/>
                    <a:lstStyle/>
                    <a:p>
                      <a:pPr algn="l"/>
                      <a:r>
                        <a:rPr sz="1100" b="0" i="0">
                          <a:solidFill>
                            <a:srgbClr val="57626B"/>
                          </a:solidFill>
                          <a:latin typeface="Calibri"/>
                        </a:rPr>
                        <a:t>Hardest reasoning: ambiguous keys, business-rule cardinality, mixed grains</a:t>
                      </a:r>
                    </a:p>
                  </a:txBody>
                  <a:tcPr marL="64008" marR="64008"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100" b="1" i="0">
                          <a:solidFill>
                            <a:srgbClr val="1A2130"/>
                          </a:solidFill>
                          <a:latin typeface="Calibri"/>
                        </a:rPr>
                        <a:t>Tracing lineage and root causes through pipeline code</a:t>
                      </a:r>
                    </a:p>
                  </a:txBody>
                  <a:tcPr marL="64008" marR="64008" marT="27432" marB="27432" anchor="ctr">
                    <a:solidFill>
                      <a:srgbClr val="F4F6F2"/>
                    </a:solidFill>
                  </a:tcPr>
                </a:tc>
                <a:tc>
                  <a:txBody>
                    <a:bodyPr/>
                    <a:lstStyle/>
                    <a:p>
                      <a:pPr algn="l"/>
                      <a:r>
                        <a:rPr sz="1100" b="0" i="0">
                          <a:solidFill>
                            <a:srgbClr val="57626B"/>
                          </a:solidFill>
                          <a:latin typeface="Calibri"/>
                        </a:rPr>
                        <a:t>Claude Opus 5.5</a:t>
                      </a:r>
                    </a:p>
                  </a:txBody>
                  <a:tcPr marL="64008" marR="64008" marT="27432" marB="27432" anchor="ctr">
                    <a:solidFill>
                      <a:srgbClr val="F4F6F2"/>
                    </a:solidFill>
                  </a:tcPr>
                </a:tc>
                <a:tc>
                  <a:txBody>
                    <a:bodyPr/>
                    <a:lstStyle/>
                    <a:p>
                      <a:pPr algn="l"/>
                      <a:r>
                        <a:rPr sz="1100" b="0" i="0">
                          <a:solidFill>
                            <a:srgbClr val="57626B"/>
                          </a:solidFill>
                          <a:latin typeface="Calibri"/>
                        </a:rPr>
                        <a:t>Needs the whole flow in view and careful reasoning</a:t>
                      </a:r>
                    </a:p>
                  </a:txBody>
                  <a:tcPr marL="64008" marR="64008" marT="27432" marB="27432" anchor="ctr">
                    <a:solidFill>
                      <a:srgbClr val="F4F6F2"/>
                    </a:solidFill>
                  </a:tcPr>
                </a:tc>
                <a:extLst>
                  <a:ext uri="{0D108BD9-81ED-4DB2-BD59-A6C34878D82A}">
                    <a16:rowId xmlns:a16="http://schemas.microsoft.com/office/drawing/2014/main" val="10002"/>
                  </a:ext>
                </a:extLst>
              </a:tr>
              <a:tr h="566928">
                <a:tc>
                  <a:txBody>
                    <a:bodyPr/>
                    <a:lstStyle/>
                    <a:p>
                      <a:pPr algn="l"/>
                      <a:r>
                        <a:rPr sz="1100" b="1" i="0">
                          <a:solidFill>
                            <a:srgbClr val="1A2130"/>
                          </a:solidFill>
                          <a:latin typeface="Calibri"/>
                        </a:rPr>
                        <a:t>Generating DDL, pipeline code and tests from approved metadata</a:t>
                      </a:r>
                    </a:p>
                  </a:txBody>
                  <a:tcPr marL="64008" marR="64008" marT="27432" marB="27432" anchor="ctr">
                    <a:solidFill>
                      <a:srgbClr val="FFFFFF"/>
                    </a:solidFill>
                  </a:tcPr>
                </a:tc>
                <a:tc>
                  <a:txBody>
                    <a:bodyPr/>
                    <a:lstStyle/>
                    <a:p>
                      <a:pPr algn="l"/>
                      <a:r>
                        <a:rPr sz="1100" b="0" i="0">
                          <a:solidFill>
                            <a:srgbClr val="57626B"/>
                          </a:solidFill>
                          <a:latin typeface="Calibri"/>
                        </a:rPr>
                        <a:t>Claude Sonnet 5</a:t>
                      </a:r>
                    </a:p>
                  </a:txBody>
                  <a:tcPr marL="64008" marR="64008" marT="27432" marB="27432" anchor="ctr">
                    <a:solidFill>
                      <a:srgbClr val="FFFFFF"/>
                    </a:solidFill>
                  </a:tcPr>
                </a:tc>
                <a:tc>
                  <a:txBody>
                    <a:bodyPr/>
                    <a:lstStyle/>
                    <a:p>
                      <a:pPr algn="l"/>
                      <a:r>
                        <a:rPr sz="1100" b="0" i="0">
                          <a:solidFill>
                            <a:srgbClr val="57626B"/>
                          </a:solidFill>
                          <a:latin typeface="Calibri"/>
                        </a:rPr>
                        <a:t>Well-specified coding at a good balance of speed and quality</a:t>
                      </a:r>
                    </a:p>
                  </a:txBody>
                  <a:tcPr marL="64008" marR="64008"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sz="1100" b="1" i="0">
                          <a:solidFill>
                            <a:srgbClr val="1A2130"/>
                          </a:solidFill>
                          <a:latin typeface="Calibri"/>
                        </a:rPr>
                        <a:t>Writing profiling and reconciliation queries</a:t>
                      </a:r>
                    </a:p>
                  </a:txBody>
                  <a:tcPr marL="64008" marR="64008" marT="27432" marB="27432" anchor="ctr">
                    <a:solidFill>
                      <a:srgbClr val="F4F6F2"/>
                    </a:solidFill>
                  </a:tcPr>
                </a:tc>
                <a:tc>
                  <a:txBody>
                    <a:bodyPr/>
                    <a:lstStyle/>
                    <a:p>
                      <a:pPr algn="l"/>
                      <a:r>
                        <a:rPr sz="1100" b="0" i="0">
                          <a:solidFill>
                            <a:srgbClr val="57626B"/>
                          </a:solidFill>
                          <a:latin typeface="Calibri"/>
                        </a:rPr>
                        <a:t>Claude Sonnet 5</a:t>
                      </a:r>
                    </a:p>
                  </a:txBody>
                  <a:tcPr marL="64008" marR="64008" marT="27432" marB="27432" anchor="ctr">
                    <a:solidFill>
                      <a:srgbClr val="F4F6F2"/>
                    </a:solidFill>
                  </a:tcPr>
                </a:tc>
                <a:tc>
                  <a:txBody>
                    <a:bodyPr/>
                    <a:lstStyle/>
                    <a:p>
                      <a:pPr algn="l"/>
                      <a:r>
                        <a:rPr sz="1100" b="0" i="0">
                          <a:solidFill>
                            <a:srgbClr val="57626B"/>
                          </a:solidFill>
                          <a:latin typeface="Calibri"/>
                        </a:rPr>
                        <a:t>Structured SQL; results reviewed by people</a:t>
                      </a:r>
                    </a:p>
                  </a:txBody>
                  <a:tcPr marL="64008" marR="64008" marT="27432" marB="27432" anchor="ctr">
                    <a:solidFill>
                      <a:srgbClr val="F4F6F2"/>
                    </a:solidFill>
                  </a:tcPr>
                </a:tc>
                <a:extLst>
                  <a:ext uri="{0D108BD9-81ED-4DB2-BD59-A6C34878D82A}">
                    <a16:rowId xmlns:a16="http://schemas.microsoft.com/office/drawing/2014/main" val="10004"/>
                  </a:ext>
                </a:extLst>
              </a:tr>
              <a:tr h="566928">
                <a:tc>
                  <a:txBody>
                    <a:bodyPr/>
                    <a:lstStyle/>
                    <a:p>
                      <a:pPr algn="l"/>
                      <a:r>
                        <a:rPr sz="1100" b="1" i="0">
                          <a:solidFill>
                            <a:srgbClr val="1A2130"/>
                          </a:solidFill>
                          <a:latin typeface="Calibri"/>
                        </a:rPr>
                        <a:t>Drafting data dictionary rows, release notes and documents</a:t>
                      </a:r>
                    </a:p>
                  </a:txBody>
                  <a:tcPr marL="64008" marR="64008" marT="27432" marB="27432" anchor="ctr">
                    <a:solidFill>
                      <a:srgbClr val="FFFFFF"/>
                    </a:solidFill>
                  </a:tcPr>
                </a:tc>
                <a:tc>
                  <a:txBody>
                    <a:bodyPr/>
                    <a:lstStyle/>
                    <a:p>
                      <a:pPr algn="l"/>
                      <a:r>
                        <a:rPr sz="1100" b="0" i="0">
                          <a:solidFill>
                            <a:srgbClr val="57626B"/>
                          </a:solidFill>
                          <a:latin typeface="Calibri"/>
                        </a:rPr>
                        <a:t>Claude Sonnet 5</a:t>
                      </a:r>
                    </a:p>
                  </a:txBody>
                  <a:tcPr marL="64008" marR="64008" marT="27432" marB="27432" anchor="ctr">
                    <a:solidFill>
                      <a:srgbClr val="FFFFFF"/>
                    </a:solidFill>
                  </a:tcPr>
                </a:tc>
                <a:tc>
                  <a:txBody>
                    <a:bodyPr/>
                    <a:lstStyle/>
                    <a:p>
                      <a:pPr algn="l"/>
                      <a:r>
                        <a:rPr sz="1100" b="0" i="0">
                          <a:solidFill>
                            <a:srgbClr val="57626B"/>
                          </a:solidFill>
                          <a:latin typeface="Calibri"/>
                        </a:rPr>
                        <a:t>High-volume, structured writing</a:t>
                      </a:r>
                    </a:p>
                  </a:txBody>
                  <a:tcPr marL="64008" marR="64008" marT="27432" marB="27432" anchor="ctr">
                    <a:solidFill>
                      <a:srgbClr val="FFFFFF"/>
                    </a:solidFill>
                  </a:tcPr>
                </a:tc>
                <a:extLst>
                  <a:ext uri="{0D108BD9-81ED-4DB2-BD59-A6C34878D82A}">
                    <a16:rowId xmlns:a16="http://schemas.microsoft.com/office/drawing/2014/main" val="10005"/>
                  </a:ext>
                </a:extLst>
              </a:tr>
              <a:tr h="566928">
                <a:tc>
                  <a:txBody>
                    <a:bodyPr/>
                    <a:lstStyle/>
                    <a:p>
                      <a:pPr algn="l"/>
                      <a:r>
                        <a:rPr sz="1100" b="1" i="0">
                          <a:solidFill>
                            <a:srgbClr val="1A2130"/>
                          </a:solidFill>
                          <a:latin typeface="Calibri"/>
                        </a:rPr>
                        <a:t>Bulk format checks, renaming keys, simple classification</a:t>
                      </a:r>
                    </a:p>
                  </a:txBody>
                  <a:tcPr marL="64008" marR="64008" marT="27432" marB="27432" anchor="ctr">
                    <a:solidFill>
                      <a:srgbClr val="F4F6F2"/>
                    </a:solidFill>
                  </a:tcPr>
                </a:tc>
                <a:tc>
                  <a:txBody>
                    <a:bodyPr/>
                    <a:lstStyle/>
                    <a:p>
                      <a:pPr algn="l"/>
                      <a:r>
                        <a:rPr sz="1100" b="0" i="0">
                          <a:solidFill>
                            <a:srgbClr val="57626B"/>
                          </a:solidFill>
                          <a:latin typeface="Calibri"/>
                        </a:rPr>
                        <a:t>Claude Haiku 4.5</a:t>
                      </a:r>
                    </a:p>
                  </a:txBody>
                  <a:tcPr marL="64008" marR="64008" marT="27432" marB="27432" anchor="ctr">
                    <a:solidFill>
                      <a:srgbClr val="F4F6F2"/>
                    </a:solidFill>
                  </a:tcPr>
                </a:tc>
                <a:tc>
                  <a:txBody>
                    <a:bodyPr/>
                    <a:lstStyle/>
                    <a:p>
                      <a:pPr algn="l"/>
                      <a:r>
                        <a:rPr sz="1100" b="0" i="0">
                          <a:solidFill>
                            <a:srgbClr val="57626B"/>
                          </a:solidFill>
                          <a:latin typeface="Calibri"/>
                        </a:rPr>
                        <a:t>Fast and light for repetitive, low-ambiguity work</a:t>
                      </a:r>
                    </a:p>
                  </a:txBody>
                  <a:tcPr marL="64008" marR="64008" marT="27432" marB="27432" anchor="ctr">
                    <a:solidFill>
                      <a:srgbClr val="F4F6F2"/>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457200" y="5257800"/>
            <a:ext cx="11274552" cy="6400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Account first, model second: </a:t>
            </a:r>
            <a:r>
              <a:rPr sz="1100" b="0" i="0">
                <a:solidFill>
                  <a:srgbClr val="57626B"/>
                </a:solidFill>
                <a:latin typeface="Calibri"/>
              </a:rPr>
              <a:t>the account decides where data goes and how it is protected. Every model above is available through the same commercial accounts.</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20</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How AI tools compare for this kind of work</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A qualitative view across the capabilities used to build this series.</a:t>
            </a:r>
          </a:p>
        </p:txBody>
      </p:sp>
      <p:sp>
        <p:nvSpPr>
          <p:cNvPr id="5" name="Rounded Rectangle 4"/>
          <p:cNvSpPr/>
          <p:nvPr/>
        </p:nvSpPr>
        <p:spPr>
          <a:xfrm>
            <a:off x="457200" y="1280160"/>
            <a:ext cx="11274552" cy="457200"/>
          </a:xfrm>
          <a:prstGeom prst="roundRect">
            <a:avLst>
              <a:gd name="adj" fmla="val 10000"/>
            </a:avLst>
          </a:prstGeom>
          <a:solidFill>
            <a:srgbClr val="F6E6E3"/>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00" b="1" i="0">
                <a:solidFill>
                  <a:srgbClr val="9A3324"/>
                </a:solidFill>
                <a:latin typeface="Calibri"/>
              </a:rPr>
              <a:t>Read with care: </a:t>
            </a:r>
            <a:r>
              <a:rPr sz="1000" b="0" i="0">
                <a:solidFill>
                  <a:srgbClr val="57626B"/>
                </a:solidFill>
                <a:latin typeface="Calibri"/>
              </a:rPr>
              <a:t>written by Claude, so treat it with some skepticism. Ratings are judgments, not benchmarks, and product features change often: verify before relying on it.</a:t>
            </a:r>
          </a:p>
        </p:txBody>
      </p:sp>
      <p:graphicFrame>
        <p:nvGraphicFramePr>
          <p:cNvPr id="6" name="Table 5"/>
          <p:cNvGraphicFramePr>
            <a:graphicFrameLocks noGrp="1"/>
          </p:cNvGraphicFramePr>
          <p:nvPr/>
        </p:nvGraphicFramePr>
        <p:xfrm>
          <a:off x="457200" y="1847088"/>
          <a:ext cx="11274552" cy="4443984"/>
        </p:xfrm>
        <a:graphic>
          <a:graphicData uri="http://schemas.openxmlformats.org/drawingml/2006/table">
            <a:tbl>
              <a:tblPr firstRow="1" bandRow="1">
                <a:tableStyleId>{5C22544A-7EE6-4342-B048-85BDC9FD1C3A}</a:tableStyleId>
              </a:tblPr>
              <a:tblGrid>
                <a:gridCol w="2039112">
                  <a:extLst>
                    <a:ext uri="{9D8B030D-6E8A-4147-A177-3AD203B41FA5}">
                      <a16:colId xmlns:a16="http://schemas.microsoft.com/office/drawing/2014/main" val="20000"/>
                    </a:ext>
                  </a:extLst>
                </a:gridCol>
                <a:gridCol w="1847088">
                  <a:extLst>
                    <a:ext uri="{9D8B030D-6E8A-4147-A177-3AD203B41FA5}">
                      <a16:colId xmlns:a16="http://schemas.microsoft.com/office/drawing/2014/main" val="20001"/>
                    </a:ext>
                  </a:extLst>
                </a:gridCol>
                <a:gridCol w="1847088">
                  <a:extLst>
                    <a:ext uri="{9D8B030D-6E8A-4147-A177-3AD203B41FA5}">
                      <a16:colId xmlns:a16="http://schemas.microsoft.com/office/drawing/2014/main" val="20002"/>
                    </a:ext>
                  </a:extLst>
                </a:gridCol>
                <a:gridCol w="1847088">
                  <a:extLst>
                    <a:ext uri="{9D8B030D-6E8A-4147-A177-3AD203B41FA5}">
                      <a16:colId xmlns:a16="http://schemas.microsoft.com/office/drawing/2014/main" val="20003"/>
                    </a:ext>
                  </a:extLst>
                </a:gridCol>
                <a:gridCol w="1847088">
                  <a:extLst>
                    <a:ext uri="{9D8B030D-6E8A-4147-A177-3AD203B41FA5}">
                      <a16:colId xmlns:a16="http://schemas.microsoft.com/office/drawing/2014/main" val="20004"/>
                    </a:ext>
                  </a:extLst>
                </a:gridCol>
                <a:gridCol w="1847088">
                  <a:extLst>
                    <a:ext uri="{9D8B030D-6E8A-4147-A177-3AD203B41FA5}">
                      <a16:colId xmlns:a16="http://schemas.microsoft.com/office/drawing/2014/main" val="20005"/>
                    </a:ext>
                  </a:extLst>
                </a:gridCol>
              </a:tblGrid>
              <a:tr h="475488">
                <a:tc>
                  <a:txBody>
                    <a:bodyPr/>
                    <a:lstStyle/>
                    <a:p>
                      <a:pPr algn="l"/>
                      <a:r>
                        <a:rPr sz="950" b="1" i="0">
                          <a:solidFill>
                            <a:srgbClr val="CADCEA"/>
                          </a:solidFill>
                          <a:latin typeface="Calibri"/>
                        </a:rPr>
                        <a:t>Capability</a:t>
                      </a:r>
                    </a:p>
                  </a:txBody>
                  <a:tcPr marL="64008" marR="64008" marT="27432" marB="27432" anchor="ctr">
                    <a:solidFill>
                      <a:srgbClr val="1A2130"/>
                    </a:solidFill>
                  </a:tcPr>
                </a:tc>
                <a:tc>
                  <a:txBody>
                    <a:bodyPr/>
                    <a:lstStyle/>
                    <a:p>
                      <a:pPr algn="l"/>
                      <a:r>
                        <a:rPr sz="950" b="1" i="0">
                          <a:solidFill>
                            <a:srgbClr val="CADCEA"/>
                          </a:solidFill>
                          <a:latin typeface="Calibri"/>
                        </a:rPr>
                        <a:t>Claude
(Claude Code)</a:t>
                      </a:r>
                    </a:p>
                  </a:txBody>
                  <a:tcPr marL="64008" marR="64008" marT="27432" marB="27432" anchor="ctr">
                    <a:solidFill>
                      <a:srgbClr val="1A2130"/>
                    </a:solidFill>
                  </a:tcPr>
                </a:tc>
                <a:tc>
                  <a:txBody>
                    <a:bodyPr/>
                    <a:lstStyle/>
                    <a:p>
                      <a:pPr algn="l"/>
                      <a:r>
                        <a:rPr sz="950" b="1" i="0">
                          <a:solidFill>
                            <a:srgbClr val="CADCEA"/>
                          </a:solidFill>
                          <a:latin typeface="Calibri"/>
                        </a:rPr>
                        <a:t>Microsoft 365
Copilot</a:t>
                      </a:r>
                    </a:p>
                  </a:txBody>
                  <a:tcPr marL="64008" marR="64008" marT="27432" marB="27432" anchor="ctr">
                    <a:solidFill>
                      <a:srgbClr val="1A2130"/>
                    </a:solidFill>
                  </a:tcPr>
                </a:tc>
                <a:tc>
                  <a:txBody>
                    <a:bodyPr/>
                    <a:lstStyle/>
                    <a:p>
                      <a:pPr algn="l"/>
                      <a:r>
                        <a:rPr sz="950" b="1" i="0">
                          <a:solidFill>
                            <a:srgbClr val="CADCEA"/>
                          </a:solidFill>
                          <a:latin typeface="Calibri"/>
                        </a:rPr>
                        <a:t>GitHub
Copilot</a:t>
                      </a:r>
                    </a:p>
                  </a:txBody>
                  <a:tcPr marL="64008" marR="64008" marT="27432" marB="27432" anchor="ctr">
                    <a:solidFill>
                      <a:srgbClr val="1A2130"/>
                    </a:solidFill>
                  </a:tcPr>
                </a:tc>
                <a:tc>
                  <a:txBody>
                    <a:bodyPr/>
                    <a:lstStyle/>
                    <a:p>
                      <a:pPr algn="l"/>
                      <a:r>
                        <a:rPr sz="950" b="1" i="0">
                          <a:solidFill>
                            <a:srgbClr val="CADCEA"/>
                          </a:solidFill>
                          <a:latin typeface="Calibri"/>
                        </a:rPr>
                        <a:t>ChatGPT
Enterprise</a:t>
                      </a:r>
                    </a:p>
                  </a:txBody>
                  <a:tcPr marL="64008" marR="64008" marT="27432" marB="27432" anchor="ctr">
                    <a:solidFill>
                      <a:srgbClr val="1A2130"/>
                    </a:solidFill>
                  </a:tcPr>
                </a:tc>
                <a:tc>
                  <a:txBody>
                    <a:bodyPr/>
                    <a:lstStyle/>
                    <a:p>
                      <a:pPr algn="l"/>
                      <a:r>
                        <a:rPr sz="950" b="1" i="0">
                          <a:solidFill>
                            <a:srgbClr val="CADCEA"/>
                          </a:solidFill>
                          <a:latin typeface="Calibri"/>
                        </a:rPr>
                        <a:t>Gemini
(Workspace)</a:t>
                      </a:r>
                    </a:p>
                  </a:txBody>
                  <a:tcPr marL="64008" marR="64008" marT="27432" marB="27432" anchor="ctr">
                    <a:solidFill>
                      <a:srgbClr val="1A2130"/>
                    </a:solidFill>
                  </a:tcPr>
                </a:tc>
                <a:extLst>
                  <a:ext uri="{0D108BD9-81ED-4DB2-BD59-A6C34878D82A}">
                    <a16:rowId xmlns:a16="http://schemas.microsoft.com/office/drawing/2014/main" val="10000"/>
                  </a:ext>
                </a:extLst>
              </a:tr>
              <a:tr h="566928">
                <a:tc>
                  <a:txBody>
                    <a:bodyPr/>
                    <a:lstStyle/>
                    <a:p>
                      <a:pPr algn="l"/>
                      <a:r>
                        <a:rPr sz="950" b="1" i="0">
                          <a:solidFill>
                            <a:srgbClr val="1A2130"/>
                          </a:solidFill>
                          <a:latin typeface="Calibri"/>
                        </a:rPr>
                        <a:t>Code
(build scripts, SQL, Python)</a:t>
                      </a:r>
                    </a:p>
                  </a:txBody>
                  <a:tcPr marL="64008" marR="64008" marT="27432" marB="27432" anchor="ctr">
                    <a:solidFill>
                      <a:srgbClr val="FFFFFF"/>
                    </a:solidFill>
                  </a:tcPr>
                </a:tc>
                <a:tc>
                  <a:txBody>
                    <a:bodyPr/>
                    <a:lstStyle/>
                    <a:p>
                      <a:pPr algn="l"/>
                      <a:r>
                        <a:rPr sz="950" b="0" i="0">
                          <a:solidFill>
                            <a:srgbClr val="57626B"/>
                          </a:solidFill>
                          <a:latin typeface="Calibri"/>
                        </a:rPr>
                        <a:t>Strong; writes, runs and tests code locally</a:t>
                      </a:r>
                    </a:p>
                  </a:txBody>
                  <a:tcPr marL="64008" marR="64008" marT="27432" marB="27432" anchor="ctr">
                    <a:solidFill>
                      <a:srgbClr val="FFFFFF"/>
                    </a:solidFill>
                  </a:tcPr>
                </a:tc>
                <a:tc>
                  <a:txBody>
                    <a:bodyPr/>
                    <a:lstStyle/>
                    <a:p>
                      <a:pPr algn="l"/>
                      <a:r>
                        <a:rPr sz="950" b="0" i="0">
                          <a:solidFill>
                            <a:srgbClr val="57626B"/>
                          </a:solidFill>
                          <a:latin typeface="Calibri"/>
                        </a:rPr>
                        <a:t>Limited; not built for coding</a:t>
                      </a:r>
                    </a:p>
                  </a:txBody>
                  <a:tcPr marL="64008" marR="64008" marT="27432" marB="27432" anchor="ctr">
                    <a:solidFill>
                      <a:srgbClr val="FFFFFF"/>
                    </a:solidFill>
                  </a:tcPr>
                </a:tc>
                <a:tc>
                  <a:txBody>
                    <a:bodyPr/>
                    <a:lstStyle/>
                    <a:p>
                      <a:pPr algn="l"/>
                      <a:r>
                        <a:rPr sz="950" b="0" i="0">
                          <a:solidFill>
                            <a:srgbClr val="57626B"/>
                          </a:solidFill>
                          <a:latin typeface="Calibri"/>
                        </a:rPr>
                        <a:t>Strong in the editor; offers several models, incl. Claude</a:t>
                      </a:r>
                    </a:p>
                  </a:txBody>
                  <a:tcPr marL="64008" marR="64008" marT="27432" marB="27432" anchor="ctr">
                    <a:solidFill>
                      <a:srgbClr val="FFFFFF"/>
                    </a:solidFill>
                  </a:tcPr>
                </a:tc>
                <a:tc>
                  <a:txBody>
                    <a:bodyPr/>
                    <a:lstStyle/>
                    <a:p>
                      <a:pPr algn="l"/>
                      <a:r>
                        <a:rPr sz="950" b="0" i="0">
                          <a:solidFill>
                            <a:srgbClr val="57626B"/>
                          </a:solidFill>
                          <a:latin typeface="Calibri"/>
                        </a:rPr>
                        <a:t>Strong; runs code in its own sandbox</a:t>
                      </a:r>
                    </a:p>
                  </a:txBody>
                  <a:tcPr marL="64008" marR="64008" marT="27432" marB="27432" anchor="ctr">
                    <a:solidFill>
                      <a:srgbClr val="FFFFFF"/>
                    </a:solidFill>
                  </a:tcPr>
                </a:tc>
                <a:tc>
                  <a:txBody>
                    <a:bodyPr/>
                    <a:lstStyle/>
                    <a:p>
                      <a:pPr algn="l"/>
                      <a:r>
                        <a:rPr sz="950" b="0" i="0">
                          <a:solidFill>
                            <a:srgbClr val="57626B"/>
                          </a:solidFill>
                          <a:latin typeface="Calibri"/>
                        </a:rPr>
                        <a:t>Good; strongest in Google’s own tools</a:t>
                      </a:r>
                    </a:p>
                  </a:txBody>
                  <a:tcPr marL="64008" marR="64008"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950" b="1" i="0">
                          <a:solidFill>
                            <a:srgbClr val="1A2130"/>
                          </a:solidFill>
                          <a:latin typeface="Calibri"/>
                        </a:rPr>
                        <a:t>PowerPoint</a:t>
                      </a:r>
                    </a:p>
                  </a:txBody>
                  <a:tcPr marL="64008" marR="64008" marT="27432" marB="27432" anchor="ctr">
                    <a:solidFill>
                      <a:srgbClr val="F4F6F2"/>
                    </a:solidFill>
                  </a:tcPr>
                </a:tc>
                <a:tc>
                  <a:txBody>
                    <a:bodyPr/>
                    <a:lstStyle/>
                    <a:p>
                      <a:pPr algn="l"/>
                      <a:r>
                        <a:rPr sz="950" b="0" i="0">
                          <a:solidFill>
                            <a:srgbClr val="57626B"/>
                          </a:solidFill>
                          <a:latin typeface="Calibri"/>
                        </a:rPr>
                        <a:t>Precise decks built from code: exact diagrams, validated layouts</a:t>
                      </a:r>
                    </a:p>
                  </a:txBody>
                  <a:tcPr marL="64008" marR="64008" marT="27432" marB="27432" anchor="ctr">
                    <a:solidFill>
                      <a:srgbClr val="F4F6F2"/>
                    </a:solidFill>
                  </a:tcPr>
                </a:tc>
                <a:tc>
                  <a:txBody>
                    <a:bodyPr/>
                    <a:lstStyle/>
                    <a:p>
                      <a:pPr algn="l"/>
                      <a:r>
                        <a:rPr sz="950" b="0" i="0">
                          <a:solidFill>
                            <a:srgbClr val="57626B"/>
                          </a:solidFill>
                          <a:latin typeface="Calibri"/>
                        </a:rPr>
                        <a:t>Fastest quick deck from firm files; less control over precise diagrams</a:t>
                      </a:r>
                    </a:p>
                  </a:txBody>
                  <a:tcPr marL="64008" marR="64008" marT="27432" marB="27432" anchor="ctr">
                    <a:solidFill>
                      <a:srgbClr val="F4F6F2"/>
                    </a:solidFill>
                  </a:tcPr>
                </a:tc>
                <a:tc>
                  <a:txBody>
                    <a:bodyPr/>
                    <a:lstStyle/>
                    <a:p>
                      <a:pPr algn="l"/>
                      <a:r>
                        <a:rPr sz="950" b="0" i="0">
                          <a:solidFill>
                            <a:srgbClr val="57626B"/>
                          </a:solidFill>
                          <a:latin typeface="Calibri"/>
                        </a:rPr>
                        <a:t>Only by writing a generator script</a:t>
                      </a:r>
                    </a:p>
                  </a:txBody>
                  <a:tcPr marL="64008" marR="64008" marT="27432" marB="27432" anchor="ctr">
                    <a:solidFill>
                      <a:srgbClr val="F4F6F2"/>
                    </a:solidFill>
                  </a:tcPr>
                </a:tc>
                <a:tc>
                  <a:txBody>
                    <a:bodyPr/>
                    <a:lstStyle/>
                    <a:p>
                      <a:pPr algn="l"/>
                      <a:r>
                        <a:rPr sz="950" b="0" i="0">
                          <a:solidFill>
                            <a:srgbClr val="57626B"/>
                          </a:solidFill>
                          <a:latin typeface="Calibri"/>
                        </a:rPr>
                        <a:t>Can generate .pptx via code; weaker layout checks</a:t>
                      </a:r>
                    </a:p>
                  </a:txBody>
                  <a:tcPr marL="64008" marR="64008" marT="27432" marB="27432" anchor="ctr">
                    <a:solidFill>
                      <a:srgbClr val="F4F6F2"/>
                    </a:solidFill>
                  </a:tcPr>
                </a:tc>
                <a:tc>
                  <a:txBody>
                    <a:bodyPr/>
                    <a:lstStyle/>
                    <a:p>
                      <a:pPr algn="l"/>
                      <a:r>
                        <a:rPr sz="950" b="0" i="0">
                          <a:solidFill>
                            <a:srgbClr val="57626B"/>
                          </a:solidFill>
                          <a:latin typeface="Calibri"/>
                        </a:rPr>
                        <a:t>Native in Google Slides, not PowerPoint</a:t>
                      </a:r>
                    </a:p>
                  </a:txBody>
                  <a:tcPr marL="64008" marR="64008" marT="27432" marB="27432" anchor="ctr">
                    <a:solidFill>
                      <a:srgbClr val="F4F6F2"/>
                    </a:solidFill>
                  </a:tcPr>
                </a:tc>
                <a:extLst>
                  <a:ext uri="{0D108BD9-81ED-4DB2-BD59-A6C34878D82A}">
                    <a16:rowId xmlns:a16="http://schemas.microsoft.com/office/drawing/2014/main" val="10002"/>
                  </a:ext>
                </a:extLst>
              </a:tr>
              <a:tr h="566928">
                <a:tc>
                  <a:txBody>
                    <a:bodyPr/>
                    <a:lstStyle/>
                    <a:p>
                      <a:pPr algn="l"/>
                      <a:r>
                        <a:rPr sz="950" b="1" i="0">
                          <a:solidFill>
                            <a:srgbClr val="1A2130"/>
                          </a:solidFill>
                          <a:latin typeface="Calibri"/>
                        </a:rPr>
                        <a:t>Business depth
(lending lifecycle, use cases)</a:t>
                      </a:r>
                    </a:p>
                  </a:txBody>
                  <a:tcPr marL="64008" marR="64008" marT="27432" marB="27432" anchor="ctr">
                    <a:solidFill>
                      <a:srgbClr val="FFFFFF"/>
                    </a:solidFill>
                  </a:tcPr>
                </a:tc>
                <a:tc>
                  <a:txBody>
                    <a:bodyPr/>
                    <a:lstStyle/>
                    <a:p>
                      <a:pPr algn="l"/>
                      <a:r>
                        <a:rPr sz="950" b="0" i="0">
                          <a:solidFill>
                            <a:srgbClr val="57626B"/>
                          </a:solidFill>
                          <a:latin typeface="Calibri"/>
                        </a:rPr>
                        <a:t>Strong</a:t>
                      </a:r>
                    </a:p>
                  </a:txBody>
                  <a:tcPr marL="64008" marR="64008" marT="27432" marB="27432" anchor="ctr">
                    <a:solidFill>
                      <a:srgbClr val="FFFFFF"/>
                    </a:solidFill>
                  </a:tcPr>
                </a:tc>
                <a:tc>
                  <a:txBody>
                    <a:bodyPr/>
                    <a:lstStyle/>
                    <a:p>
                      <a:pPr algn="l"/>
                      <a:r>
                        <a:rPr sz="950" b="0" i="0">
                          <a:solidFill>
                            <a:srgbClr val="57626B"/>
                          </a:solidFill>
                          <a:latin typeface="Calibri"/>
                        </a:rPr>
                        <a:t>Good; best when drawing on firm files and email</a:t>
                      </a:r>
                    </a:p>
                  </a:txBody>
                  <a:tcPr marL="64008" marR="64008" marT="27432" marB="27432" anchor="ctr">
                    <a:solidFill>
                      <a:srgbClr val="FFFFFF"/>
                    </a:solidFill>
                  </a:tcPr>
                </a:tc>
                <a:tc>
                  <a:txBody>
                    <a:bodyPr/>
                    <a:lstStyle/>
                    <a:p>
                      <a:pPr algn="l"/>
                      <a:r>
                        <a:rPr sz="950" b="0" i="0">
                          <a:solidFill>
                            <a:srgbClr val="57626B"/>
                          </a:solidFill>
                          <a:latin typeface="Calibri"/>
                        </a:rPr>
                        <a:t>Not its focus</a:t>
                      </a:r>
                    </a:p>
                  </a:txBody>
                  <a:tcPr marL="64008" marR="64008" marT="27432" marB="27432" anchor="ctr">
                    <a:solidFill>
                      <a:srgbClr val="FFFFFF"/>
                    </a:solidFill>
                  </a:tcPr>
                </a:tc>
                <a:tc>
                  <a:txBody>
                    <a:bodyPr/>
                    <a:lstStyle/>
                    <a:p>
                      <a:pPr algn="l"/>
                      <a:r>
                        <a:rPr sz="950" b="0" i="0">
                          <a:solidFill>
                            <a:srgbClr val="57626B"/>
                          </a:solidFill>
                          <a:latin typeface="Calibri"/>
                        </a:rPr>
                        <a:t>Strong</a:t>
                      </a:r>
                    </a:p>
                  </a:txBody>
                  <a:tcPr marL="64008" marR="64008" marT="27432" marB="27432" anchor="ctr">
                    <a:solidFill>
                      <a:srgbClr val="FFFFFF"/>
                    </a:solidFill>
                  </a:tcPr>
                </a:tc>
                <a:tc>
                  <a:txBody>
                    <a:bodyPr/>
                    <a:lstStyle/>
                    <a:p>
                      <a:pPr algn="l"/>
                      <a:r>
                        <a:rPr sz="950" b="0" i="0">
                          <a:solidFill>
                            <a:srgbClr val="57626B"/>
                          </a:solidFill>
                          <a:latin typeface="Calibri"/>
                        </a:rPr>
                        <a:t>Strong</a:t>
                      </a:r>
                    </a:p>
                  </a:txBody>
                  <a:tcPr marL="64008" marR="64008"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sz="950" b="1" i="0">
                          <a:solidFill>
                            <a:srgbClr val="1A2130"/>
                          </a:solidFill>
                          <a:latin typeface="Calibri"/>
                        </a:rPr>
                        <a:t>Architecture
(medallion, layer contracts)</a:t>
                      </a:r>
                    </a:p>
                  </a:txBody>
                  <a:tcPr marL="64008" marR="64008" marT="27432" marB="27432" anchor="ctr">
                    <a:solidFill>
                      <a:srgbClr val="F4F6F2"/>
                    </a:solidFill>
                  </a:tcPr>
                </a:tc>
                <a:tc>
                  <a:txBody>
                    <a:bodyPr/>
                    <a:lstStyle/>
                    <a:p>
                      <a:pPr algn="l"/>
                      <a:r>
                        <a:rPr sz="950" b="0" i="0">
                          <a:solidFill>
                            <a:srgbClr val="57626B"/>
                          </a:solidFill>
                          <a:latin typeface="Calibri"/>
                        </a:rPr>
                        <a:t>Strong</a:t>
                      </a:r>
                    </a:p>
                  </a:txBody>
                  <a:tcPr marL="64008" marR="64008" marT="27432" marB="27432" anchor="ctr">
                    <a:solidFill>
                      <a:srgbClr val="F4F6F2"/>
                    </a:solidFill>
                  </a:tcPr>
                </a:tc>
                <a:tc>
                  <a:txBody>
                    <a:bodyPr/>
                    <a:lstStyle/>
                    <a:p>
                      <a:pPr algn="l"/>
                      <a:r>
                        <a:rPr sz="950" b="0" i="0">
                          <a:solidFill>
                            <a:srgbClr val="57626B"/>
                          </a:solidFill>
                          <a:latin typeface="Calibri"/>
                        </a:rPr>
                        <a:t>Good</a:t>
                      </a:r>
                    </a:p>
                  </a:txBody>
                  <a:tcPr marL="64008" marR="64008" marT="27432" marB="27432" anchor="ctr">
                    <a:solidFill>
                      <a:srgbClr val="F4F6F2"/>
                    </a:solidFill>
                  </a:tcPr>
                </a:tc>
                <a:tc>
                  <a:txBody>
                    <a:bodyPr/>
                    <a:lstStyle/>
                    <a:p>
                      <a:pPr algn="l"/>
                      <a:r>
                        <a:rPr sz="950" b="0" i="0">
                          <a:solidFill>
                            <a:srgbClr val="57626B"/>
                          </a:solidFill>
                          <a:latin typeface="Calibri"/>
                        </a:rPr>
                        <a:t>Good with a capable model</a:t>
                      </a:r>
                    </a:p>
                  </a:txBody>
                  <a:tcPr marL="64008" marR="64008" marT="27432" marB="27432" anchor="ctr">
                    <a:solidFill>
                      <a:srgbClr val="F4F6F2"/>
                    </a:solidFill>
                  </a:tcPr>
                </a:tc>
                <a:tc>
                  <a:txBody>
                    <a:bodyPr/>
                    <a:lstStyle/>
                    <a:p>
                      <a:pPr algn="l"/>
                      <a:r>
                        <a:rPr sz="950" b="0" i="0">
                          <a:solidFill>
                            <a:srgbClr val="57626B"/>
                          </a:solidFill>
                          <a:latin typeface="Calibri"/>
                        </a:rPr>
                        <a:t>Strong</a:t>
                      </a:r>
                    </a:p>
                  </a:txBody>
                  <a:tcPr marL="64008" marR="64008" marT="27432" marB="27432" anchor="ctr">
                    <a:solidFill>
                      <a:srgbClr val="F4F6F2"/>
                    </a:solidFill>
                  </a:tcPr>
                </a:tc>
                <a:tc>
                  <a:txBody>
                    <a:bodyPr/>
                    <a:lstStyle/>
                    <a:p>
                      <a:pPr algn="l"/>
                      <a:r>
                        <a:rPr sz="950" b="0" i="0">
                          <a:solidFill>
                            <a:srgbClr val="57626B"/>
                          </a:solidFill>
                          <a:latin typeface="Calibri"/>
                        </a:rPr>
                        <a:t>Strong</a:t>
                      </a:r>
                    </a:p>
                  </a:txBody>
                  <a:tcPr marL="64008" marR="64008" marT="27432" marB="27432" anchor="ctr">
                    <a:solidFill>
                      <a:srgbClr val="F4F6F2"/>
                    </a:solidFill>
                  </a:tcPr>
                </a:tc>
                <a:extLst>
                  <a:ext uri="{0D108BD9-81ED-4DB2-BD59-A6C34878D82A}">
                    <a16:rowId xmlns:a16="http://schemas.microsoft.com/office/drawing/2014/main" val="10004"/>
                  </a:ext>
                </a:extLst>
              </a:tr>
              <a:tr h="566928">
                <a:tc>
                  <a:txBody>
                    <a:bodyPr/>
                    <a:lstStyle/>
                    <a:p>
                      <a:pPr algn="l"/>
                      <a:r>
                        <a:rPr sz="950" b="1" i="0">
                          <a:solidFill>
                            <a:srgbClr val="1A2130"/>
                          </a:solidFill>
                          <a:latin typeface="Calibri"/>
                        </a:rPr>
                        <a:t>Data management
(governance, DQ, lineage)</a:t>
                      </a:r>
                    </a:p>
                  </a:txBody>
                  <a:tcPr marL="64008" marR="64008" marT="27432" marB="27432" anchor="ctr">
                    <a:solidFill>
                      <a:srgbClr val="FFFFFF"/>
                    </a:solidFill>
                  </a:tcPr>
                </a:tc>
                <a:tc>
                  <a:txBody>
                    <a:bodyPr/>
                    <a:lstStyle/>
                    <a:p>
                      <a:pPr algn="l"/>
                      <a:r>
                        <a:rPr sz="950" b="0" i="0">
                          <a:solidFill>
                            <a:srgbClr val="57626B"/>
                          </a:solidFill>
                          <a:latin typeface="Calibri"/>
                        </a:rPr>
                        <a:t>Strong</a:t>
                      </a:r>
                    </a:p>
                  </a:txBody>
                  <a:tcPr marL="64008" marR="64008" marT="27432" marB="27432" anchor="ctr">
                    <a:solidFill>
                      <a:srgbClr val="FFFFFF"/>
                    </a:solidFill>
                  </a:tcPr>
                </a:tc>
                <a:tc>
                  <a:txBody>
                    <a:bodyPr/>
                    <a:lstStyle/>
                    <a:p>
                      <a:pPr algn="l"/>
                      <a:r>
                        <a:rPr sz="950" b="0" i="0">
                          <a:solidFill>
                            <a:srgbClr val="57626B"/>
                          </a:solidFill>
                          <a:latin typeface="Calibri"/>
                        </a:rPr>
                        <a:t>Good</a:t>
                      </a:r>
                    </a:p>
                  </a:txBody>
                  <a:tcPr marL="64008" marR="64008" marT="27432" marB="27432" anchor="ctr">
                    <a:solidFill>
                      <a:srgbClr val="FFFFFF"/>
                    </a:solidFill>
                  </a:tcPr>
                </a:tc>
                <a:tc>
                  <a:txBody>
                    <a:bodyPr/>
                    <a:lstStyle/>
                    <a:p>
                      <a:pPr algn="l"/>
                      <a:r>
                        <a:rPr sz="950" b="0" i="0">
                          <a:solidFill>
                            <a:srgbClr val="57626B"/>
                          </a:solidFill>
                          <a:latin typeface="Calibri"/>
                        </a:rPr>
                        <a:t>Moderate</a:t>
                      </a:r>
                    </a:p>
                  </a:txBody>
                  <a:tcPr marL="64008" marR="64008" marT="27432" marB="27432" anchor="ctr">
                    <a:solidFill>
                      <a:srgbClr val="FFFFFF"/>
                    </a:solidFill>
                  </a:tcPr>
                </a:tc>
                <a:tc>
                  <a:txBody>
                    <a:bodyPr/>
                    <a:lstStyle/>
                    <a:p>
                      <a:pPr algn="l"/>
                      <a:r>
                        <a:rPr sz="950" b="0" i="0">
                          <a:solidFill>
                            <a:srgbClr val="57626B"/>
                          </a:solidFill>
                          <a:latin typeface="Calibri"/>
                        </a:rPr>
                        <a:t>Strong</a:t>
                      </a:r>
                    </a:p>
                  </a:txBody>
                  <a:tcPr marL="64008" marR="64008" marT="27432" marB="27432" anchor="ctr">
                    <a:solidFill>
                      <a:srgbClr val="FFFFFF"/>
                    </a:solidFill>
                  </a:tcPr>
                </a:tc>
                <a:tc>
                  <a:txBody>
                    <a:bodyPr/>
                    <a:lstStyle/>
                    <a:p>
                      <a:pPr algn="l"/>
                      <a:r>
                        <a:rPr sz="950" b="0" i="0">
                          <a:solidFill>
                            <a:srgbClr val="57626B"/>
                          </a:solidFill>
                          <a:latin typeface="Calibri"/>
                        </a:rPr>
                        <a:t>Good</a:t>
                      </a:r>
                    </a:p>
                  </a:txBody>
                  <a:tcPr marL="64008" marR="64008" marT="27432" marB="27432" anchor="ctr">
                    <a:solidFill>
                      <a:srgbClr val="FFFFFF"/>
                    </a:solidFill>
                  </a:tcPr>
                </a:tc>
                <a:extLst>
                  <a:ext uri="{0D108BD9-81ED-4DB2-BD59-A6C34878D82A}">
                    <a16:rowId xmlns:a16="http://schemas.microsoft.com/office/drawing/2014/main" val="10005"/>
                  </a:ext>
                </a:extLst>
              </a:tr>
              <a:tr h="566928">
                <a:tc>
                  <a:txBody>
                    <a:bodyPr/>
                    <a:lstStyle/>
                    <a:p>
                      <a:pPr algn="l"/>
                      <a:r>
                        <a:rPr sz="950" b="1" i="0">
                          <a:solidFill>
                            <a:srgbClr val="1A2130"/>
                          </a:solidFill>
                          <a:latin typeface="Calibri"/>
                        </a:rPr>
                        <a:t>Data modeling
(keys, cardinality, ERDs)</a:t>
                      </a:r>
                    </a:p>
                  </a:txBody>
                  <a:tcPr marL="64008" marR="64008" marT="27432" marB="27432" anchor="ctr">
                    <a:solidFill>
                      <a:srgbClr val="F4F6F2"/>
                    </a:solidFill>
                  </a:tcPr>
                </a:tc>
                <a:tc>
                  <a:txBody>
                    <a:bodyPr/>
                    <a:lstStyle/>
                    <a:p>
                      <a:pPr algn="l"/>
                      <a:r>
                        <a:rPr sz="950" b="0" i="0">
                          <a:solidFill>
                            <a:srgbClr val="57626B"/>
                          </a:solidFill>
                          <a:latin typeface="Calibri"/>
                        </a:rPr>
                        <a:t>Strong, including drawn ERDs</a:t>
                      </a:r>
                    </a:p>
                  </a:txBody>
                  <a:tcPr marL="64008" marR="64008" marT="27432" marB="27432" anchor="ctr">
                    <a:solidFill>
                      <a:srgbClr val="F4F6F2"/>
                    </a:solidFill>
                  </a:tcPr>
                </a:tc>
                <a:tc>
                  <a:txBody>
                    <a:bodyPr/>
                    <a:lstStyle/>
                    <a:p>
                      <a:pPr algn="l"/>
                      <a:r>
                        <a:rPr sz="950" b="0" i="0">
                          <a:solidFill>
                            <a:srgbClr val="57626B"/>
                          </a:solidFill>
                          <a:latin typeface="Calibri"/>
                        </a:rPr>
                        <a:t>Moderate on drawn diagrams</a:t>
                      </a:r>
                    </a:p>
                  </a:txBody>
                  <a:tcPr marL="64008" marR="64008" marT="27432" marB="27432" anchor="ctr">
                    <a:solidFill>
                      <a:srgbClr val="F4F6F2"/>
                    </a:solidFill>
                  </a:tcPr>
                </a:tc>
                <a:tc>
                  <a:txBody>
                    <a:bodyPr/>
                    <a:lstStyle/>
                    <a:p>
                      <a:pPr algn="l"/>
                      <a:r>
                        <a:rPr sz="950" b="0" i="0">
                          <a:solidFill>
                            <a:srgbClr val="57626B"/>
                          </a:solidFill>
                          <a:latin typeface="Calibri"/>
                        </a:rPr>
                        <a:t>Strong on DDL and SQL; weaker on presentation</a:t>
                      </a:r>
                    </a:p>
                  </a:txBody>
                  <a:tcPr marL="64008" marR="64008" marT="27432" marB="27432" anchor="ctr">
                    <a:solidFill>
                      <a:srgbClr val="F4F6F2"/>
                    </a:solidFill>
                  </a:tcPr>
                </a:tc>
                <a:tc>
                  <a:txBody>
                    <a:bodyPr/>
                    <a:lstStyle/>
                    <a:p>
                      <a:pPr algn="l"/>
                      <a:r>
                        <a:rPr sz="950" b="0" i="0">
                          <a:solidFill>
                            <a:srgbClr val="57626B"/>
                          </a:solidFill>
                          <a:latin typeface="Calibri"/>
                        </a:rPr>
                        <a:t>Strong on logic; weaker on drawn diagrams</a:t>
                      </a:r>
                    </a:p>
                  </a:txBody>
                  <a:tcPr marL="64008" marR="64008" marT="27432" marB="27432" anchor="ctr">
                    <a:solidFill>
                      <a:srgbClr val="F4F6F2"/>
                    </a:solidFill>
                  </a:tcPr>
                </a:tc>
                <a:tc>
                  <a:txBody>
                    <a:bodyPr/>
                    <a:lstStyle/>
                    <a:p>
                      <a:pPr algn="l"/>
                      <a:r>
                        <a:rPr sz="950" b="0" i="0">
                          <a:solidFill>
                            <a:srgbClr val="57626B"/>
                          </a:solidFill>
                          <a:latin typeface="Calibri"/>
                        </a:rPr>
                        <a:t>Good</a:t>
                      </a:r>
                    </a:p>
                  </a:txBody>
                  <a:tcPr marL="64008" marR="64008" marT="27432" marB="27432" anchor="ctr">
                    <a:solidFill>
                      <a:srgbClr val="F4F6F2"/>
                    </a:solidFill>
                  </a:tcPr>
                </a:tc>
                <a:extLst>
                  <a:ext uri="{0D108BD9-81ED-4DB2-BD59-A6C34878D82A}">
                    <a16:rowId xmlns:a16="http://schemas.microsoft.com/office/drawing/2014/main" val="10006"/>
                  </a:ext>
                </a:extLst>
              </a:tr>
              <a:tr h="566928">
                <a:tc>
                  <a:txBody>
                    <a:bodyPr/>
                    <a:lstStyle/>
                    <a:p>
                      <a:pPr algn="l"/>
                      <a:r>
                        <a:rPr sz="950" b="1" i="0">
                          <a:solidFill>
                            <a:srgbClr val="1A2130"/>
                          </a:solidFill>
                          <a:latin typeface="Calibri"/>
                        </a:rPr>
                        <a:t>Accounting
(GL, CECL, statements)</a:t>
                      </a:r>
                    </a:p>
                  </a:txBody>
                  <a:tcPr marL="64008" marR="64008" marT="27432" marB="27432" anchor="ctr">
                    <a:solidFill>
                      <a:srgbClr val="FFFFFF"/>
                    </a:solidFill>
                  </a:tcPr>
                </a:tc>
                <a:tc>
                  <a:txBody>
                    <a:bodyPr/>
                    <a:lstStyle/>
                    <a:p>
                      <a:pPr algn="l"/>
                      <a:r>
                        <a:rPr sz="950" b="0" i="0">
                          <a:solidFill>
                            <a:srgbClr val="57626B"/>
                          </a:solidFill>
                          <a:latin typeface="Calibri"/>
                        </a:rPr>
                        <a:t>Strong on concepts; computes numbers in code</a:t>
                      </a:r>
                    </a:p>
                  </a:txBody>
                  <a:tcPr marL="64008" marR="64008" marT="27432" marB="27432" anchor="ctr">
                    <a:solidFill>
                      <a:srgbClr val="FFFFFF"/>
                    </a:solidFill>
                  </a:tcPr>
                </a:tc>
                <a:tc>
                  <a:txBody>
                    <a:bodyPr/>
                    <a:lstStyle/>
                    <a:p>
                      <a:pPr algn="l"/>
                      <a:r>
                        <a:rPr sz="950" b="0" i="0">
                          <a:solidFill>
                            <a:srgbClr val="57626B"/>
                          </a:solidFill>
                          <a:latin typeface="Calibri"/>
                        </a:rPr>
                        <a:t>Good on concepts</a:t>
                      </a:r>
                    </a:p>
                  </a:txBody>
                  <a:tcPr marL="64008" marR="64008" marT="27432" marB="27432" anchor="ctr">
                    <a:solidFill>
                      <a:srgbClr val="FFFFFF"/>
                    </a:solidFill>
                  </a:tcPr>
                </a:tc>
                <a:tc>
                  <a:txBody>
                    <a:bodyPr/>
                    <a:lstStyle/>
                    <a:p>
                      <a:pPr algn="l"/>
                      <a:r>
                        <a:rPr sz="950" b="0" i="0">
                          <a:solidFill>
                            <a:srgbClr val="57626B"/>
                          </a:solidFill>
                          <a:latin typeface="Calibri"/>
                        </a:rPr>
                        <a:t>Not its focus</a:t>
                      </a:r>
                    </a:p>
                  </a:txBody>
                  <a:tcPr marL="64008" marR="64008" marT="27432" marB="27432" anchor="ctr">
                    <a:solidFill>
                      <a:srgbClr val="FFFFFF"/>
                    </a:solidFill>
                  </a:tcPr>
                </a:tc>
                <a:tc>
                  <a:txBody>
                    <a:bodyPr/>
                    <a:lstStyle/>
                    <a:p>
                      <a:pPr algn="l"/>
                      <a:r>
                        <a:rPr sz="950" b="0" i="0">
                          <a:solidFill>
                            <a:srgbClr val="57626B"/>
                          </a:solidFill>
                          <a:latin typeface="Calibri"/>
                        </a:rPr>
                        <a:t>Strong on concepts</a:t>
                      </a:r>
                    </a:p>
                  </a:txBody>
                  <a:tcPr marL="64008" marR="64008" marT="27432" marB="27432" anchor="ctr">
                    <a:solidFill>
                      <a:srgbClr val="FFFFFF"/>
                    </a:solidFill>
                  </a:tcPr>
                </a:tc>
                <a:tc>
                  <a:txBody>
                    <a:bodyPr/>
                    <a:lstStyle/>
                    <a:p>
                      <a:pPr algn="l"/>
                      <a:r>
                        <a:rPr sz="950" b="0" i="0">
                          <a:solidFill>
                            <a:srgbClr val="57626B"/>
                          </a:solidFill>
                          <a:latin typeface="Calibri"/>
                        </a:rPr>
                        <a:t>Good on concepts</a:t>
                      </a:r>
                    </a:p>
                  </a:txBody>
                  <a:tcPr marL="64008" marR="64008"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21</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What this means in practice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model matters, but the working setup and the method matter as much.</a:t>
            </a:r>
          </a:p>
        </p:txBody>
      </p:sp>
      <p:sp>
        <p:nvSpPr>
          <p:cNvPr id="5" name="Rounded Rectangle 4"/>
          <p:cNvSpPr/>
          <p:nvPr/>
        </p:nvSpPr>
        <p:spPr>
          <a:xfrm>
            <a:off x="457200" y="1325880"/>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Much of the output quality comes from the working setup: </a:t>
            </a:r>
            <a:r>
              <a:rPr sz="1100" b="0" i="0">
                <a:solidFill>
                  <a:srgbClr val="57626B"/>
                </a:solidFill>
                <a:latin typeface="Calibri"/>
              </a:rPr>
              <a:t>the tool writes code, runs it, renders the slides, looks at the result, fixes problems and re-checks. Tools that cannot run code and inspect their own output are less precise on this kind of work.</a:t>
            </a:r>
          </a:p>
        </p:txBody>
      </p:sp>
      <p:sp>
        <p:nvSpPr>
          <p:cNvPr id="6" name="Rounded Rectangle 5"/>
          <p:cNvSpPr/>
          <p:nvPr/>
        </p:nvSpPr>
        <p:spPr>
          <a:xfrm>
            <a:off x="457200" y="2240280"/>
            <a:ext cx="5486400"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Top models are close on domain knowledge</a:t>
            </a:r>
          </a:p>
          <a:p>
            <a:pPr algn="l"/>
            <a:r>
              <a:rPr sz="1100" b="0" i="0">
                <a:solidFill>
                  <a:srgbClr val="57626B"/>
                </a:solidFill>
                <a:latin typeface="Calibri"/>
              </a:rPr>
              <a:t>GPT, Gemini and Claude all know lending, GAAP, CECL, medallion architecture and dimensional modeling well. Differences show up in long, multi-step work and in self-checking.</a:t>
            </a:r>
          </a:p>
        </p:txBody>
      </p:sp>
      <p:sp>
        <p:nvSpPr>
          <p:cNvPr id="7" name="Rounded Rectangle 6"/>
          <p:cNvSpPr/>
          <p:nvPr/>
        </p:nvSpPr>
        <p:spPr>
          <a:xfrm>
            <a:off x="6245352" y="2240280"/>
            <a:ext cx="5486400"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9A3324"/>
                </a:solidFill>
                <a:latin typeface="Calibri"/>
              </a:rPr>
              <a:t>Accounting numbers always need checking</a:t>
            </a:r>
          </a:p>
          <a:p>
            <a:pPr algn="l"/>
            <a:r>
              <a:rPr sz="1100" b="0" i="0">
                <a:solidFill>
                  <a:srgbClr val="57626B"/>
                </a:solidFill>
                <a:latin typeface="Calibri"/>
              </a:rPr>
              <a:t>Have the tool compute figures in code rather than state them, and have a qualified person review anything used in a financial statement or regulatory filing.</a:t>
            </a:r>
          </a:p>
        </p:txBody>
      </p:sp>
      <p:sp>
        <p:nvSpPr>
          <p:cNvPr id="8" name="Rounded Rectangle 7"/>
          <p:cNvSpPr/>
          <p:nvPr/>
        </p:nvSpPr>
        <p:spPr>
          <a:xfrm>
            <a:off x="457200" y="3611880"/>
            <a:ext cx="5486400"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1A2130"/>
                </a:solidFill>
                <a:latin typeface="Calibri"/>
              </a:rPr>
              <a:t>Microsoft shops can still use Claude</a:t>
            </a:r>
          </a:p>
          <a:p>
            <a:pPr algn="l"/>
            <a:r>
              <a:rPr sz="1100" b="0" i="0">
                <a:solidFill>
                  <a:srgbClr val="57626B"/>
                </a:solidFill>
                <a:latin typeface="Calibri"/>
              </a:rPr>
              <a:t>GitHub Copilot offers Claude models, and Microsoft has added Claude as an option in parts of Microsoft 365 Copilot. Confirm what the client’s tenant enables.</a:t>
            </a:r>
          </a:p>
        </p:txBody>
      </p:sp>
      <p:sp>
        <p:nvSpPr>
          <p:cNvPr id="9" name="Rounded Rectangle 8"/>
          <p:cNvSpPr/>
          <p:nvPr/>
        </p:nvSpPr>
        <p:spPr>
          <a:xfrm>
            <a:off x="6245352" y="3611880"/>
            <a:ext cx="5486400"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0E7C66"/>
                </a:solidFill>
                <a:latin typeface="Calibri"/>
              </a:rPr>
              <a:t>The method works with any tool</a:t>
            </a:r>
          </a:p>
          <a:p>
            <a:pPr algn="l"/>
            <a:r>
              <a:rPr sz="1100" b="0" i="0">
                <a:solidFill>
                  <a:srgbClr val="57626B"/>
                </a:solidFill>
                <a:latin typeface="Calibri"/>
              </a:rPr>
              <a:t>Versioned metadata, a generator script, section-by-section fill-in and human review work with whichever AI tool the client approves. The value is the method and the accelerator, not the vendor.</a:t>
            </a:r>
          </a:p>
        </p:txBody>
      </p:sp>
      <p:sp>
        <p:nvSpPr>
          <p:cNvPr id="10" name="Rounded Rectangle 9"/>
          <p:cNvSpPr/>
          <p:nvPr/>
        </p:nvSpPr>
        <p:spPr>
          <a:xfrm>
            <a:off x="457200" y="5074920"/>
            <a:ext cx="11274552" cy="868680"/>
          </a:xfrm>
          <a:prstGeom prst="roundRect">
            <a:avLst>
              <a:gd name="adj" fmla="val 10000"/>
            </a:avLst>
          </a:prstGeom>
          <a:solidFill>
            <a:srgbClr val="F6EFDA"/>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Recommendation: </a:t>
            </a:r>
            <a:r>
              <a:rPr sz="1100" b="0" i="0">
                <a:solidFill>
                  <a:srgbClr val="57626B"/>
                </a:solidFill>
                <a:latin typeface="Calibri"/>
              </a:rPr>
              <a:t>use what the client already licenses and has approved. Where there is a choice, use a tool that runs code and checks its own output (Claude Code, or GitHub Copilot’s agent mode) for model, dictionary and deck work; use Microsoft 365 Copilot for quick documents drawn from the firm’s own files.</a:t>
            </a:r>
          </a:p>
        </p:txBody>
      </p:sp>
      <p:sp>
        <p:nvSpPr>
          <p:cNvPr id="11" name="TextBox 10"/>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22</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Before you arrive: engagement readiness checklist</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Settle these before the first client document is shared or the first line of code is written.</a:t>
            </a:r>
          </a:p>
        </p:txBody>
      </p:sp>
      <p:sp>
        <p:nvSpPr>
          <p:cNvPr id="5" name="Rectangle 4"/>
          <p:cNvSpPr/>
          <p:nvPr/>
        </p:nvSpPr>
        <p:spPr>
          <a:xfrm>
            <a:off x="457200" y="1371600"/>
            <a:ext cx="3605784" cy="45720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APPROVALS</a:t>
            </a:r>
          </a:p>
        </p:txBody>
      </p:sp>
      <p:sp>
        <p:nvSpPr>
          <p:cNvPr id="6" name="Rectangle 5"/>
          <p:cNvSpPr/>
          <p:nvPr/>
        </p:nvSpPr>
        <p:spPr>
          <a:xfrm>
            <a:off x="457200" y="1828800"/>
            <a:ext cx="3605784" cy="11430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Written approval naming the AI tool and data in scope</a:t>
            </a:r>
          </a:p>
          <a:p>
            <a:pPr algn="l"/>
            <a:r>
              <a:rPr sz="1150" b="0" i="0">
                <a:solidFill>
                  <a:srgbClr val="57626B"/>
                </a:solidFill>
                <a:latin typeface="Calibri"/>
              </a:rPr>
              <a:t>☐ Contract clause on deliverables and firm accelerators</a:t>
            </a:r>
          </a:p>
        </p:txBody>
      </p:sp>
      <p:sp>
        <p:nvSpPr>
          <p:cNvPr id="7" name="Rectangle 6"/>
          <p:cNvSpPr/>
          <p:nvPr/>
        </p:nvSpPr>
        <p:spPr>
          <a:xfrm>
            <a:off x="4291584" y="1371600"/>
            <a:ext cx="3605784" cy="45720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ACCOUNT</a:t>
            </a:r>
          </a:p>
        </p:txBody>
      </p:sp>
      <p:sp>
        <p:nvSpPr>
          <p:cNvPr id="8" name="Rectangle 7"/>
          <p:cNvSpPr/>
          <p:nvPr/>
        </p:nvSpPr>
        <p:spPr>
          <a:xfrm>
            <a:off x="4291584" y="1828800"/>
            <a:ext cx="3605784" cy="11430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Client-provided Claude access, or Claude in the client’s cloud</a:t>
            </a:r>
          </a:p>
          <a:p>
            <a:pPr algn="l"/>
            <a:r>
              <a:rPr sz="1150" b="0" i="0">
                <a:solidFill>
                  <a:srgbClr val="57626B"/>
                </a:solidFill>
                <a:latin typeface="Calibri"/>
              </a:rPr>
              <a:t>☐ No training on inputs; retention settings confirmed</a:t>
            </a:r>
          </a:p>
        </p:txBody>
      </p:sp>
      <p:sp>
        <p:nvSpPr>
          <p:cNvPr id="9" name="Rectangle 8"/>
          <p:cNvSpPr/>
          <p:nvPr/>
        </p:nvSpPr>
        <p:spPr>
          <a:xfrm>
            <a:off x="8125968" y="1371600"/>
            <a:ext cx="3605784" cy="45720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ENVIRONMENTS</a:t>
            </a:r>
          </a:p>
        </p:txBody>
      </p:sp>
      <p:sp>
        <p:nvSpPr>
          <p:cNvPr id="10" name="Rectangle 9"/>
          <p:cNvSpPr/>
          <p:nvPr/>
        </p:nvSpPr>
        <p:spPr>
          <a:xfrm>
            <a:off x="8125968" y="1828800"/>
            <a:ext cx="3605784" cy="11430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Dev, test and production access; repository and CI/CD</a:t>
            </a:r>
          </a:p>
          <a:p>
            <a:pPr algn="l"/>
            <a:r>
              <a:rPr sz="1150" b="0" i="0">
                <a:solidFill>
                  <a:srgbClr val="57626B"/>
                </a:solidFill>
                <a:latin typeface="Calibri"/>
              </a:rPr>
              <a:t>☐ Test data approach agreed: masked or synthetic</a:t>
            </a:r>
          </a:p>
        </p:txBody>
      </p:sp>
      <p:sp>
        <p:nvSpPr>
          <p:cNvPr id="11" name="Rectangle 10"/>
          <p:cNvSpPr/>
          <p:nvPr/>
        </p:nvSpPr>
        <p:spPr>
          <a:xfrm>
            <a:off x="457200" y="3200400"/>
            <a:ext cx="3605784" cy="45720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POC SLICE</a:t>
            </a:r>
          </a:p>
        </p:txBody>
      </p:sp>
      <p:sp>
        <p:nvSpPr>
          <p:cNvPr id="12" name="Rectangle 11"/>
          <p:cNvSpPr/>
          <p:nvPr/>
        </p:nvSpPr>
        <p:spPr>
          <a:xfrm>
            <a:off x="457200" y="3657600"/>
            <a:ext cx="3605784" cy="11430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Use case chosen and business sponsor named</a:t>
            </a:r>
          </a:p>
          <a:p>
            <a:pPr algn="l"/>
            <a:r>
              <a:rPr sz="1150" b="0" i="0">
                <a:solidFill>
                  <a:srgbClr val="57626B"/>
                </a:solidFill>
                <a:latin typeface="Calibri"/>
              </a:rPr>
              <a:t>☐ Acceptance and certification criteria agreed</a:t>
            </a:r>
          </a:p>
        </p:txBody>
      </p:sp>
      <p:sp>
        <p:nvSpPr>
          <p:cNvPr id="13" name="Rectangle 12"/>
          <p:cNvSpPr/>
          <p:nvPr/>
        </p:nvSpPr>
        <p:spPr>
          <a:xfrm>
            <a:off x="4291584" y="3200400"/>
            <a:ext cx="3605784" cy="45720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PEOPLE</a:t>
            </a:r>
          </a:p>
        </p:txBody>
      </p:sp>
      <p:sp>
        <p:nvSpPr>
          <p:cNvPr id="14" name="Rectangle 13"/>
          <p:cNvSpPr/>
          <p:nvPr/>
        </p:nvSpPr>
        <p:spPr>
          <a:xfrm>
            <a:off x="4291584" y="3657600"/>
            <a:ext cx="3605784" cy="11430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Named approver for every lifecycle gate</a:t>
            </a:r>
          </a:p>
          <a:p>
            <a:pPr algn="l"/>
            <a:r>
              <a:rPr sz="1150" b="0" i="0">
                <a:solidFill>
                  <a:srgbClr val="57626B"/>
                </a:solidFill>
                <a:latin typeface="Calibri"/>
              </a:rPr>
              <a:t>☐ Engineering, QA and production support contacts</a:t>
            </a:r>
          </a:p>
        </p:txBody>
      </p:sp>
      <p:sp>
        <p:nvSpPr>
          <p:cNvPr id="15" name="Rectangle 14"/>
          <p:cNvSpPr/>
          <p:nvPr/>
        </p:nvSpPr>
        <p:spPr>
          <a:xfrm>
            <a:off x="8125968" y="3200400"/>
            <a:ext cx="3605784" cy="457200"/>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WORKING RULES</a:t>
            </a:r>
          </a:p>
        </p:txBody>
      </p:sp>
      <p:sp>
        <p:nvSpPr>
          <p:cNvPr id="16" name="Rectangle 15"/>
          <p:cNvSpPr/>
          <p:nvPr/>
        </p:nvSpPr>
        <p:spPr>
          <a:xfrm>
            <a:off x="8125968" y="3657600"/>
            <a:ext cx="3605784" cy="114300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Metadata, code and aggregates only; no row values</a:t>
            </a:r>
          </a:p>
          <a:p>
            <a:pPr algn="l"/>
            <a:r>
              <a:rPr sz="1150" b="0" i="0">
                <a:solidFill>
                  <a:srgbClr val="57626B"/>
                </a:solidFill>
                <a:latin typeface="Calibri"/>
              </a:rPr>
              <a:t>☐ Decision log started; release naming agreed</a:t>
            </a:r>
          </a:p>
        </p:txBody>
      </p:sp>
      <p:sp>
        <p:nvSpPr>
          <p:cNvPr id="17" name="Rounded Rectangle 16"/>
          <p:cNvSpPr/>
          <p:nvPr/>
        </p:nvSpPr>
        <p:spPr>
          <a:xfrm>
            <a:off x="457200" y="5257800"/>
            <a:ext cx="11274552" cy="6400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Treat this as a gate: </a:t>
            </a:r>
            <a:r>
              <a:rPr sz="1100" b="0" i="0">
                <a:solidFill>
                  <a:srgbClr val="57626B"/>
                </a:solidFill>
                <a:latin typeface="Calibri"/>
              </a:rPr>
              <a:t>if Approvals and Account are not ticked, no client material is shared and no work starts.</a:t>
            </a:r>
          </a:p>
        </p:txBody>
      </p:sp>
      <p:sp>
        <p:nvSpPr>
          <p:cNvPr id="18" name="TextBox 17"/>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23</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Summary by audience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same blueprint answers different questions for each team.</a:t>
            </a:r>
          </a:p>
        </p:txBody>
      </p:sp>
      <p:sp>
        <p:nvSpPr>
          <p:cNvPr id="5" name="Rounded Rectangle 4"/>
          <p:cNvSpPr/>
          <p:nvPr/>
        </p:nvSpPr>
        <p:spPr>
          <a:xfrm>
            <a:off x="457200" y="1371600"/>
            <a:ext cx="360578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alibri"/>
              </a:rPr>
              <a:t>BUSINESS</a:t>
            </a:r>
          </a:p>
          <a:p>
            <a:pPr algn="ctr"/>
            <a:r>
              <a:rPr sz="1150" b="0" i="0">
                <a:solidFill>
                  <a:srgbClr val="CADCEA"/>
                </a:solidFill>
                <a:latin typeface="Calibri"/>
              </a:rPr>
              <a:t>Value early, trust built in</a:t>
            </a:r>
          </a:p>
        </p:txBody>
      </p:sp>
      <p:sp>
        <p:nvSpPr>
          <p:cNvPr id="6" name="Rounded Rectangle 5"/>
          <p:cNvSpPr/>
          <p:nvPr/>
        </p:nvSpPr>
        <p:spPr>
          <a:xfrm>
            <a:off x="457200" y="2194560"/>
            <a:ext cx="3605784" cy="1920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A working, certified proof of concept in the first slice</a:t>
            </a:r>
          </a:p>
          <a:p>
            <a:pPr algn="l"/>
            <a:r>
              <a:rPr sz="1150" b="0" i="0">
                <a:solidFill>
                  <a:srgbClr val="57626B"/>
                </a:solidFill>
                <a:latin typeface="Calibri"/>
              </a:rPr>
              <a:t>• Every Gold object certified for a named use</a:t>
            </a:r>
          </a:p>
          <a:p>
            <a:pPr algn="l"/>
            <a:r>
              <a:rPr sz="1150" b="0" i="0">
                <a:solidFill>
                  <a:srgbClr val="57626B"/>
                </a:solidFill>
                <a:latin typeface="Calibri"/>
              </a:rPr>
              <a:t>• Business priorities set the order of slices</a:t>
            </a:r>
          </a:p>
        </p:txBody>
      </p:sp>
      <p:sp>
        <p:nvSpPr>
          <p:cNvPr id="7" name="Rounded Rectangle 6"/>
          <p:cNvSpPr/>
          <p:nvPr/>
        </p:nvSpPr>
        <p:spPr>
          <a:xfrm>
            <a:off x="4291584" y="1371600"/>
            <a:ext cx="360578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alibri"/>
              </a:rPr>
              <a:t>DATA MANAGEMENT</a:t>
            </a:r>
          </a:p>
          <a:p>
            <a:pPr algn="ctr"/>
            <a:r>
              <a:rPr sz="1150" b="0" i="0">
                <a:solidFill>
                  <a:srgbClr val="CADCEA"/>
                </a:solidFill>
                <a:latin typeface="Calibri"/>
              </a:rPr>
              <a:t>Governed as it is built</a:t>
            </a:r>
          </a:p>
        </p:txBody>
      </p:sp>
      <p:sp>
        <p:nvSpPr>
          <p:cNvPr id="8" name="Rounded Rectangle 7"/>
          <p:cNvSpPr/>
          <p:nvPr/>
        </p:nvSpPr>
        <p:spPr>
          <a:xfrm>
            <a:off x="4291584" y="2194560"/>
            <a:ext cx="3605784" cy="1920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Definitions, lineage and data quality rules are part of every slice</a:t>
            </a:r>
          </a:p>
          <a:p>
            <a:pPr algn="l"/>
            <a:r>
              <a:rPr sz="1150" b="0" i="0">
                <a:solidFill>
                  <a:srgbClr val="57626B"/>
                </a:solidFill>
                <a:latin typeface="Calibri"/>
              </a:rPr>
              <a:t>• Certification criteria make “fit for purpose” explicit</a:t>
            </a:r>
          </a:p>
          <a:p>
            <a:pPr algn="l"/>
            <a:r>
              <a:rPr sz="1150" b="0" i="0">
                <a:solidFill>
                  <a:srgbClr val="57626B"/>
                </a:solidFill>
                <a:latin typeface="Calibri"/>
              </a:rPr>
              <a:t>• Documentation regenerated with every release</a:t>
            </a:r>
          </a:p>
        </p:txBody>
      </p:sp>
      <p:sp>
        <p:nvSpPr>
          <p:cNvPr id="9" name="Rounded Rectangle 8"/>
          <p:cNvSpPr/>
          <p:nvPr/>
        </p:nvSpPr>
        <p:spPr>
          <a:xfrm>
            <a:off x="8125968" y="1371600"/>
            <a:ext cx="360578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alibri"/>
              </a:rPr>
              <a:t>ARCHITECTURE</a:t>
            </a:r>
          </a:p>
          <a:p>
            <a:pPr algn="ctr"/>
            <a:r>
              <a:rPr sz="1150" b="0" i="0">
                <a:solidFill>
                  <a:srgbClr val="CADCEA"/>
                </a:solidFill>
                <a:latin typeface="Calibri"/>
              </a:rPr>
              <a:t>Incremental and reversible</a:t>
            </a:r>
          </a:p>
        </p:txBody>
      </p:sp>
      <p:sp>
        <p:nvSpPr>
          <p:cNvPr id="10" name="Rounded Rectangle 9"/>
          <p:cNvSpPr/>
          <p:nvPr/>
        </p:nvSpPr>
        <p:spPr>
          <a:xfrm>
            <a:off x="8125968" y="2194560"/>
            <a:ext cx="3605784" cy="1920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50" b="0" i="0">
                <a:solidFill>
                  <a:srgbClr val="57626B"/>
                </a:solidFill>
                <a:latin typeface="Calibri"/>
              </a:rPr>
              <a:t>• Vertical slices reuse conformed dimensions</a:t>
            </a:r>
          </a:p>
          <a:p>
            <a:pPr algn="l"/>
            <a:r>
              <a:rPr sz="1150" b="0" i="0">
                <a:solidFill>
                  <a:srgbClr val="57626B"/>
                </a:solidFill>
                <a:latin typeface="Calibri"/>
              </a:rPr>
              <a:t>• Everything as code: one repository, three environments</a:t>
            </a:r>
          </a:p>
          <a:p>
            <a:pPr algn="l"/>
            <a:r>
              <a:rPr sz="1150" b="0" i="0">
                <a:solidFill>
                  <a:srgbClr val="57626B"/>
                </a:solidFill>
                <a:latin typeface="Calibri"/>
              </a:rPr>
              <a:t>• Rollback at design, build, release and certification levels</a:t>
            </a:r>
          </a:p>
        </p:txBody>
      </p:sp>
      <p:sp>
        <p:nvSpPr>
          <p:cNvPr id="11" name="Rounded Rectangle 10"/>
          <p:cNvSpPr/>
          <p:nvPr/>
        </p:nvSpPr>
        <p:spPr>
          <a:xfrm>
            <a:off x="457200" y="4389120"/>
            <a:ext cx="11274552" cy="1005840"/>
          </a:xfrm>
          <a:prstGeom prst="roundRect">
            <a:avLst>
              <a:gd name="adj" fmla="val 10000"/>
            </a:avLst>
          </a:prstGeom>
          <a:solidFill>
            <a:srgbClr val="F6EFDA"/>
          </a:solidFill>
          <a:ln w="12700">
            <a:solidFill>
              <a:srgbClr val="86650F"/>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1A2130"/>
                </a:solidFill>
                <a:latin typeface="Calibri"/>
              </a:rPr>
              <a:t>The three rules: </a:t>
            </a:r>
            <a:r>
              <a:rPr sz="1200" b="0" i="0">
                <a:solidFill>
                  <a:srgbClr val="57626B"/>
                </a:solidFill>
                <a:latin typeface="Calibri"/>
              </a:rPr>
              <a:t>(1) start with an easy proof of concept and certify every Gold object for a named use; (2) keep client material in a client-controlled account, with metadata, code and aggregates only; (3) version everything, so every step is reversible.</a:t>
            </a:r>
          </a:p>
        </p:txBody>
      </p:sp>
      <p:sp>
        <p:nvSpPr>
          <p:cNvPr id="12" name="TextBox 1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24</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Appendix A: glossary</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Plain-language definitions of terms used in this deck.</a:t>
            </a:r>
          </a:p>
        </p:txBody>
      </p:sp>
      <p:graphicFrame>
        <p:nvGraphicFramePr>
          <p:cNvPr id="5" name="Table 4"/>
          <p:cNvGraphicFramePr>
            <a:graphicFrameLocks noGrp="1"/>
          </p:cNvGraphicFramePr>
          <p:nvPr/>
        </p:nvGraphicFramePr>
        <p:xfrm>
          <a:off x="457200" y="1325880"/>
          <a:ext cx="5532120" cy="4425696"/>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29184">
                <a:tc>
                  <a:txBody>
                    <a:bodyPr/>
                    <a:lstStyle/>
                    <a:p>
                      <a:pPr algn="l"/>
                      <a:r>
                        <a:rPr sz="1050" b="1" i="0">
                          <a:solidFill>
                            <a:srgbClr val="CADCEA"/>
                          </a:solidFill>
                          <a:latin typeface="Calibri"/>
                        </a:rPr>
                        <a:t>Term</a:t>
                      </a:r>
                    </a:p>
                  </a:txBody>
                  <a:tcPr marL="64008" marR="64008" marT="27432" marB="27432" anchor="ctr">
                    <a:solidFill>
                      <a:srgbClr val="1A2130"/>
                    </a:solidFill>
                  </a:tcPr>
                </a:tc>
                <a:tc>
                  <a:txBody>
                    <a:bodyPr/>
                    <a:lstStyle/>
                    <a:p>
                      <a:pPr algn="l"/>
                      <a:r>
                        <a:rPr sz="1050" b="1" i="0">
                          <a:solidFill>
                            <a:srgbClr val="CADCEA"/>
                          </a:solidFill>
                          <a:latin typeface="Calibri"/>
                        </a:rPr>
                        <a:t>Meaning</a:t>
                      </a:r>
                    </a:p>
                  </a:txBody>
                  <a:tcPr marL="64008" marR="64008" marT="27432" marB="27432" anchor="ctr">
                    <a:solidFill>
                      <a:srgbClr val="1A2130"/>
                    </a:solidFill>
                  </a:tcPr>
                </a:tc>
                <a:extLst>
                  <a:ext uri="{0D108BD9-81ED-4DB2-BD59-A6C34878D82A}">
                    <a16:rowId xmlns:a16="http://schemas.microsoft.com/office/drawing/2014/main" val="10000"/>
                  </a:ext>
                </a:extLst>
              </a:tr>
              <a:tr h="512064">
                <a:tc>
                  <a:txBody>
                    <a:bodyPr/>
                    <a:lstStyle/>
                    <a:p>
                      <a:pPr algn="l"/>
                      <a:r>
                        <a:rPr sz="1050" b="1" i="0">
                          <a:solidFill>
                            <a:srgbClr val="1A2130"/>
                          </a:solidFill>
                          <a:latin typeface="Calibri"/>
                        </a:rPr>
                        <a:t>Vertical slice</a:t>
                      </a:r>
                    </a:p>
                  </a:txBody>
                  <a:tcPr marL="64008" marR="64008" marT="27432" marB="27432" anchor="ctr">
                    <a:solidFill>
                      <a:srgbClr val="FFFFFF"/>
                    </a:solidFill>
                  </a:tcPr>
                </a:tc>
                <a:tc>
                  <a:txBody>
                    <a:bodyPr/>
                    <a:lstStyle/>
                    <a:p>
                      <a:pPr algn="l"/>
                      <a:r>
                        <a:rPr sz="1050" b="0" i="0">
                          <a:solidFill>
                            <a:srgbClr val="57626B"/>
                          </a:solidFill>
                          <a:latin typeface="Calibri"/>
                        </a:rPr>
                        <a:t>One use case built end to end, from source through Bronze, Silver and Gold to the report</a:t>
                      </a:r>
                    </a:p>
                  </a:txBody>
                  <a:tcPr marL="64008" marR="64008" marT="27432" marB="27432" anchor="ctr">
                    <a:solidFill>
                      <a:srgbClr val="FFFFFF"/>
                    </a:solidFill>
                  </a:tcPr>
                </a:tc>
                <a:extLst>
                  <a:ext uri="{0D108BD9-81ED-4DB2-BD59-A6C34878D82A}">
                    <a16:rowId xmlns:a16="http://schemas.microsoft.com/office/drawing/2014/main" val="10001"/>
                  </a:ext>
                </a:extLst>
              </a:tr>
              <a:tr h="512064">
                <a:tc>
                  <a:txBody>
                    <a:bodyPr/>
                    <a:lstStyle/>
                    <a:p>
                      <a:pPr algn="l"/>
                      <a:r>
                        <a:rPr sz="1050" b="1" i="0">
                          <a:solidFill>
                            <a:srgbClr val="1A2130"/>
                          </a:solidFill>
                          <a:latin typeface="Calibri"/>
                        </a:rPr>
                        <a:t>Proof of concept (POC)</a:t>
                      </a:r>
                    </a:p>
                  </a:txBody>
                  <a:tcPr marL="64008" marR="64008" marT="27432" marB="27432" anchor="ctr">
                    <a:solidFill>
                      <a:srgbClr val="F4F6F2"/>
                    </a:solidFill>
                  </a:tcPr>
                </a:tc>
                <a:tc>
                  <a:txBody>
                    <a:bodyPr/>
                    <a:lstStyle/>
                    <a:p>
                      <a:pPr algn="l"/>
                      <a:r>
                        <a:rPr sz="1050" b="0" i="0">
                          <a:solidFill>
                            <a:srgbClr val="57626B"/>
                          </a:solidFill>
                          <a:latin typeface="Calibri"/>
                        </a:rPr>
                        <a:t>A small first slice that proves the whole approach works</a:t>
                      </a:r>
                    </a:p>
                  </a:txBody>
                  <a:tcPr marL="64008" marR="64008" marT="27432" marB="27432" anchor="ctr">
                    <a:solidFill>
                      <a:srgbClr val="F4F6F2"/>
                    </a:solidFill>
                  </a:tcPr>
                </a:tc>
                <a:extLst>
                  <a:ext uri="{0D108BD9-81ED-4DB2-BD59-A6C34878D82A}">
                    <a16:rowId xmlns:a16="http://schemas.microsoft.com/office/drawing/2014/main" val="10002"/>
                  </a:ext>
                </a:extLst>
              </a:tr>
              <a:tr h="512064">
                <a:tc>
                  <a:txBody>
                    <a:bodyPr/>
                    <a:lstStyle/>
                    <a:p>
                      <a:pPr algn="l"/>
                      <a:r>
                        <a:rPr sz="1050" b="1" i="0">
                          <a:solidFill>
                            <a:srgbClr val="1A2130"/>
                          </a:solidFill>
                          <a:latin typeface="Calibri"/>
                        </a:rPr>
                        <a:t>Certification</a:t>
                      </a:r>
                    </a:p>
                  </a:txBody>
                  <a:tcPr marL="64008" marR="64008" marT="27432" marB="27432" anchor="ctr">
                    <a:solidFill>
                      <a:srgbClr val="FFFFFF"/>
                    </a:solidFill>
                  </a:tcPr>
                </a:tc>
                <a:tc>
                  <a:txBody>
                    <a:bodyPr/>
                    <a:lstStyle/>
                    <a:p>
                      <a:pPr algn="l"/>
                      <a:r>
                        <a:rPr sz="1050" b="0" i="0">
                          <a:solidFill>
                            <a:srgbClr val="57626B"/>
                          </a:solidFill>
                          <a:latin typeface="Calibri"/>
                        </a:rPr>
                        <a:t>Formal sign-off that a Gold object is fit for a named use</a:t>
                      </a:r>
                    </a:p>
                  </a:txBody>
                  <a:tcPr marL="64008" marR="64008" marT="27432" marB="27432" anchor="ctr">
                    <a:solidFill>
                      <a:srgbClr val="FFFFFF"/>
                    </a:solidFill>
                  </a:tcPr>
                </a:tc>
                <a:extLst>
                  <a:ext uri="{0D108BD9-81ED-4DB2-BD59-A6C34878D82A}">
                    <a16:rowId xmlns:a16="http://schemas.microsoft.com/office/drawing/2014/main" val="10003"/>
                  </a:ext>
                </a:extLst>
              </a:tr>
              <a:tr h="512064">
                <a:tc>
                  <a:txBody>
                    <a:bodyPr/>
                    <a:lstStyle/>
                    <a:p>
                      <a:pPr algn="l"/>
                      <a:r>
                        <a:rPr sz="1050" b="1" i="0">
                          <a:solidFill>
                            <a:srgbClr val="1A2130"/>
                          </a:solidFill>
                          <a:latin typeface="Calibri"/>
                        </a:rPr>
                        <a:t>Accelerator</a:t>
                      </a:r>
                    </a:p>
                  </a:txBody>
                  <a:tcPr marL="64008" marR="64008" marT="27432" marB="27432" anchor="ctr">
                    <a:solidFill>
                      <a:srgbClr val="F4F6F2"/>
                    </a:solidFill>
                  </a:tcPr>
                </a:tc>
                <a:tc>
                  <a:txBody>
                    <a:bodyPr/>
                    <a:lstStyle/>
                    <a:p>
                      <a:pPr algn="l"/>
                      <a:r>
                        <a:rPr sz="1050" b="0" i="0">
                          <a:solidFill>
                            <a:srgbClr val="57626B"/>
                          </a:solidFill>
                          <a:latin typeface="Calibri"/>
                        </a:rPr>
                        <a:t>The firm’s reusable assets: templates, generator, check catalog, method</a:t>
                      </a:r>
                    </a:p>
                  </a:txBody>
                  <a:tcPr marL="64008" marR="64008" marT="27432" marB="27432" anchor="ctr">
                    <a:solidFill>
                      <a:srgbClr val="F4F6F2"/>
                    </a:solidFill>
                  </a:tcPr>
                </a:tc>
                <a:extLst>
                  <a:ext uri="{0D108BD9-81ED-4DB2-BD59-A6C34878D82A}">
                    <a16:rowId xmlns:a16="http://schemas.microsoft.com/office/drawing/2014/main" val="10004"/>
                  </a:ext>
                </a:extLst>
              </a:tr>
              <a:tr h="512064">
                <a:tc>
                  <a:txBody>
                    <a:bodyPr/>
                    <a:lstStyle/>
                    <a:p>
                      <a:pPr algn="l"/>
                      <a:r>
                        <a:rPr sz="1050" b="1" i="0">
                          <a:solidFill>
                            <a:srgbClr val="1A2130"/>
                          </a:solidFill>
                          <a:latin typeface="Calibri"/>
                        </a:rPr>
                        <a:t>Metadata</a:t>
                      </a:r>
                    </a:p>
                  </a:txBody>
                  <a:tcPr marL="64008" marR="64008" marT="27432" marB="27432" anchor="ctr">
                    <a:solidFill>
                      <a:srgbClr val="FFFFFF"/>
                    </a:solidFill>
                  </a:tcPr>
                </a:tc>
                <a:tc>
                  <a:txBody>
                    <a:bodyPr/>
                    <a:lstStyle/>
                    <a:p>
                      <a:pPr algn="l"/>
                      <a:r>
                        <a:rPr sz="1050" b="0" i="0">
                          <a:solidFill>
                            <a:srgbClr val="57626B"/>
                          </a:solidFill>
                          <a:latin typeface="Calibri"/>
                        </a:rPr>
                        <a:t>Data about data: names, types, keys, definitions, mappings</a:t>
                      </a:r>
                    </a:p>
                  </a:txBody>
                  <a:tcPr marL="64008" marR="64008" marT="27432" marB="27432" anchor="ctr">
                    <a:solidFill>
                      <a:srgbClr val="FFFFFF"/>
                    </a:solidFill>
                  </a:tcPr>
                </a:tc>
                <a:extLst>
                  <a:ext uri="{0D108BD9-81ED-4DB2-BD59-A6C34878D82A}">
                    <a16:rowId xmlns:a16="http://schemas.microsoft.com/office/drawing/2014/main" val="10005"/>
                  </a:ext>
                </a:extLst>
              </a:tr>
              <a:tr h="512064">
                <a:tc>
                  <a:txBody>
                    <a:bodyPr/>
                    <a:lstStyle/>
                    <a:p>
                      <a:pPr algn="l"/>
                      <a:r>
                        <a:rPr sz="1050" b="1" i="0">
                          <a:solidFill>
                            <a:srgbClr val="1A2130"/>
                          </a:solidFill>
                          <a:latin typeface="Calibri"/>
                        </a:rPr>
                        <a:t>DDL</a:t>
                      </a:r>
                    </a:p>
                  </a:txBody>
                  <a:tcPr marL="64008" marR="64008" marT="27432" marB="27432" anchor="ctr">
                    <a:solidFill>
                      <a:srgbClr val="F4F6F2"/>
                    </a:solidFill>
                  </a:tcPr>
                </a:tc>
                <a:tc>
                  <a:txBody>
                    <a:bodyPr/>
                    <a:lstStyle/>
                    <a:p>
                      <a:pPr algn="l"/>
                      <a:r>
                        <a:rPr sz="1050" b="0" i="0">
                          <a:solidFill>
                            <a:srgbClr val="57626B"/>
                          </a:solidFill>
                          <a:latin typeface="Calibri"/>
                        </a:rPr>
                        <a:t>The SQL that creates tables, columns and keys</a:t>
                      </a:r>
                    </a:p>
                  </a:txBody>
                  <a:tcPr marL="64008" marR="64008" marT="27432" marB="27432" anchor="ctr">
                    <a:solidFill>
                      <a:srgbClr val="F4F6F2"/>
                    </a:solidFill>
                  </a:tcPr>
                </a:tc>
                <a:extLst>
                  <a:ext uri="{0D108BD9-81ED-4DB2-BD59-A6C34878D82A}">
                    <a16:rowId xmlns:a16="http://schemas.microsoft.com/office/drawing/2014/main" val="10006"/>
                  </a:ext>
                </a:extLst>
              </a:tr>
              <a:tr h="512064">
                <a:tc>
                  <a:txBody>
                    <a:bodyPr/>
                    <a:lstStyle/>
                    <a:p>
                      <a:pPr algn="l"/>
                      <a:r>
                        <a:rPr sz="1050" b="1" i="0">
                          <a:solidFill>
                            <a:srgbClr val="1A2130"/>
                          </a:solidFill>
                          <a:latin typeface="Calibri"/>
                        </a:rPr>
                        <a:t>Profiling (aggregate)</a:t>
                      </a:r>
                    </a:p>
                  </a:txBody>
                  <a:tcPr marL="64008" marR="64008" marT="27432" marB="27432" anchor="ctr">
                    <a:solidFill>
                      <a:srgbClr val="FFFFFF"/>
                    </a:solidFill>
                  </a:tcPr>
                </a:tc>
                <a:tc>
                  <a:txBody>
                    <a:bodyPr/>
                    <a:lstStyle/>
                    <a:p>
                      <a:pPr algn="l"/>
                      <a:r>
                        <a:rPr sz="1050" b="0" i="0">
                          <a:solidFill>
                            <a:srgbClr val="57626B"/>
                          </a:solidFill>
                          <a:latin typeface="Calibri"/>
                        </a:rPr>
                        <a:t>Summary statistics about data (counts, null rates, ranges), not the rows</a:t>
                      </a:r>
                    </a:p>
                  </a:txBody>
                  <a:tcPr marL="64008" marR="64008" marT="27432" marB="27432" anchor="ctr">
                    <a:solidFill>
                      <a:srgbClr val="FFFFFF"/>
                    </a:solidFill>
                  </a:tcPr>
                </a:tc>
                <a:extLst>
                  <a:ext uri="{0D108BD9-81ED-4DB2-BD59-A6C34878D82A}">
                    <a16:rowId xmlns:a16="http://schemas.microsoft.com/office/drawing/2014/main" val="10007"/>
                  </a:ext>
                </a:extLst>
              </a:tr>
              <a:tr h="512064">
                <a:tc>
                  <a:txBody>
                    <a:bodyPr/>
                    <a:lstStyle/>
                    <a:p>
                      <a:pPr algn="l"/>
                      <a:r>
                        <a:rPr sz="1050" b="1" i="0">
                          <a:solidFill>
                            <a:srgbClr val="1A2130"/>
                          </a:solidFill>
                          <a:latin typeface="Calibri"/>
                        </a:rPr>
                        <a:t>Unknown member (-1)</a:t>
                      </a:r>
                    </a:p>
                  </a:txBody>
                  <a:tcPr marL="64008" marR="64008" marT="27432" marB="27432" anchor="ctr">
                    <a:solidFill>
                      <a:srgbClr val="F4F6F2"/>
                    </a:solidFill>
                  </a:tcPr>
                </a:tc>
                <a:tc>
                  <a:txBody>
                    <a:bodyPr/>
                    <a:lstStyle/>
                    <a:p>
                      <a:pPr algn="l"/>
                      <a:r>
                        <a:rPr sz="1050" b="0" i="0">
                          <a:solidFill>
                            <a:srgbClr val="57626B"/>
                          </a:solidFill>
                          <a:latin typeface="Calibri"/>
                        </a:rPr>
                        <a:t>A placeholder dimension row used until the real value is available</a:t>
                      </a:r>
                    </a:p>
                  </a:txBody>
                  <a:tcPr marL="64008" marR="64008" marT="27432" marB="27432" anchor="ctr">
                    <a:solidFill>
                      <a:srgbClr val="F4F6F2"/>
                    </a:solidFill>
                  </a:tcPr>
                </a:tc>
                <a:extLst>
                  <a:ext uri="{0D108BD9-81ED-4DB2-BD59-A6C34878D82A}">
                    <a16:rowId xmlns:a16="http://schemas.microsoft.com/office/drawing/2014/main" val="10008"/>
                  </a:ext>
                </a:extLst>
              </a:tr>
            </a:tbl>
          </a:graphicData>
        </a:graphic>
      </p:graphicFrame>
      <p:graphicFrame>
        <p:nvGraphicFramePr>
          <p:cNvPr id="6" name="Table 5"/>
          <p:cNvGraphicFramePr>
            <a:graphicFrameLocks noGrp="1"/>
          </p:cNvGraphicFramePr>
          <p:nvPr/>
        </p:nvGraphicFramePr>
        <p:xfrm>
          <a:off x="6199632" y="1325880"/>
          <a:ext cx="5532119" cy="4425696"/>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29184">
                <a:tc>
                  <a:txBody>
                    <a:bodyPr/>
                    <a:lstStyle/>
                    <a:p>
                      <a:pPr algn="l"/>
                      <a:r>
                        <a:rPr sz="1050" b="1" i="0">
                          <a:solidFill>
                            <a:srgbClr val="CADCEA"/>
                          </a:solidFill>
                          <a:latin typeface="Calibri"/>
                        </a:rPr>
                        <a:t>Term</a:t>
                      </a:r>
                    </a:p>
                  </a:txBody>
                  <a:tcPr marL="64008" marR="64008" marT="27432" marB="27432" anchor="ctr">
                    <a:solidFill>
                      <a:srgbClr val="1A2130"/>
                    </a:solidFill>
                  </a:tcPr>
                </a:tc>
                <a:tc>
                  <a:txBody>
                    <a:bodyPr/>
                    <a:lstStyle/>
                    <a:p>
                      <a:pPr algn="l"/>
                      <a:r>
                        <a:rPr sz="1050" b="1" i="0">
                          <a:solidFill>
                            <a:srgbClr val="CADCEA"/>
                          </a:solidFill>
                          <a:latin typeface="Calibri"/>
                        </a:rPr>
                        <a:t>Meaning</a:t>
                      </a:r>
                    </a:p>
                  </a:txBody>
                  <a:tcPr marL="64008" marR="64008" marT="27432" marB="27432" anchor="ctr">
                    <a:solidFill>
                      <a:srgbClr val="1A2130"/>
                    </a:solidFill>
                  </a:tcPr>
                </a:tc>
                <a:extLst>
                  <a:ext uri="{0D108BD9-81ED-4DB2-BD59-A6C34878D82A}">
                    <a16:rowId xmlns:a16="http://schemas.microsoft.com/office/drawing/2014/main" val="10000"/>
                  </a:ext>
                </a:extLst>
              </a:tr>
              <a:tr h="512064">
                <a:tc>
                  <a:txBody>
                    <a:bodyPr/>
                    <a:lstStyle/>
                    <a:p>
                      <a:pPr algn="l"/>
                      <a:r>
                        <a:rPr sz="1050" b="1" i="0">
                          <a:solidFill>
                            <a:srgbClr val="1A2130"/>
                          </a:solidFill>
                          <a:latin typeface="Calibri"/>
                        </a:rPr>
                        <a:t>Schema migration</a:t>
                      </a:r>
                    </a:p>
                  </a:txBody>
                  <a:tcPr marL="64008" marR="64008" marT="27432" marB="27432" anchor="ctr">
                    <a:solidFill>
                      <a:srgbClr val="FFFFFF"/>
                    </a:solidFill>
                  </a:tcPr>
                </a:tc>
                <a:tc>
                  <a:txBody>
                    <a:bodyPr/>
                    <a:lstStyle/>
                    <a:p>
                      <a:pPr algn="l"/>
                      <a:r>
                        <a:rPr sz="1050" b="0" i="0">
                          <a:solidFill>
                            <a:srgbClr val="57626B"/>
                          </a:solidFill>
                          <a:latin typeface="Calibri"/>
                        </a:rPr>
                        <a:t>A versioned, reversible change to table structures</a:t>
                      </a:r>
                    </a:p>
                  </a:txBody>
                  <a:tcPr marL="64008" marR="64008" marT="27432" marB="27432" anchor="ctr">
                    <a:solidFill>
                      <a:srgbClr val="FFFFFF"/>
                    </a:solidFill>
                  </a:tcPr>
                </a:tc>
                <a:extLst>
                  <a:ext uri="{0D108BD9-81ED-4DB2-BD59-A6C34878D82A}">
                    <a16:rowId xmlns:a16="http://schemas.microsoft.com/office/drawing/2014/main" val="10001"/>
                  </a:ext>
                </a:extLst>
              </a:tr>
              <a:tr h="512064">
                <a:tc>
                  <a:txBody>
                    <a:bodyPr/>
                    <a:lstStyle/>
                    <a:p>
                      <a:pPr algn="l"/>
                      <a:r>
                        <a:rPr sz="1050" b="1" i="0">
                          <a:solidFill>
                            <a:srgbClr val="1A2130"/>
                          </a:solidFill>
                          <a:latin typeface="Calibri"/>
                        </a:rPr>
                        <a:t>CI/CD</a:t>
                      </a:r>
                    </a:p>
                  </a:txBody>
                  <a:tcPr marL="64008" marR="64008" marT="27432" marB="27432" anchor="ctr">
                    <a:solidFill>
                      <a:srgbClr val="F4F6F2"/>
                    </a:solidFill>
                  </a:tcPr>
                </a:tc>
                <a:tc>
                  <a:txBody>
                    <a:bodyPr/>
                    <a:lstStyle/>
                    <a:p>
                      <a:pPr algn="l"/>
                      <a:r>
                        <a:rPr sz="1050" b="0" i="0">
                          <a:solidFill>
                            <a:srgbClr val="57626B"/>
                          </a:solidFill>
                          <a:latin typeface="Calibri"/>
                        </a:rPr>
                        <a:t>Automated build, test and deployment of code changes</a:t>
                      </a:r>
                    </a:p>
                  </a:txBody>
                  <a:tcPr marL="64008" marR="64008" marT="27432" marB="27432" anchor="ctr">
                    <a:solidFill>
                      <a:srgbClr val="F4F6F2"/>
                    </a:solidFill>
                  </a:tcPr>
                </a:tc>
                <a:extLst>
                  <a:ext uri="{0D108BD9-81ED-4DB2-BD59-A6C34878D82A}">
                    <a16:rowId xmlns:a16="http://schemas.microsoft.com/office/drawing/2014/main" val="10002"/>
                  </a:ext>
                </a:extLst>
              </a:tr>
              <a:tr h="512064">
                <a:tc>
                  <a:txBody>
                    <a:bodyPr/>
                    <a:lstStyle/>
                    <a:p>
                      <a:pPr algn="l"/>
                      <a:r>
                        <a:rPr sz="1050" b="1" i="0">
                          <a:solidFill>
                            <a:srgbClr val="1A2130"/>
                          </a:solidFill>
                          <a:latin typeface="Calibri"/>
                        </a:rPr>
                        <a:t>UAT</a:t>
                      </a:r>
                    </a:p>
                  </a:txBody>
                  <a:tcPr marL="64008" marR="64008" marT="27432" marB="27432" anchor="ctr">
                    <a:solidFill>
                      <a:srgbClr val="FFFFFF"/>
                    </a:solidFill>
                  </a:tcPr>
                </a:tc>
                <a:tc>
                  <a:txBody>
                    <a:bodyPr/>
                    <a:lstStyle/>
                    <a:p>
                      <a:pPr algn="l"/>
                      <a:r>
                        <a:rPr sz="1050" b="0" i="0">
                          <a:solidFill>
                            <a:srgbClr val="57626B"/>
                          </a:solidFill>
                          <a:latin typeface="Calibri"/>
                        </a:rPr>
                        <a:t>User acceptance testing: business users confirm the output is right</a:t>
                      </a:r>
                    </a:p>
                  </a:txBody>
                  <a:tcPr marL="64008" marR="64008" marT="27432" marB="27432" anchor="ctr">
                    <a:solidFill>
                      <a:srgbClr val="FFFFFF"/>
                    </a:solidFill>
                  </a:tcPr>
                </a:tc>
                <a:extLst>
                  <a:ext uri="{0D108BD9-81ED-4DB2-BD59-A6C34878D82A}">
                    <a16:rowId xmlns:a16="http://schemas.microsoft.com/office/drawing/2014/main" val="10003"/>
                  </a:ext>
                </a:extLst>
              </a:tr>
              <a:tr h="512064">
                <a:tc>
                  <a:txBody>
                    <a:bodyPr/>
                    <a:lstStyle/>
                    <a:p>
                      <a:pPr algn="l"/>
                      <a:r>
                        <a:rPr sz="1050" b="1" i="0">
                          <a:solidFill>
                            <a:srgbClr val="1A2130"/>
                          </a:solidFill>
                          <a:latin typeface="Calibri"/>
                        </a:rPr>
                        <a:t>Regression test</a:t>
                      </a:r>
                    </a:p>
                  </a:txBody>
                  <a:tcPr marL="64008" marR="64008" marT="27432" marB="27432" anchor="ctr">
                    <a:solidFill>
                      <a:srgbClr val="F4F6F2"/>
                    </a:solidFill>
                  </a:tcPr>
                </a:tc>
                <a:tc>
                  <a:txBody>
                    <a:bodyPr/>
                    <a:lstStyle/>
                    <a:p>
                      <a:pPr algn="l"/>
                      <a:r>
                        <a:rPr sz="1050" b="0" i="0">
                          <a:solidFill>
                            <a:srgbClr val="57626B"/>
                          </a:solidFill>
                          <a:latin typeface="Calibri"/>
                        </a:rPr>
                        <a:t>Re-running existing tests to prove a change broke nothing</a:t>
                      </a:r>
                    </a:p>
                  </a:txBody>
                  <a:tcPr marL="64008" marR="64008" marT="27432" marB="27432" anchor="ctr">
                    <a:solidFill>
                      <a:srgbClr val="F4F6F2"/>
                    </a:solidFill>
                  </a:tcPr>
                </a:tc>
                <a:extLst>
                  <a:ext uri="{0D108BD9-81ED-4DB2-BD59-A6C34878D82A}">
                    <a16:rowId xmlns:a16="http://schemas.microsoft.com/office/drawing/2014/main" val="10004"/>
                  </a:ext>
                </a:extLst>
              </a:tr>
              <a:tr h="512064">
                <a:tc>
                  <a:txBody>
                    <a:bodyPr/>
                    <a:lstStyle/>
                    <a:p>
                      <a:pPr algn="l"/>
                      <a:r>
                        <a:rPr sz="1050" b="1" i="0">
                          <a:solidFill>
                            <a:srgbClr val="1A2130"/>
                          </a:solidFill>
                          <a:latin typeface="Calibri"/>
                        </a:rPr>
                        <a:t>Reconciliation</a:t>
                      </a:r>
                    </a:p>
                  </a:txBody>
                  <a:tcPr marL="64008" marR="64008" marT="27432" marB="27432" anchor="ctr">
                    <a:solidFill>
                      <a:srgbClr val="FFFFFF"/>
                    </a:solidFill>
                  </a:tcPr>
                </a:tc>
                <a:tc>
                  <a:txBody>
                    <a:bodyPr/>
                    <a:lstStyle/>
                    <a:p>
                      <a:pPr algn="l"/>
                      <a:r>
                        <a:rPr sz="1050" b="0" i="0">
                          <a:solidFill>
                            <a:srgbClr val="57626B"/>
                          </a:solidFill>
                          <a:latin typeface="Calibri"/>
                        </a:rPr>
                        <a:t>Proving totals agree between layers, sources and the GL</a:t>
                      </a:r>
                    </a:p>
                  </a:txBody>
                  <a:tcPr marL="64008" marR="64008" marT="27432" marB="27432" anchor="ctr">
                    <a:solidFill>
                      <a:srgbClr val="FFFFFF"/>
                    </a:solidFill>
                  </a:tcPr>
                </a:tc>
                <a:extLst>
                  <a:ext uri="{0D108BD9-81ED-4DB2-BD59-A6C34878D82A}">
                    <a16:rowId xmlns:a16="http://schemas.microsoft.com/office/drawing/2014/main" val="10005"/>
                  </a:ext>
                </a:extLst>
              </a:tr>
              <a:tr h="512064">
                <a:tc>
                  <a:txBody>
                    <a:bodyPr/>
                    <a:lstStyle/>
                    <a:p>
                      <a:pPr algn="l"/>
                      <a:r>
                        <a:rPr sz="1050" b="1" i="0">
                          <a:solidFill>
                            <a:srgbClr val="1A2130"/>
                          </a:solidFill>
                          <a:latin typeface="Calibri"/>
                        </a:rPr>
                        <a:t>Branch / commit / tag</a:t>
                      </a:r>
                    </a:p>
                  </a:txBody>
                  <a:tcPr marL="64008" marR="64008" marT="27432" marB="27432" anchor="ctr">
                    <a:solidFill>
                      <a:srgbClr val="F4F6F2"/>
                    </a:solidFill>
                  </a:tcPr>
                </a:tc>
                <a:tc>
                  <a:txBody>
                    <a:bodyPr/>
                    <a:lstStyle/>
                    <a:p>
                      <a:pPr algn="l"/>
                      <a:r>
                        <a:rPr sz="1050" b="0" i="0">
                          <a:solidFill>
                            <a:srgbClr val="57626B"/>
                          </a:solidFill>
                          <a:latin typeface="Calibri"/>
                        </a:rPr>
                        <a:t>A separate line of work / one saved change / a named release</a:t>
                      </a:r>
                    </a:p>
                  </a:txBody>
                  <a:tcPr marL="64008" marR="64008" marT="27432" marB="27432" anchor="ctr">
                    <a:solidFill>
                      <a:srgbClr val="F4F6F2"/>
                    </a:solidFill>
                  </a:tcPr>
                </a:tc>
                <a:extLst>
                  <a:ext uri="{0D108BD9-81ED-4DB2-BD59-A6C34878D82A}">
                    <a16:rowId xmlns:a16="http://schemas.microsoft.com/office/drawing/2014/main" val="10006"/>
                  </a:ext>
                </a:extLst>
              </a:tr>
              <a:tr h="512064">
                <a:tc>
                  <a:txBody>
                    <a:bodyPr/>
                    <a:lstStyle/>
                    <a:p>
                      <a:pPr algn="l"/>
                      <a:r>
                        <a:rPr sz="1050" b="1" i="0">
                          <a:solidFill>
                            <a:srgbClr val="1A2130"/>
                          </a:solidFill>
                          <a:latin typeface="Calibri"/>
                        </a:rPr>
                        <a:t>Tenancy</a:t>
                      </a:r>
                    </a:p>
                  </a:txBody>
                  <a:tcPr marL="64008" marR="64008" marT="27432" marB="27432" anchor="ctr">
                    <a:solidFill>
                      <a:srgbClr val="FFFFFF"/>
                    </a:solidFill>
                  </a:tcPr>
                </a:tc>
                <a:tc>
                  <a:txBody>
                    <a:bodyPr/>
                    <a:lstStyle/>
                    <a:p>
                      <a:pPr algn="l"/>
                      <a:r>
                        <a:rPr sz="1050" b="0" i="0">
                          <a:solidFill>
                            <a:srgbClr val="57626B"/>
                          </a:solidFill>
                          <a:latin typeface="Calibri"/>
                        </a:rPr>
                        <a:t>A client’s own isolated account with a cloud provider</a:t>
                      </a:r>
                    </a:p>
                  </a:txBody>
                  <a:tcPr marL="64008" marR="64008" marT="27432" marB="27432" anchor="ctr">
                    <a:solidFill>
                      <a:srgbClr val="FFFFFF"/>
                    </a:solidFill>
                  </a:tcPr>
                </a:tc>
                <a:extLst>
                  <a:ext uri="{0D108BD9-81ED-4DB2-BD59-A6C34878D82A}">
                    <a16:rowId xmlns:a16="http://schemas.microsoft.com/office/drawing/2014/main" val="10007"/>
                  </a:ext>
                </a:extLst>
              </a:tr>
              <a:tr h="512064">
                <a:tc>
                  <a:txBody>
                    <a:bodyPr/>
                    <a:lstStyle/>
                    <a:p>
                      <a:pPr algn="l"/>
                      <a:r>
                        <a:rPr sz="1050" b="1" i="0">
                          <a:solidFill>
                            <a:srgbClr val="1A2130"/>
                          </a:solidFill>
                          <a:latin typeface="Calibri"/>
                        </a:rPr>
                        <a:t>Pseudonymize</a:t>
                      </a:r>
                    </a:p>
                  </a:txBody>
                  <a:tcPr marL="64008" marR="64008" marT="27432" marB="27432" anchor="ctr">
                    <a:solidFill>
                      <a:srgbClr val="F4F6F2"/>
                    </a:solidFill>
                  </a:tcPr>
                </a:tc>
                <a:tc>
                  <a:txBody>
                    <a:bodyPr/>
                    <a:lstStyle/>
                    <a:p>
                      <a:pPr algn="l"/>
                      <a:r>
                        <a:rPr sz="1050" b="0" i="0">
                          <a:solidFill>
                            <a:srgbClr val="57626B"/>
                          </a:solidFill>
                          <a:latin typeface="Calibri"/>
                        </a:rPr>
                        <a:t>Replace real names with consistent placeholders, keeping the key separately</a:t>
                      </a:r>
                    </a:p>
                  </a:txBody>
                  <a:tcPr marL="64008" marR="64008" marT="27432" marB="27432" anchor="ctr">
                    <a:solidFill>
                      <a:srgbClr val="F4F6F2"/>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Implementing the Medallion Data Model with Claude: Client Blueprint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5212</Words>
  <Application>Microsoft Office PowerPoint</Application>
  <PresentationFormat>Widescreen</PresentationFormat>
  <Paragraphs>678</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 Franco</cp:lastModifiedBy>
  <cp:revision>2</cp:revision>
  <dcterms:created xsi:type="dcterms:W3CDTF">2013-01-27T09:14:16Z</dcterms:created>
  <dcterms:modified xsi:type="dcterms:W3CDTF">2026-09-25T19:34:55Z</dcterms:modified>
  <cp:category/>
</cp:coreProperties>
</file>