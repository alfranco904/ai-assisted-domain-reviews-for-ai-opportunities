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A2130"/>
                </a:solidFill>
                <a:latin typeface="Calibri"/>
              </a:rPr>
              <a:t>Daily payment records: actual vs learned expected range (illustrative)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payments loaded (000s)</c:v>
                </c:pt>
              </c:strCache>
            </c:strRef>
          </c:tx>
          <c:spPr>
            <a:ln w="28575">
              <a:solidFill>
                <a:srgbClr val="1A2130"/>
              </a:solidFill>
            </a:ln>
          </c:spPr>
          <c:marker>
            <c:spPr>
              <a:solidFill>
                <a:srgbClr val="1A2130"/>
              </a:solidFill>
              <a:ln>
                <a:solidFill>
                  <a:srgbClr val="1A2130"/>
                </a:solidFill>
              </a:ln>
            </c:spPr>
          </c:marker>
          <c:dPt>
            <c:idx val="9"/>
            <c:marker>
              <c:symbol val="diamond"/>
              <c:size val="10"/>
              <c:spPr>
                <a:solidFill>
                  <a:srgbClr val="9A3324"/>
                </a:solidFill>
                <a:ln>
                  <a:solidFill>
                    <a:srgbClr val="9A3324"/>
                  </a:solidFill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0FE-4146-9D11-E4CE7658764F}"/>
              </c:ext>
            </c:extLst>
          </c:dPt>
          <c:cat>
            <c:strRef>
              <c:f>Sheet1!$A$2:$A$15</c:f>
              <c:strCache>
                <c:ptCount val="14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  <c:pt idx="7">
                  <c:v>Mon</c:v>
                </c:pt>
                <c:pt idx="8">
                  <c:v>Tue</c:v>
                </c:pt>
                <c:pt idx="9">
                  <c:v>Wed</c:v>
                </c:pt>
                <c:pt idx="10">
                  <c:v>Thu</c:v>
                </c:pt>
                <c:pt idx="11">
                  <c:v>Fri</c:v>
                </c:pt>
                <c:pt idx="12">
                  <c:v>Sat</c:v>
                </c:pt>
                <c:pt idx="13">
                  <c:v>Sun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51</c:v>
                </c:pt>
                <c:pt idx="1">
                  <c:v>49</c:v>
                </c:pt>
                <c:pt idx="2">
                  <c:v>52</c:v>
                </c:pt>
                <c:pt idx="3">
                  <c:v>50</c:v>
                </c:pt>
                <c:pt idx="4">
                  <c:v>53</c:v>
                </c:pt>
                <c:pt idx="5">
                  <c:v>23</c:v>
                </c:pt>
                <c:pt idx="6">
                  <c:v>18</c:v>
                </c:pt>
                <c:pt idx="7">
                  <c:v>50</c:v>
                </c:pt>
                <c:pt idx="8">
                  <c:v>52</c:v>
                </c:pt>
                <c:pt idx="9">
                  <c:v>31</c:v>
                </c:pt>
                <c:pt idx="10">
                  <c:v>51</c:v>
                </c:pt>
                <c:pt idx="11">
                  <c:v>54</c:v>
                </c:pt>
                <c:pt idx="12">
                  <c:v>22</c:v>
                </c:pt>
                <c:pt idx="13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FE-4146-9D11-E4CE765876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high (ML)</c:v>
                </c:pt>
              </c:strCache>
            </c:strRef>
          </c:tx>
          <c:spPr>
            <a:ln w="15875">
              <a:solidFill>
                <a:srgbClr val="57626B"/>
              </a:solidFill>
              <a:prstDash val="dash"/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  <c:pt idx="7">
                  <c:v>Mon</c:v>
                </c:pt>
                <c:pt idx="8">
                  <c:v>Tue</c:v>
                </c:pt>
                <c:pt idx="9">
                  <c:v>Wed</c:v>
                </c:pt>
                <c:pt idx="10">
                  <c:v>Thu</c:v>
                </c:pt>
                <c:pt idx="11">
                  <c:v>Fri</c:v>
                </c:pt>
                <c:pt idx="12">
                  <c:v>Sat</c:v>
                </c:pt>
                <c:pt idx="13">
                  <c:v>Sun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56</c:v>
                </c:pt>
                <c:pt idx="1">
                  <c:v>56</c:v>
                </c:pt>
                <c:pt idx="2">
                  <c:v>56</c:v>
                </c:pt>
                <c:pt idx="3">
                  <c:v>56</c:v>
                </c:pt>
                <c:pt idx="4">
                  <c:v>56</c:v>
                </c:pt>
                <c:pt idx="5">
                  <c:v>27</c:v>
                </c:pt>
                <c:pt idx="6">
                  <c:v>22</c:v>
                </c:pt>
                <c:pt idx="7">
                  <c:v>56</c:v>
                </c:pt>
                <c:pt idx="8">
                  <c:v>56</c:v>
                </c:pt>
                <c:pt idx="9">
                  <c:v>56</c:v>
                </c:pt>
                <c:pt idx="10">
                  <c:v>56</c:v>
                </c:pt>
                <c:pt idx="11">
                  <c:v>56</c:v>
                </c:pt>
                <c:pt idx="12">
                  <c:v>27</c:v>
                </c:pt>
                <c:pt idx="13">
                  <c:v>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FE-4146-9D11-E4CE7658764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Expected low (ML)</c:v>
                </c:pt>
              </c:strCache>
            </c:strRef>
          </c:tx>
          <c:spPr>
            <a:ln w="15875">
              <a:solidFill>
                <a:srgbClr val="57626B"/>
              </a:solidFill>
              <a:prstDash val="dash"/>
            </a:ln>
          </c:spPr>
          <c:marker>
            <c:symbol val="none"/>
          </c:marker>
          <c:cat>
            <c:strRef>
              <c:f>Sheet1!$A$2:$A$15</c:f>
              <c:strCache>
                <c:ptCount val="14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  <c:pt idx="7">
                  <c:v>Mon</c:v>
                </c:pt>
                <c:pt idx="8">
                  <c:v>Tue</c:v>
                </c:pt>
                <c:pt idx="9">
                  <c:v>Wed</c:v>
                </c:pt>
                <c:pt idx="10">
                  <c:v>Thu</c:v>
                </c:pt>
                <c:pt idx="11">
                  <c:v>Fri</c:v>
                </c:pt>
                <c:pt idx="12">
                  <c:v>Sat</c:v>
                </c:pt>
                <c:pt idx="13">
                  <c:v>Sun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45</c:v>
                </c:pt>
                <c:pt idx="5">
                  <c:v>19</c:v>
                </c:pt>
                <c:pt idx="6">
                  <c:v>15</c:v>
                </c:pt>
                <c:pt idx="7">
                  <c:v>45</c:v>
                </c:pt>
                <c:pt idx="8">
                  <c:v>45</c:v>
                </c:pt>
                <c:pt idx="9">
                  <c:v>45</c:v>
                </c:pt>
                <c:pt idx="10">
                  <c:v>45</c:v>
                </c:pt>
                <c:pt idx="11">
                  <c:v>45</c:v>
                </c:pt>
                <c:pt idx="12">
                  <c:v>19</c:v>
                </c:pt>
                <c:pt idx="13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FE-4146-9D11-E4CE765876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7626B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0"/>
          <c:min val="0"/>
        </c:scaling>
        <c:delete val="0"/>
        <c:axPos val="l"/>
        <c:majorGridlines>
          <c:spPr>
            <a:ln>
              <a:solidFill>
                <a:srgbClr val="C7CDD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7626B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7626B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>
                <a:solidFill>
                  <a:srgbClr val="1A2130"/>
                </a:solidFill>
                <a:latin typeface="Calibri"/>
              </a:rPr>
              <a:t>Mean time to detect and resolve (illustrative)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Before AI</c:v>
                </c:pt>
              </c:strCache>
            </c:strRef>
          </c:tx>
          <c:spPr>
            <a:solidFill>
              <a:srgbClr val="C7CDD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A213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Time to detect (hours)</c:v>
                </c:pt>
                <c:pt idx="1">
                  <c:v>Time to resolve (hours)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</c:v>
                </c:pt>
                <c:pt idx="1">
                  <c:v>72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759-4F45-9ED9-29FC7FE0C1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AI</c:v>
                </c:pt>
              </c:strCache>
            </c:strRef>
          </c:tx>
          <c:spPr>
            <a:solidFill>
              <a:srgbClr val="1A213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A2130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Time to detect (hours)</c:v>
                </c:pt>
                <c:pt idx="1">
                  <c:v>Time to resolve (hours)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</c:v>
                </c:pt>
                <c:pt idx="1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759-4F45-9ED9-29FC7FE0C1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7626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C7CDD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7626B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57626B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1887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mbria"/>
              </a:rPr>
              <a:t>AI for Data Quality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CADCEA"/>
                </a:solidFill>
                <a:latin typeface="Cambria"/>
              </a:rPr>
              <a:t>Automating checks, alerting and governance upkeep — with the controls to do it safely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270248" y="2926080"/>
            <a:ext cx="3657600" cy="0"/>
          </a:xfrm>
          <a:prstGeom prst="line">
            <a:avLst/>
          </a:prstGeom>
          <a:ln w="19050">
            <a:solidFill>
              <a:srgbClr val="CADC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CADCEA"/>
                </a:solidFill>
                <a:latin typeface="Calibri"/>
              </a:rPr>
              <a:t>Measuring Quality &amp; Health · Auto-generated Rules &amp; Controls · Detection &amp; Alerting · Governance Lift · Controls ·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418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FFFFFF"/>
                </a:solidFill>
                <a:latin typeface="Calibri"/>
              </a:rPr>
              <a:t>For leaders, architects and data &amp; governance operations teams. Examples use consumer lending data; figures are illustrative. Technical terms (OCR, LLM, RAG and others) are explained in the appendix, pp. 30–34.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7626B"/>
                </a:solidFill>
                <a:latin typeface="Calibri"/>
              </a:rPr>
              <a:t>Fifth in the series · a learning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Where AI fits — four kinds of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AI adds to rule-based checks; it does not replace them.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BEST AT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LIMITS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DQ EXAMPLE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Rules (deterministic)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Tests written explicitly by people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Known requirements, regulatory checks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Only catches what someone anticipated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Subledger total = GL balance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Learns normal patterns from history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Anomalies, drift, seasonality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Needs history; can raise false alarms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Volume 40% below normal for a Wednesday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Generative AI (LLMs)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Reads and writes language and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Drafting rules and SQL, summaries, explanations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Can be confidently wrong; needs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Drafts a rule from a glossary definition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Agentic AI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An LLM that plans and uses tools in steps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Multi-step investigations, tickets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Errors compound; needs tight permissions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Traces lineage, queries tables, drafts the incident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52628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Design stance: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tier-1 regulatory checks stay deterministic and auditable. ML widens coverage to problems nobody wrote a rule for; generative and agentic AI cut the manual effort around every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53212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1A2130"/>
                </a:solidFill>
                <a:latin typeface="Calibri"/>
              </a:rPr>
              <a:t>New to these terms? Machine learning, LLM, agentic AI, RAG, OCR and the rest are explained in plain language in the appendix, pp. 30–34.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How we measure data quality — dimension by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Every dimension needs a metric, a formula and a threshold before AI can improve it.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LENDING EXAMPLE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Completeness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% populated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populated ÷ required records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Origination date on 100% of active loans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% passing format and range rules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passing ÷ evaluated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APR within product range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% matching an authoritative source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matches ÷ records verified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Boarded APR = APR on the signed note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Consistency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% agreeing across systems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agreeing ÷ compared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DPD in warehouse = DPD in servicing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Uniqueness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Duplicate 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duplicates ÷ total records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No duplicate payments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Timeliness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% delivered within SLA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on-time loads ÷ total loads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Servicing data certified by 6:10 a.m.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Reconcilability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Unexplained difference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|source − target| in $ and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Subledger vs GL: $0 unexplained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074920"/>
            <a:ext cx="1127455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DQ score for a CDE 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= weighted pass rate across its rules. </a:t>
            </a:r>
          </a:p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Composite DQ score 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= Σ (tier weight × CDE score) ÷ Σ tier weights, e.g., tier 1 = 3, tier 2 = 2, tier 3 = 1.</a:t>
            </a:r>
          </a:p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Always report the worst CDE alongside the average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— averages hide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Timeliness and accuracy — the two hardest to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Timeliness needs timestamps at each hop; accuracy needs a source of truth to compare against.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TIMELINESS: FIVE TIMESTAMPS FOR ONE PAYMENT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T0 Event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payment made 4:55 p.m.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2382" y="203454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39542" y="164592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T1 Captured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in servicing 5:00 p.m.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84724" y="203454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1884" y="164592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T2 Landed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on platform 5:40 a.m.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67067" y="203454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04227" y="164592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T3 Certified</a:t>
            </a:r>
          </a:p>
          <a:p>
            <a:pPr algn="ctr"/>
            <a:r>
              <a:rPr sz="1000" b="0" i="0">
                <a:solidFill>
                  <a:srgbClr val="CADCEA"/>
                </a:solidFill>
                <a:latin typeface="Calibri"/>
              </a:rPr>
              <a:t>checks pass 6:10 a.m.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49409" y="203454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86569" y="164592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T4 Available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GL / report 7:00 a.m.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2651760"/>
          <a:ext cx="566927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MEASURES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How long data takes to become usable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T3 − T0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Freshness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How old the newest certified data is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now − last successful T3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SLA adherence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Whether loads meet their deadline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% of loads with T3 ≤ deadline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Report timeliness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Whether outputs are on time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% of reports delivered by due date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09360" y="26517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ACCURACY: FOUR WAYS TO TEST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971800"/>
            <a:ext cx="542239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Reconcile to source: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Compare totals and records with the system of record.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447288"/>
            <a:ext cx="542239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Sample verification: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Check a sample of records against source documents.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22776"/>
            <a:ext cx="542239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Cross-system comparison: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Compare the same field held in two systems.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98264"/>
            <a:ext cx="5422392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Outcome checks: </a:t>
            </a:r>
            <a:r>
              <a:rPr sz="1000" b="0" i="0">
                <a:solidFill>
                  <a:srgbClr val="57626B"/>
                </a:solidFill>
                <a:latin typeface="Calibri"/>
              </a:rPr>
              <a:t>Test against real outcomes, e.g., payments actually received.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8348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Where AI changes accuracy measurement: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document extraction (OCR and IDP) can read the APR, amount and term from every signed loan note and compare them with the boarded values — moving accuracy testing from a 1% sample to 100% of new loans.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97880"/>
            <a:ext cx="11247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7626B"/>
                </a:solidFill>
                <a:latin typeface="Calibri"/>
              </a:rPr>
              <a:t>Accuracy is the dimension most often skipped because it needs a source of truth. Name that source for every tier-1 CDE.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Overall data health — one view for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 health index combines five pillars so leaders see one status per domain, with the drivers underneath.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14518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QUALITY  </a:t>
            </a:r>
            <a:r>
              <a:rPr sz="1050" b="1" i="0">
                <a:solidFill>
                  <a:srgbClr val="0E7C66"/>
                </a:solidFill>
                <a:latin typeface="Calibri"/>
              </a:rPr>
              <a:t>30%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Composite DQ score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9542" y="1325880"/>
            <a:ext cx="214518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TIMELINESS  </a:t>
            </a:r>
            <a:r>
              <a:rPr sz="1050" b="1" i="0">
                <a:solidFill>
                  <a:srgbClr val="0E7C66"/>
                </a:solidFill>
                <a:latin typeface="Calibri"/>
              </a:rPr>
              <a:t>20%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SLA adherence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1884" y="1325880"/>
            <a:ext cx="214518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CONTROL  </a:t>
            </a:r>
            <a:r>
              <a:rPr sz="1050" b="1" i="0">
                <a:solidFill>
                  <a:srgbClr val="0E7C66"/>
                </a:solidFill>
                <a:latin typeface="Calibri"/>
              </a:rPr>
              <a:t>20%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Aged issues, open recon breaks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4227" y="1325880"/>
            <a:ext cx="214518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COVERAGE  </a:t>
            </a:r>
            <a:r>
              <a:rPr sz="1050" b="1" i="0">
                <a:solidFill>
                  <a:srgbClr val="0E7C66"/>
                </a:solidFill>
                <a:latin typeface="Calibri"/>
              </a:rPr>
              <a:t>15%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CDEs with owner, rules, lineage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86569" y="1325880"/>
            <a:ext cx="2145182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TRUST  </a:t>
            </a:r>
            <a:r>
              <a:rPr sz="1050" b="1" i="0">
                <a:solidFill>
                  <a:srgbClr val="0E7C66"/>
                </a:solidFill>
                <a:latin typeface="Calibri"/>
              </a:rPr>
              <a:t>15%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Manual adjustments, repeat incidents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377440"/>
          <a:ext cx="11265408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QUALITY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TIMELINESS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COVERAGE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TRUST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Consumer lending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Deposits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L="73152" marR="73152" marT="36576" marB="36576" anchor="ctr">
                    <a:solidFill>
                      <a:srgbClr val="F5D9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96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▬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Finance / GL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97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 marL="73152" marR="73152" marT="36576" marB="36576" anchor="ctr">
                    <a:solidFill>
                      <a:srgbClr val="F5D9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86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93*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Risk &amp; CECL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 marL="73152" marR="73152" marT="36576" marB="36576" anchor="ctr">
                    <a:solidFill>
                      <a:srgbClr val="F5D9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91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▲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52628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Status: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green ≥ 95 · amber 85–94 · red &lt; 85. </a:t>
            </a:r>
          </a:p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* Capped at amber: </a:t>
            </a:r>
            <a:r>
              <a:rPr sz="1050" b="0" i="0">
                <a:solidFill>
                  <a:srgbClr val="57626B"/>
                </a:solidFill>
                <a:latin typeface="Calibri"/>
              </a:rPr>
              <a:t>any red pillar caps the domain at amber, so a weak pillar can’t hide in the average.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4526280"/>
            <a:ext cx="5541264" cy="178308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HOW AI HELPS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Drafts the commentary: what moved, why, and who owns it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Forecasts pillars likely to turn red next month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Links each red cell to the issues and CDEs driving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48640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7626B"/>
                </a:solidFill>
                <a:latin typeface="Calibri"/>
              </a:rPr>
              <a:t>Weights, thresholds and scores are illustrative; the governance council sets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The DQ operations lifecycle — where AI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AI can help at every step; people keep the decisions marked below.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313307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1313307" cy="14173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>Infers patterns, ranges and relationships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70507" y="160020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80235" y="1325880"/>
            <a:ext cx="1313307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Define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0235" y="1965960"/>
            <a:ext cx="1313307" cy="14173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>Drafts candidate rules and SQL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93541" y="1600200"/>
            <a:ext cx="109729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03270" y="1325880"/>
            <a:ext cx="1313307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3270" y="1965960"/>
            <a:ext cx="1313307" cy="14173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>Learned baselines replace static thresholds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6577" y="160020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26304" y="1325880"/>
            <a:ext cx="1313307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26304" y="1965960"/>
            <a:ext cx="1313307" cy="14173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>Anomalies in volume, freshness, distributions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9612" y="160020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49340" y="1325880"/>
            <a:ext cx="1313307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Alert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9340" y="1965960"/>
            <a:ext cx="1313307" cy="14173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>Correlates, de-duplicates, scores, routes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62646" y="160020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72375" y="1325880"/>
            <a:ext cx="1313307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Diagnose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2375" y="1965960"/>
            <a:ext cx="1313307" cy="14173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>Lineage-aware root-cause suggestions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85682" y="1600200"/>
            <a:ext cx="109727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95409" y="1325880"/>
            <a:ext cx="1313307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Remediate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5409" y="1965960"/>
            <a:ext cx="1313307" cy="14173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>Suggests fixes; auto-fixes only allowlisted cases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308716" y="1600200"/>
            <a:ext cx="109728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18444" y="1325880"/>
            <a:ext cx="1313307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18444" y="1965960"/>
            <a:ext cx="1313307" cy="14173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0" i="0">
                <a:solidFill>
                  <a:srgbClr val="1A2130"/>
                </a:solidFill>
                <a:latin typeface="Calibri"/>
              </a:rPr>
              <a:t>Assembles evidence and summaries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0E7C66"/>
                </a:solidFill>
                <a:latin typeface="Courier New"/>
              </a:rPr>
              <a:t>▲ AI CAPABILITY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8862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9A3324"/>
                </a:solidFill>
                <a:latin typeface="Courier New"/>
              </a:rPr>
              <a:t>HUMAN DECISION POINTS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0624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A3324"/>
                </a:solidFill>
                <a:latin typeface="Calibri"/>
              </a:rPr>
              <a:t>Approve rules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Steward and owner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39542" y="420624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A3324"/>
                </a:solidFill>
                <a:latin typeface="Calibri"/>
              </a:rPr>
              <a:t>Set thresholds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Data owner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1884" y="420624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A3324"/>
                </a:solidFill>
                <a:latin typeface="Calibri"/>
              </a:rPr>
              <a:t>Accept risk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Owner / council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04227" y="420624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A3324"/>
                </a:solidFill>
                <a:latin typeface="Calibri"/>
              </a:rPr>
              <a:t>Approve fixes to data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Steward, maker-checker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86569" y="4206240"/>
            <a:ext cx="214518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9A3324"/>
                </a:solidFill>
                <a:latin typeface="Calibri"/>
              </a:rPr>
              <a:t>Close issues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Owner, with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21208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Rule of thumb: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AI can do the searching, drafting, correlating and summarizing. People decide anything that changes a rule, a threshold, the data itself, or the record of an issue.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Can data quality rules be auto-generated?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Increasingly yes — as candidates. Generation is fast; judgment and approval are still human.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74552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SHORT ANSWER  </a:t>
            </a:r>
            <a:r>
              <a:rPr sz="1250" b="0" i="0">
                <a:solidFill>
                  <a:srgbClr val="CADCEA"/>
                </a:solidFill>
                <a:latin typeface="Calibri"/>
              </a:rPr>
              <a:t>AI can draft most rules and the code that runs them. People must still approve the intent, the threshold and the owner.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65760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WHERE CANDIDATE RULES COME FROM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Profiling: patterns observed in the data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Glossary definitions and policies, read by an LLM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Lineage and transformation code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Past incidents: the rule that would have caught it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Regulatory report instructions and edit checks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70248" y="2194560"/>
            <a:ext cx="365760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0E7C66"/>
                </a:solidFill>
                <a:latin typeface="Calibri"/>
              </a:rPr>
              <a:t>AI CAN GENERATE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Rule logic in plain language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SQL, dbt or tool-specific rule code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Suggested dimension and severity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Starting thresholds from history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Test cases and back-test results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4152" y="2194560"/>
            <a:ext cx="3657600" cy="2743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9A3324"/>
                </a:solidFill>
                <a:latin typeface="Calibri"/>
              </a:rPr>
              <a:t>PEOPLE STILL DECIDE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Whether the rule reflects a real business requirement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The threshold and the tolerance for error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Who owns the rule and the fix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Hard block or soft warning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Retiring rules that no longer 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206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THE GENERATION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Generate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candidates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21991" y="58293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59152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Back-test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on history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23944" y="58293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61104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Steward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review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25896" y="58293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63056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Owner approves</a:t>
            </a:r>
          </a:p>
          <a:p>
            <a:pPr algn="ctr"/>
            <a:r>
              <a:rPr sz="1000" b="0" i="0">
                <a:solidFill>
                  <a:srgbClr val="CADCEA"/>
                </a:solidFill>
                <a:latin typeface="Calibri"/>
              </a:rPr>
              <a:t>threshold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27848" y="58293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65008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Deploy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as code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829800" y="58293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66960" y="5440680"/>
            <a:ext cx="176479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Monitor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Worked example — generating rules for Days Past Due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From one glossary definition to tested, approved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GLOSSARY DEFINITION (INPUT) 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“Days past due: the number of days since the oldest unpaid scheduled payment due date. Resets to zero when the account is brought current.”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9048" y="2057400"/>
            <a:ext cx="0" cy="22860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331720"/>
          <a:ext cx="11274552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AI-GENERATED CANDIDATE RULE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BACK-TEST (90 DAYS)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DPD is never negative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0 exceptions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Status CURRENT → DPD = 0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Consistency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12 exceptions, all real (grace-period bug)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DPD = as-of date − oldest unpaid due date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0.4% exceptions, partial payments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Refine, then accept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DPD rises by at most 1 per day unless a payment posts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Consistency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3 exceptions (back-dated payments)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Accept as warning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DPD &lt; 30 for loans originated this month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Validity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0 exceptions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L="73152" marR="73152" marT="36576" marB="36576" anchor="ctr">
                    <a:solidFill>
                      <a:srgbClr val="F5D9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07492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Why R5 was rejected: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it is true in the data (a new loan can’t be 30 days late yet) but it isn’t a requirement — it tests the calendar, not the data. AI finds patterns; stewards decide which patterns are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7626B"/>
                </a:solidFill>
                <a:latin typeface="Calibri"/>
              </a:rPr>
              <a:t>Back-test results are illustrative.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Can controls be auto-generated?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Partly. AI is strong at drafting, mapping, testing and evidencing controls; design and sign-off stay human.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74552" cy="6858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SHORT ANSWER  </a:t>
            </a:r>
            <a:r>
              <a:rPr sz="1250" b="0" i="0">
                <a:solidFill>
                  <a:srgbClr val="CADCEA"/>
                </a:solidFill>
                <a:latin typeface="Calibri"/>
              </a:rPr>
              <a:t>AI can find missing controls, draft them, test them and collect the evidence. Owners design and sign off.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94560"/>
          <a:ext cx="11274552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CONTROL TASK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AI CAN DO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WHO STILL DECIDES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Find control gaps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Walk lineage and flag hops with no control (e.g., a mapping table with no change approval)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DGO and control 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Draft control narratives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Write the description, frequency, owner and evidence from process documents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Control owner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Map controls to risks and rules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Suggest links to the risk register, policies and regulations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Risk and compliance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Write test procedures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Draft test steps and scripts for self-assessment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Control tester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Collect evidence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Pull run logs, reconciliation outputs and approvals automatically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Owner reviews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Monitor continuously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Run control tests daily instead of quarterly samples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Owner acts on failures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39496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Limits: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designating key SOX controls, accepting risk and signing off stay with people. If AI performs part of a control, the AI itself becomes part of that control and has to be tested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Anomaly detection and data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Machine learning learns what “normal” looks like, including weekends, month-end and holidays.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23560"/>
            <a:ext cx="6949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7626B"/>
                </a:solidFill>
                <a:latin typeface="Calibri"/>
              </a:rPr>
              <a:t>Second Wednesday (red): 31k against an expected 45–56k — half a file missing. A static “±20% of the 30-day average” rule would also have fired falsely every weekend.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325880"/>
            <a:ext cx="4050791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SIGNALS MONITORED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Volume: rows per load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Freshness: time since last load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Null rates per column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Distribution drift (e.g., average credit score)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Balance movements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Schema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114800"/>
            <a:ext cx="4050791" cy="219456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WHY IT MATTERS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Catches problems nobody wrote a rule for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Adapts to seasonality: fewer false alarms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Monitors thousands of columns with no manual rule-writing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Intelligent alerting and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Turn many failing checks into one clear, routed, prioritized incident.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FROM ALERT FLOOD TO ONE INCIDENT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4206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38 checks fail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after the 5:40 a.m. load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350008"/>
            <a:ext cx="0" cy="164592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2514600"/>
            <a:ext cx="4206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Correlate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same load, same lineage path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3172968"/>
            <a:ext cx="0" cy="164592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3337560"/>
            <a:ext cx="4206240" cy="658368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 incident</a:t>
            </a:r>
          </a:p>
          <a:p>
            <a:pPr algn="ctr"/>
            <a:r>
              <a:rPr sz="1050" b="0" i="0">
                <a:solidFill>
                  <a:srgbClr val="CADCEA"/>
                </a:solidFill>
                <a:latin typeface="Calibri"/>
              </a:rPr>
              <a:t>duplicates suppressed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995928"/>
            <a:ext cx="0" cy="164592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4160520"/>
            <a:ext cx="4206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Score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CDE tier × reports affected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4818888"/>
            <a:ext cx="0" cy="164592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57200" y="4983480"/>
            <a:ext cx="420624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Route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to the owning steward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325880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EXAMPLE AI-DRAFTED INCIDENT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691640"/>
            <a:ext cx="6702552" cy="3246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00" b="0" i="0">
                <a:solidFill>
                  <a:srgbClr val="1A2130"/>
                </a:solidFill>
                <a:latin typeface="Courier New"/>
              </a:rPr>
              <a:t>INCIDENT DQ-2291 · Severity: HIGH (suggested)</a:t>
            </a:r>
          </a:p>
          <a:p>
            <a:pPr algn="l"/>
            <a:r>
              <a:rPr sz="1000" b="0" i="0">
                <a:solidFill>
                  <a:srgbClr val="1A2130"/>
                </a:solidFill>
                <a:latin typeface="Courier New"/>
              </a:rPr>
              <a:t>What: 38 checks failed on servicing tables after the 5:40 a.m. load.</a:t>
            </a:r>
          </a:p>
          <a:p>
            <a:pPr algn="l"/>
            <a:r>
              <a:rPr sz="1000" b="0" i="0">
                <a:solidFill>
                  <a:srgbClr val="1A2130"/>
                </a:solidFill>
                <a:latin typeface="Courier New"/>
              </a:rPr>
              <a:t>Likely cause: the payment file held 48% of expected rows; file 2 of 2 appears missing.</a:t>
            </a:r>
          </a:p>
          <a:p>
            <a:pPr algn="l"/>
            <a:r>
              <a:rPr sz="1000" b="0" i="0">
                <a:solidFill>
                  <a:srgbClr val="1A2130"/>
                </a:solidFill>
                <a:latin typeface="Courier New"/>
              </a:rPr>
              <a:t>Impact: DPD and principal balance for ~120k loans; feeds past-due reporting and the roll-rate dashboard.</a:t>
            </a:r>
          </a:p>
          <a:p>
            <a:pPr algn="l"/>
            <a:r>
              <a:rPr sz="1000" b="0" i="0">
                <a:solidFill>
                  <a:srgbClr val="1A2130"/>
                </a:solidFill>
                <a:latin typeface="Courier New"/>
              </a:rPr>
              <a:t>Suggested owner: Loan Operations data steward.</a:t>
            </a:r>
          </a:p>
          <a:p>
            <a:pPr algn="l"/>
            <a:r>
              <a:rPr sz="1000" b="0" i="0">
                <a:solidFill>
                  <a:srgbClr val="1A2130"/>
                </a:solidFill>
                <a:latin typeface="Courier New"/>
              </a:rPr>
              <a:t>Suggested action: hold the GL batch; request file re-send.</a:t>
            </a:r>
          </a:p>
          <a:p>
            <a:pPr algn="l"/>
            <a:r>
              <a:rPr sz="1000" b="0" i="0">
                <a:solidFill>
                  <a:srgbClr val="1A2130"/>
                </a:solidFill>
                <a:latin typeface="Courier New"/>
              </a:rPr>
              <a:t>Confidence: medium, based on volume history and lineage. Evidence: 3 linked queries.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1208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Controls built in: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severity is suggested, not set; the evidence behind every claim is linked; and the steward confirms before the GL batch is held.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Root cause analysis assist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AI follows lineage upstream and lines up the evidence; a person confirms the cause.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764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Start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at the failed CDE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21991" y="18288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59152" y="1371600"/>
            <a:ext cx="1764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Walk lineage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upstream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23944" y="18288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61104" y="1371600"/>
            <a:ext cx="1764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Check each hop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for anomalies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25896" y="18288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63056" y="1371600"/>
            <a:ext cx="1764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Correlate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with change events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7848" y="18288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65008" y="1371600"/>
            <a:ext cx="176479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Search</a:t>
            </a:r>
          </a:p>
          <a:p>
            <a:pPr algn="ctr"/>
            <a:r>
              <a:rPr sz="1000" b="0" i="0">
                <a:solidFill>
                  <a:srgbClr val="57626B"/>
                </a:solidFill>
                <a:latin typeface="Calibri"/>
              </a:rPr>
              <a:t>similar past incidents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29800" y="1828800"/>
            <a:ext cx="13716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966960" y="1371600"/>
            <a:ext cx="1764792" cy="9144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Rank causes</a:t>
            </a:r>
          </a:p>
          <a:p>
            <a:pPr algn="ctr"/>
            <a:r>
              <a:rPr sz="1000" b="0" i="0">
                <a:solidFill>
                  <a:srgbClr val="CADCEA"/>
                </a:solidFill>
                <a:latin typeface="Calibri"/>
              </a:rPr>
              <a:t>with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560320"/>
            <a:ext cx="5550408" cy="2514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CHANGE EVENTS AI CORRELATES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Pipeline or code deployments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Schema changes at the source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Mapping or reference data edits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Late, partial or duplicate files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Upstream system incidents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90488" y="2560320"/>
          <a:ext cx="5541264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6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HYPOTHESIS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Missing payment file 2 of 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Row count 48% of expected; file log shows 1 of 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Servicing batch ran late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Load finished on time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Mapping change on 9/22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No affected codes in failing rows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90488" y="4663440"/>
            <a:ext cx="55412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7626B"/>
                </a:solidFill>
                <a:latin typeface="Calibri"/>
              </a:rPr>
              <a:t>Example ranked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4924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Control: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AI shows its evidence, not just a conclusion. The steward confirms the root cause before the issue can close — an unconfirmed AI explanation is a hypothesis, not a finding.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Remediation assist — what AI may fix, and what it may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Classify fixes in advance. The default is suggest-and-approve.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66744" cy="731520"/>
          </a:xfrm>
          <a:prstGeom prst="roundRect">
            <a:avLst>
              <a:gd name="adj" fmla="val 10000"/>
            </a:avLst>
          </a:prstGeom>
          <a:solidFill>
            <a:srgbClr val="DCEFE9"/>
          </a:solidFill>
          <a:ln w="12700">
            <a:solidFill>
              <a:srgbClr val="DCE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0E7C66"/>
                </a:solidFill>
                <a:latin typeface="Calibri"/>
              </a:rPr>
              <a:t>AUTO-FIX ALLOWED</a:t>
            </a:r>
          </a:p>
          <a:p>
            <a:pPr algn="ctr"/>
            <a:r>
              <a:rPr sz="1150" b="0" i="0">
                <a:solidFill>
                  <a:srgbClr val="1A2130"/>
                </a:solidFill>
                <a:latin typeface="Calibri"/>
              </a:rPr>
              <a:t>Allowlisted, reversible, logged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3666744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Re-run a failed load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Re-request a missing file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Standardize formats (dates, whitespace)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Create or update the ticket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1104" y="1325880"/>
            <a:ext cx="3666744" cy="7315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1A2130"/>
                </a:solidFill>
                <a:latin typeface="Calibri"/>
              </a:rPr>
              <a:t>SUGGEST, HUMAN APPROVES</a:t>
            </a:r>
          </a:p>
          <a:p>
            <a:pPr algn="ctr"/>
            <a:r>
              <a:rPr sz="1150" b="0" i="0">
                <a:solidFill>
                  <a:srgbClr val="1A2130"/>
                </a:solidFill>
                <a:latin typeface="Calibri"/>
              </a:rPr>
              <a:t>Maker-checker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2148840"/>
            <a:ext cx="3666744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Map a new transaction code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Correct reference data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Reclassify a product code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Change a rule or its threshold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325880"/>
            <a:ext cx="3666744" cy="731520"/>
          </a:xfrm>
          <a:prstGeom prst="roundRect">
            <a:avLst>
              <a:gd name="adj" fmla="val 10000"/>
            </a:avLst>
          </a:prstGeom>
          <a:solidFill>
            <a:srgbClr val="F5D9D4"/>
          </a:solidFill>
          <a:ln w="12700">
            <a:solidFill>
              <a:srgbClr val="F5D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9A3324"/>
                </a:solidFill>
                <a:latin typeface="Calibri"/>
              </a:rPr>
              <a:t>NEVER AUTOMATED</a:t>
            </a:r>
          </a:p>
          <a:p>
            <a:pPr algn="ctr"/>
            <a:r>
              <a:rPr sz="1150" b="0" i="0">
                <a:solidFill>
                  <a:srgbClr val="1A2130"/>
                </a:solidFill>
                <a:latin typeface="Calibri"/>
              </a:rPr>
              <a:t>Human-only, through normal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2148840"/>
            <a:ext cx="3666744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Change a financial balance or GL entry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Change customer terms (APR, payment)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Close an issue or accept risk</a:t>
            </a:r>
          </a:p>
          <a:p>
            <a:pPr algn="l"/>
            <a:r>
              <a:rPr sz="1100" b="0" i="0">
                <a:solidFill>
                  <a:srgbClr val="57626B"/>
                </a:solidFill>
                <a:latin typeface="Calibri"/>
              </a:rPr>
              <a:t>• Change the allowlist itself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617720"/>
            <a:ext cx="11274552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GUARDRAILS ON EVERY AUTOMATED ACTION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Reversible, with the before and after values logged · rate-limited, so one bad rule can’t change millions of rows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Fix at source where possible — a downstream patch hides the problem and breaks lineage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The allowlist is owned by the data owner and reviewed quarterly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Lift for the governance team — AI at every governance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Most governance effort is upkeep. This is where AI saves the most time.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AI DOES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PEOPLE STILL DO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New CDE introduced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Drafts definition, finds source columns, traces lineage, proposes rules and owner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Steward edits; owner approves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Source or schema changes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Finds impacted CDEs, rules, reports; drafts the updates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Engineering and stewards approve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DQ issue identified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Creates the issue with context, severity and owner; spots duplicates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Steward confirms and triages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Issue fixed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Re-runs checks, verifies, drafts closure evidence, suggests a preventive rule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Owner closes the issue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Regulation or policy changes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Maps new requirements to standards, CDEs and controls; flags gaps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Policy manager and compliance decide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Annual CDE certification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Pre-fills each certification with current evidence and exceptions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Owner reviews and certifies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Audit or exam request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Assembles lineage, DQ history and control evidence into a pack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DGO reviews before release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Council preparation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Drafts scorecard commentary and escalation summaries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Head of DG finalizes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1A2130"/>
                </a:solidFill>
                <a:latin typeface="Calibri"/>
              </a:rPr>
              <a:t>The two most frequent events, new CDEs and issues, are walked through on pp. 15 and 16.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When a new CDE is introduced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Example trigger: a new buy-now-pay-later product adds a “promotional period end date” to regulatory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Trigger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new product or report field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5806" y="1737360"/>
            <a:ext cx="18288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48686" y="137160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AI drafts</a:t>
            </a:r>
          </a:p>
          <a:p>
            <a:pPr algn="ctr"/>
            <a:r>
              <a:rPr sz="1050" b="0" i="0">
                <a:solidFill>
                  <a:srgbClr val="CADCEA"/>
                </a:solidFill>
                <a:latin typeface="Calibri"/>
              </a:rPr>
              <a:t>the CDE package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57292" y="1737360"/>
            <a:ext cx="18288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40172" y="137160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Steward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reviews and edits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48779" y="1737360"/>
            <a:ext cx="18288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31659" y="137160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Owner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approves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440265" y="1737360"/>
            <a:ext cx="182880" cy="0"/>
          </a:xfrm>
          <a:prstGeom prst="line">
            <a:avLst/>
          </a:prstGeom>
          <a:ln w="15875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23145" y="1371600"/>
            <a:ext cx="2108606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50" b="1" i="0">
                <a:solidFill>
                  <a:srgbClr val="1A2130"/>
                </a:solidFill>
                <a:latin typeface="Calibri"/>
              </a:rPr>
              <a:t>Registered</a:t>
            </a:r>
          </a:p>
          <a:p>
            <a:pPr algn="ctr"/>
            <a:r>
              <a:rPr sz="1050" b="0" i="0">
                <a:solidFill>
                  <a:srgbClr val="57626B"/>
                </a:solidFill>
                <a:latin typeface="Calibri"/>
              </a:rPr>
              <a:t>rules live, scorecard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A2130"/>
                </a:solidFill>
                <a:latin typeface="Courier New"/>
              </a:rPr>
              <a:t>THE AI-DRAFTED CDE PACKAGE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51760"/>
            <a:ext cx="271576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Definition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Drafted from product documents; compared with similar glossary terms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2651760"/>
            <a:ext cx="271576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Source columns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Found by semantic search across the catalog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651760"/>
            <a:ext cx="271576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Lineage path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Traced from source to the report 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2651760"/>
            <a:ext cx="271576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Owner and steward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Suggested from ownership of related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271576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Classification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Flags personal or sensitive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0128" y="3749039"/>
            <a:ext cx="271576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DQ rules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Candidate rules with back-test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3749039"/>
            <a:ext cx="271576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Conflicts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Duplicate or conflicting terms already in the glossary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15984" y="3749039"/>
            <a:ext cx="2715768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00" b="1" i="0">
                <a:solidFill>
                  <a:srgbClr val="1A2130"/>
                </a:solidFill>
                <a:latin typeface="Calibri"/>
              </a:rPr>
              <a:t>Checklist</a:t>
            </a:r>
          </a:p>
          <a:p>
            <a:pPr algn="l"/>
            <a:r>
              <a:rPr sz="1000" b="0" i="0">
                <a:solidFill>
                  <a:srgbClr val="57626B"/>
                </a:solidFill>
                <a:latin typeface="Calibri"/>
              </a:rPr>
              <a:t>What is still missing before approval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8348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The lift: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days of analyst research become a review. The steward still owns the definition and the owner still approves; AI only removes the searching and first drafting.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7626B"/>
                </a:solidFill>
                <a:latin typeface="Calibri"/>
              </a:rPr>
              <a:t>Control: nothing is registered as a CDE until the owner approves; every AI-drafted field is marked as such in the catalog until reviewed.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When issues are identified, fixed — and prevented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AI keeps issues moving and makes sure each one teaches the system something.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647188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IDENTIFIED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2647188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Issue auto-created with failing-row sample (masked)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Impacted CDEs and reports via lineage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Suggested severity and owner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Duplicate of an open issue? Linked, not re-raised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4388" y="1600200"/>
            <a:ext cx="22860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32988" y="1325880"/>
            <a:ext cx="2647188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2988" y="1965960"/>
            <a:ext cx="2647188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Root-cause suggestions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Similar past incidents and their fixes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Draft fix or ticket for the source team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Reminders as SLAs approach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80176" y="1600200"/>
            <a:ext cx="22860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08776" y="1325880"/>
            <a:ext cx="2647188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FIXED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965960"/>
            <a:ext cx="2647188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Re-runs the failing checks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Verifies over several loads, not just one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Drafts the closure evidence pack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Notifies owners of impacted reports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55964" y="1600200"/>
            <a:ext cx="22860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84564" y="1325880"/>
            <a:ext cx="2647188" cy="54864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PREVENTED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84564" y="1965960"/>
            <a:ext cx="2647188" cy="30175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Suggests a new rule that would have caught it earlier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Updates the runbook and knowledge base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Flags repeat issues as process problems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Feeds the health scorecard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Human gates: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the steward confirms severity and root cause; the owner closes the issue and approves any new preventive rule. AI never closes an issue on its 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Other ways AI helps a data operations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Beyond DQ checks: the recurring manual work around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6674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Reconciliation matching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Matches records that don’t line up exactly and suggests the reason for each break.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1104" y="1325880"/>
            <a:ext cx="366674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Exception queue prioritization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Orders the queue by impact and urgency instead of arrival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325880"/>
            <a:ext cx="366674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Entity resolution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Finds the same customer or loan recorded twice under different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14600"/>
            <a:ext cx="366674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Document data extraction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OCR and IDP read loan documents and compare them with system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2514600"/>
            <a:ext cx="366674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Metadata enrichment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Tags personal data, suggests glossary terms, documents tables.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2514600"/>
            <a:ext cx="366674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Ops copilot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Answers questions like “which CDEs failed yesterday?” in plain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03320"/>
            <a:ext cx="366674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Variance commentary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Drafts explanations of period-over-period report movements.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3703320"/>
            <a:ext cx="366674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Batch failure prediction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Warns when a load is likely to miss its SLA, before it does.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3703320"/>
            <a:ext cx="3666744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Runbook assistant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Answers “how do we fix this?” from runbooks and past incidents (RAG).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1A2130"/>
                </a:solidFill>
                <a:latin typeface="Calibri"/>
              </a:rPr>
              <a:t>OCR, IDP, entity resolution, RAG and the other terms here are explained in the appendix (pp. 30–34).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57784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Same controls apply: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reconciliation matches and document extractions that feed the books are reviewed by people until their accuracy is proven and monitored.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 morning with an AI ops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One incident, start to finish — with the human decisions marked.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05:40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2588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57626B"/>
                </a:solidFill>
                <a:latin typeface="Calibri"/>
              </a:rP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Servicing load completes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05:42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874519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965960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Detects a volume anomaly; correlates 38 rule failures into one incident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231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05:45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42316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514600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Root-cause hypothesis: payment file 2 of 2 missing; impact traced through lineage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7180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05:46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97180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063240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Drafts the incident, pages the Loan Operations steward, recommends holding the GL batch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20439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05:55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520439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F5D9D4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9A3324"/>
                </a:solidFill>
                <a:latin typeface="Calibri"/>
              </a:rPr>
              <a:t>HUMAN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611879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Steward reviews the evidence and approves holding the GL batch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6908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06:30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06908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57626B"/>
                </a:solidFill>
                <a:latin typeface="Calibri"/>
              </a:rPr>
              <a:t>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160520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File re-sent and reloaded; all checks re-run and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1772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06:35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461772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1A2130"/>
                </a:solidFill>
                <a:latin typeface="Calibri"/>
              </a:rPr>
              <a:t>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709159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Drafts the closure evidence and incident 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66360"/>
            <a:ext cx="822960" cy="45720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ourier New"/>
              </a:rPr>
              <a:t>09:00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166360"/>
            <a:ext cx="1097280" cy="457200"/>
          </a:xfrm>
          <a:prstGeom prst="roundRect">
            <a:avLst>
              <a:gd name="adj" fmla="val 10000"/>
            </a:avLst>
          </a:prstGeom>
          <a:solidFill>
            <a:srgbClr val="F5D9D4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000" b="1" i="0">
                <a:solidFill>
                  <a:srgbClr val="9A3324"/>
                </a:solidFill>
                <a:latin typeface="Calibri"/>
              </a:rPr>
              <a:t>HUMAN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257800"/>
            <a:ext cx="9052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Steward closes the issue and approves AI’s suggested file-completeness rule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852160"/>
            <a:ext cx="11274552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00" b="1" i="0">
                <a:solidFill>
                  <a:srgbClr val="1A2130"/>
                </a:solidFill>
                <a:latin typeface="Calibri"/>
              </a:rPr>
              <a:t>Outcome: </a:t>
            </a:r>
            <a:r>
              <a:rPr sz="1100" b="0" i="0">
                <a:solidFill>
                  <a:srgbClr val="57626B"/>
                </a:solidFill>
                <a:latin typeface="Calibri"/>
              </a:rPr>
              <a:t>detected in 2 minutes, resolved before the 7 a.m. GL run, and a new rule prevents a repeat. Times are illustrative.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How much should AI do on its own? — autonomy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Match the level of autonomy to the risk of the task.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AI DOES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PEOPLE DO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SUITABLE DQ TASKS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L1  Assist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Answers, summarizes, drafts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Decide and 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Alert summaries, documentation, questions in plain language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L2  Recommend</a:t>
                      </a:r>
                    </a:p>
                  </a:txBody>
                  <a:tcPr marL="73152" marR="73152" marT="36576" marB="36576" anchor="ctr">
                    <a:solidFill>
                      <a:srgbClr val="DC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Proposes an action with evidence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Approve each action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New rules, fixes, root cause, CDE drafts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L3  Act with oversight</a:t>
                      </a:r>
                    </a:p>
                  </a:txBody>
                  <a:tcPr marL="73152" marR="73152" marT="36576" marB="36576" anchor="ctr">
                    <a:solidFill>
                      <a:srgbClr val="FBEBC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Acts within an allowlist; logged and reversible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Review afterwards; can roll back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Re-runs, file re-requests, tickets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L4  Autonomous</a:t>
                      </a:r>
                    </a:p>
                  </a:txBody>
                  <a:tcPr marL="73152" marR="73152" marT="36576" marB="36576" anchor="ctr">
                    <a:solidFill>
                      <a:srgbClr val="F5D9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Acts without review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Set policy only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Not recommended for regulated data today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48056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Default: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level 2 for anything touching a CDE. Level 3 only for allowlisted, reversible actions. Move a task up a level only with evidence from monitoring, and with the owner’s approval.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57626B"/>
                </a:solidFill>
                <a:latin typeface="Calibri"/>
              </a:rPr>
              <a:t>Level 0 (no AI) remains the fallback: every AI-assisted process needs a manual procedure that works if the AI is switched 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Controls framework for AI in data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Nine control areas. AI that supports a control must itself be controlled.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66744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Inventory &amp; ownership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Every AI use case registered, with a business owner and a risk tier.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61104" y="1325880"/>
            <a:ext cx="3666744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Model risk &amp; validation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AI treated as a model: validated before use and after major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1325880"/>
            <a:ext cx="3666744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Human oversight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Approval gates matched to autonomy level; clear override.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0320"/>
            <a:ext cx="3666744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Data protection &amp; privacy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Masking, minimization, approved AI platforms only; no training on firm data without approval.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2560320"/>
            <a:ext cx="3666744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Security &amp; access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Least-privilege tool access for agents; data content treated as untrusted input.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2560320"/>
            <a:ext cx="3666744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Change management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Model, prompt and rule versions controlled and tested before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94760"/>
            <a:ext cx="3666744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Performance monitoring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Precision, recall and drift tracked with thresholds and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1104" y="3794760"/>
            <a:ext cx="3666744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Explainability &amp; audit trail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Inputs, outputs, model version, evidence and approvals logged.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3794760"/>
            <a:ext cx="3666744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Third-party risk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Vendor models assessed; version changes notified and re-tested.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1A2130"/>
                </a:solidFill>
                <a:latin typeface="Calibri"/>
              </a:rPr>
              <a:t>Specific risks and the controls for each are on p. 21; model validation on p. 22.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Key risks and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What can go wrong when AI runs DQ operations, and how each risk is controlled.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1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AI misses a real issue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Deterministic rules kept for tier-1 CDEs; back-test against known incidents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Preventive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DQ lead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Alert fatigue from false positives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Track alert precision; tune thresholds with owner approval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Detective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DQ ops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Model drift over time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Performance monitoring; periodic revalidation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Detective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ML engineering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Unauthorized or harmful auto-fix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Allowlist, maker-checker, reversible and logged changes, rate limits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Preventive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Data owner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Hallucinated rule or explanation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Grounding in catalog and lineage; cited evidence; human approval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Preventive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Steward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Sensitive data exposed to AI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Approved enterprise platform, masking, data minimization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Preventive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InfoSec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Prompt injection via data content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Data treated as untrusted; agents with least privilege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Preventive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InfoSec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Decisions that can’t be explained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Log inputs, outputs, version, evidence and approver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Detective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ML engineering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Vendor model changes silently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Version pinning, change notice, regression tests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Preventive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Architecture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Model risk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In banking, AI used in data controls generally falls under model risk management (SR 11-7).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65760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STANDARD MODEL VALIDATION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Inventory and risk tier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Conceptual soundness: is the approach fit for the purpose?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Outcomes analysis: back-test against known incidents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Ongoing monitoring with thresholds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Independent validation by the 2nd 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70248" y="1325880"/>
            <a:ext cx="365760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EXTRA FOR GENERATIVE AI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Evaluation sets built from real alerts and issues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Accuracy of drafted rules and SQL measured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Grounding: answers must cite catalog or lineage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Red-team testing for prompt injection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Prompt and output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74152" y="1325880"/>
            <a:ext cx="3657600" cy="329184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WHEN AI TOUCHES SOX CONTROLS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The AI step is part of the control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IT general controls apply: access, change, operations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Testers need evidence the AI performed as designed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Changes to model or prompt trigger re-testing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4632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Practical tip: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run new AI in shadow mode alongside existing rules for 60–90 days. The comparison produces the outcomes evidence validators and auditors ask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7626B"/>
                </a:solidFill>
                <a:latin typeface="Calibri"/>
              </a:rPr>
              <a:t>Regulatory expectations for AI are evolving; confirm current requirements with model risk and compliance.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Measuring whether the AI is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Different from measuring the data: these metrics measure the AI and the team using it.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52160" y="1325880"/>
          <a:ext cx="5879592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TELLS YOU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Recall (detection rate)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Share of real issues the AI caught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Share of AI alerts that were real issues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Alerts per incident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How well alerts are correlated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Suggestions accepted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% of AI rules and fixes approved by stewards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Auto-fix reversal rate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How often automated fixes had to be undone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Hours saved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Analyst time moved from searching to deciding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Watch the balance: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higher recall usually costs precision. Owners set the balance per tier — for tier-1 CDEs, missing an issue is worse than an extra alert.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Detection, intelligence and action layers, with a control plane across all of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612898" cy="5029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612898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Data platform (raw → certified)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Pipelines and orchestration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Catalog and lineage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Issue history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70098" y="310896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44418" y="1325880"/>
            <a:ext cx="2612898" cy="5029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4418" y="1920240"/>
            <a:ext cx="2612898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Rule engine (deterministic)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ML anomaly service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Document extraction (OCR / IDP)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57316" y="310896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31636" y="1325880"/>
            <a:ext cx="2612898" cy="5029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920240"/>
            <a:ext cx="2612898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Alert correlation and scoring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LLM assistant with RAG over catalog, lineage, runbooks, incidents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Agents with scoped tool permissions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44534" y="310896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18854" y="1325880"/>
            <a:ext cx="2612898" cy="5029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18854" y="1920240"/>
            <a:ext cx="2612898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GRC / ticketing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Chat (Teams, Slack)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Health scorecard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Orchestrated re-runs (allowlisted)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00" b="1" i="0">
                <a:solidFill>
                  <a:srgbClr val="1A2130"/>
                </a:solidFill>
                <a:latin typeface="Calibri"/>
              </a:rPr>
              <a:t>CONTROL PLANE   </a:t>
            </a:r>
            <a:r>
              <a:rPr sz="1100" b="0" i="0">
                <a:solidFill>
                  <a:srgbClr val="1A2130"/>
                </a:solidFill>
                <a:latin typeface="Calibri"/>
              </a:rPr>
              <a:t>Model registry and versions · prompt and output logging · human approval gates · access control and masking · evaluation and drift monitoring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40680"/>
            <a:ext cx="11274552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Architecture principle: </a:t>
            </a:r>
            <a:r>
              <a:rPr sz="1150" b="0" i="0">
                <a:solidFill>
                  <a:srgbClr val="57626B"/>
                </a:solidFill>
                <a:latin typeface="Calibri"/>
              </a:rPr>
              <a:t>the AI reads from the governance foundation (catalog, lineage, issue history). Without that foundation, the AI has nothing trustworthy to reason from.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RACI — AI in data quality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A = accountable · R = responsible · C = consulted · I = informed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DQ
Ops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Steward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Data
Owner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DGO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Data / ML
Eng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Model
Risk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InfoSec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ADCEA"/>
                          </a:solidFill>
                          <a:latin typeface="Calibri"/>
                        </a:rPr>
                        <a:t>Internal
Audit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Approve an AI use case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Build and maintain AI models and agents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A/R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Validate AI models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A/R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Approve AI-generated DQ rules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Set or change thresholds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Define the auto-fix allowlist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Triage and resolve AI-raised incidents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A/R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Monitor AI performance and drift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Data protection and access for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A2130"/>
                          </a:solidFill>
                          <a:latin typeface="Calibri"/>
                        </a:rPr>
                        <a:t>Independent assurance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57626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1A2130"/>
                </a:solidFill>
                <a:latin typeface="Calibri"/>
              </a:rPr>
              <a:t>The pattern holds from the governance decks: owners are accountable for the data and its thresholds; engineering for the AI; model risk for independent validation.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Adoption roadmap — observe, assist, 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Earn autonomy with evidence. Each phase builds the proof for the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357530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PHASE 1 · OBSERVE</a:t>
            </a:r>
          </a:p>
          <a:p>
            <a:pPr algn="ctr"/>
            <a:r>
              <a:rPr sz="1150" b="0" i="0">
                <a:solidFill>
                  <a:srgbClr val="CADCEA"/>
                </a:solidFill>
                <a:latin typeface="Calibri"/>
              </a:rPr>
              <a:t>Months 0–6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3575304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Anomaly detection in shadow mode next to rules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Measure precision and recall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LLM alert summaries (read-only)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Ops copilot for questions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32504" y="169164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06824" y="1325880"/>
            <a:ext cx="357530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PHASE 2 · ASSIST</a:t>
            </a:r>
          </a:p>
          <a:p>
            <a:pPr algn="ctr"/>
            <a:r>
              <a:rPr sz="1150" b="0" i="0">
                <a:solidFill>
                  <a:srgbClr val="CADCEA"/>
                </a:solidFill>
                <a:latin typeface="Calibri"/>
              </a:rPr>
              <a:t>Months 6–12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2148840"/>
            <a:ext cx="3575304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Rule generation with back-testing and approval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Root-cause assist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CDE onboarding drafts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Issue context and closure packs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82128" y="1691640"/>
            <a:ext cx="274320" cy="0"/>
          </a:xfrm>
          <a:prstGeom prst="line">
            <a:avLst/>
          </a:prstGeom>
          <a:ln w="19050">
            <a:solidFill>
              <a:srgbClr val="5762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156448" y="1325880"/>
            <a:ext cx="3575304" cy="73152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PHASE 3 · ACT</a:t>
            </a:r>
          </a:p>
          <a:p>
            <a:pPr algn="ctr"/>
            <a:r>
              <a:rPr sz="1150" b="0" i="0">
                <a:solidFill>
                  <a:srgbClr val="CADCEA"/>
                </a:solidFill>
                <a:latin typeface="Calibri"/>
              </a:rPr>
              <a:t>Months 12+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148840"/>
            <a:ext cx="3575304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7CD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Allowlisted auto-remediation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Agentic incident workflows with gates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Continuous control monitoring</a:t>
            </a:r>
          </a:p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• Health index with forecasts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43400"/>
            <a:ext cx="11274552" cy="1188720"/>
          </a:xfrm>
          <a:prstGeom prst="roundRect">
            <a:avLst>
              <a:gd name="adj" fmla="val 10000"/>
            </a:avLst>
          </a:prstGeom>
          <a:solidFill>
            <a:srgbClr val="CADCEA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050" b="1" i="0">
                <a:solidFill>
                  <a:srgbClr val="1A2130"/>
                </a:solidFill>
                <a:latin typeface="Calibri"/>
              </a:rPr>
              <a:t>PREREQUISITES (THE GOVERNANCE FOUNDATION)</a:t>
            </a:r>
          </a:p>
          <a:p>
            <a:pPr algn="l"/>
            <a:r>
              <a:rPr sz="1050" b="0" i="0">
                <a:solidFill>
                  <a:srgbClr val="1A2130"/>
                </a:solidFill>
                <a:latin typeface="Calibri"/>
              </a:rPr>
              <a:t>• CDE inventory and glossary · lineage for key reports · issue history in a GRC tool · DQ rules as code · an approved enterprise AI platform · a model risk process that covers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1500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1">
                <a:solidFill>
                  <a:srgbClr val="1A2130"/>
                </a:solidFill>
                <a:latin typeface="Calibri"/>
              </a:rPr>
              <a:t>Timelines are illustrative. Firms without the foundation should build it first; AI amplifies whatever governance already exists.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Ten habits for using AI in data operations safely and to real effect.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Build on the governance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2763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AI is only as good as the catalog, lineage and issue history beneath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32588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1716" y="132588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Keep rules for tier-1 CDEs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1716" y="162763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AI adds coverage; regulatory checks stay deterministic.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8600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Shadow mode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58775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Prove precision and recall before AI alerts anyone.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228600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1716" y="228600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Humans approve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1716" y="258775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To rules, thresholds, data and issue records.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4612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4612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Ground and cite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4787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Generative answers must point to catalog, lineage or data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324612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1716" y="324612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Allowlist every automated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1716" y="354787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Reversible, logged, rate-limited, owned.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0624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0624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dirty="0">
                <a:solidFill>
                  <a:srgbClr val="1A2130"/>
                </a:solidFill>
                <a:latin typeface="Cambria"/>
              </a:rPr>
              <a:t>Treat AI as a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50799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dirty="0">
                <a:solidFill>
                  <a:srgbClr val="57626B"/>
                </a:solidFill>
                <a:latin typeface="Calibri"/>
              </a:rPr>
              <a:t>Inventory, validate, monitor, re-test on change.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6" y="420624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1716" y="420624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Measure outcomes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1716" y="450799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Detection time, resolution time, precision — not activity counts.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16636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6636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Least privilege for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6811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And treat data content as untrusted input.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1636" y="5166360"/>
            <a:ext cx="502920" cy="822960"/>
          </a:xfrm>
          <a:prstGeom prst="roundRect">
            <a:avLst>
              <a:gd name="adj" fmla="val 10000"/>
            </a:avLst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1716" y="5166360"/>
            <a:ext cx="48600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1A2130"/>
                </a:solidFill>
                <a:latin typeface="Cambria"/>
              </a:rPr>
              <a:t>Close the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1716" y="5468112"/>
            <a:ext cx="4860036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7626B"/>
                </a:solidFill>
                <a:latin typeface="Calibri"/>
              </a:rPr>
              <a:t>Every resolved issue becomes a rule, a better model or a runbook update.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Common pitfalls — and the better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Most AI-in-operations problems are control problems, not model problems.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15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3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PITFALL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BETTER APPROACH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Replacing regulatory rules with 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Keep deterministic rules; use AI for extra coverage and effort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Switching on alerts before tuning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Shadow mode, then alert only above proven precision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Accepting generated rules without back-testing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Back-test on history and review every rule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Auto-fixing data downstream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Fix at source; downstream fixes hide problems and break lineage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Treating AI explanations as fact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Require cited evidence and human confirmation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Using unapproved AI tools with firm data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Approved enterprise platform, masking, logging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No owner for the AI itself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A named business owner and a model inventory entry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2130"/>
                          </a:solidFill>
                          <a:latin typeface="Calibri"/>
                        </a:rPr>
                        <a:t>Skipping validation (“it’s just a tool”)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57626B"/>
                          </a:solidFill>
                          <a:latin typeface="Calibri"/>
                        </a:rPr>
                        <a:t>If it supports a control, validate it like a model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1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0292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33146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FOR LEADERS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Measure health first: quality, timeliness, control, coverage, trust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Fund AI in phases: observe, assist, act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Judge it on detection and resolution 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8744" y="1371600"/>
            <a:ext cx="333146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FOR ARCHITECTS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AI reads from catalog, lineage and issue history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Rules stay deterministic; ML and LLMs add coverage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Build the control plane in from day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43088" y="1371600"/>
            <a:ext cx="3331464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t"/>
          <a:lstStyle/>
          <a:p>
            <a:pPr algn="l"/>
            <a:r>
              <a:rPr sz="1150" b="1" i="0">
                <a:solidFill>
                  <a:srgbClr val="1A2130"/>
                </a:solidFill>
                <a:latin typeface="Calibri"/>
              </a:rPr>
              <a:t>FOR DATA &amp; GOVERNANCE OPS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 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Rules and controls can be drafted by AI, approved by people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Use AI for upkeep: new CDEs, issues, certifications</a:t>
            </a:r>
          </a:p>
          <a:p>
            <a:pPr algn="l"/>
            <a:r>
              <a:rPr sz="1150" b="0" i="0">
                <a:solidFill>
                  <a:srgbClr val="57626B"/>
                </a:solidFill>
                <a:latin typeface="Calibri"/>
              </a:rPr>
              <a:t>• Every fix should prevent the next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CADCEA"/>
                </a:solidFill>
                <a:latin typeface="Calibri"/>
              </a:rPr>
              <a:t>AI makes data quality operations faster and wider-reaching. Controls make it trustworthy. Governance makes it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CADCEA"/>
                </a:solidFill>
                <a:latin typeface="Courier New"/>
              </a:rPr>
              <a:t>FOR: LEADERS · ARCHITECTS · DATA &amp; GOVERNANCE 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CADCEA"/>
                </a:solidFill>
                <a:latin typeface="Calibri"/>
              </a:rPr>
              <a:t>AI for Data Quality Operations   ·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Appendix A — AI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The building blocks behind the AI capabilities in this deck.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79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DOES HERE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Artificial intelligence (AI)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Software that performs tasks that normally need human judgment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Umbrella term for everything below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Machine learning (ML)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Software that learns patterns from historical data instead of following written rules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Learns normal load volumes so it can spot unusual ones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Anomaly detection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An ML technique that flags values or patterns that differ from what is normal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Flags a half-size payment file or a jump in null values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Generative AI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AI that produces new content: text, code, summaries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Drafts rules, SQL, alerts and evidence summaries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Large language model (LLM)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The generative AI model that reads and writes language (e.g., Claude, GPT)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Reads a glossary definition and writes candidate rules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Agentic AI / AI agent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An LLM that plans a task and uses tools (queries, APIs) in several steps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Traces lineage, runs queries and drafts the incident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Retrieval-augmented generation (RAG)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The LLM first retrieves relevant documents, then answers from them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Answers from your runbooks and catalog, with citations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Embeddings &amp; semantic search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Text turned into numbers so search matches meaning, not exact words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Finds “delinquency days” when you search “DPD”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Natural language processing (NLP)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AI techniques for understanding human language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Lets people ask the ops copilot questions in plain English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E7C66"/>
                </a:solidFill>
                <a:latin typeface="Courier New"/>
              </a:rPr>
              <a:t>FOR: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Appendix B — Documents and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Terms for how data is captured, described and traced.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79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DOES HERE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OCR (optical character recognition)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Turns images of text (scans, PDFs, photos) into machine-readable 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Reads the text on a scanned loan note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IDP (intelligent document processing)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OCR plus AI that understands the document and extracts specific fields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Pulls APR, amount and term from the note to compare with the system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Entity resolution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Working out when different records refer to the same real-world person or thing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Finds one borrower recorded twice with different addresses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profiling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Automatically summarizing data: ranges, patterns, null rates, distinct values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The starting point for generating candidate rules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observability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Continuous monitoring of data health: volume, freshness, schema, distribution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The “smoke detector” over every pipeline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lineage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The traced path of data from source to report, including transformations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Tells AI which reports a failed check affects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Critical data element (CDE)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 data element whose errors would materially mislead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Decides which checks get the strictest thresholds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Data catalog &amp; business glossary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Inventory of data assets, plus agreed business definitions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The hub AI reads from for meaning and ownership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Reference data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Controlled lists of allowed values (product codes, GL accounts)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What validity and mapping checks compare against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E7C66"/>
                </a:solidFill>
                <a:latin typeface="Courier New"/>
              </a:rPr>
              <a:t>FOR: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Appendix C — Operations and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Terms used to measure data and AI performance.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79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DOES HERE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SLA (service level agreement)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An agreed deadline or performance level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Servicing data certified by 6:10 a.m.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Latency / freshness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Time for data to become usable / age of the newest usable data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The core timeliness metrics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MTTD (mean time to detect)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Average time from a problem occurring to it being noticed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Shows how much faster AI finds issues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MTTR (mean time to resolve)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Average time from detection to fix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Shows how much faster issues close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Of the alerts raised, the share that were real problems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Low precision = alert fatigue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Recall (detection rate)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Of the real problems, the share that were caught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Low recall = missed issues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False positive / negative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An alert with no real problem / a real problem with no alert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The two errors every detector trades off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Back-testing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Running a rule or model on past data to see how it would have performed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Proves a generated rule before it goes live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Shadow mode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Running new AI alongside existing processes without acting on its output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Builds evidence safely before switching it 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E7C66"/>
                </a:solidFill>
                <a:latin typeface="Courier New"/>
              </a:rPr>
              <a:t>FOR: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Appendix D — Controls and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Terms for keeping AI safe and auditable.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79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DOES HERE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Human-in-the-loop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 person reviews or approves before an AI output takes effect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Stewards approve rules; owners close issues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Allowlist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An explicit list of the only actions permitted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Defines exactly what AI may auto-fix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Maker-checker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One person (or system) makes a change; a different person approves 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Applies to AI-suggested mapping changes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Hallucination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An AI output that sounds right but is false or unsupported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Why AI explanations need cited evidence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Grounding &amp; citations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Tying AI answers to specific, retrievable sources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Every AI claim links to a query or document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Prompt injection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Hidden instructions in data or documents that try to hijack an AI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Why data is treated as untrusted input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Model drift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 model’s accuracy degrading as data or behavior changes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Why performance is monitored continuously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Least privilege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Giving a user or agent only the access it needs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Agents can read and draft, not change balances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Model registry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 controlled inventory of models, versions and approvals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Shows which AI version made a decision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E7C66"/>
                </a:solidFill>
                <a:latin typeface="Courier New"/>
              </a:rPr>
              <a:t>FOR: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84048"/>
            <a:ext cx="384048" cy="384048"/>
          </a:xfrm>
          <a:prstGeom prst="rect">
            <a:avLst/>
          </a:prstGeom>
          <a:solidFill>
            <a:srgbClr val="1A2130"/>
          </a:solidFill>
          <a:ln w="12700">
            <a:solidFill>
              <a:srgbClr val="1A21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017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A2130"/>
                </a:solidFill>
                <a:latin typeface="Cambria"/>
              </a:rPr>
              <a:t>Appendix E — Frameworks and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804672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7626B"/>
                </a:solidFill>
                <a:latin typeface="Calibri"/>
              </a:rPr>
              <a:t>Regulatory and organizational terms used in the deck.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74552" cy="479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6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CADCEA"/>
                          </a:solidFill>
                          <a:latin typeface="Calibri"/>
                        </a:rPr>
                        <a:t>WHAT IT DOES HERE</a:t>
                      </a:r>
                    </a:p>
                  </a:txBody>
                  <a:tcPr marL="73152" marR="73152" marT="36576" marB="36576" anchor="ctr"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SR 11-7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US banking guidance on model risk management (Federal Reserve / OCC)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Why AI in controls is validated like any other model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SOX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Sarbanes-Oxley Act: requires controls over financial reporting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Covers controls that AI supports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ITGC (IT general controls)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Controls over access, change and operations of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Apply to AI systems that support SOX controls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GRC (governance, risk &amp; compliance)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Discipline and platform for risks, controls, issues and evidence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Where AI-raised issues are tracked and closed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Rules as code / CI/CD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DQ rules stored and deployed like software, with version control and tests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Lets generated rules be reviewed and released safely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dbt tests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Data tests defined alongside transformation code in dbt, a common data tool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One format AI can generate rule code in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 defined way for systems to exchange data and commands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How AI tools connect to catalog and GRC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Red / amber / green status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Traffic-light status against thresholds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Used in the health index (not the same as RAG in AI)</a:t>
                      </a:r>
                    </a:p>
                  </a:txBody>
                  <a:tcPr marL="73152" marR="73152" marT="36576" marB="36576" anchor="ctr">
                    <a:solidFill>
                      <a:srgbClr val="F4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1A2130"/>
                          </a:solidFill>
                          <a:latin typeface="Calibri"/>
                        </a:rPr>
                        <a:t>Health index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A weighted composite of quality, timeliness, control, coverage and trust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7626B"/>
                          </a:solidFill>
                          <a:latin typeface="Calibri"/>
                        </a:rPr>
                        <a:t>One status per domain for leaders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73952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E7C66"/>
                </a:solidFill>
                <a:latin typeface="Courier New"/>
              </a:rPr>
              <a:t>FOR: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6473952"/>
            <a:ext cx="5788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1">
                <a:solidFill>
                  <a:srgbClr val="57626B"/>
                </a:solidFill>
                <a:latin typeface="Calibri"/>
              </a:rPr>
              <a:t>AI for Data Quality Operations   ·  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6476</Words>
  <Application>Microsoft Office PowerPoint</Application>
  <PresentationFormat>Widescreen</PresentationFormat>
  <Paragraphs>1090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Franco</cp:lastModifiedBy>
  <cp:revision>2</cp:revision>
  <dcterms:created xsi:type="dcterms:W3CDTF">2013-01-27T09:14:16Z</dcterms:created>
  <dcterms:modified xsi:type="dcterms:W3CDTF">2026-09-25T18:24:59Z</dcterms:modified>
  <cp:category/>
</cp:coreProperties>
</file>