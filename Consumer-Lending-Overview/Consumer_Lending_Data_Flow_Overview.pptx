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Consumer Lending Data Flow for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 i="0">
                <a:solidFill>
                  <a:srgbClr val="CADCEA"/>
                </a:solidFill>
                <a:latin typeface="Cambria"/>
              </a:rPr>
              <a:t>From loan application to financial, regulatory and management reporting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270248" y="2926080"/>
            <a:ext cx="3657600" cy="0"/>
          </a:xfrm>
          <a:prstGeom prst="line">
            <a:avLst/>
          </a:prstGeom>
          <a:ln w="19050">
            <a:solidFill>
              <a:srgbClr val="CA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CADCEA"/>
                </a:solidFill>
                <a:latin typeface="Calibri"/>
              </a:rPr>
              <a:t>Origination · Loan Boarding · Servicing · Subledger · GL Mapping · GL Posting · Financial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1">
                <a:solidFill>
                  <a:srgbClr val="FFFFFF"/>
                </a:solidFill>
                <a:latin typeface="Calibri"/>
              </a:rPr>
              <a:t>Executive overview written for two readers: the analyst learning how lending data becomes a reported number, and the finance data-management professional who owns its lineage, controls and reconciliation.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7626B"/>
                </a:solidFill>
                <a:latin typeface="Calibri"/>
              </a:rPr>
              <a:t>Consumer Lending: Data Flow for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The lifecycle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Seven stages, three zones: the loan is run operationally, translated into accounting, then reported.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736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OPERATIONAL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4645152" cy="0"/>
          </a:xfrm>
          <a:prstGeom prst="line">
            <a:avLst/>
          </a:prstGeom>
          <a:ln w="12700">
            <a:solidFill>
              <a:srgbClr val="1A2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40096" y="1325880"/>
            <a:ext cx="4736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ACCOUNTING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85816" y="1627632"/>
            <a:ext cx="4645151" cy="0"/>
          </a:xfrm>
          <a:prstGeom prst="line">
            <a:avLst/>
          </a:prstGeom>
          <a:ln w="12700">
            <a:solidFill>
              <a:srgbClr val="1A2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222992" y="13258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REPORTING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68712" y="1627632"/>
            <a:ext cx="1389888" cy="0"/>
          </a:xfrm>
          <a:prstGeom prst="line">
            <a:avLst/>
          </a:prstGeom>
          <a:ln w="12700">
            <a:solidFill>
              <a:srgbClr val="1A2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7830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57626B"/>
                </a:solidFill>
                <a:latin typeface="Calibri"/>
              </a:rPr>
              <a:t>1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Origination &amp;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Decisioning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Collects, verifies, decides and prices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28" y="2263140"/>
            <a:ext cx="14630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84832" y="17830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57626B"/>
                </a:solidFill>
                <a:latin typeface="Calibri"/>
              </a:rPr>
              <a:t>2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Loan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852928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Sets up the loan so it can be serviced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2263140"/>
            <a:ext cx="14630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12464" y="17830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57626B"/>
                </a:solidFill>
                <a:latin typeface="Calibri"/>
              </a:rPr>
              <a:t>3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Loan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Servicing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2852928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Runs the loan every day for its life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93792" y="2263140"/>
            <a:ext cx="14630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40096" y="17830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57626B"/>
                </a:solidFill>
                <a:latin typeface="Calibri"/>
              </a:rPr>
              <a:t>4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Subledger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852928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Records every financial event per loan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21424" y="2263140"/>
            <a:ext cx="14630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67728" y="17830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57626B"/>
                </a:solidFill>
                <a:latin typeface="Calibri"/>
              </a:rPr>
              <a:t>5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GL Mapping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852928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Translates events into GL entries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49056" y="2263140"/>
            <a:ext cx="14630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95360" y="17830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57626B"/>
                </a:solidFill>
                <a:latin typeface="Calibri"/>
              </a:rPr>
              <a:t>6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GL Accounting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852928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Posts summarized journals to the GL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76688" y="2263140"/>
            <a:ext cx="146304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222992" y="1783080"/>
            <a:ext cx="1481328" cy="9601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CADCEA"/>
                </a:solidFill>
                <a:latin typeface="Calibri"/>
              </a:rPr>
              <a:t>7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Financial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2852928"/>
            <a:ext cx="14813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Turns GL data into statements, filings, KPIs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3666744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OPERATIONAL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Systems that run the customer and the loan.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3794760"/>
            <a:ext cx="3666744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ACCOUNTING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Where loan events become debits and credits.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3794760"/>
            <a:ext cx="3666744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REPORTING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Where GL data becomes official intelligence.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92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HOW TO READ THE REST OF THIS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If you are learning the topic: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Each stage page has an “In plain terms” line, and page 15 follows one loan end to end.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2120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If you manage finance data: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Each stage page has a Data Management Lens (grain, CDEs, controls); pages 4 and 14 cover lineage and reconciliation.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Lending architecture flow — capability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same flow shown as six capability blocks; each block points to the page that covers it in detail.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726692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Origination &amp;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Decisioning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12848"/>
            <a:ext cx="172669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Application Processing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Credit &amp; ID Verification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Risk &amp; Pricing Decision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Approval &amp; Funding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726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Detail: p. 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83892" y="173736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66772" y="1371600"/>
            <a:ext cx="1726692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Loan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6772" y="2212848"/>
            <a:ext cx="172669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Loan Setup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Data Loading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Terms &amp; Amortization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GL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6772" y="5257800"/>
            <a:ext cx="1726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Detail: p. 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93464" y="173736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76344" y="1371600"/>
            <a:ext cx="1726692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Loan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Servicing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6344" y="2212848"/>
            <a:ext cx="172669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Payment Processing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Interest Accrual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Delinquency Mgmt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Fee &amp; Escrow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6344" y="5257800"/>
            <a:ext cx="1726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Detail: p. 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3036" y="173736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5916" y="1371600"/>
            <a:ext cx="1726692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Subledger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5916" y="2212848"/>
            <a:ext cx="172669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Transaction Records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Interest &amp; Fees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Charge-Offs &amp; Recoveries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5257800"/>
            <a:ext cx="1726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Detail: p. 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12608" y="173736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95488" y="1371600"/>
            <a:ext cx="1726692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GL &amp;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Accounting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8" y="2212848"/>
            <a:ext cx="1726692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GL Posting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Journal Entries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Reconciliations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8" y="5257800"/>
            <a:ext cx="1726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Detail: pp. 9–10, 14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22180" y="1737360"/>
            <a:ext cx="18288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05060" y="1371600"/>
            <a:ext cx="1726692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Financial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Reporting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5060" y="2212848"/>
            <a:ext cx="1726692" cy="292608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Regulatory Reports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Financial Statements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Performance Analytics</a:t>
            </a:r>
          </a:p>
          <a:p>
            <a:pPr algn="l"/>
            <a:r>
              <a:rPr sz="1100" b="0" i="0">
                <a:solidFill>
                  <a:srgbClr val="1A2130"/>
                </a:solidFill>
                <a:latin typeface="Calibri"/>
              </a:rPr>
              <a:t>• Risk &amp;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5060" y="5257800"/>
            <a:ext cx="1726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Detail: pp. 11–13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Note: </a:t>
            </a:r>
            <a:r>
              <a:rPr sz="1100" b="0" i="0">
                <a:solidFill>
                  <a:srgbClr val="57626B"/>
                </a:solidFill>
                <a:latin typeface="Calibri"/>
              </a:rPr>
              <a:t>“GL &amp; Accounting” combines two stages that the rest of this deck shows separately: the GL Mapping Layer (stage 5) and the GL Accounting Engine (stage 6).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How the data changes shape along 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grain gets coarser at every hop — the core reason lineage and drill-back matter.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965960"/>
                <a:gridCol w="3017520"/>
                <a:gridCol w="2926080"/>
                <a:gridCol w="176479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DATA GRAIN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KEY DATA OBJECTS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SYSTEM OF RECORD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1  Origination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Applicant, credit report, decision, offer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origination system / decision engine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Real 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2  Boarding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(master)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terms, collateral, schedule, product &amp; GL codes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platform (setup)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Once per funded loan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3  Servicing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× 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Balance, status, days past due, escrow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Daily batch + real-time payments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4  Subledger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Transaction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TXN_MASTER, TXN_DETAIL, SUBLEDGER_TXN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Inside servicing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Every financial event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5  GL Mapping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Transaction → JE 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Rules: product × transaction type → account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Accounting hub / mapping tables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6  GL Engine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Account × segment × period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Journal batches, GL balances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ERP GL (SAP, Oracle, PeopleSoft, Workday)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Daily + month-end close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7  Reporting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Report line / metric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Statements, regulatory schedules, KPIs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EDW, regulatory platform, consolidation, BI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Monthly / quarterly / annual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120640"/>
            <a:ext cx="1127455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00" b="1" i="0">
                <a:solidFill>
                  <a:srgbClr val="1A2130"/>
                </a:solidFill>
                <a:latin typeface="Calibri"/>
              </a:rPr>
              <a:t>Why it matters: </a:t>
            </a:r>
            <a:r>
              <a:rPr sz="1200" b="0" i="0">
                <a:solidFill>
                  <a:srgbClr val="57626B"/>
                </a:solidFill>
                <a:latin typeface="Calibri"/>
              </a:rPr>
              <a:t>millions of loan-level events become thousands of journal lines, which become one balance-sheet line. Once summarized, loan detail is gone from the GL — so every reported number must be traceable back through journal references to the subledger and the loan.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Origination &amp; Decisioning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Purpose: Collect, verify, decide, price, approve.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  Origination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2  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3  Servicing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4  Subledger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5  GL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6  GL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299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7 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INTAKE &amp; VERIFY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Application intake (web / mobile / branch)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Identity verification (IDV)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OCR / document capture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Income verification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Credit bureau pulls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Fraud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224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DECIDE &amp; PRICE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Decision engine (rules + models)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Pricing engine (rate / APR / fees)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Eligibility determination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728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COMPLY &amp; CLOSE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Regulatory checks (Reg B, Reg Z, Fair Lending)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TILA / Reg Z disclosures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E-sign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Funding workflow initiation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ourier New"/>
              </a:rPr>
              <a:t>IN PLAIN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13248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1A2130"/>
                </a:solidFill>
                <a:latin typeface="Calibri"/>
              </a:rPr>
              <a:t>The front door: the bank decides whether to lend, how much, and at what price — and records proof that it followed the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783080"/>
            <a:ext cx="4370832" cy="10515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CADCEA"/>
                </a:solidFill>
                <a:latin typeface="Calibri"/>
              </a:rPr>
              <a:t>PRODUCES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approved loan package: borrower, terms, pricing, disclosures and signed documents.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971800"/>
            <a:ext cx="4370832" cy="3337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DATA MANAGEMENT LENS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Grain: one record per application — keep declines and withdrawals, not just approvals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CDEs: credit score, DTI, verified income, APR, decision and reason codes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Model risk (SR 11-7) governs the decision and pricing models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Adverse-action reason codes (Reg B) must be stored and reproducible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Feeds HMDA, fair-lending analytics and funnel KPIs directly — these skip the GL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Loan 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Purpose: Set up the loan so it can be serviced.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1  Origination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  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3  Servicing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4  Subledger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5  GL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6  GL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299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7 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CREATE THE RECORD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Create loan master record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Load borrower data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Load loan terms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Load collateral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224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SET THE ECONOMICS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Load fees / premiums / discounts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Generate amortization schedule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Initialize escrow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Initialize billing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728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CLASSIFY &amp; VALIDATE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Assign product codes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Assign GL / subledger mapping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Data quality checks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Trigger welcome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ourier New"/>
              </a:rPr>
              <a:t>IN PLAIN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13248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1A2130"/>
                </a:solidFill>
                <a:latin typeface="Calibri"/>
              </a:rPr>
              <a:t>A setup system, not a transactional one: an error made here is copied into every payment, statement and journal entry for the life of the loan.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783080"/>
            <a:ext cx="4370832" cy="10515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CADCEA"/>
                </a:solidFill>
                <a:latin typeface="Calibri"/>
              </a:rPr>
              <a:t>PRODUCES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 serviceable loan account: loan number, schedule, billing set-up and accounting classification.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971800"/>
            <a:ext cx="4370832" cy="3337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DATA MANAGEMENT LENS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Grain: one loan master record per funded loan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The origination → servicing hand-off is the most error-prone interface in the flow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Product code and GL mapping assigned here drive every future journal entry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Controls: boarding DQ checks, funded-vs-boarded reconciliation (count and $), maker-checker on manual boards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Deferred fees and costs set here drive effective yield (ASC 310-20)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Loan Servicing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Purpose: Run the loan every day for its entire life.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1  Origination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2  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  Servicing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4  Subledger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5  GL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6  GL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299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7 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MONEY IN &amp; OUT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Accept / apply payments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Calculate interest (interest accrual)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Manage escrow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Assess / reverse fees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Support payoff quotes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224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CREDIT LIFECYCLE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Manage delinquency buckets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Trigger collections workflows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Process charge-offs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Process recoveries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Modifications / forbearance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7280" y="1783080"/>
            <a:ext cx="2115311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RECORDS &amp; OUTPUT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Generate statements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Maintain full loan history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Produce subledger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ourier New"/>
              </a:rPr>
              <a:t>IN PLAIN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13248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1A2130"/>
                </a:solidFill>
                <a:latin typeface="Calibri"/>
              </a:rPr>
              <a:t>The operational engine: every payment, fee, missed payment, modification and payoff happens 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783080"/>
            <a:ext cx="4370832" cy="10515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CADCEA"/>
                </a:solidFill>
                <a:latin typeface="Calibri"/>
              </a:rPr>
              <a:t>PRODUCES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Daily balances, status and transaction activity — the source of the subledger.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971800"/>
            <a:ext cx="4370832" cy="3337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DATA MANAGEMENT LENS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Grain: loan × day (balance, status, days past due) plus every transaction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CDEs: principal balance, accrued interest, DPD, delinquency bucket, charge-off flag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Delinquency buckets (current, 30, 60, 90+) feed roll rates and CECL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The payment waterfall decides what goes to fees, interest and principal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Keep month-end snapshots: vintage and roll-rate analysis depend on them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The Subledger — the loan-level accounting journal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Purpose: record every financial event at the loan level. It lives inside the servicing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1  Origination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2  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3  Servicing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  Subledger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5  GL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6  GL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299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7 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CAPTURED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56232" y="2103120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Interest accrual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5264" y="2103120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54296" y="2103120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Escrow disbursements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61487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Charge-offs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6232" y="2761487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Recoveries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5264" y="2761487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Payoffs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54296" y="2761487"/>
            <a:ext cx="13075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Modifications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EXAMPLE RECORD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384048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43000"/>
                <a:gridCol w="685800"/>
                <a:gridCol w="914400"/>
                <a:gridCol w="91440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LOAN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PRINCIPAL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INTEREST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100245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2026-09-01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PMT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400.77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275.77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125.00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4709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7626B"/>
                </a:solidFill>
                <a:latin typeface="Calibri"/>
              </a:rPr>
              <a:t>Operational detail with amounts — not yet debits and credits in the GL.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130"/>
                </a:solidFill>
                <a:latin typeface="Courier New"/>
              </a:rPr>
              <a:t>IN PLAIN TERMS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778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1A2130"/>
                </a:solidFill>
                <a:latin typeface="Calibri"/>
              </a:rPr>
              <a:t>The loan’s own diary of money events, one line per event.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TYPICAL TABLES (NAMES ILLUSTRATIVE)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355080" y="2103120"/>
          <a:ext cx="537667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45643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TXN_MASTER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One row per transaction: loan, date, type, amount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TXN_DETAIL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Allocation of each transaction: principal, interest, fee, escrow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SUBLEDGER_TXN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Accounting-ready event with transaction code for GL mapping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ACCOUNT_ACTIVITY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Running history of balance changes per account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355080" y="4434840"/>
            <a:ext cx="5376672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DATA MANAGEMENT LENS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Anchor control: subledger total = GL control account (Loans Receivable), every day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Transaction codes are the join key into the GL mapping layer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Reversals and back-dated items are where subledger-to-GL breaks usually 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GL Mapping Layer — translating events into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Purpose: turn each subledger event into the correct debit and credit.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1  Origination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2  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3  Servicing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4  Subledger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  GL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6  GL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299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7 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MAPPING DRIVERS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30175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Product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30175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Transaction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0175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Fee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30175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Interest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30175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Charge-off / recovery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30175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Escrow type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3429000"/>
            <a:ext cx="502919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69080" y="178308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EXAMPLE MAPPING RESULTS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069080" y="2103120"/>
          <a:ext cx="7662672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281635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SUBLEDGER EVENT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Payment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Cash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Loans (principal)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Interest accrual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Accrued Interest Receivable (AIR)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Interest Income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Charge-off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Allowance for Credit Losses (ACL)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Loans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Recovery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Cash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Allowance for Credit Losses (ACL)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Late fee assessed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Fees Receivable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Fee Income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069080" y="45720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7626B"/>
                </a:solidFill>
                <a:latin typeface="Calibri"/>
              </a:rPr>
              <a:t>First three rows as given; recovery and fee rows added to complete the pattern.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6583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00" b="1" i="0">
                <a:solidFill>
                  <a:srgbClr val="0E7C66"/>
                </a:solidFill>
                <a:latin typeface="Calibri"/>
              </a:rPr>
              <a:t>DATA MANAGEMENT LENS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Mapping tables are controlled reference data: controllers own them; changes need approval (SOX)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Unmapped codes fall to a suspense account — monitor and clear it daily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A new product or fee needs its mapping before its first transaction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5029200"/>
            <a:ext cx="4462272" cy="12801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CADCEA"/>
                </a:solidFill>
                <a:latin typeface="Calibri"/>
              </a:rPr>
              <a:t>IN PLAIN TERMS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 translation dictionary: “when this happens to this kind of loan, book it to these accounts.”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GL Accounting Engine — posting the official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Purpose: post summarized journal entries to the corporate general ledger.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1  Origination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2  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3  Servicing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4  Subledger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5  GL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6  GL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299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7 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LOAN-LEVEL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JOURNAL LINES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millions per month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354580"/>
            <a:ext cx="283464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SUMMARIZE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by product / branch /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cost center / account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2744" y="2354580"/>
            <a:ext cx="283463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8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JOURNAL BATCH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daily or monthly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42248" y="2354580"/>
            <a:ext cx="283464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25712" y="1783080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GENERAL LEDGER</a:t>
            </a:r>
          </a:p>
          <a:p>
            <a:pPr algn="ctr"/>
            <a:r>
              <a:rPr sz="1050" b="0" i="0">
                <a:solidFill>
                  <a:srgbClr val="CADCEA"/>
                </a:solidFill>
                <a:latin typeface="Calibri"/>
              </a:rPr>
              <a:t>SAP · Oracle ·</a:t>
            </a:r>
          </a:p>
          <a:p>
            <a:pPr algn="ctr"/>
            <a:r>
              <a:rPr sz="1050" b="0" i="0">
                <a:solidFill>
                  <a:srgbClr val="CADCEA"/>
                </a:solidFill>
                <a:latin typeface="Calibri"/>
              </a:rPr>
              <a:t>PeopleSoft · Workday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20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Accept daily / monthly journal batches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Summarize by product / branch / cost 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Post to the GL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Support reconciliations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83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Feed financial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Support CECL, CCAR and SOX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Provide audit and regulatory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200400"/>
            <a:ext cx="5376672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DATA MANAGEMENT LENS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The grain collapses here: the GL holds account balances, not loans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Every batch needs a journal ID that links back to subledger detail (drill-back)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Controls: batch completeness (sent = received = posted), balanced entries, period cut-off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440680"/>
            <a:ext cx="5376672" cy="86868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 i="0">
                <a:solidFill>
                  <a:srgbClr val="CADCEA"/>
                </a:solidFill>
                <a:latin typeface="Calibri"/>
              </a:rPr>
              <a:t>IN PLAIN TERMS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company’s official books — the single financial truth.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Financial Reporting — the enterprise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Purpose: turn GL-posted data into official financial, regulatory and management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1  Origination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483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2  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3  Servicing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0096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4  Subledger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5  GL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 i="0">
                <a:solidFill>
                  <a:srgbClr val="57626B"/>
                </a:solidFill>
                <a:latin typeface="Calibri"/>
              </a:rPr>
              <a:t>6  GL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22992" y="1234440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7 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8028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 i="0">
                <a:solidFill>
                  <a:srgbClr val="1A2130"/>
                </a:solidFill>
                <a:latin typeface="Calibri"/>
              </a:rPr>
              <a:t>Enterprise Data Warehouse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1532" y="1737360"/>
            <a:ext cx="18028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 i="0">
                <a:solidFill>
                  <a:srgbClr val="1A2130"/>
                </a:solidFill>
                <a:latin typeface="Calibri"/>
              </a:rPr>
              <a:t>Regulatory platforms (Axiom, Vermeg, Wolters Kluwer)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5864" y="1737360"/>
            <a:ext cx="18028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 i="0">
                <a:solidFill>
                  <a:srgbClr val="1A2130"/>
                </a:solidFill>
                <a:latin typeface="Calibri"/>
              </a:rPr>
              <a:t>Consolidation (SAP BPC, Oracle FCCS)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1737360"/>
            <a:ext cx="18028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 i="0">
                <a:solidFill>
                  <a:srgbClr val="1A2130"/>
                </a:solidFill>
                <a:latin typeface="Calibri"/>
              </a:rPr>
              <a:t>BI (Power BI, Tableau, Qlik)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1737360"/>
            <a:ext cx="18028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 i="0">
                <a:solidFill>
                  <a:srgbClr val="1A2130"/>
                </a:solidFill>
                <a:latin typeface="Calibri"/>
              </a:rPr>
              <a:t>CECL / allowance engines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8860" y="1737360"/>
            <a:ext cx="18028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 i="0">
                <a:solidFill>
                  <a:srgbClr val="1A2130"/>
                </a:solidFill>
                <a:latin typeface="Calibri"/>
              </a:rPr>
              <a:t>Capital &amp; risk (Basel, CCAR, stress testing)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2736342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A · FINANCIAL STATEMENTS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Balance sheet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Income statement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Statement of cash flows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Equity rollforward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Footnotes and disclosures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Consolidation across subsidiaries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Intercompany eliminations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SOX controls and audit trails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03270" y="2560320"/>
            <a:ext cx="2736342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B · REGULATORY, RISK &amp; COMPLIANCE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Call Report (FFIEC 031/041)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FR Y-9C (holding company)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FR Y-14 (CCAR)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CECL / ACL reporting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HMDA (mortgage)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Reg Z / TILA disclosures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Fair Lending analytics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Basel capital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Liquidity (LCR / NSFR)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2560320"/>
            <a:ext cx="2736342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C · MANAGEMENT / PERFORMANCE ANALYTICS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Product profitability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Net interest margin (NIM)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Charge-off and recovery trends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Delinquency roll rates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Vintage analysis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Portfolio segmentation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Operational KPIs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Forecasting and budgeting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5410" y="2560320"/>
            <a:ext cx="2736342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D · GOVERNANCE &amp; CONTROLS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Lineage from GL → reports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Reconciliation (subledger ↔ GL ↔ reports)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Certification workflows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Regulatory exam support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Audit evidence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• Change management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1A2130"/>
                </a:solidFill>
                <a:latin typeface="Calibri"/>
              </a:rPr>
              <a:t>Note: not everything flows through the GL — HMDA, fair lending and roll rates draw on origination and servicing data directly, so they must still reconcile back to GL totals.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Regulatory reporting — what each filing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Different filings pull from different stages — some from the GL, some from loan-level data.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4023360"/>
                <a:gridCol w="194767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LENDING DATA IT USES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MAIN SOURCE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Call Report (FFIEC 031/041)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Quarterly bank balance sheet and income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 balances by type, past-due / nonaccrual, charge-offs and recoveries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+ servicing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FR Y-9C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Quarterly consolidated holding-company financials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Same view, at holding-company level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+ consolidation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FR Y-14 (CCAR)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Stress-testing data submissions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Loan-level portfolio detail and projections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+ risk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CECL / ACL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Lifetime expected credit loss allowance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Balances, DPD, vintage, risk grades, macro forecasts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+ CECL engine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HMDA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Annual mortgage application register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Application-level data, including declines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Reg Z / TILA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Consumer cost-of-credit disclosures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APR, finance charge, payment schedule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Fair Lending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Reg B / ECOA disparity testing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Decisions, pricing, exceptions, demographic proxies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Basel capital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Risk-weighted assets and capital ratios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Exposures, risk weights, allowance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+ risk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LCR / NSFR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Liquidity coverage and stable funding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Contractual cash flows and maturities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+ treasury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1A2130"/>
                </a:solidFill>
                <a:latin typeface="Calibri"/>
              </a:rPr>
              <a:t>Every filing is certified by an executive — which is why it must reconcile to the GL and have documented lineage back to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Management reporting — the metrics leaders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These blend GL (financial) data with servicing (operational) data.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606040"/>
                <a:gridCol w="4206240"/>
                <a:gridCol w="213055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QUESTION IT ANSWERS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HOW IT IS BUILT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DATA FROM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Product profitability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Which products make money?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Interest + fees − funding cost − losses − expenses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+ cost allocation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Net interest margin (NIM)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How much do we earn on our lending?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Net interest income ÷ average earning assets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Charge-off &amp; recovery trends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How much are we losing?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(Charge-offs − recoveries) ÷ average loans, annualized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+ subledger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Delinquency roll rates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Are borrowers getting worse?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balances moving to the next DPD bucket each month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snapshots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Vintage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Are newer loans better or worse?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Cumulative loss by origination cohort, by months on book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+ servicing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Portfolio segmentation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Where is the risk concentrated?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Balances and losses by score band, product, region, channel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+ servicing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Operational KPIs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Is the machine running well?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Approval rate, time-to-fund, boarding errors, collections contacts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+ servicing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Forecasting &amp; budgeting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What happens next?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Balance, yield and loss projections vs. plan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GL + planning tools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A2130"/>
                </a:solidFill>
                <a:latin typeface="Calibri"/>
              </a:rPr>
              <a:t>Data-management point: roll rates and vintage curves come from servicing snapshots, not the GL, so month-end balances in those snapshots must tie to the GL control account or leaders see two versions of the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Data governance &amp; controls — the reconciliation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Each hand-off is a control point. Break one, and every number downstream is suspect.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ORIGINATION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funded loans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8144" y="13716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SERVICING &amp;</a:t>
            </a:r>
          </a:p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SUBLEDGER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loan-level balances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13716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GENERAL LEDGER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control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00032" y="13716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REPORTS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statements, filings, KPIs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1828800"/>
            <a:ext cx="649224" cy="0"/>
          </a:xfrm>
          <a:prstGeom prst="line">
            <a:avLst/>
          </a:prstGeom>
          <a:ln w="22225">
            <a:solidFill>
              <a:srgbClr val="0E7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88920" y="1938528"/>
            <a:ext cx="6492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funded = boarded</a:t>
            </a:r>
          </a:p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(count and $)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9864" y="1828800"/>
            <a:ext cx="649224" cy="0"/>
          </a:xfrm>
          <a:prstGeom prst="line">
            <a:avLst/>
          </a:prstGeom>
          <a:ln w="22225">
            <a:solidFill>
              <a:srgbClr val="0E7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69864" y="1938528"/>
            <a:ext cx="6492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subledger total =</a:t>
            </a:r>
          </a:p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GL control account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50808" y="1828800"/>
            <a:ext cx="649224" cy="0"/>
          </a:xfrm>
          <a:prstGeom prst="line">
            <a:avLst/>
          </a:prstGeom>
          <a:ln w="22225">
            <a:solidFill>
              <a:srgbClr val="0E7C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50808" y="1938528"/>
            <a:ext cx="6492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report totals =</a:t>
            </a:r>
          </a:p>
          <a:p>
            <a:pPr algn="ctr"/>
            <a:r>
              <a:rPr sz="950" b="1" i="0">
                <a:solidFill>
                  <a:srgbClr val="0E7C66"/>
                </a:solidFill>
                <a:latin typeface="Calibri"/>
              </a:rPr>
              <a:t>GL balances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GOVERNANCE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Lineage: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trace every report line back through GL, journal and subledger to the loan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47872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Reconciliation: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subledger ↔ GL ↔ reports, with aged breaks tracked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78224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Certification: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owners attest to data and results before 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08576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Exam support: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answer regulator questions with evidence, fast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38928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Audit evidence: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retained proof that controls ran and worked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Change management: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approved, tested changes to mappings and report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697480"/>
            <a:ext cx="5376672" cy="3611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1050" b="1" i="0">
                <a:solidFill>
                  <a:srgbClr val="9A3324"/>
                </a:solidFill>
                <a:latin typeface="Calibri"/>
              </a:rPr>
              <a:t>WHERE BREAKS USUALLY START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Boarding errors: wrong product code or GL mapping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Unmapped transaction codes parked in suspense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Failed or partial interface files between systems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Timing and cut-off: back-dated payments, reversals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Manual top-side adjustments without subledger support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Report logic changed without change control</a:t>
            </a:r>
          </a:p>
          <a:p>
            <a:pPr algn="l"/>
            <a:r>
              <a:rPr sz="1050" b="1" i="1">
                <a:solidFill>
                  <a:srgbClr val="1A2130"/>
                </a:solidFill>
                <a:latin typeface="Calibri"/>
              </a:rPr>
              <a:t>Critical data elements (CDEs) at each hop should have an owner, a definition and a DQ rule.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Follow one loan through the whole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$20,000 auto loan, 60 months at 7.5% APR — payment $400.77 per month.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35607"/>
            <a:ext cx="3392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7C66"/>
                </a:solidFill>
                <a:latin typeface="Courier New"/>
              </a:rPr>
              <a:t>1 · ORIGINATION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392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130"/>
                </a:solidFill>
                <a:latin typeface="Cambria"/>
              </a:rPr>
              <a:t>Approved and priced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33924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Score, income and fraud checks pass; APR set; disclosures e-signed.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392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No GL entry — a decision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25880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1435607"/>
            <a:ext cx="3392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7C66"/>
                </a:solidFill>
                <a:latin typeface="Courier New"/>
              </a:rPr>
              <a:t>2 · BOARDING + FUNDING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691640"/>
            <a:ext cx="3392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130"/>
                </a:solidFill>
                <a:latin typeface="Cambria"/>
              </a:rPr>
              <a:t>Loan set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039112"/>
            <a:ext cx="33924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Loan master, 60-payment schedule, product and GL codes assigned.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697480"/>
            <a:ext cx="3392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Dr Loans           20,000.00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   Cr Cash          20,000.00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325880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435607"/>
            <a:ext cx="3392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7C66"/>
                </a:solidFill>
                <a:latin typeface="Courier New"/>
              </a:rPr>
              <a:t>3 · SERVICING → ACCRUAL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691640"/>
            <a:ext cx="3392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130"/>
                </a:solidFill>
                <a:latin typeface="Cambria"/>
              </a:rPr>
              <a:t>Month-end interest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039112"/>
            <a:ext cx="33924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One month of interest accrues on the balance ($20,000 × 7.5% ÷ 12).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697480"/>
            <a:ext cx="3392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Dr AIR               125.00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   Cr Int. Income      125.00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58768"/>
            <a:ext cx="3392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7C66"/>
                </a:solidFill>
                <a:latin typeface="Courier New"/>
              </a:rPr>
              <a:t>4 · SUBLEDGER → GL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14800"/>
            <a:ext cx="3392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130"/>
                </a:solidFill>
                <a:latin typeface="Cambria"/>
              </a:rPr>
              <a:t>First payment received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62272"/>
            <a:ext cx="33924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Waterfall applies $125.00 to interest, $275.77 to principal.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20640"/>
            <a:ext cx="3392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Dr Cash              400.77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   Cr AIR              125.00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   Cr Loans            275.77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3749039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3858768"/>
            <a:ext cx="3392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7C66"/>
                </a:solidFill>
                <a:latin typeface="Courier New"/>
              </a:rPr>
              <a:t>5 · IF IT DEFAULTS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4114800"/>
            <a:ext cx="3392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130"/>
                </a:solidFill>
                <a:latin typeface="Cambria"/>
              </a:rPr>
              <a:t>Charge-off, then 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4462272"/>
            <a:ext cx="33924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At 120 days past due the balance is charged off; the car is sold.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5120640"/>
            <a:ext cx="3392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Dr ACL            14,200.00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   Cr Loans         14,200.00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Dr Cash            6,000.00</a:t>
            </a:r>
          </a:p>
          <a:p>
            <a:pPr algn="l"/>
            <a:r>
              <a:rPr sz="950" b="0" i="0">
                <a:solidFill>
                  <a:srgbClr val="1A2130"/>
                </a:solidFill>
                <a:latin typeface="Courier New"/>
              </a:rPr>
              <a:t>   Cr ACL            6,000.00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749039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3858768"/>
            <a:ext cx="33924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ADCEA"/>
                </a:solidFill>
                <a:latin typeface="Courier New"/>
              </a:rPr>
              <a:t>6 ·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4114800"/>
            <a:ext cx="3392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Where it shows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4462272"/>
            <a:ext cx="33924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Loans on balance sheet and Call Report; interest income in NIM; DPD in roll rates; net loss in charge-off rate and CECL.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7626B"/>
                </a:solidFill>
                <a:latin typeface="Calibri"/>
              </a:rPr>
              <a:t>Charge-off and recovery amounts are illustrative; the 120-day trigger follows the common policy for closed-end retail loans.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vocabulary you need to follow any conversation about this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Subledger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Loan-level record of financial events, kept inside the servicing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1636" y="1371600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General Ledger (GL)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The official summarized books of the company.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6272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Control account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The GL account a subledger must tie to (e.g., Loans Receivable).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176272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Journal entry (JE)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Balanced debit / credit posting to the GL.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AIR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Accrued Interest Receivable: interest earned but not yet paid.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6" y="2980944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ACL / CECL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Allowance for Credit Losses, estimated under the CECL lifetime-loss standard.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85616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Charge-off / recovery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Writing off an uncollectible balance / collecting after write-off.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6" y="3785616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DPD / delinquency bucket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Days past due, grouped: current, 30, 60, 90+.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90288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Roll rate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Share of balances moving to a worse bucket from one month to the next.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4590288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Vintage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A cohort of loans originated in the same period, tracked over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NIM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Net interest margin: net interest income ÷ average earning assets.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5394960"/>
            <a:ext cx="55001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Lineage / CDE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Traceable path of data from source to report / a critical data element.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Consumer Lending: Data Flow for Reporting   ·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Origination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38528" y="1645920"/>
            <a:ext cx="146304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84832" y="128016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Loan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Boarding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0" y="1645920"/>
            <a:ext cx="146304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12464" y="128016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Loan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Servicing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93792" y="1645920"/>
            <a:ext cx="146304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40096" y="128016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Subledger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21424" y="1645920"/>
            <a:ext cx="146304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67728" y="128016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GL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Mapping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49056" y="1645920"/>
            <a:ext cx="146304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95360" y="128016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GL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Engine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76688" y="1645920"/>
            <a:ext cx="146304" cy="0"/>
          </a:xfrm>
          <a:prstGeom prst="line">
            <a:avLst/>
          </a:prstGeom>
          <a:ln w="19050">
            <a:solidFill>
              <a:srgbClr val="CADC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22992" y="1280160"/>
            <a:ext cx="148132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Financial</a:t>
            </a:r>
          </a:p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774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Origination collects, verifies, decides and prices.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889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Loan boarding sets up the loan.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004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Loan servicing runs the loan.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1188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The servicing system generates subledger transactions.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The GL mapping layer translates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348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The accounting engine posts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463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Financial reporting transforms them into official financial, regulatory and management intelligence.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406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1">
                <a:solidFill>
                  <a:srgbClr val="CADCEA"/>
                </a:solidFill>
                <a:latin typeface="Calibri"/>
              </a:rPr>
              <a:t>The data-management takeaway: grain collapses at every hop, so trust in the final number depends on lineage, reconciliation and controlled mappings at each hand-off.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ADCEA"/>
                </a:solidFill>
                <a:latin typeface="Calibri"/>
              </a:rPr>
              <a:t>Consumer Lending: Data Flow for Reporting   · 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