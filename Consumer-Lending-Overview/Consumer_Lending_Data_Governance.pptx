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200" b="1">
                <a:solidFill>
                  <a:srgbClr val="1A2130"/>
                </a:solidFill>
                <a:latin typeface="Calibri"/>
              </a:rPr>
              <a:t>DQ pass rate by CDE (illustrative) — threshold 98%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DQ pass rate %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9A3324"/>
              </a:solidFill>
            </c:spPr>
            <c:extLst>
              <c:ext xmlns:c16="http://schemas.microsoft.com/office/drawing/2014/chart" uri="{C3380CC4-5D6E-409C-BE32-E72D297353CC}">
                <c16:uniqueId val="{00000001-AA26-4E73-ABD4-D2B4EDBDF7F4}"/>
              </c:ext>
            </c:extLst>
          </c:dPt>
          <c:dPt>
            <c:idx val="1"/>
            <c:invertIfNegative val="1"/>
            <c:bubble3D val="0"/>
            <c:spPr>
              <a:solidFill>
                <a:srgbClr val="9A3324"/>
              </a:solidFill>
            </c:spPr>
            <c:extLst>
              <c:ext xmlns:c16="http://schemas.microsoft.com/office/drawing/2014/chart" uri="{C3380CC4-5D6E-409C-BE32-E72D297353CC}">
                <c16:uniqueId val="{00000003-AA26-4E73-ABD4-D2B4EDBDF7F4}"/>
              </c:ext>
            </c:extLst>
          </c:dPt>
          <c:dPt>
            <c:idx val="2"/>
            <c:invertIfNegative val="1"/>
            <c:bubble3D val="0"/>
            <c:spPr>
              <a:solidFill>
                <a:srgbClr val="1A2130"/>
              </a:solidFill>
            </c:spPr>
            <c:extLst>
              <c:ext xmlns:c16="http://schemas.microsoft.com/office/drawing/2014/chart" uri="{C3380CC4-5D6E-409C-BE32-E72D297353CC}">
                <c16:uniqueId val="{00000005-AA26-4E73-ABD4-D2B4EDBDF7F4}"/>
              </c:ext>
            </c:extLst>
          </c:dPt>
          <c:dPt>
            <c:idx val="3"/>
            <c:invertIfNegative val="1"/>
            <c:bubble3D val="0"/>
            <c:spPr>
              <a:solidFill>
                <a:srgbClr val="1A2130"/>
              </a:solidFill>
            </c:spPr>
            <c:extLst>
              <c:ext xmlns:c16="http://schemas.microsoft.com/office/drawing/2014/chart" uri="{C3380CC4-5D6E-409C-BE32-E72D297353CC}">
                <c16:uniqueId val="{00000007-AA26-4E73-ABD4-D2B4EDBDF7F4}"/>
              </c:ext>
            </c:extLst>
          </c:dPt>
          <c:dPt>
            <c:idx val="4"/>
            <c:invertIfNegative val="1"/>
            <c:bubble3D val="0"/>
            <c:spPr>
              <a:solidFill>
                <a:srgbClr val="1A2130"/>
              </a:solidFill>
            </c:spPr>
            <c:extLst>
              <c:ext xmlns:c16="http://schemas.microsoft.com/office/drawing/2014/chart" uri="{C3380CC4-5D6E-409C-BE32-E72D297353CC}">
                <c16:uniqueId val="{00000009-AA26-4E73-ABD4-D2B4EDBDF7F4}"/>
              </c:ext>
            </c:extLst>
          </c:dPt>
          <c:dPt>
            <c:idx val="5"/>
            <c:invertIfNegative val="1"/>
            <c:bubble3D val="0"/>
            <c:spPr>
              <a:solidFill>
                <a:srgbClr val="1A2130"/>
              </a:solidFill>
            </c:spPr>
            <c:extLst>
              <c:ext xmlns:c16="http://schemas.microsoft.com/office/drawing/2014/chart" uri="{C3380CC4-5D6E-409C-BE32-E72D297353CC}">
                <c16:uniqueId val="{0000000B-AA26-4E73-ABD4-D2B4EDBDF7F4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1A213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Product code</c:v>
                </c:pt>
                <c:pt idx="1">
                  <c:v>Credit score at orig.</c:v>
                </c:pt>
                <c:pt idx="2">
                  <c:v>Charge-off amount</c:v>
                </c:pt>
                <c:pt idx="3">
                  <c:v>Days past due</c:v>
                </c:pt>
                <c:pt idx="4">
                  <c:v>Origination date</c:v>
                </c:pt>
                <c:pt idx="5">
                  <c:v>Principal balance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96.4</c:v>
                </c:pt>
                <c:pt idx="1">
                  <c:v>97.2</c:v>
                </c:pt>
                <c:pt idx="2">
                  <c:v>98.7</c:v>
                </c:pt>
                <c:pt idx="3">
                  <c:v>99.1</c:v>
                </c:pt>
                <c:pt idx="4">
                  <c:v>99.5</c:v>
                </c:pt>
                <c:pt idx="5">
                  <c:v>99.8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A26-4E73-ABD4-D2B4EDBDF7F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7CDD1"/>
            </a:solidFill>
          </a:ln>
        </c:spPr>
        <c:txPr>
          <a:bodyPr/>
          <a:lstStyle/>
          <a:p>
            <a:pPr>
              <a:defRPr sz="1000">
                <a:solidFill>
                  <a:srgbClr val="1A2130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.5"/>
          <c:min val="94"/>
        </c:scaling>
        <c:delete val="0"/>
        <c:axPos val="b"/>
        <c:majorGridlines>
          <c:spPr>
            <a:ln>
              <a:solidFill>
                <a:srgbClr val="C7CDD1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7626B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18872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mbria"/>
              </a:rPr>
              <a:t>Data Governance for Consumer Lending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0" i="0">
                <a:solidFill>
                  <a:srgbClr val="CADCEA"/>
                </a:solidFill>
                <a:latin typeface="Cambria"/>
              </a:rPr>
              <a:t>How the bank makes sure the numbers it reports can be trusted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270248" y="2926080"/>
            <a:ext cx="3657600" cy="0"/>
          </a:xfrm>
          <a:prstGeom prst="line">
            <a:avLst/>
          </a:prstGeom>
          <a:ln w="19050">
            <a:solidFill>
              <a:srgbClr val="CA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310896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CADCEA"/>
                </a:solidFill>
                <a:latin typeface="Calibri"/>
              </a:rPr>
              <a:t>Operating Model · CDEs · Data Lineage · Data Quality · Controls · KPI Measurement · Systems &amp; Ownership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418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1">
                <a:solidFill>
                  <a:srgbClr val="FFFFFF"/>
                </a:solidFill>
                <a:latin typeface="Calibri"/>
              </a:rPr>
              <a:t>For data governance professionals, business leaders and architects. A companion to “Consumer Lending Data Flow for Reporting” — same data flow, seen through a governance lens.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57626B"/>
                </a:solidFill>
                <a:latin typeface="Calibri"/>
              </a:rPr>
              <a:t>Consumer Lending: Data Governance for Reporting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Why data governance matters in lending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Every regulatory filing and financial statement is signed by an executive. Governance is what makes that signature safe.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ourier New"/>
              </a:rPr>
              <a:t>THE FLOW BEING GOVERNED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150092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Origination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58122" y="2011680"/>
            <a:ext cx="128016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086138" y="1691640"/>
            <a:ext cx="150092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Boarding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87060" y="2011680"/>
            <a:ext cx="128016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15076" y="1691640"/>
            <a:ext cx="150092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Servicing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215998" y="2011680"/>
            <a:ext cx="128016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344014" y="1691640"/>
            <a:ext cx="150092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Subledger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44937" y="2011680"/>
            <a:ext cx="128016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972953" y="1691640"/>
            <a:ext cx="150092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GL Mapping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73875" y="2011680"/>
            <a:ext cx="128016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601891" y="1691640"/>
            <a:ext cx="150092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GL Engine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102813" y="2011680"/>
            <a:ext cx="128016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230829" y="1691640"/>
            <a:ext cx="1500922" cy="64008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Reporting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606040"/>
            <a:ext cx="3666744" cy="73152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BUSINESS LEADERS</a:t>
            </a:r>
          </a:p>
          <a:p>
            <a:pPr algn="ctr"/>
            <a:r>
              <a:rPr sz="1100" b="0" i="0">
                <a:solidFill>
                  <a:srgbClr val="CADCEA"/>
                </a:solidFill>
                <a:latin typeface="Calibri"/>
              </a:rPr>
              <a:t>Need to trust and certify the numbers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429000"/>
            <a:ext cx="3666744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Executive attestation of regulatory filings</a:t>
            </a:r>
          </a:p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Fewer exam findings and remediation costs</a:t>
            </a:r>
          </a:p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Faster, confident decisions on credit and pricing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1104" y="2606040"/>
            <a:ext cx="3666744" cy="73152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DATA GOVERNANCE</a:t>
            </a:r>
          </a:p>
          <a:p>
            <a:pPr algn="ctr"/>
            <a:r>
              <a:rPr sz="1100" b="0" i="0">
                <a:solidFill>
                  <a:srgbClr val="CADCEA"/>
                </a:solidFill>
                <a:latin typeface="Calibri"/>
              </a:rPr>
              <a:t>Need an operating model that works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61104" y="3429000"/>
            <a:ext cx="3666744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Clear ownership of every critical data element</a:t>
            </a:r>
          </a:p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Measurable data quality with thresholds</a:t>
            </a:r>
          </a:p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Issues found, fixed and evidenced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5008" y="2606040"/>
            <a:ext cx="3666744" cy="73152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ARCHITECTURE</a:t>
            </a:r>
          </a:p>
          <a:p>
            <a:pPr algn="ctr"/>
            <a:r>
              <a:rPr sz="1100" b="0" i="0">
                <a:solidFill>
                  <a:srgbClr val="CADCEA"/>
                </a:solidFill>
                <a:latin typeface="Calibri"/>
              </a:rPr>
              <a:t>Need governance built into the design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5008" y="3429000"/>
            <a:ext cx="3666744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Lineage captured automatically, not by hand</a:t>
            </a:r>
          </a:p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Quality rules enforced in the pipelines</a:t>
            </a:r>
          </a:p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One source for reference data and mappings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07492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9A3324"/>
                </a:solidFill>
                <a:latin typeface="Courier New"/>
              </a:rPr>
              <a:t>WITHOUT 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394960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Two versions of the balance, unexplained reconciliation breaks, lineage rebuilt by hand before every exam, manual top-side adjustments nobody can trace — and regulatory findings (e.g., against BCBS 239 risk-data principles expected of large banks) that take years to close.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Governance for Reporting   ·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The governance framework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Seven working disciplines, standing on policy, people and technology, all serving trusted reporting.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274552" cy="59436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TRUSTED FINANCIAL, REGULATORY &amp; MANAGEMENT REPORTING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57400"/>
            <a:ext cx="1516597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Critical Data</a:t>
            </a:r>
          </a:p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Elements</a:t>
            </a:r>
          </a:p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 </a:t>
            </a:r>
          </a:p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The few data points that matter most, with owners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83525" y="2057400"/>
            <a:ext cx="1516597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Data</a:t>
            </a:r>
          </a:p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Lineage</a:t>
            </a:r>
          </a:p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 </a:t>
            </a:r>
          </a:p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Where each number came from and how it changed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9851" y="2057400"/>
            <a:ext cx="1516597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Data</a:t>
            </a:r>
          </a:p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Quality</a:t>
            </a:r>
          </a:p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 </a:t>
            </a:r>
          </a:p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Rules and thresholds that prove data is fit for use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36177" y="2057400"/>
            <a:ext cx="1516597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Controls &amp;</a:t>
            </a:r>
          </a:p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Reconciliation</a:t>
            </a:r>
          </a:p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 </a:t>
            </a:r>
          </a:p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Checks at every hand-off, with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62502" y="2057400"/>
            <a:ext cx="1516597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Metadata &amp;</a:t>
            </a:r>
          </a:p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Glossary</a:t>
            </a:r>
          </a:p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 </a:t>
            </a:r>
          </a:p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One shared definition for every term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88828" y="2057400"/>
            <a:ext cx="1516597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Issue</a:t>
            </a:r>
          </a:p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Management</a:t>
            </a:r>
          </a:p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 </a:t>
            </a:r>
          </a:p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Breaks logged, owned, fixed and closed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15154" y="2057400"/>
            <a:ext cx="1516597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KPI</a:t>
            </a:r>
          </a:p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Measurement</a:t>
            </a:r>
          </a:p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 </a:t>
            </a:r>
          </a:p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Governance health measured and reported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26280"/>
            <a:ext cx="3685032" cy="777240"/>
          </a:xfrm>
          <a:prstGeom prst="roundRect">
            <a:avLst>
              <a:gd name="adj" fmla="val 10000"/>
            </a:avLst>
          </a:prstGeom>
          <a:solidFill>
            <a:srgbClr val="CADCEA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POLICY &amp; STANDARDS</a:t>
            </a:r>
          </a:p>
          <a:p>
            <a:pPr algn="ctr"/>
            <a:r>
              <a:rPr sz="1050" b="0" i="0">
                <a:solidFill>
                  <a:srgbClr val="1A2130"/>
                </a:solidFill>
                <a:latin typeface="Calibri"/>
              </a:rPr>
              <a:t>Data policy, CDE standard, DQ standard, retention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4526280"/>
            <a:ext cx="3685032" cy="777240"/>
          </a:xfrm>
          <a:prstGeom prst="roundRect">
            <a:avLst>
              <a:gd name="adj" fmla="val 10000"/>
            </a:avLst>
          </a:prstGeom>
          <a:solidFill>
            <a:srgbClr val="CADCEA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OPERATING MODEL &amp; ROLES</a:t>
            </a:r>
          </a:p>
          <a:p>
            <a:pPr algn="ctr"/>
            <a:r>
              <a:rPr sz="1050" b="0" i="0">
                <a:solidFill>
                  <a:srgbClr val="1A2130"/>
                </a:solidFill>
                <a:latin typeface="Calibri"/>
              </a:rPr>
              <a:t>Owners, stewards, custodians, forums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526280"/>
            <a:ext cx="3685032" cy="777240"/>
          </a:xfrm>
          <a:prstGeom prst="roundRect">
            <a:avLst>
              <a:gd name="adj" fmla="val 10000"/>
            </a:avLst>
          </a:prstGeom>
          <a:solidFill>
            <a:srgbClr val="CADCEA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 dirty="0">
                <a:solidFill>
                  <a:srgbClr val="1A2130"/>
                </a:solidFill>
                <a:latin typeface="Calibri"/>
              </a:rPr>
              <a:t>TECHNOLOGY &amp; ARCHITECTURE</a:t>
            </a:r>
          </a:p>
          <a:p>
            <a:pPr algn="ctr"/>
            <a:r>
              <a:rPr sz="1050" b="0" i="0" dirty="0">
                <a:solidFill>
                  <a:srgbClr val="1A2130"/>
                </a:solidFill>
                <a:latin typeface="Calibri"/>
              </a:rPr>
              <a:t>Catalog, lineage, DQ, reconciliation, G</a:t>
            </a:r>
            <a:r>
              <a:rPr lang="en-US" sz="1050" b="0" i="0" dirty="0">
                <a:solidFill>
                  <a:srgbClr val="1A2130"/>
                </a:solidFill>
                <a:latin typeface="Calibri"/>
              </a:rPr>
              <a:t>overnance </a:t>
            </a:r>
            <a:r>
              <a:rPr sz="1050" b="0" i="0" dirty="0">
                <a:solidFill>
                  <a:srgbClr val="1A2130"/>
                </a:solidFill>
                <a:latin typeface="Calibri"/>
              </a:rPr>
              <a:t>R</a:t>
            </a:r>
            <a:r>
              <a:rPr lang="en-US" sz="1050" b="0" i="0" dirty="0">
                <a:solidFill>
                  <a:srgbClr val="1A2130"/>
                </a:solidFill>
                <a:latin typeface="Calibri"/>
              </a:rPr>
              <a:t>isk &amp; </a:t>
            </a:r>
            <a:r>
              <a:rPr sz="1050" b="0" i="0" dirty="0">
                <a:solidFill>
                  <a:srgbClr val="1A2130"/>
                </a:solidFill>
                <a:latin typeface="Calibri"/>
              </a:rPr>
              <a:t>C</a:t>
            </a:r>
            <a:r>
              <a:rPr lang="en-US" sz="1050" b="0" i="0" dirty="0">
                <a:solidFill>
                  <a:srgbClr val="1A2130"/>
                </a:solidFill>
                <a:latin typeface="Calibri"/>
              </a:rPr>
              <a:t>ompliance</a:t>
            </a:r>
            <a:r>
              <a:rPr sz="1050" b="0" i="0" dirty="0">
                <a:solidFill>
                  <a:srgbClr val="1A2130"/>
                </a:solidFill>
                <a:latin typeface="Calibri"/>
              </a:rPr>
              <a:t>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5321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1A2130"/>
                </a:solidFill>
                <a:latin typeface="Calibri"/>
              </a:rPr>
              <a:t>This deck follows the framework bottom-up: who owns the data (p. 4), what matters most (pp. 5–6), how it is traced, measured and controlled (pp. 7 to 13), and the systems and people behind it (pp. 14 to 16).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Governance for Reporting   ·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Operating model — who is accountable for 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Governance works when every role, from the board to the data engineer, knows its part.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74551" cy="4553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WHERE THEY SIT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ACCOUNTABLE FOR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Board / Risk Committee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Oversight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Data risk appetite; receives governance health reporting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Chief Data Officer &amp; Data Governance Office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Enterprise data office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Policy and standards, CDE framework, governance tooling, enterprise reporting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Data Owner (e.g., Head of Consumer Lending)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Business — 1st line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Data in their domain; approves definitions, DQ thresholds, issue priorities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Data Steward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Business / operations — 1st line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Defines CDEs, writes DQ rules, triages and tracks issues day to day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Data Custodian / Data Engineering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Runs pipelines, implements rules and controls, manages access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Data / Enterprise Architect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Target-state design, lineage capture, platform standards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Finance Controllership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Finance — 1st line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GL mappings, reconciliations, SOX controls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Regulatory Reporting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Finance — 1st line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Report production, report-level lineage, attestation support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Risk, Compliance &amp; Model Risk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2nd line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Independent challenge; model data, fair lending, privacy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Internal Audit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3rd line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Independent assurance that controls are designed and working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1">
                <a:solidFill>
                  <a:srgbClr val="1A2130"/>
                </a:solidFill>
                <a:latin typeface="Calibri"/>
              </a:rPr>
              <a:t>Rule of thumb: the business owns the data; technology keeps it; the 2nd and 3rd lines check both.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Governance for Reporting   ·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Critical Data Elements (CDEs)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Not all data is governed equally. CDEs are the data points whose errors would materially mislead.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5486400" cy="2606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100" b="1" i="0">
                <a:solidFill>
                  <a:srgbClr val="1A2130"/>
                </a:solidFill>
                <a:latin typeface="Calibri"/>
              </a:rPr>
              <a:t>A DATA ELEMENT BECOMES A CDE WHEN IT…</a:t>
            </a:r>
          </a:p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Feeds a regulatory filing (Call Report, FR Y-9C, FR Y-14, HMDA)</a:t>
            </a:r>
          </a:p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Drives a financial statement balance or disclosure</a:t>
            </a:r>
          </a:p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Is an input to a key model (CECL, pricing, decisioning)</a:t>
            </a:r>
          </a:p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Affects customers directly (APR, payment amount, adverse action)</a:t>
            </a:r>
          </a:p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Is used in executive or board reporting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325880"/>
            <a:ext cx="5486400" cy="2606040"/>
          </a:xfrm>
          <a:prstGeom prst="roundRect">
            <a:avLst>
              <a:gd name="adj" fmla="val 10000"/>
            </a:avLst>
          </a:prstGeom>
          <a:solidFill>
            <a:srgbClr val="CADCEA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100" b="1" i="0">
                <a:solidFill>
                  <a:srgbClr val="1A2130"/>
                </a:solidFill>
                <a:latin typeface="Calibri"/>
              </a:rPr>
              <a:t>EVERY CDE CARRIES THESE ATTRIBUTES</a:t>
            </a:r>
          </a:p>
          <a:p>
            <a:pPr algn="l"/>
            <a:r>
              <a:rPr sz="1100" b="0" i="0">
                <a:solidFill>
                  <a:srgbClr val="1A2130"/>
                </a:solidFill>
                <a:latin typeface="Calibri"/>
              </a:rPr>
              <a:t>• Business definition and approved glossary term</a:t>
            </a:r>
          </a:p>
          <a:p>
            <a:pPr algn="l"/>
            <a:r>
              <a:rPr sz="1100" b="0" i="0">
                <a:solidFill>
                  <a:srgbClr val="1A2130"/>
                </a:solidFill>
                <a:latin typeface="Calibri"/>
              </a:rPr>
              <a:t>• Data owner and data steward</a:t>
            </a:r>
          </a:p>
          <a:p>
            <a:pPr algn="l"/>
            <a:r>
              <a:rPr sz="1100" b="0" i="0">
                <a:solidFill>
                  <a:srgbClr val="1A2130"/>
                </a:solidFill>
                <a:latin typeface="Calibri"/>
              </a:rPr>
              <a:t>• Authoritative source (system of record)</a:t>
            </a:r>
          </a:p>
          <a:p>
            <a:pPr algn="l"/>
            <a:r>
              <a:rPr sz="1100" b="0" i="0">
                <a:solidFill>
                  <a:srgbClr val="1A2130"/>
                </a:solidFill>
                <a:latin typeface="Calibri"/>
              </a:rPr>
              <a:t>• Documented lineage to each report that uses it</a:t>
            </a:r>
          </a:p>
          <a:p>
            <a:pPr algn="l"/>
            <a:r>
              <a:rPr sz="1100" b="0" i="0">
                <a:solidFill>
                  <a:srgbClr val="1A2130"/>
                </a:solidFill>
                <a:latin typeface="Calibri"/>
              </a:rPr>
              <a:t>• DQ rules with thresholds and a current score</a:t>
            </a:r>
          </a:p>
          <a:p>
            <a:pPr algn="l"/>
            <a:r>
              <a:rPr sz="1100" b="0" i="0">
                <a:solidFill>
                  <a:srgbClr val="1A2130"/>
                </a:solidFill>
                <a:latin typeface="Calibri"/>
              </a:rPr>
              <a:t>• Criticality tier and review 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6052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ourier New"/>
              </a:rPr>
              <a:t>THE CDE LIFECYCLE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480560"/>
            <a:ext cx="150876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Identify</a:t>
            </a:r>
          </a:p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from reports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65960" y="4914900"/>
            <a:ext cx="118872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084832" y="4480560"/>
            <a:ext cx="150876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Define</a:t>
            </a:r>
          </a:p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glossary term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593592" y="4914900"/>
            <a:ext cx="118872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12464" y="4480560"/>
            <a:ext cx="150876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Assign</a:t>
            </a:r>
          </a:p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owner &amp; steward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21224" y="4914900"/>
            <a:ext cx="118872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340096" y="4480560"/>
            <a:ext cx="150876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Trace</a:t>
            </a:r>
          </a:p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lineage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48856" y="4914900"/>
            <a:ext cx="118872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967728" y="4480560"/>
            <a:ext cx="150876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Set DQ rules</a:t>
            </a:r>
          </a:p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&amp; thresholds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76488" y="4914900"/>
            <a:ext cx="118872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595360" y="4480560"/>
            <a:ext cx="150876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Monitor</a:t>
            </a:r>
          </a:p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scores &amp; issues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104120" y="4914900"/>
            <a:ext cx="118872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222992" y="4480560"/>
            <a:ext cx="150876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Certify</a:t>
            </a:r>
          </a:p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annually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57784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57626B"/>
                </a:solidFill>
                <a:latin typeface="Calibri"/>
              </a:rPr>
              <a:t>Start from the reports and work backwards: a CDE list built from the Call Report and financial statements keeps the scope tight and focused on what regulators and auditors will test.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Governance for Reporting   ·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Example CDEs across the lending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Where each is created, and which reports depend on it.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666823"/>
              </p:ext>
            </p:extLst>
          </p:nvPr>
        </p:nvGraphicFramePr>
        <p:xfrm>
          <a:off x="457200" y="1325880"/>
          <a:ext cx="11274552" cy="4553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0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47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CDE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BUSINESS DEFINITION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CREATED IN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REPORTS THAT DEPEND ON IT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Principal balance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Unpaid principal owed on the loan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Servicing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Balance sheet, Call Report, C</a:t>
                      </a:r>
                      <a:r>
                        <a:rPr lang="en-US" sz="10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urrent </a:t>
                      </a:r>
                      <a:r>
                        <a:rPr sz="10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E</a:t>
                      </a:r>
                      <a:r>
                        <a:rPr lang="en-US" sz="10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xpected </a:t>
                      </a:r>
                      <a:r>
                        <a:rPr sz="10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  <a:r>
                        <a:rPr lang="en-US" sz="10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red </a:t>
                      </a:r>
                      <a:r>
                        <a:rPr sz="10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L</a:t>
                      </a:r>
                      <a:r>
                        <a:rPr lang="en-US" sz="10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oss</a:t>
                      </a:r>
                      <a:r>
                        <a:rPr sz="10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, FR Y-14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Accrued interest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Interest earned but not yet paid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Servicing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Balance sheet (A</a:t>
                      </a:r>
                      <a:r>
                        <a:rPr lang="en-US" sz="10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ccrued </a:t>
                      </a:r>
                      <a:r>
                        <a:rPr sz="10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  <a:r>
                        <a:rPr lang="en-US" sz="10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nt </a:t>
                      </a:r>
                      <a:r>
                        <a:rPr sz="10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R</a:t>
                      </a:r>
                      <a:r>
                        <a:rPr lang="en-US" sz="10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ec</a:t>
                      </a:r>
                      <a:r>
                        <a:rPr sz="10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), income, N</a:t>
                      </a:r>
                      <a:r>
                        <a:rPr lang="en-US" sz="10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et </a:t>
                      </a:r>
                      <a:r>
                        <a:rPr sz="10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  <a:r>
                        <a:rPr lang="en-US" sz="10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nt </a:t>
                      </a:r>
                      <a:r>
                        <a:rPr sz="10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M</a:t>
                      </a:r>
                      <a:r>
                        <a:rPr lang="en-US" sz="10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argin</a:t>
                      </a:r>
                      <a:endParaRPr sz="1000" b="0" i="0" dirty="0">
                        <a:solidFill>
                          <a:srgbClr val="57626B"/>
                        </a:solidFill>
                        <a:latin typeface="Calibri"/>
                      </a:endParaRP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 i="0" dirty="0">
                          <a:solidFill>
                            <a:srgbClr val="1A2130"/>
                          </a:solidFill>
                          <a:latin typeface="Calibri"/>
                        </a:rPr>
                        <a:t>Days past due (DPD)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Days since the oldest unpaid due 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Servicing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Past-due reporting, roll rates, CECL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Charge-off amount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Balance written off as uncollectible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Servicing / subledger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A</a:t>
                      </a:r>
                      <a:r>
                        <a:rPr lang="en-US" sz="10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llow for </a:t>
                      </a:r>
                      <a:r>
                        <a:rPr sz="10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  <a:r>
                        <a:rPr lang="en-US" sz="10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redit </a:t>
                      </a:r>
                      <a:r>
                        <a:rPr sz="10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L</a:t>
                      </a:r>
                      <a:r>
                        <a:rPr lang="en-US" sz="10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osses</a:t>
                      </a:r>
                      <a:r>
                        <a:rPr sz="10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 </a:t>
                      </a:r>
                      <a:r>
                        <a:rPr sz="1000" b="0" i="0" dirty="0" err="1">
                          <a:solidFill>
                            <a:srgbClr val="57626B"/>
                          </a:solidFill>
                          <a:latin typeface="Calibri"/>
                        </a:rPr>
                        <a:t>rollforward</a:t>
                      </a:r>
                      <a:r>
                        <a:rPr sz="10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, net charge-off rate, Call Report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Recovery amount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Cash collected after charge-off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Servicing / subledger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ACL, net charge-off rate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Origination date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Date the loan was funded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Origination / boarding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Vintage analysis, CECL, FR Y-14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APR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Annual cost of credit disclosed to borrower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Origination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TILA / Reg Z, pricing, fair lending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Credit score at origination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Bureau score used in the decision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Origination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Segmentation, CECL, fair lending, FR Y-14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Product code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How the loan is classified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Boarding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GL mapping and every reporting cut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GL account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Ledger account an event posts to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GL mapping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Financial statements, Call Report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1">
                <a:solidFill>
                  <a:srgbClr val="1A2130"/>
                </a:solidFill>
                <a:latin typeface="Calibri"/>
              </a:rPr>
              <a:t>Product code and GL account look like plumbing, but one wrong value mis-states every report downstream.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Governance for Reporting   ·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Data lineage — tracing a reported number back to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Example: a consumer loan balance on Call Report Schedule RC-C, traced back to the loan.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ourier New"/>
              </a:rPr>
              <a:t>HORIZONTAL LINEAGE (SYSTEM TO SYSTEM)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1313307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50" b="1" i="0">
                <a:solidFill>
                  <a:srgbClr val="1A2130"/>
                </a:solidFill>
                <a:latin typeface="Calibri"/>
              </a:rPr>
              <a:t>Origination</a:t>
            </a:r>
          </a:p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LOS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70507" y="2148840"/>
            <a:ext cx="109728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880235" y="1691640"/>
            <a:ext cx="1313307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50" b="1" i="0">
                <a:solidFill>
                  <a:srgbClr val="1A2130"/>
                </a:solidFill>
                <a:latin typeface="Calibri"/>
              </a:rPr>
              <a:t>Servicing</a:t>
            </a:r>
          </a:p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loan master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93541" y="2148840"/>
            <a:ext cx="109729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03270" y="1691640"/>
            <a:ext cx="1313307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50" b="1" i="0">
                <a:solidFill>
                  <a:srgbClr val="1A2130"/>
                </a:solidFill>
                <a:latin typeface="Calibri"/>
              </a:rPr>
              <a:t>Subledger</a:t>
            </a:r>
          </a:p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SUBLEDGER_TXN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616577" y="2148840"/>
            <a:ext cx="109728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726304" y="1691640"/>
            <a:ext cx="1313307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50" b="1" i="0">
                <a:solidFill>
                  <a:srgbClr val="1A2130"/>
                </a:solidFill>
                <a:latin typeface="Calibri"/>
              </a:rPr>
              <a:t>GL Mapping</a:t>
            </a:r>
          </a:p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txn code → acct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39612" y="2148840"/>
            <a:ext cx="109728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49340" y="1691640"/>
            <a:ext cx="1313307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50" b="1" i="0">
                <a:solidFill>
                  <a:srgbClr val="1A2130"/>
                </a:solidFill>
                <a:latin typeface="Calibri"/>
              </a:rPr>
              <a:t>General</a:t>
            </a:r>
          </a:p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Ledger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62646" y="2148840"/>
            <a:ext cx="109728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572375" y="1691640"/>
            <a:ext cx="1313307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50" b="1" i="0">
                <a:solidFill>
                  <a:srgbClr val="1A2130"/>
                </a:solidFill>
                <a:latin typeface="Calibri"/>
              </a:rPr>
              <a:t>EDW</a:t>
            </a:r>
          </a:p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curated layer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85682" y="2148840"/>
            <a:ext cx="109727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995409" y="1691640"/>
            <a:ext cx="1313307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50" b="1" i="0">
                <a:solidFill>
                  <a:srgbClr val="1A2130"/>
                </a:solidFill>
                <a:latin typeface="Calibri"/>
              </a:rPr>
              <a:t>Reg platform</a:t>
            </a:r>
          </a:p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report logic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308716" y="2148840"/>
            <a:ext cx="109728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418444" y="1691640"/>
            <a:ext cx="1313307" cy="91440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Call Report</a:t>
            </a:r>
          </a:p>
          <a:p>
            <a:pPr algn="ctr"/>
            <a:r>
              <a:rPr sz="950" b="0" i="0">
                <a:solidFill>
                  <a:srgbClr val="CADCEA"/>
                </a:solidFill>
                <a:latin typeface="Calibri"/>
              </a:rPr>
              <a:t>RC-C 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69748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1">
                <a:solidFill>
                  <a:srgbClr val="0E7C66"/>
                </a:solidFill>
                <a:latin typeface="Calibri"/>
              </a:rPr>
              <a:t>At every hop lineage records: system · table and column · transformation rule · owner · the control that checks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154680"/>
            <a:ext cx="3657600" cy="3154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TYPES OF LINEAGE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Business lineage: plain-language path for leaders and auditors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Technical lineage: column-level, harvested from code and ETL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Vertical lineage: glossary term → logical model → physical column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70248" y="3154680"/>
            <a:ext cx="3657600" cy="3154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WHAT IT IS USED FOR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Impact analysis before any change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Root cause of DQ breaks and recon differences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Exam and audit evidence on demand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Supporting executive report attestation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Meeting BCBS 239 data aggregation expectations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74152" y="3154680"/>
            <a:ext cx="3657600" cy="3154680"/>
          </a:xfrm>
          <a:prstGeom prst="roundRect">
            <a:avLst>
              <a:gd name="adj" fmla="val 10000"/>
            </a:avLst>
          </a:prstGeom>
          <a:solidFill>
            <a:srgbClr val="CADCEA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ARCHITECTURE PRINCIPLES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Harvest lineage automatically from pipelines and SQL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Carry journal and batch IDs end to end for drill-back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Link technical lineage to glossary terms and CDEs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Treat hand-built lineage diagrams as a stopgap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Governance for Reporting   ·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Data quality — the dimensions and what they mean in lending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Each CDE gets rules in the dimensions that matter for it, with a threshold for pass/fail.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134390"/>
              </p:ext>
            </p:extLst>
          </p:nvPr>
        </p:nvGraphicFramePr>
        <p:xfrm>
          <a:off x="457200" y="1325880"/>
          <a:ext cx="11274552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9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THE QUESTION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EXAMPLE RULE IN LENDING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2130"/>
                          </a:solidFill>
                          <a:latin typeface="Calibri"/>
                        </a:rPr>
                        <a:t>Completeness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Is the value there?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Every funded loan has an origination date and product code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2130"/>
                          </a:solidFill>
                          <a:latin typeface="Calibri"/>
                        </a:rPr>
                        <a:t>Validity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Does it follow the allowed format and values?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Product code exists in the approved product list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2130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Does it match the real world or the source?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Boarded note rate equals the rate on the signed loan agreement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2130"/>
                          </a:solidFill>
                          <a:latin typeface="Calibri"/>
                        </a:rPr>
                        <a:t>Consistency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Does it agree across systems?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D</a:t>
                      </a:r>
                      <a:r>
                        <a:rPr lang="en-US" sz="11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ays </a:t>
                      </a:r>
                      <a:r>
                        <a:rPr sz="11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P</a:t>
                      </a:r>
                      <a:r>
                        <a:rPr lang="en-US" sz="11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ast </a:t>
                      </a:r>
                      <a:r>
                        <a:rPr sz="11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D</a:t>
                      </a:r>
                      <a:r>
                        <a:rPr lang="en-US" sz="11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ue(DPD)</a:t>
                      </a:r>
                      <a:r>
                        <a:rPr sz="11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 in the data warehouse equals DPD in servicing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2130"/>
                          </a:solidFill>
                          <a:latin typeface="Calibri"/>
                        </a:rPr>
                        <a:t>Timeliness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Is it available when needed?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Servicing file lands before the 6 a.m. GL batch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2130"/>
                          </a:solidFill>
                          <a:latin typeface="Calibri"/>
                        </a:rPr>
                        <a:t>Uniqueness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Is each record there only once?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No duplicate loan numbers or duplicate payments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2130"/>
                          </a:solidFill>
                          <a:latin typeface="Calibri"/>
                        </a:rPr>
                        <a:t>Integrity / reconcilability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Do totals tie across hand-offs?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Subledger principal total = GL Loans Receivable balance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486400"/>
            <a:ext cx="1127455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Thresholds by criticality: </a:t>
            </a:r>
            <a:r>
              <a:rPr sz="1150" b="0" i="0">
                <a:solidFill>
                  <a:srgbClr val="57626B"/>
                </a:solidFill>
                <a:latin typeface="Calibri"/>
              </a:rPr>
              <a:t>a regulatory CDE may need 99.5%+ pass rates with same-day escalation, while a descriptive field can tolerate less. Set the threshold with the data owner, not in IT. (Figures illustrative.)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Governance for Reporting   ·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Data quality in the flow — and what happens when a check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Catch problems as early as possible; every failure becomes a tracked issue.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ourier New"/>
              </a:rPr>
              <a:t>WHERE CHECKS SIT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2715768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AT ORIGINATION</a:t>
            </a:r>
          </a:p>
          <a:p>
            <a:pPr algn="ctr"/>
            <a:r>
              <a:rPr sz="1050" b="1" i="1">
                <a:solidFill>
                  <a:srgbClr val="0E7C66"/>
                </a:solidFill>
                <a:latin typeface="Calibri"/>
              </a:rPr>
              <a:t>Preventive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Field validation, required fields, bureau data checks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72968" y="2308860"/>
            <a:ext cx="13716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310128" y="1691640"/>
            <a:ext cx="2715768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AT BOARDING</a:t>
            </a:r>
          </a:p>
          <a:p>
            <a:pPr algn="ctr"/>
            <a:r>
              <a:rPr sz="1050" b="1" i="1">
                <a:solidFill>
                  <a:srgbClr val="0E7C66"/>
                </a:solidFill>
                <a:latin typeface="Calibri"/>
              </a:rPr>
              <a:t>Preventive / detective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Boarding DQ rules, funded-vs-boarded count and $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25896" y="2308860"/>
            <a:ext cx="13716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63056" y="1691640"/>
            <a:ext cx="2715768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SUBLEDGER ↔ GL</a:t>
            </a:r>
          </a:p>
          <a:p>
            <a:pPr algn="ctr"/>
            <a:r>
              <a:rPr sz="1050" b="1" i="1">
                <a:solidFill>
                  <a:srgbClr val="0E7C66"/>
                </a:solidFill>
                <a:latin typeface="Calibri"/>
              </a:rPr>
              <a:t>Detective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Daily control-account reconciliation, suspense monitoring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878824" y="2308860"/>
            <a:ext cx="13716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015984" y="1691640"/>
            <a:ext cx="2715768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AT REPORTING</a:t>
            </a:r>
          </a:p>
          <a:p>
            <a:pPr algn="ctr"/>
            <a:r>
              <a:rPr sz="1050" b="1" i="1">
                <a:solidFill>
                  <a:srgbClr val="0E7C66"/>
                </a:solidFill>
                <a:latin typeface="Calibri"/>
              </a:rPr>
              <a:t>Detective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Period-over-period variance analysis, report-to-GL tie-out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ourier New"/>
              </a:rPr>
              <a:t>ISSUE MANAGEMENT LIFECYCLE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20440"/>
            <a:ext cx="15087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Detect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65960" y="3909060"/>
            <a:ext cx="118872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084832" y="3520440"/>
            <a:ext cx="15087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Log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93592" y="3909060"/>
            <a:ext cx="118872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712464" y="3520440"/>
            <a:ext cx="15087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Triage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severity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221224" y="3909060"/>
            <a:ext cx="118872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340096" y="3520440"/>
            <a:ext cx="15087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Root cause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48856" y="3909060"/>
            <a:ext cx="118872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967728" y="3520440"/>
            <a:ext cx="15087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Remediate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76488" y="3909060"/>
            <a:ext cx="118872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595360" y="3520440"/>
            <a:ext cx="15087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Validate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104120" y="3909060"/>
            <a:ext cx="118872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222992" y="3520440"/>
            <a:ext cx="15087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Close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with evidence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57200" y="4526280"/>
          <a:ext cx="10241280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SEVERITY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TRIAGE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TARGET FIX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Could misstate a filing or financial statement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Same day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Before next filing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Material CDE below threshold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2 days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30 days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Non-critical data or workaround in place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5 days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90 days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10881360" y="4526280"/>
            <a:ext cx="8686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7626B"/>
                </a:solidFill>
                <a:latin typeface="Calibri"/>
              </a:rPr>
              <a:t>SLAs are illustrative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Governance for Reporting   ·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Controls — how the bank proves the data is 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A control is only real if it has an owner, runs on a schedule, and leaves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ourier New"/>
              </a:rPr>
              <a:t>CONTROL TYPES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322326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PREVENTIVE · AUTOMATED</a:t>
            </a:r>
          </a:p>
          <a:p>
            <a:pPr algn="l"/>
            <a:r>
              <a:rPr sz="1050" b="1" i="1">
                <a:solidFill>
                  <a:srgbClr val="0E7C66"/>
                </a:solidFill>
                <a:latin typeface="Calibri"/>
              </a:rPr>
              <a:t>Stop bad data entering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System edit checks at origination; blocked posting of unmapped codes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17620" y="1691640"/>
            <a:ext cx="322326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DETECTIVE · AUTOMATED</a:t>
            </a:r>
          </a:p>
          <a:p>
            <a:pPr algn="l"/>
            <a:r>
              <a:rPr sz="1050" b="1" i="1">
                <a:solidFill>
                  <a:srgbClr val="0E7C66"/>
                </a:solidFill>
                <a:latin typeface="Calibri"/>
              </a:rPr>
              <a:t>Find it fast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Daily DQ rules; automated subledger-to-GL reconciliation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46120"/>
            <a:ext cx="322326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PREVENTIVE · MANUAL</a:t>
            </a:r>
          </a:p>
          <a:p>
            <a:pPr algn="l"/>
            <a:r>
              <a:rPr sz="1050" b="1" i="1">
                <a:solidFill>
                  <a:srgbClr val="0E7C66"/>
                </a:solidFill>
                <a:latin typeface="Calibri"/>
              </a:rPr>
              <a:t>Human approval first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Maker-checker on manual boarding and mapping changes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17620" y="3246120"/>
            <a:ext cx="322326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DETECTIVE · MANUAL</a:t>
            </a:r>
          </a:p>
          <a:p>
            <a:pPr algn="l"/>
            <a:r>
              <a:rPr sz="1050" b="1" i="1">
                <a:solidFill>
                  <a:srgbClr val="0E7C66"/>
                </a:solidFill>
                <a:latin typeface="Calibri"/>
              </a:rPr>
              <a:t>Human review after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Controller review of recon breaks; report variance sign-off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1371600"/>
            <a:ext cx="4462272" cy="3291840"/>
          </a:xfrm>
          <a:prstGeom prst="roundRect">
            <a:avLst>
              <a:gd name="adj" fmla="val 10000"/>
            </a:avLst>
          </a:prstGeom>
          <a:solidFill>
            <a:srgbClr val="CADCEA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WHAT MAKES A CONTROL AUDITABLE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Named control owner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Defined frequency (daily, monthly, per event)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Clear threshold or tolerance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Documented procedure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Retained evidence of each run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Review and sign-off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Tested by 2nd line and Internal Audit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455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Design goal: </a:t>
            </a:r>
            <a:r>
              <a:rPr sz="1150" b="0" i="0">
                <a:solidFill>
                  <a:srgbClr val="57626B"/>
                </a:solidFill>
                <a:latin typeface="Calibri"/>
              </a:rPr>
              <a:t>move controls up and to the left — preventive before detective, automated before manual. Manual detective controls are the most expensive and the least reliable.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7626B"/>
                </a:solidFill>
                <a:latin typeface="Calibri"/>
              </a:rPr>
              <a:t>For financial reporting data, key controls fall under SOX and are tested annually.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Governance for Reporting   ·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Key controls along the lending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One or more controls at every hand-off, each with an owner and evidence.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74550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HAND-OFF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CONTROL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Origination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Required-field and format edits; model output monitoring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Preventive · auto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Lending ops / model risk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Edit logs, model reports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Origination → Boarding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Funded vs. boarded reconciliation (count and $)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Detective · auto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Loan operations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Daily recon report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Boarding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Maker-checker on manual boards; boarding DQ rules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Preventive · manual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Loan operations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Approval trail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Servicing → Subledger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Transaction completeness (sent = received)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Detective · auto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Data engineering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Batch control totals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Subledger → GL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Control-account reconciliation; suspense clearing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Detective · auto + manual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Controllership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Signed reconciliation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GL Mapping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Approved change process for mapping tables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Preventive · manual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Controllership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Change tickets, approvals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GL → Reports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Report-to-GL tie-out; variance analysis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Detective · manual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Regulatory reporting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Tie-out workpapers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Reports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Executive certification and attestation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Detective · manual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CFO / report owners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57626B"/>
                          </a:solidFill>
                          <a:latin typeface="Calibri"/>
                        </a:rPr>
                        <a:t>Signed attestation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1">
                <a:solidFill>
                  <a:srgbClr val="1A2130"/>
                </a:solidFill>
                <a:latin typeface="Calibri"/>
              </a:rPr>
              <a:t>These are the control points behind the reconciliation chain in the companion data-flow deck: funded = boarded, subledger = GL, reports = GL.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Governance for Reporting   ·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KPI measurement — is governance actually working?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Measure coverage (is it set up?), quality (is the data good?) and control (are problems handled?).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74552" cy="4462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ILLUSTRATIVE TARGET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AUDIENCE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CDE ownership coverage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% of CDEs with a named owner, steward and definition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Governance council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DQ rule coverage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% of CDEs with active DQ rules and thresholds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100% of tier-1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Governance council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DQ score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% of records passing rules, per CDE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≥ 99.5% for tier-1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Owners, stewards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Lineage coverage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% of regulatory report lines with source-to-report lineage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100% for filings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CDO, reg reporting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Open issues by severity &amp; age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Count of open DQ issues, and how long they have been open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No critical &gt; 30 days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Owners, risk committee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Aged reconciliation breaks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Breaks open more than 30 days, by count and $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Zero material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Controllership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Manual adjustments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Count and $ of top-side entries without source support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Trending down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CFO, controllership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Data delivery timeliness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% of feeds delivered within SLA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≥ 98%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Data engineering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Findings open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Open audit and exam findings on data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Closed on schedule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Board / risk committee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57626B"/>
                </a:solidFill>
                <a:latin typeface="Calibri"/>
              </a:rPr>
              <a:t>Targets are illustrative; each bank sets its own through its governance council.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Governance for Reporting   ·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Reporting governance health — scorecard and forums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KPIs roll up from stewards to the board; each forum sees what it needs to act on.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58521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623560"/>
            <a:ext cx="5852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9A3324"/>
                </a:solidFill>
                <a:latin typeface="Calibri"/>
              </a:rPr>
              <a:t>Bars in red are below threshold and would each carry an open issue with an owner and a target date.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32588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ourier New"/>
              </a:rPr>
              <a:t>GOVERNANCE FORUMS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691640"/>
            <a:ext cx="514807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Steward working group</a:t>
            </a:r>
            <a:r>
              <a:rPr sz="1050" b="1" i="0">
                <a:solidFill>
                  <a:srgbClr val="0E7C66"/>
                </a:solidFill>
                <a:latin typeface="Calibri"/>
              </a:rPr>
              <a:t>   Weekly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DQ scores, new issues, rule changes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697480"/>
            <a:ext cx="514807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Data governance council</a:t>
            </a:r>
            <a:r>
              <a:rPr sz="1050" b="1" i="0">
                <a:solidFill>
                  <a:srgbClr val="0E7C66"/>
                </a:solidFill>
                <a:latin typeface="Calibri"/>
              </a:rPr>
              <a:t>   Monthly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KPI scorecard, escalations, CDE approvals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703320"/>
            <a:ext cx="514807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Executive / risk committee</a:t>
            </a:r>
            <a:r>
              <a:rPr sz="1050" b="1" i="0">
                <a:solidFill>
                  <a:srgbClr val="0E7C66"/>
                </a:solidFill>
                <a:latin typeface="Calibri"/>
              </a:rPr>
              <a:t>   Quarterly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Trends, material issues, findings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4709160"/>
            <a:ext cx="514807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Board</a:t>
            </a:r>
            <a:r>
              <a:rPr sz="1050" b="1" i="0">
                <a:solidFill>
                  <a:srgbClr val="0E7C66"/>
                </a:solidFill>
                <a:latin typeface="Calibri"/>
              </a:rPr>
              <a:t>   Annually or as needed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Data risk appetite, major remediation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5760720"/>
            <a:ext cx="51480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1">
                <a:solidFill>
                  <a:srgbClr val="1A2130"/>
                </a:solidFill>
                <a:latin typeface="Calibri"/>
              </a:rPr>
              <a:t>Escalation runs up the same path: steward → owner → council → committee.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Governance for Reporting   ·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Reference architecture — governance built into 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Data moves left to right; the governance and control services run across every layer.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2612898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SOURCES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Loan origination (LOS)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Servicing &amp; subledger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GL / ERP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Reference data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70098" y="2400300"/>
            <a:ext cx="274320" cy="0"/>
          </a:xfrm>
          <a:prstGeom prst="line">
            <a:avLst/>
          </a:prstGeom>
          <a:ln w="19050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344418" y="1325880"/>
            <a:ext cx="2612898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INGEST &amp; INTEGRATE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Batch and change-data capture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Schema and DQ checks at entry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Control totals per feed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57316" y="2400300"/>
            <a:ext cx="274320" cy="0"/>
          </a:xfrm>
          <a:prstGeom prst="line">
            <a:avLst/>
          </a:prstGeom>
          <a:ln w="19050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231636" y="1325880"/>
            <a:ext cx="2612898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DATA PLATFORM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Raw (bronze)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Curated / conformed (silver)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Certified reporting (gold)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844534" y="2400300"/>
            <a:ext cx="274320" cy="0"/>
          </a:xfrm>
          <a:prstGeom prst="line">
            <a:avLst/>
          </a:prstGeom>
          <a:ln w="19050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18854" y="1325880"/>
            <a:ext cx="2612898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CONSUMPTION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Regulatory reporting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Financial statements &amp; consolidation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CECL &amp; risk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BI &amp; management reporting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11880"/>
            <a:ext cx="11274552" cy="77724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GOVERNANCE SERVICES   </a:t>
            </a:r>
            <a:r>
              <a:rPr sz="1100" b="0" i="0">
                <a:solidFill>
                  <a:srgbClr val="CADCEA"/>
                </a:solidFill>
                <a:latin typeface="Calibri"/>
              </a:rPr>
              <a:t>Catalog &amp; glossary · Lineage harvesting · DQ monitoring · Reference data &amp; MDM · Access, privacy &amp; entitlements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80560"/>
            <a:ext cx="11274552" cy="777240"/>
          </a:xfrm>
          <a:prstGeom prst="roundRect">
            <a:avLst>
              <a:gd name="adj" fmla="val 10000"/>
            </a:avLst>
          </a:prstGeom>
          <a:solidFill>
            <a:srgbClr val="CADCEA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1A2130"/>
                </a:solidFill>
                <a:latin typeface="Calibri"/>
              </a:rPr>
              <a:t>CONTROL SERVICES   </a:t>
            </a:r>
            <a:r>
              <a:rPr sz="1100" b="0" i="0">
                <a:solidFill>
                  <a:srgbClr val="1A2130"/>
                </a:solidFill>
                <a:latin typeface="Calibri"/>
              </a:rPr>
              <a:t>Reconciliation · Issue management / GRC · Change management · Audit evidence retention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40680"/>
            <a:ext cx="112471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Principles: </a:t>
            </a:r>
            <a:r>
              <a:rPr sz="1150" b="0" i="0">
                <a:solidFill>
                  <a:srgbClr val="57626B"/>
                </a:solidFill>
                <a:latin typeface="Calibri"/>
              </a:rPr>
              <a:t>rules as code in the pipelines, not spreadsheets · only the certified (gold) layer feeds filings · lineage and DQ results are generated as the data runs · one source for product codes and GL mappings.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Governance for Reporting   ·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Systems and capabilities that support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What each capability does, typical tools, and who primarily runs it.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74552" cy="4553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EXAMPLE TOOLS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PRIMARY SUPPORT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Data catalog &amp; business glossary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Inventory of data and agreed definitions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Collibra, Alation, Informatica, Microsoft Purview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Data Governance Office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Metadata &amp; lineage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Harvests and shows source-to-report lineage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Collibra, Informatica, Solidatus, MANTA, Purview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Architecture / data engineering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Data quality monitoring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Runs DQ rules, scores CDEs, alerts on failure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Informatica DQ, Ataccama, Collibra DQ, dbt tests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Stewards + data engineering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Reference data &amp; MDM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One version of product codes, mappings, customers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Informatica MDM, Reltio, controlled mapping tables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Controllership + data engineering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Reconciliation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Matches and tracks breaks between systems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BlackLine, Trintech, Duco, SmartStream TLM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Controllership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Issue management / GRC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Logs issues, controls, testing and evidence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ServiceNow, Archer, MetricStream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DGO + risk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Access, privacy &amp; entitlements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Who can see what; masking of personal data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Purview, Immuta, Privacera, IAM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Information security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Regulatory reporting platform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Report logic with built-in drill-down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Axiom, Vermeg, Wolters Kluwer OneSumX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Regulatory reporting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Data platform &amp; certified layer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Stores and serves governed data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Snowflake, Databricks (Unity Catalog), Teradata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Data engineering / architecture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Governance dashboards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Publishes KPI scorecards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Power BI, Tableau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DGO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57626B"/>
                </a:solidFill>
                <a:latin typeface="Calibri"/>
              </a:rPr>
              <a:t>Tools are examples, not recommendations; most banks run a mix of vendor and in-house tools.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Governance for Reporting   ·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Who supports each capability — RACI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A = accountable (one per row) · R = responsible · C = consulted · I = informed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74552" cy="4425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5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DGO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Data
Owner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Steward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Data
Eng / IT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Architect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Controller-
ship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Reg
Reporting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2nd
Line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Internal
Audit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CDE inventory &amp; glossary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Data lineage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DQ rules &amp; monitoring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Issue management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Reference data &amp; GL mappings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Reconciliation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Access &amp; privacy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Regulatory report production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Governance KPIs &amp; scorecard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Change management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Independent assurance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1">
                <a:solidFill>
                  <a:srgbClr val="1A2130"/>
                </a:solidFill>
                <a:latin typeface="Calibri"/>
              </a:rPr>
              <a:t>Accountability sits with the business (Data Owner) wherever the question is “is the data right?” — technology is responsible for making it run.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Governance for Reporting   ·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Getting there — a phased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Start from the reports that carry the most risk, and automate as the framework matures.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75304" cy="73152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PHASE 1 · FOUNDATION</a:t>
            </a:r>
          </a:p>
          <a:p>
            <a:pPr algn="ctr"/>
            <a:r>
              <a:rPr sz="1150" b="0" i="0">
                <a:solidFill>
                  <a:srgbClr val="CADCEA"/>
                </a:solidFill>
                <a:latin typeface="Calibri"/>
              </a:rPr>
              <a:t>Months 0–6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575304" cy="3017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Data policy and governance council in place</a:t>
            </a:r>
          </a:p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Owners and stewards named for lending data</a:t>
            </a:r>
          </a:p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Tier-1 CDEs identified from the Call Report and financial statements</a:t>
            </a:r>
          </a:p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Glossary definitions approved</a:t>
            </a:r>
          </a:p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Baseline KPIs published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32504" y="1737360"/>
            <a:ext cx="274320" cy="0"/>
          </a:xfrm>
          <a:prstGeom prst="line">
            <a:avLst/>
          </a:prstGeom>
          <a:ln w="19050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06824" y="1371600"/>
            <a:ext cx="3575304" cy="73152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PHASE 2 · MEASURE &amp; TRACE</a:t>
            </a:r>
          </a:p>
          <a:p>
            <a:pPr algn="ctr"/>
            <a:r>
              <a:rPr sz="1150" b="0" i="0">
                <a:solidFill>
                  <a:srgbClr val="CADCEA"/>
                </a:solidFill>
                <a:latin typeface="Calibri"/>
              </a:rPr>
              <a:t>Months 6–18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2194560"/>
            <a:ext cx="3575304" cy="3017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DQ rules and thresholds live for tier-1 CDEs</a:t>
            </a:r>
          </a:p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Lineage documented source-to-report for filings</a:t>
            </a:r>
          </a:p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Issue management in the GRC tool with SLAs</a:t>
            </a:r>
          </a:p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Reconciliations standardized and tracked</a:t>
            </a:r>
          </a:p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Monthly scorecard to the council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82128" y="1737360"/>
            <a:ext cx="274320" cy="0"/>
          </a:xfrm>
          <a:prstGeom prst="line">
            <a:avLst/>
          </a:prstGeom>
          <a:ln w="19050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56448" y="1371600"/>
            <a:ext cx="3575304" cy="73152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PHASE 3 · AUTOMATE &amp; SUSTAIN</a:t>
            </a:r>
          </a:p>
          <a:p>
            <a:pPr algn="ctr"/>
            <a:r>
              <a:rPr sz="1150" b="0" i="0">
                <a:solidFill>
                  <a:srgbClr val="CADCEA"/>
                </a:solidFill>
                <a:latin typeface="Calibri"/>
              </a:rPr>
              <a:t>Months 18+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2194560"/>
            <a:ext cx="3575304" cy="3017520"/>
          </a:xfrm>
          <a:prstGeom prst="roundRect">
            <a:avLst>
              <a:gd name="adj" fmla="val 10000"/>
            </a:avLst>
          </a:prstGeom>
          <a:solidFill>
            <a:srgbClr val="CADCEA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100" b="0" i="0">
                <a:solidFill>
                  <a:srgbClr val="1A2130"/>
                </a:solidFill>
                <a:latin typeface="Calibri"/>
              </a:rPr>
              <a:t>• Lineage harvested automatically from pipelines</a:t>
            </a:r>
          </a:p>
          <a:p>
            <a:pPr algn="l"/>
            <a:r>
              <a:rPr sz="1100" b="0" i="0">
                <a:solidFill>
                  <a:srgbClr val="1A2130"/>
                </a:solidFill>
                <a:latin typeface="Calibri"/>
              </a:rPr>
              <a:t>• DQ rules as code in every pipeline</a:t>
            </a:r>
          </a:p>
          <a:p>
            <a:pPr algn="l"/>
            <a:r>
              <a:rPr sz="1100" b="0" i="0">
                <a:solidFill>
                  <a:srgbClr val="1A2130"/>
                </a:solidFill>
                <a:latin typeface="Calibri"/>
              </a:rPr>
              <a:t>• Certified (gold) layer is the only source for filings</a:t>
            </a:r>
          </a:p>
          <a:p>
            <a:pPr algn="l"/>
            <a:r>
              <a:rPr sz="1100" b="0" i="0">
                <a:solidFill>
                  <a:srgbClr val="1A2130"/>
                </a:solidFill>
                <a:latin typeface="Calibri"/>
              </a:rPr>
              <a:t>• Controls shifted to preventive and automated</a:t>
            </a:r>
          </a:p>
          <a:p>
            <a:pPr algn="l"/>
            <a:r>
              <a:rPr sz="1100" b="0" i="0">
                <a:solidFill>
                  <a:srgbClr val="1A2130"/>
                </a:solidFill>
                <a:latin typeface="Calibri"/>
              </a:rPr>
              <a:t>• Governance embedded in change and project delivery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40680"/>
            <a:ext cx="1127455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Timelines are illustrative. </a:t>
            </a:r>
            <a:r>
              <a:rPr sz="1150" b="0" i="0">
                <a:solidFill>
                  <a:srgbClr val="57626B"/>
                </a:solidFill>
                <a:latin typeface="Calibri"/>
              </a:rPr>
              <a:t>Scope each phase by risk: the Call Report and financial statement CDEs first, then CECL and FR Y-14, then management reporting.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Governance for Reporting   ·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02920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mbria"/>
              </a:rPr>
              <a:t>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3331464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FOR BUSINESS LEADERS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 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• You own the data in your domain — and the attestation depends on it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• Fund governance by risk: filings and financial statements first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• Ask for the scorecard, not anecdotes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28744" y="1371600"/>
            <a:ext cx="3331464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FOR DATA GOVERNANCE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 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• Build the CDE list backwards from the reports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• Every CDE: owner, definition, lineage, DQ rules, threshold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• Measure coverage, quality and control — and escalate on facts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43088" y="1371600"/>
            <a:ext cx="3331464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FOR ARCHITECTURE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 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• Harvest lineage; don't draw it by hand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• Put DQ rules and control totals in the pipelines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• Only the certified layer feeds regulatory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1">
                <a:solidFill>
                  <a:srgbClr val="CADCEA"/>
                </a:solidFill>
                <a:latin typeface="Calibri"/>
              </a:rPr>
              <a:t>Data governance turns the lending data flow into numbers an executive can sign: clear ownership, critical data defined, lineage traced, quality measured, and controls evidenced at every hand-off.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CADCEA"/>
                </a:solidFill>
                <a:latin typeface="Calibri"/>
              </a:rPr>
              <a:t>Consumer Lending: Data Governance for Reporting   ·  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3514</Words>
  <Application>Microsoft Office PowerPoint</Application>
  <PresentationFormat>Widescreen</PresentationFormat>
  <Paragraphs>685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 Franco</cp:lastModifiedBy>
  <cp:revision>2</cp:revision>
  <dcterms:created xsi:type="dcterms:W3CDTF">2013-01-27T09:14:16Z</dcterms:created>
  <dcterms:modified xsi:type="dcterms:W3CDTF">2026-09-24T17:23:34Z</dcterms:modified>
  <cp:category/>
</cp:coreProperties>
</file>