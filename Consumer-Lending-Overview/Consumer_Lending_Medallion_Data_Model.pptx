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mbria"/>
              </a:rPr>
              <a:t>Consumer Lending Medallion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CADCEA"/>
                </a:solidFill>
                <a:latin typeface="Cambria"/>
              </a:rPr>
              <a:t>Bronze → Silver → Gold: one reporting model combining the loan lifecycle and credit-exposure 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55848" y="29260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8A5A2B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urier New"/>
              </a:rPr>
              <a:t>BRONZE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01768" y="3154680"/>
            <a:ext cx="274320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276088" y="29260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urier New"/>
              </a:rPr>
              <a:t>SILVER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22007" y="3154680"/>
            <a:ext cx="274321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196328" y="29260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urier New"/>
              </a:rPr>
              <a:t>GOLD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CADCEA"/>
                </a:solidFill>
                <a:latin typeface="Calibri"/>
              </a:rPr>
              <a:t>Use cases · Sources · Two lenses, one model · E/R diagrams · Data dictionary · Lineage ·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89120"/>
            <a:ext cx="9418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FFFFFF"/>
                </a:solidFill>
                <a:latin typeface="Calibri"/>
              </a:rPr>
              <a:t>For senior business, data management and architecture professionals. Covers the loan lifecycle and credit exposure (facility, instrument, commitment, charge-off, allowance). An illustrative mock-up: names are representative of a mid-size US bank, not a specific production design.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How to use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Step through in order, or jump to the pages for your role. Every diagram has speaker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DECK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731520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3–6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91640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Context: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Use cases, sources, architecture, layer contract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731520" cy="38404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7–10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48840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Two lenses: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Exposure and lifecycle lenses; use-case breakout; mapping and naming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731520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06040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Reading the model: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Conventions and E/R notation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731520" cy="384048"/>
          </a:xfrm>
          <a:prstGeom prst="rect">
            <a:avLst/>
          </a:prstGeom>
          <a:solidFill>
            <a:srgbClr val="8A5A2B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063240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Bronze: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What lands, how, and at what grain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731520" cy="38404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13–17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520440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Silver: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Three E/R diagrams and the relationship catalog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77639"/>
            <a:ext cx="731520" cy="38404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18–21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77639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Gold: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Three star schemas and the bus matrix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731520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22–34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434840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Data dictionary: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Every column: type, key, definition, derivation, class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92040"/>
            <a:ext cx="731520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35–37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892040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Lineage: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Source-to-report, table-level and column-level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49240"/>
            <a:ext cx="731520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38–39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349240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Controls &amp; summary: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Checks per layer; takeaways by audience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806440"/>
            <a:ext cx="731520" cy="384048"/>
          </a:xfrm>
          <a:prstGeom prst="rect">
            <a:avLst/>
          </a:prstGeom>
          <a:solidFill>
            <a:srgbClr val="57626B"/>
          </a:solidFill>
          <a:ln w="12700">
            <a:solidFill>
              <a:srgbClr val="576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806440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Appendix: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Glossary of terms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3258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IF YOU ARE ...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691640"/>
            <a:ext cx="5330952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A senior business leader</a:t>
            </a:r>
          </a:p>
          <a:p>
            <a:pPr algn="l"/>
            <a:r>
              <a:rPr sz="1050" b="1" i="0">
                <a:solidFill>
                  <a:srgbClr val="9A3324"/>
                </a:solidFill>
                <a:latin typeface="Calibri"/>
              </a:rPr>
              <a:t>Pages 3, 4, 7–8, 35, 39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What questions the model answers, which lens each needs, where the data comes from, and how any number traces back.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154680"/>
            <a:ext cx="5330952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A data management professional</a:t>
            </a:r>
          </a:p>
          <a:p>
            <a:pPr algn="l"/>
            <a:r>
              <a:rPr sz="1050" b="1" i="0">
                <a:solidFill>
                  <a:srgbClr val="9A3324"/>
                </a:solidFill>
                <a:latin typeface="Calibri"/>
              </a:rPr>
              <a:t>Pages 9–11, 16–17, 22–34, 36–38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Naming rules, keys, definitions, data classes, lineage and checks.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617720"/>
            <a:ext cx="5330952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An architect</a:t>
            </a:r>
          </a:p>
          <a:p>
            <a:pPr algn="l"/>
            <a:r>
              <a:rPr sz="1050" b="1" i="0">
                <a:solidFill>
                  <a:srgbClr val="9A3324"/>
                </a:solidFill>
                <a:latin typeface="Calibri"/>
              </a:rPr>
              <a:t>Pages 5–6, 7–10, 13–21, 35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Layer contracts, how the exposure model maps in, the Silver model and the dimensional Gold design.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Reporting use cases this model supports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Ten business questions, each answered from a named Gold dataset and traceable to named source systems.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4551" cy="491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48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Use case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Business question answered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Primary users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Frequency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Gold datasets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Sources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Portfolio performance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How big is the book, how is it growing, and what does it earn?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CFO, Head of Consumer Lending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fact_loan_monthly_snapshot, dim_product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CORE, CARD, REF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Delinquency &amp; roll rates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How many loans are late, and how fast do they worsen or cure?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CRO, Credit Risk, Collections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Daily / Monthly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 snapshot + dim_delinquency_status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CORE, CARD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Credit losses &amp; CECL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What losses do we expect on funded and unfunded exposure; is the allowance adequate?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CRO, CFO, Finance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Monthly / Qtrly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fact_facility_monthly_snapshot, fact_loan_transaction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RSK, CORE, VAL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Exposure &amp; utilization (EAD)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How much is drawn, how much could still be drawn, and what is exposure at default?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CRO, Credit Risk, Treasury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fact_facility_monthly_snapshot + dim_facility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CORE, CARD, RSK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Call Report RC-C / RC-N / RC-L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Balances by loan type, past-due and nonaccrual amounts, unused commitments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Regulatory Reporting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Quarterly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 and facility snapshots + dim_facility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CORE, CARD, REF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HMDA &amp; fair lending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Are we lending fairly across groups and geographies (home-equity products)?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Compliance, Fair Lending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Qtrly / Annual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fact_application + dim_geography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LOS, MDM, CBR, VAL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Origination funnel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Where do applications come from; how many are approved and funded?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Lending Sales, Product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Daily / Weekly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fact_application + dim_channel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Vintage analysis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Do newer loans perform better or worse than older ones at the same age?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 Risk, Pricing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 snapshot + dim_account (vintage_qtr)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CORE, LOS, CBR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Collections effectiveness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Which delinquent loans cure, and which collection actions work?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Collections leadership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Daily / Weekly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 snapshot, fact_loan_transaction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COL, CORE, PAY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Subledger-to-GL tie-out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Do loan balances and both allowance accounts agree to the general ledger?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Controllership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Daily / Month-end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 and facility snapshots vs Silver gl_balance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CORE, RSK, GL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Where the data comes from: eleven source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Each source lands in Bronze on its own schedule. Codes (LOS, CORE, ...) are used throughout the deck.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4551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Source system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What it provides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Frequency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Bronze tables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LOS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 origination system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Applications, applicants, offers, decisions, adverse-action reasons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Database CDC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Every 15 min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brz_los_application, _applicant, _decision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CBR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 bureaus (via LOS)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 reports and scores for each pull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API response files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Per pull + monthly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brz_cbr_credit_report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MDM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Customer master (MDM)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Golden customer record, addresses, KYC status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Database CDC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Hourly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brz_mdm_party, brz_mdm_address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Core loan servicing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 facilities and limits, loan accounts, borrowers, schedules, daily balances, posted transactions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Nightly files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Daily (end of day)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brz_core_* (7): account, borrower, facility, commitment, schedule, balance, transaction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CARD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Card processing platform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Card accounts, credit lines and posted card transactions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Nightly files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brz_card_account, brz_card_transaction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PAY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Payments hub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ACH, debit-card and check payment receipts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Event stream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brz_pay_payment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COL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Collections platform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Cases, contact attempts, promises to pay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Nightly files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brz_col_case, brz_col_activity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Collateral valuation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Vehicle book values, AVMs / appraisals, lien records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API + files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At origination + monthly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brz_val_collateral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RSK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CECL / credit-risk engine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Facility PD, LGD, EAD and CCF; funded and unfunded allowance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File drop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Monthly (at close)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brz_rsk_cecl_result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GL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General ledger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Balances by GL account and cost center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Extract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Daily + month-end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brz_gl_balance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REF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Reference data hub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Product catalog, code sets, regulatory class map, DPD buckets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Governed upload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On approved change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brz_ref_product, brz_ref_code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Medallion 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Data gains structure, quality and business meaning at each layer. Each layer has a contract (next page).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057400" cy="56692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SOURCES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11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92807"/>
            <a:ext cx="2057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50" b="0" i="0">
                <a:solidFill>
                  <a:srgbClr val="1A2130"/>
                </a:solidFill>
                <a:latin typeface="Calibri"/>
              </a:rPr>
              <a:t>• Loan origination</a:t>
            </a:r>
          </a:p>
          <a:p>
            <a:pPr algn="l"/>
            <a:r>
              <a:rPr sz="950" b="0" i="0">
                <a:solidFill>
                  <a:srgbClr val="1A2130"/>
                </a:solidFill>
                <a:latin typeface="Calibri"/>
              </a:rPr>
              <a:t>• Credit bureaus</a:t>
            </a:r>
          </a:p>
          <a:p>
            <a:pPr algn="l"/>
            <a:r>
              <a:rPr sz="950" b="0" i="0">
                <a:solidFill>
                  <a:srgbClr val="1A2130"/>
                </a:solidFill>
                <a:latin typeface="Calibri"/>
              </a:rPr>
              <a:t>• Customer master</a:t>
            </a:r>
          </a:p>
          <a:p>
            <a:pPr algn="l"/>
            <a:r>
              <a:rPr sz="950" b="0" i="0">
                <a:solidFill>
                  <a:srgbClr val="1A2130"/>
                </a:solidFill>
                <a:latin typeface="Calibri"/>
              </a:rPr>
              <a:t>• Core servicing</a:t>
            </a:r>
          </a:p>
          <a:p>
            <a:pPr algn="l"/>
            <a:r>
              <a:rPr sz="950" b="0" i="0">
                <a:solidFill>
                  <a:srgbClr val="1A2130"/>
                </a:solidFill>
                <a:latin typeface="Calibri"/>
              </a:rPr>
              <a:t>• Card processing</a:t>
            </a:r>
          </a:p>
          <a:p>
            <a:pPr algn="l"/>
            <a:r>
              <a:rPr sz="950" b="0" i="0">
                <a:solidFill>
                  <a:srgbClr val="1A2130"/>
                </a:solidFill>
                <a:latin typeface="Calibri"/>
              </a:rPr>
              <a:t>• Payments hub</a:t>
            </a:r>
          </a:p>
          <a:p>
            <a:pPr algn="l"/>
            <a:r>
              <a:rPr sz="950" b="0" i="0">
                <a:solidFill>
                  <a:srgbClr val="1A2130"/>
                </a:solidFill>
                <a:latin typeface="Calibri"/>
              </a:rPr>
              <a:t>• Collections</a:t>
            </a:r>
          </a:p>
          <a:p>
            <a:pPr algn="l"/>
            <a:r>
              <a:rPr sz="950" b="0" i="0">
                <a:solidFill>
                  <a:srgbClr val="1A2130"/>
                </a:solidFill>
                <a:latin typeface="Calibri"/>
              </a:rPr>
              <a:t>• Collateral valuation</a:t>
            </a:r>
          </a:p>
          <a:p>
            <a:pPr algn="l"/>
            <a:r>
              <a:rPr sz="950" b="0" i="0">
                <a:solidFill>
                  <a:srgbClr val="1A2130"/>
                </a:solidFill>
                <a:latin typeface="Calibri"/>
              </a:rPr>
              <a:t>• CECL engine</a:t>
            </a:r>
          </a:p>
          <a:p>
            <a:pPr algn="l"/>
            <a:r>
              <a:rPr sz="950" b="0" i="0">
                <a:solidFill>
                  <a:srgbClr val="1A2130"/>
                </a:solidFill>
                <a:latin typeface="Calibri"/>
              </a:rPr>
              <a:t>• General ledger</a:t>
            </a:r>
          </a:p>
          <a:p>
            <a:pPr algn="l"/>
            <a:r>
              <a:rPr sz="950" b="0" i="0">
                <a:solidFill>
                  <a:srgbClr val="1A2130"/>
                </a:solidFill>
                <a:latin typeface="Calibri"/>
              </a:rPr>
              <a:t>• Reference 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14600" y="2990088"/>
            <a:ext cx="246888" cy="0"/>
          </a:xfrm>
          <a:prstGeom prst="line">
            <a:avLst/>
          </a:prstGeom>
          <a:ln w="22225">
            <a:solidFill>
              <a:srgbClr val="1A21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0624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1A2130"/>
                </a:solidFill>
                <a:latin typeface="Cambria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source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325880"/>
            <a:ext cx="2057400" cy="566928"/>
          </a:xfrm>
          <a:prstGeom prst="rect">
            <a:avLst/>
          </a:prstGeom>
          <a:solidFill>
            <a:srgbClr val="8A5A2B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BRONZE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Raw, as received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1488" y="1892807"/>
            <a:ext cx="2057400" cy="2194560"/>
          </a:xfrm>
          <a:prstGeom prst="rect">
            <a:avLst/>
          </a:prstGeom>
          <a:solidFill>
            <a:srgbClr val="F4EBE2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Exact copy of source; all fields kept as text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Append-only: every load retained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Ingestion metadata on every row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23 tables, prefix brz_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Restricted: holds raw PII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18888" y="2990088"/>
            <a:ext cx="246887" cy="0"/>
          </a:xfrm>
          <a:prstGeom prst="line">
            <a:avLst/>
          </a:prstGeom>
          <a:ln w="22225">
            <a:solidFill>
              <a:srgbClr val="1A21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61488" y="420624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8A5A2B"/>
                </a:solidFill>
                <a:latin typeface="Cambria"/>
              </a:rPr>
              <a:t>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466344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Bronze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1325880"/>
            <a:ext cx="2057400" cy="56692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SILVER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Cleansed &amp; conformed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65776" y="1892807"/>
            <a:ext cx="2057400" cy="2194560"/>
          </a:xfrm>
          <a:prstGeom prst="rect">
            <a:avLst/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Typed, validated, de-duplicated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Enterprise keys and code sets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One E/R model, lifecycle + exposure: 22 tables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SCD Type 2 history on key entities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PII tokenized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23176" y="2990088"/>
            <a:ext cx="246888" cy="0"/>
          </a:xfrm>
          <a:prstGeom prst="line">
            <a:avLst/>
          </a:prstGeom>
          <a:ln w="22225">
            <a:solidFill>
              <a:srgbClr val="1A21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65776" y="420624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5B6770"/>
                </a:solidFill>
                <a:latin typeface="Cambria"/>
              </a:rPr>
              <a:t>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466344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Silver tables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70064" y="1325880"/>
            <a:ext cx="2057400" cy="56692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GOLD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Business-ready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0064" y="1892807"/>
            <a:ext cx="2057400" cy="2194560"/>
          </a:xfrm>
          <a:prstGeom prst="rect">
            <a:avLst/>
          </a:prstGeom>
          <a:solidFill>
            <a:srgbClr val="F6EFDA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Star schemas for reporting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4 facts, 8 dimensions, 1 bridge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Certified measures and definitions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Conformed dimensions shared by all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Broad read access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27464" y="2990088"/>
            <a:ext cx="246888" cy="0"/>
          </a:xfrm>
          <a:prstGeom prst="line">
            <a:avLst/>
          </a:prstGeom>
          <a:ln w="22225">
            <a:solidFill>
              <a:srgbClr val="1A21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70064" y="420624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86650F"/>
                </a:solidFill>
                <a:latin typeface="Cambria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466344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Gold tables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74352" y="1325880"/>
            <a:ext cx="2057400" cy="56692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CONSUMPTION</a:t>
            </a:r>
          </a:p>
          <a:p>
            <a:pPr algn="ctr"/>
            <a:r>
              <a:rPr sz="1100" b="0" i="0">
                <a:solidFill>
                  <a:srgbClr val="CADCEA"/>
                </a:solidFill>
                <a:latin typeface="Calibri"/>
              </a:rPr>
              <a:t>Who uses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74352" y="1892807"/>
            <a:ext cx="2057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Power BI semantic model &amp; dashboards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Regulatory reporting (Call Report, HMDA)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CECL and finance close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Self-service SQL and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420624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1A2130"/>
                </a:solidFill>
                <a:latin typeface="Cambria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466344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reporting use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7492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CROSS-CUTTING SERVICES (EVERY LAYER)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94960"/>
            <a:ext cx="2681478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Catalog &amp; lineage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Every table, column and hop registered and searchable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21558" y="5394960"/>
            <a:ext cx="2681478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Data quality monitoring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Rules run at each layer; results scored and alerted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5916" y="5394960"/>
            <a:ext cx="2681478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Security &amp; privacy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Role-based access, PII tokenization, masking in Gold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0274" y="5394960"/>
            <a:ext cx="2681478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Orchestration &amp; SLAs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Dependencies, schedules, reruns and freshness targets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What each layer guarantees: the layer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The contract tells consumers what they can rely on, and tells engineers what they must deliver.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4552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BRONZE: raw</a:t>
                      </a:r>
                    </a:p>
                  </a:txBody>
                  <a:tcPr marL="64008" marR="64008" marT="27432" marB="27432" anchor="ctr">
                    <a:solidFill>
                      <a:srgbClr val="8A5A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SILVER: conformed</a:t>
                      </a:r>
                    </a:p>
                  </a:txBody>
                  <a:tcPr marL="64008" marR="64008" marT="27432" marB="27432" anchor="ctr">
                    <a:solidFill>
                      <a:srgbClr val="5B67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GOLD: business-ready</a:t>
                      </a:r>
                    </a:p>
                  </a:txBody>
                  <a:tcPr marL="64008" marR="64008" marT="27432" marB="27432" anchor="ctr">
                    <a:solidFill>
                      <a:srgbClr val="866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Land data exactly as received; enable replay and audit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Integrate, cleanse and conform into one enterprise view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Serve certified datasets for reporting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Modeling style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Source-shaped: mirrors each source file or table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Normalized entity-relationship model (about 3NF)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Dimensional star schemas: facts + dimensions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Grain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As delivered by the source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One row per business entity or event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Declared per fact, e.g., one row per loan per month-end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History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Append-only; every load kept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SCD Type 2 on key entities; daily balance history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Monthly snapshots; SCD Type 2 customer dimension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Keys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Source keys only, stored as text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Business keys enforced; PK and FK declared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Integer surrogate keys; business keys kept for lineage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Data quality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Completeness, schema drift, freshness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Validity, uniqueness, referential integrity, reconciliation to Bronze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Grain, key coverage, GL tie-out, variance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Restricted: raw PII, engineers only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PII tokenized; access by data domain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Broad read access; no direct identifiers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Main consumers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Data engineering, audit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Data science, downstream pipelines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Business users, regulatory reporting, Power BI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Two lenses on consumer lending data: exposure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The Consumer Credit Warehouse Schema brings the exposure lens; origination and servicing bring the lifecycle lens.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Exposure lens (Consumer Credit Warehouse Schema)</a:t>
                      </a:r>
                    </a:p>
                  </a:txBody>
                  <a:tcPr marL="64008" marR="64008" marT="27432" marB="27432" anchor="ctr">
                    <a:solidFill>
                      <a:srgbClr val="86650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Lifecycle lens (origination and servicing)</a:t>
                      </a:r>
                    </a:p>
                  </a:txBody>
                  <a:tcPr marL="64008" marR="64008" marT="27432" marB="27432" anchor="ctr">
                    <a:solidFill>
                      <a:srgbClr val="5B67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Main question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What are we exposed to, and what could we lose?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What happened to each application and loan, and how is it reported?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Built for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Credit risk, capital and CECL accounting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Origination-to-servicing operations and regulatory reporting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Anchor entity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Facility: the credit relationship and the PD/LGD unit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Loan account: the serviced loan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Products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Revolving and installment: card, HELOC, line of credit, BNPL, auto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Closed-end focus: auto, personal and home-equity loans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Unfunded exposure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Commitments, undrawn limits, CCF and EAD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Not its focus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CECL allowance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Funded (contra-asset) and unfunded (liability)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Funded allowance, loan by loan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Origination and servicing detail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Not its focus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Applications, bureau pulls, decisions, daily balances, collections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Typical owners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Credit risk, finance and capital planning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Lending operations, servicing and regulatory reporting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44068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00" b="1" i="0">
                <a:solidFill>
                  <a:srgbClr val="1A2130"/>
                </a:solidFill>
                <a:latin typeface="Calibri"/>
              </a:rPr>
              <a:t>Both are needed: they serve different use cases. </a:t>
            </a:r>
            <a:r>
              <a:rPr sz="1100" b="0" i="0">
                <a:solidFill>
                  <a:srgbClr val="57626B"/>
                </a:solidFill>
                <a:latin typeface="Calibri"/>
              </a:rPr>
              <a:t>This model combines them in one Silver layer, so exposure and lifecycle reporting share one set of keys and one definition of balance and allowance. Next page: which lens each use case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Use-case breakout: which lens serves which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Most use cases need the lifecycle lens, exposure use cases need the facility lens, and several need both.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455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9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Use case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Lens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Silver entities it depends on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Portfolio performance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loan_account, loan_balance_daily, credit_facility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Balances come from loans; product and risk segment from the facility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Delinquency &amp; roll rates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B6770"/>
                          </a:solidFill>
                          <a:latin typeface="Calibri"/>
                        </a:rPr>
                        <a:t>Lifecycle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loan_balance_daily, payment_schedule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Days past due is a loan-servicing measure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Credit losses &amp; CECL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credit_allowance, facility_risk_monthly, loan_chargeoff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Unfunded allowance needs commitments; losses happen on loans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Exposure &amp; utilization (EAD)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86650F"/>
                          </a:solidFill>
                          <a:latin typeface="Calibri"/>
                        </a:rPr>
                        <a:t>Exposure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credit_commitment, credit_facility, loan_balance_daily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EAD = funded balance + undrawn limit × CCF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Call Report RC-C / RC-N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B6770"/>
                          </a:solidFill>
                          <a:latin typeface="Calibri"/>
                        </a:rPr>
                        <a:t>Lifecycle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loan_balance_daily, credit_facility (regulatory class)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Balances and past-due amounts by loan type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Call Report RC-L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86650F"/>
                          </a:solidFill>
                          <a:latin typeface="Calibri"/>
                        </a:rPr>
                        <a:t>Exposure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credit_commitment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Unused commitments are undrawn limits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HMDA &amp; fair lending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B6770"/>
                          </a:solidFill>
                          <a:latin typeface="Calibri"/>
                        </a:rPr>
                        <a:t>Lifecycle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application, underwriting_decision, collateral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Built from applications, decisions and property location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Origination funnel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B6770"/>
                          </a:solidFill>
                          <a:latin typeface="Calibri"/>
                        </a:rPr>
                        <a:t>Lifecycle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application, underwriting_decision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 and decision events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Vintage analysis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B6770"/>
                          </a:solidFill>
                          <a:latin typeface="Calibri"/>
                        </a:rPr>
                        <a:t>Lifecycle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loan_account, credit_report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Performance by origination cohort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Collections effectiveness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B6770"/>
                          </a:solidFill>
                          <a:latin typeface="Calibri"/>
                        </a:rPr>
                        <a:t>Lifecycle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collections_case, loan_transaction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Cases, and payments after delinquency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Subledger-to-GL tie-out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loan_balance_daily, credit_allowance, gl_balance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Loan balances and both allowance accounts tie to the GL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16752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B6770"/>
                </a:solidFill>
                <a:latin typeface="Calibri"/>
              </a:rPr>
              <a:t>Lifecycle</a:t>
            </a:r>
            <a:r>
              <a:rPr sz="1000" b="0" i="0">
                <a:solidFill>
                  <a:srgbClr val="57626B"/>
                </a:solidFill>
                <a:latin typeface="Calibri"/>
              </a:rPr>
              <a:t> = origination and servicing entities.   </a:t>
            </a:r>
            <a:r>
              <a:rPr sz="1000" b="1" i="0">
                <a:solidFill>
                  <a:srgbClr val="86650F"/>
                </a:solidFill>
                <a:latin typeface="Calibri"/>
              </a:rPr>
              <a:t>Exposure</a:t>
            </a:r>
            <a:r>
              <a:rPr sz="1000" b="0" i="0">
                <a:solidFill>
                  <a:srgbClr val="57626B"/>
                </a:solidFill>
                <a:latin typeface="Calibri"/>
              </a:rPr>
              <a:t> = facility, commitment and allowance entities.   </a:t>
            </a:r>
            <a:r>
              <a:rPr sz="1000" b="1" i="0">
                <a:solidFill>
                  <a:srgbClr val="1A2130"/>
                </a:solidFill>
                <a:latin typeface="Calibri"/>
              </a:rPr>
              <a:t>Both</a:t>
            </a:r>
            <a:r>
              <a:rPr sz="1000" b="0" i="0">
                <a:solidFill>
                  <a:srgbClr val="57626B"/>
                </a:solidFill>
                <a:latin typeface="Calibri"/>
              </a:rPr>
              <a:t> = needs each. Call Report is split because RC-L needs the exposure lens.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How the warehouse schema maps into the medallion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Every warehouse table has exactly one home in Silver, with the naming and design decisions applied.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3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Warehouse table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Medallion table(s)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Harmonization decisions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party, party_address, credit_report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Address moved to party_address (keeps history); SSN tokenized; Credit_Score moved to credit_report and Income to application, because both change over time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Facility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Kept as the credit-risk anchor; its Customer_ID and Collateral_ID FKs became bridges (facility_party, facility_collateral) because obligors and collateral can be many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Instrument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credit_instrument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1:1 with the facility (unique facility_id); its Regulatory_Class removed so the class has one home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Commitment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credit_commitment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Current_Flag → is_current; CCF → ccf_pct; Limit_Amount → limit_amt; one current version per facility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Loan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loan_account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Loan_Amount → original_principal_amt; Loan_Type → loan_type_cd; Outstanding_Balance lives in loan_balance_daily; Chargeoff_Flag derived from account_status_cd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Transaction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loan_transaction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Transaction_Type → txn_type_cd (PMT, INT, FEE, CO, RECOV); Transaction_Date → posted_dt; Amount → txn_amt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Chargeoff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loan_chargeoff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Keeps only loan_id (the facility is reached through the loan); linked 1:1 to its charge-off transaction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Allowance (CECL)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credit_allowance, facility_risk_monthly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Funded rows key loan_id, unfunded rows key commitment_id; PD, LGD and EAD kept per facility per month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Collateral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collateral, facility_collateral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Appraised_Value → valuation_amt with its method; LTV derived in Gold; property census tract added for HMDA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Product_Type → product_type_cd; Regulatory_Class → default_regulatory_class_cd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Naming and metadata harmonization: one name, one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Rules applied so the combined model has consistent names and no overlapping attributes.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it resolved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One naming style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Warehouse Title_Case names converted to snake_case with standard suffixes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Facility_ID → facility_id; Limit_Amount → limit_amt; CCF → ccf_pct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Keys named &lt;entity&gt;_id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Short entity name in keys, matching loan_account.loan_id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credit_facility.facility_id; credit_commitment.commitment_id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One home per attribute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Regulatory class appeared on Facility, Instrument and Product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credit_facility.regulatory_class_cd, defaulted from product.default_regulatory_class_cd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No derivable duplicates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Values that can be computed are not stored twice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Chargeoff_Flag, LTV and Chargeoff.Facility_ID removed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History in history tables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Values that change over time moved out of master records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Credit_Score → credit_report; Outstanding_Balance → loan_balance_daily; Income → application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Bridges where reality is many-to-many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Single FKs that could not hold joint obligors or shared collateral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facility_party and facility_collateral replace Facility.Customer_ID and Collateral_ID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Relationships at the facility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Borrowers, collateral and risk belong to the credit relationship, not to each draw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facility_party, facility_collateral, facility_risk_monthly, credit_allowance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Flags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Two warehouse styles (Current_Flag, Chargeoff_Flag)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is_ for record state (is_current); _flag for business indicators (secured_flag)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715000"/>
            <a:ext cx="1127455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Result: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22 Silver tables with every attribute stored once. The relationship catalog (pages 16–17) lists every key.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How to read the model: conventions and E/R 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The same conventions apply on every diagram and in every data dictionary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MODELING CONVENTIONS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571500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Convention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Naming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Bronze brz_&lt;source&gt;_&lt;object&gt;; Silver singular business names (credit_ prefix for exposure entities); Gold dim_ / fact_ / bridge_; all snake_case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Keys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Silver PK = &lt;entity&gt;_id business key (or composite); Gold *_sk integer surrogate; -1 = unknown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Dates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*_dt = DATE; *_ts = TIMESTAMP in UTC; Gold date_key = INT yyyymmdd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Amounts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*_amt = DECIMAL(18,2) in USD; *_pct and rates = DECIMAL(9,6)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Codes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*_cd values validated against REF code sets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Flags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is_* = record state (is_current); *_flag = business indicator (secured_flag)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History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SCD Type 2 tables carry eff_start / eff_end and is_current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_ingest_ts, _batch_id, _source_system carried from Bronze into Silver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PII = personal data · Conf = confidential · Int = internal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132588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E/R NOTATION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691640"/>
            <a:ext cx="228600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table_name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984248"/>
            <a:ext cx="22860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47103" y="202082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6872" y="2020824"/>
            <a:ext cx="17647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primary_key_id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3" y="22037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2" y="2203704"/>
            <a:ext cx="17647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parent_id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23865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PK,FK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2386584"/>
            <a:ext cx="17647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part_of_key_and_fk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3" y="25694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57626B"/>
                </a:solidFill>
                <a:latin typeface="Courier New"/>
              </a:rPr>
              <a:t>UQ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2569464"/>
            <a:ext cx="17647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unique_attribute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2752344"/>
            <a:ext cx="17647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ordinary_attribute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691640"/>
            <a:ext cx="272491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1A2130"/>
                </a:solidFill>
                <a:latin typeface="Calibri"/>
              </a:rPr>
              <a:t>Header color = layer: </a:t>
            </a:r>
            <a:r>
              <a:rPr sz="1000" b="0" i="0">
                <a:solidFill>
                  <a:srgbClr val="57626B"/>
                </a:solidFill>
                <a:latin typeface="Calibri"/>
              </a:rPr>
              <a:t>bronze, silver, gold.</a:t>
            </a:r>
          </a:p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1A2130"/>
                </a:solidFill>
                <a:latin typeface="Calibri"/>
              </a:rPr>
              <a:t>Key tag </a:t>
            </a:r>
            <a:r>
              <a:rPr sz="1000" b="0" i="0">
                <a:solidFill>
                  <a:srgbClr val="57626B"/>
                </a:solidFill>
                <a:latin typeface="Calibri"/>
              </a:rPr>
              <a:t>left of each column. Red = part of the primary key; green = foreign key.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246120"/>
            <a:ext cx="502920" cy="329184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3246120"/>
            <a:ext cx="502920" cy="329184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95160" y="3410712"/>
            <a:ext cx="1188719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31736" y="3209544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1544" y="3209544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218688"/>
            <a:ext cx="28620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One-to-many: </a:t>
            </a:r>
            <a:r>
              <a:rPr sz="1000" b="0" i="0">
                <a:solidFill>
                  <a:srgbClr val="57626B"/>
                </a:solidFill>
                <a:latin typeface="Calibri"/>
              </a:rPr>
              <a:t>a customer has many addresses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813048"/>
            <a:ext cx="502920" cy="329184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3813048"/>
            <a:ext cx="502920" cy="329184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95160" y="3977639"/>
            <a:ext cx="1188719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031736" y="377647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1544" y="377647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785615"/>
            <a:ext cx="28620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One-to-one: </a:t>
            </a:r>
            <a:r>
              <a:rPr sz="1000" b="0" i="0">
                <a:solidFill>
                  <a:srgbClr val="57626B"/>
                </a:solidFill>
                <a:latin typeface="Calibri"/>
              </a:rPr>
              <a:t>a facility has exactly one instrument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379976"/>
            <a:ext cx="502920" cy="329184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4379976"/>
            <a:ext cx="502920" cy="329184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95160" y="4544568"/>
            <a:ext cx="1188719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031736" y="434340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81544" y="434340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0..1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4352544"/>
            <a:ext cx="28620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One-to-zero-or-one: </a:t>
            </a:r>
            <a:r>
              <a:rPr sz="1000" b="0" i="0">
                <a:solidFill>
                  <a:srgbClr val="57626B"/>
                </a:solidFill>
                <a:latin typeface="Calibri"/>
              </a:rPr>
              <a:t>an application opens at most one facility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946904"/>
            <a:ext cx="502920" cy="329184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79" y="4946904"/>
            <a:ext cx="502920" cy="329184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995160" y="5111496"/>
            <a:ext cx="1188719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031736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81544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919472"/>
            <a:ext cx="28620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Many-to-many: </a:t>
            </a:r>
            <a:r>
              <a:rPr sz="1000" b="0" i="0">
                <a:solidFill>
                  <a:srgbClr val="57626B"/>
                </a:solidFill>
                <a:latin typeface="Calibri"/>
              </a:rPr>
              <a:t>never drawn directly: resolved by a bridge table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5577840"/>
            <a:ext cx="5239512" cy="685800"/>
          </a:xfrm>
          <a:prstGeom prst="roundRect">
            <a:avLst>
              <a:gd name="adj" fmla="val 10000"/>
            </a:avLst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M:M resolved: </a:t>
            </a:r>
            <a:r>
              <a:rPr sz="1000" b="0" i="0">
                <a:solidFill>
                  <a:srgbClr val="57626B"/>
                </a:solidFill>
                <a:latin typeface="Calibri"/>
              </a:rPr>
              <a:t>A 1—M  bridge  M—1 B. The bridge’s primary key is the pair of foreign keys (PK,FK).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Bronze layer: what lands, how, and at what grain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23 source-shaped tables. Nothing is changed or dropped; every row carries ingestion metadata (page 22).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16152"/>
          <a:ext cx="11274552" cy="5069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Bronze table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Source · object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Load pattern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Grain as received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Feeds Silver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brz_los_application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 · APPLICATION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CDC, append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 change event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brz_los_applicant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 · APPLICANT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CDC, append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Applicant on an application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application_party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brz_los_decision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 · UW_DECISION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CDC, append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Every decision event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underwriting_decision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brz_cbr_credit_report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CBR · bureau response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File, append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One bureau pull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credit_report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brz_mdm_party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MDM · PARTY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CDC, append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Customer change event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party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brz_mdm_address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MDM · ADDRESS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CDC, append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Address change event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party_address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brz_core_facility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· FACILITY file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Nightly full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 facility per business day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credit_facility, credit_instrument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brz_core_commitment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· LIMIT file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Nightly, append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Limit change event (commitment version)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credit_commitment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brz_core_account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· ACCT file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Nightly full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 account per business day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loan_account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brz_core_borrower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· BORR file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Nightly full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Obligor-to-facility link per day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facility_party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brz_core_schedule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· SCHED file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Nightly full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Installment per business day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payment_schedule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brz_core_balance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· EOD balance file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Nightly, append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 balance per business day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loan_balance_daily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brz_core_transaction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· TRAN file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Nightly, append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Posted transaction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loan_transaction, loan_chargeoff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brz_card_account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CARD · account file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Nightly full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Card account and credit line per day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credit_facility, _commitment, loan_account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brz_card_transaction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CARD · posted transactions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Nightly, append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Posted card transaction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loan_transaction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brz_pay_payment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PAY · payment events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Stream, append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Payment event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loan_transaction (link)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brz_col_case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COL · CASE file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Nightly full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Case per business day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collections_case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brz_col_activity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COL · ACTIVITY file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Nightly, append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Contact attempt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collections_case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brz_val_collateral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VAL · valuation + lien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File, append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Valuation or lien record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collateral, facility_collateral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brz_rsk_cecl_result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RSK · model output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Monthly, append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Facility or loan per model run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facility_risk_monthly, credit_allowance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brz_gl_balance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GL · trial balance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Daily, append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GL account × cost center × day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gl_balance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brz_ref_product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REF · product catalog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On change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Product version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brz_ref_code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REF · code sets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On change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Code value version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code validation (all)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Silver E/R model (1 of 3): Party and Origination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Who the customer is, what they applied for, what the bureau said, and what the bank decided.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party_address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18488"/>
            <a:ext cx="1920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6550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address_id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837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8379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party_id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0208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address_type_cd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2037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state_cd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3865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census_tract_cd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32588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party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1618488"/>
            <a:ext cx="1920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43784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16550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party_id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3784" y="1837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57626B"/>
                </a:solidFill>
                <a:latin typeface="Courier New"/>
              </a:rPr>
              <a:t>UQ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18379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tax_id_token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3552" y="20208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first_name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22037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last_name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3552" y="23865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birth_dt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3552" y="25694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kyc_status_cd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3552" y="27523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party_status_cd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29352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is_current (SCD2)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132588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application_party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1618488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75503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PK,FK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5272" y="16550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application_id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75503" y="1837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PK,FK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05272" y="18379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party_id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20208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applicant_role_cd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132588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application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52360" y="1618488"/>
            <a:ext cx="1920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07224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36992" y="16550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application_id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7224" y="1837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6992" y="18379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product_id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36992" y="20208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channel_cd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2037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application_dt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36992" y="23865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requested_amt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36992" y="25694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stated_income_amt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36992" y="27523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dti_ratio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36992" y="29352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application_status_cd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84080" y="132588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underwriting_decision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4080" y="1618488"/>
            <a:ext cx="1920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838944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68711" y="16550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decision_id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38944" y="1837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FK,UQ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68711" y="18379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application_id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68711" y="20208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decision_cd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68711" y="22037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decision_ts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68711" y="23865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approved_amt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68711" y="25694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adverse_action_cd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416052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credit_report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20640" y="4453128"/>
            <a:ext cx="1920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175503" y="44897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05272" y="44897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credit_report_id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75503" y="46725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05272" y="46725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party_id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75503" y="48554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05272" y="48554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application_id (opt.)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05272" y="50383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bureau_cd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05272" y="52212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pull_dt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05272" y="54041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fico_score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52360" y="416052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product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52360" y="4453128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507224" y="44897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36992" y="44897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product_id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36992" y="46725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product_type_cd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25512" y="4855464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1">
                <a:solidFill>
                  <a:srgbClr val="57626B"/>
                </a:solidFill>
                <a:latin typeface="Calibri"/>
              </a:rPr>
              <a:t>full detail: page 27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784080" y="416052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credit_facility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784080" y="4453128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838944" y="44897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68711" y="44897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facility_id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38944" y="46725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FK,UQ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68711" y="46725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application_id (opt.)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57232" y="4855464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1">
                <a:solidFill>
                  <a:srgbClr val="57626B"/>
                </a:solidFill>
                <a:latin typeface="Calibri"/>
              </a:rPr>
              <a:t>full detail: page 15</a:t>
            </a:r>
          </a:p>
        </p:txBody>
      </p:sp>
      <p:cxnSp>
        <p:nvCxnSpPr>
          <p:cNvPr id="79" name="Connector 78"/>
          <p:cNvCxnSpPr/>
          <p:nvPr/>
        </p:nvCxnSpPr>
        <p:spPr>
          <a:xfrm flipH="1">
            <a:off x="2377440" y="1783080"/>
            <a:ext cx="41148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386584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414016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4709160" y="1783080"/>
            <a:ext cx="41148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745736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18303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85" name="Connector 84"/>
          <p:cNvCxnSpPr/>
          <p:nvPr/>
        </p:nvCxnSpPr>
        <p:spPr>
          <a:xfrm flipH="1">
            <a:off x="7040879" y="1783080"/>
            <a:ext cx="411481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7050024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77455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9372600" y="1783080"/>
            <a:ext cx="41148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9409176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381744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3749039" y="3154680"/>
            <a:ext cx="0" cy="146304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749039" y="4617720"/>
            <a:ext cx="1371601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3794759" y="317296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718303" y="44165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772400" y="3154680"/>
            <a:ext cx="0" cy="68580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6675120" y="3840480"/>
            <a:ext cx="109728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675120" y="3840480"/>
            <a:ext cx="0" cy="32004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7818120" y="317296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720840" y="39593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8412480" y="3154680"/>
            <a:ext cx="0" cy="100584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8458200" y="317296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58200" y="39593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9144000" y="3154680"/>
            <a:ext cx="0" cy="50292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144000" y="3657600"/>
            <a:ext cx="160020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0744200" y="3657600"/>
            <a:ext cx="0" cy="50292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9189720" y="317296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789920" y="39593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0..1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57200" y="4160520"/>
            <a:ext cx="2926080" cy="1325880"/>
          </a:xfrm>
          <a:prstGeom prst="roundRect">
            <a:avLst>
              <a:gd name="adj" fmla="val 10000"/>
            </a:avLst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50" b="1" i="0">
                <a:solidFill>
                  <a:srgbClr val="1A2130"/>
                </a:solidFill>
                <a:latin typeface="Calibri"/>
              </a:rPr>
              <a:t>Reading this page</a:t>
            </a:r>
          </a:p>
          <a:p>
            <a:pPr algn="l"/>
            <a:r>
              <a:rPr sz="950" b="1" i="0">
                <a:solidFill>
                  <a:srgbClr val="9A3324"/>
                </a:solidFill>
                <a:latin typeface="Calibri"/>
              </a:rPr>
              <a:t>M:M </a:t>
            </a:r>
            <a:r>
              <a:rPr sz="950" b="0" i="0">
                <a:solidFill>
                  <a:srgbClr val="57626B"/>
                </a:solidFill>
                <a:latin typeface="Calibri"/>
              </a:rPr>
              <a:t>customer ↔ application, resolved by application_party (joint and repeat applicants).</a:t>
            </a:r>
          </a:p>
          <a:p>
            <a:pPr algn="l"/>
            <a:r>
              <a:rPr sz="950" b="1" i="0">
                <a:solidFill>
                  <a:srgbClr val="9A3324"/>
                </a:solidFill>
                <a:latin typeface="Calibri"/>
              </a:rPr>
              <a:t>1:1 </a:t>
            </a:r>
            <a:r>
              <a:rPr sz="950" b="0" i="0">
                <a:solidFill>
                  <a:srgbClr val="57626B"/>
                </a:solidFill>
                <a:latin typeface="Calibri"/>
              </a:rPr>
              <a:t>application → final decision (UQ on the FK).</a:t>
            </a:r>
          </a:p>
          <a:p>
            <a:pPr algn="l"/>
            <a:r>
              <a:rPr sz="950" b="1" i="0">
                <a:solidFill>
                  <a:srgbClr val="9A3324"/>
                </a:solidFill>
                <a:latin typeface="Calibri"/>
              </a:rPr>
              <a:t>1:0..1 </a:t>
            </a:r>
            <a:r>
              <a:rPr sz="950" b="0" i="0">
                <a:solidFill>
                  <a:srgbClr val="57626B"/>
                </a:solidFill>
                <a:latin typeface="Calibri"/>
              </a:rPr>
              <a:t>an approved application opens at most one credit facility.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6163056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Keys: </a:t>
            </a:r>
            <a:r>
              <a:rPr sz="900" b="0" i="0">
                <a:solidFill>
                  <a:srgbClr val="57626B"/>
                </a:solidFill>
                <a:latin typeface="Calibri"/>
              </a:rPr>
              <a:t>PK primary · FK foreign · UQ unique · NK natural (business) key · DD degenerate dimension.   </a:t>
            </a:r>
            <a:r>
              <a:rPr sz="900" b="1" i="0">
                <a:solidFill>
                  <a:srgbClr val="1A2130"/>
                </a:solidFill>
                <a:latin typeface="Calibri"/>
              </a:rPr>
              <a:t>Cardinality </a:t>
            </a:r>
            <a:r>
              <a:rPr sz="900" b="0" i="0">
                <a:solidFill>
                  <a:srgbClr val="57626B"/>
                </a:solidFill>
                <a:latin typeface="Calibri"/>
              </a:rPr>
              <a:t>is printed at each end of a line: 1 = exactly one · 0..1 = zero or one · M = many.   Full column list and data types: data dictionary.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Silver E/R model (2 of 3): Loan account and servicing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Each loan account is a funded draw under a credit facility. Every servicing record hangs off the loan.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credit_facility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1848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6550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facility_id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837944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1">
                <a:solidFill>
                  <a:srgbClr val="57626B"/>
                </a:solidFill>
                <a:latin typeface="Calibri"/>
              </a:rPr>
              <a:t>full detail: page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32588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credit_commitment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618488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43784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16550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commitment_id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3784" y="1837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18379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facility_id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2020824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1">
                <a:solidFill>
                  <a:srgbClr val="57626B"/>
                </a:solidFill>
                <a:latin typeface="Calibri"/>
              </a:rPr>
              <a:t>full detail: page 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32588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loan_account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618488"/>
            <a:ext cx="1920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75503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5272" y="16550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loan_id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3" y="1837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5272" y="18379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facility_id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503" y="202082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5272" y="20208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commitment_id (opt.)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5272" y="22037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loan_type_cd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05272" y="23865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origination_dt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05272" y="25694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original_principal_amt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05272" y="27523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note_rate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5272" y="29352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term_mo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5272" y="31181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account_status_cd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77440" y="1783080"/>
            <a:ext cx="41148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414016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86584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709160" y="1783080"/>
            <a:ext cx="41148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745736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0..1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18303" y="18105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17320" y="2057400"/>
            <a:ext cx="0" cy="96012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417320" y="3017520"/>
            <a:ext cx="370332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463040" y="207568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18303" y="2816351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52360" y="1325880"/>
            <a:ext cx="4279392" cy="1097280"/>
          </a:xfrm>
          <a:prstGeom prst="roundRect">
            <a:avLst>
              <a:gd name="adj" fmla="val 10000"/>
            </a:avLst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50" b="1" i="0">
                <a:solidFill>
                  <a:srgbClr val="1A2130"/>
                </a:solidFill>
                <a:latin typeface="Calibri"/>
              </a:rPr>
              <a:t>How loans fit: </a:t>
            </a:r>
            <a:r>
              <a:rPr sz="950" b="0" i="0">
                <a:solidFill>
                  <a:srgbClr val="57626B"/>
                </a:solidFill>
                <a:latin typeface="Calibri"/>
              </a:rPr>
              <a:t>each loan is a funded draw under a credit facility. Borrowers, collateral, risk and allowance sit at the facility (page 15); product is reached through the facility.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52360" y="2606040"/>
            <a:ext cx="4279392" cy="1234440"/>
          </a:xfrm>
          <a:prstGeom prst="roundRect">
            <a:avLst>
              <a:gd name="adj" fmla="val 10000"/>
            </a:avLst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50" b="1" i="0">
                <a:solidFill>
                  <a:srgbClr val="1A2130"/>
                </a:solidFill>
                <a:latin typeface="Calibri"/>
              </a:rPr>
              <a:t>Grain of each child table</a:t>
            </a:r>
          </a:p>
          <a:p>
            <a:pPr algn="l"/>
            <a:r>
              <a:rPr sz="950" b="0" i="0">
                <a:solidFill>
                  <a:srgbClr val="57626B"/>
                </a:solidFill>
                <a:latin typeface="Calibri"/>
              </a:rPr>
              <a:t>payment_schedule: per installment · loan_balance_daily: per loan per day · loan_transaction: per posted transaction · loan_chargeoff: per charge-off event · collections_case: per case (a loan may have none)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80759" y="3337560"/>
            <a:ext cx="0" cy="77724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126479" y="33558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17320" y="4114800"/>
            <a:ext cx="932688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457200" y="438912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payment_schedule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681728"/>
            <a:ext cx="1920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2064" y="47183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" y="47183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schedule_id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" y="49011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" y="49011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loan_id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" y="50840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installment_nbr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" y="52669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due_dt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" y="54498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scheduled_amt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417320" y="4114800"/>
            <a:ext cx="0" cy="27432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463040" y="41879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88920" y="438912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loan_balance_daily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88920" y="4681728"/>
            <a:ext cx="1920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843784" y="47183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PK,FK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3552" y="47183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loan_id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43784" y="49011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73552" y="49011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as_of_dt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73552" y="50840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principal_balance_amt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73552" y="52669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days_past_due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73552" y="54498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accrual_status_cd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749039" y="4114800"/>
            <a:ext cx="0" cy="27432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794759" y="41879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20640" y="438912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loan_transaction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20640" y="4681728"/>
            <a:ext cx="1920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175503" y="47183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05272" y="47183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txn_id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75503" y="49011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05272" y="49011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loan_id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05272" y="50840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txn_type_cd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05272" y="52669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posted_dt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05272" y="54498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txn_amt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080759" y="4114800"/>
            <a:ext cx="0" cy="27432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126479" y="41879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52360" y="438912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loan_chargeoff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52360" y="4681728"/>
            <a:ext cx="1920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507224" y="47183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36992" y="47183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chargeoff_id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07224" y="49011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36992" y="49011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loan_id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07224" y="5084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FK,UQ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36992" y="50840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txn_id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36992" y="52669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chargeoff_dt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54498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chargeoff_amt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8412480" y="4114800"/>
            <a:ext cx="0" cy="27432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8458200" y="41879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438912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collections_case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784080" y="4681728"/>
            <a:ext cx="1920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838944" y="47183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268711" y="47183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case_id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838944" y="49011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68711" y="49011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loan_id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68711" y="50840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open_dt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68711" y="52669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case_status_cd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268711" y="54498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close_reason_cd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0744200" y="4114800"/>
            <a:ext cx="0" cy="27432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0789920" y="41879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7040879" y="4992624"/>
            <a:ext cx="411481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7077455" y="479145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050024" y="502005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0..1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7200" y="6163056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Keys: </a:t>
            </a:r>
            <a:r>
              <a:rPr sz="900" b="0" i="0">
                <a:solidFill>
                  <a:srgbClr val="57626B"/>
                </a:solidFill>
                <a:latin typeface="Calibri"/>
              </a:rPr>
              <a:t>PK primary · FK foreign · UQ unique · NK natural (business) key · DD degenerate dimension.   </a:t>
            </a:r>
            <a:r>
              <a:rPr sz="900" b="1" i="0">
                <a:solidFill>
                  <a:srgbClr val="1A2130"/>
                </a:solidFill>
                <a:latin typeface="Calibri"/>
              </a:rPr>
              <a:t>Cardinality </a:t>
            </a:r>
            <a:r>
              <a:rPr sz="900" b="0" i="0">
                <a:solidFill>
                  <a:srgbClr val="57626B"/>
                </a:solidFill>
                <a:latin typeface="Calibri"/>
              </a:rPr>
              <a:t>is printed at each end of a line: 1 = exactly one · 0..1 = zero or one · M = many.   Full column list and data types: data dictionary.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Silver E/R model (3 of 3): Credit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From the Consumer Credit Warehouse Schema: the facility is the credit relationship and the risk anchor.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party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1848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6550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party_id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837944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1">
                <a:solidFill>
                  <a:srgbClr val="57626B"/>
                </a:solidFill>
                <a:latin typeface="Calibri"/>
              </a:rPr>
              <a:t>full detail: page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32588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facility_party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618488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43784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PK,FK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16550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facility_id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3784" y="1837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PK,FK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18379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party_id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20208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obligor_role_cd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32588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credit_facility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618488"/>
            <a:ext cx="192024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75503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5272" y="16550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facility_id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3" y="1837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FK,UQ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5272" y="18379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application_id (opt.)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503" y="202082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5272" y="20208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product_id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5272" y="22037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origination_dt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05272" y="23865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facility_status_cd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05272" y="25694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risk_segment_cd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05272" y="27523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regulatory_class_cd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132588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facility_collateral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161848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07224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PK,FK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6992" y="16550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facility_id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07224" y="1837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PK,FK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18379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collateral_id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20208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lien_position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36992" y="22037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pledged_pct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132588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collateral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0" y="1618488"/>
            <a:ext cx="1920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38944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68711" y="16550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collateral_id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68711" y="18379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collateral_type_cd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68711" y="20208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valuation_amt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68711" y="22037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valuation_dt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68711" y="23865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property_tract_cd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377440" y="1783080"/>
            <a:ext cx="41148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414016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86584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4709160" y="1783080"/>
            <a:ext cx="41148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718303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45736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040879" y="1783080"/>
            <a:ext cx="411481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077455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50024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9372600" y="1783080"/>
            <a:ext cx="41148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381744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09176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88920" y="251460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product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88920" y="280720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843784" y="28437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3552" y="28437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product_id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62072" y="3026664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1">
                <a:solidFill>
                  <a:srgbClr val="57626B"/>
                </a:solidFill>
                <a:latin typeface="Calibri"/>
              </a:rPr>
              <a:t>full detail: page 27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52360" y="251460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application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52360" y="280720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507224" y="28437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36992" y="28437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application_id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5512" y="3026664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1">
                <a:solidFill>
                  <a:srgbClr val="57626B"/>
                </a:solidFill>
                <a:latin typeface="Calibri"/>
              </a:rPr>
              <a:t>full detail: page 13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709160" y="2880360"/>
            <a:ext cx="41148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745736" y="2679191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18303" y="2679191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70" name="Connector 69"/>
          <p:cNvCxnSpPr/>
          <p:nvPr/>
        </p:nvCxnSpPr>
        <p:spPr>
          <a:xfrm flipH="1">
            <a:off x="7040879" y="2880360"/>
            <a:ext cx="411481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077455" y="2679191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0..1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50024" y="2907791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2331720"/>
            <a:ext cx="1920240" cy="1188720"/>
          </a:xfrm>
          <a:prstGeom prst="roundRect">
            <a:avLst>
              <a:gd name="adj" fmla="val 10000"/>
            </a:avLst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Reading this page</a:t>
            </a:r>
          </a:p>
          <a:p>
            <a:pPr algn="l"/>
            <a:r>
              <a:rPr sz="900" b="0" i="0">
                <a:solidFill>
                  <a:srgbClr val="57626B"/>
                </a:solidFill>
                <a:latin typeface="Calibri"/>
              </a:rPr>
              <a:t>Facility = the credit relationship. Instrument (1:1) defines behavior. Commitments version the limit; loans are funded draws.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784080" y="2743200"/>
            <a:ext cx="1947672" cy="1097280"/>
          </a:xfrm>
          <a:prstGeom prst="roundRect">
            <a:avLst>
              <a:gd name="adj" fmla="val 10000"/>
            </a:avLst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EAD </a:t>
            </a:r>
            <a:r>
              <a:rPr sz="900" b="0" i="0">
                <a:solidFill>
                  <a:srgbClr val="57626B"/>
                </a:solidFill>
                <a:latin typeface="Calibri"/>
              </a:rPr>
              <a:t>= funded balance + (limit_amt − funded) × ccf_pct</a:t>
            </a:r>
          </a:p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Allowance: </a:t>
            </a:r>
            <a:r>
              <a:rPr sz="900" b="0" i="0">
                <a:solidFill>
                  <a:srgbClr val="57626B"/>
                </a:solidFill>
                <a:latin typeface="Calibri"/>
              </a:rPr>
              <a:t>funded rows key loan_id (contra-asset); unfunded rows key commitment_id (liability)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080759" y="2971800"/>
            <a:ext cx="0" cy="96012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126479" y="299008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417320" y="3931920"/>
            <a:ext cx="932688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457200" y="416052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credit_instrument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453128"/>
            <a:ext cx="192024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12064" y="44897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1832" y="44897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instrument_id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2064" y="46725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FK,UQ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41832" y="46725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facility_id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1832" y="48554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instrument_type_cd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41832" y="50383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interest_method_cd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1832" y="52212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draw_rule_cd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41832" y="54041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repayment_rule_cd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41832" y="55869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fee_rule_cd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417320" y="3931920"/>
            <a:ext cx="0" cy="22860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463040" y="39593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88920" y="416052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credit_commitment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88920" y="4453128"/>
            <a:ext cx="1920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843784" y="44897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73552" y="44897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commitment_id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843784" y="46725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273552" y="46725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facility_id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273552" y="48554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version_nbr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73552" y="50383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limit_amt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273552" y="52212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effective_dt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273552" y="54041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expiration_dt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273552" y="55869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ccf_pct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273552" y="57698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is_current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3749039" y="3931920"/>
            <a:ext cx="0" cy="22860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3794759" y="39593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120640" y="416052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loan_account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120640" y="445312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175503" y="44897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605272" y="44897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loan_id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75503" y="46725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05272" y="46725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facility_id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175503" y="48554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605272" y="48554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commitment_id (opt.)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193792" y="5038344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1">
                <a:solidFill>
                  <a:srgbClr val="57626B"/>
                </a:solidFill>
                <a:latin typeface="Calibri"/>
              </a:rPr>
              <a:t>full detail: page 14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6080759" y="3931920"/>
            <a:ext cx="0" cy="22860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126479" y="39593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452360" y="416052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facility_risk_monthly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452360" y="4453128"/>
            <a:ext cx="1920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7507224" y="44897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PK,FK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36992" y="44897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facility_id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07224" y="46725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936992" y="46725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as_of_month_dt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936992" y="48554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pd_12m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936992" y="50383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lgd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936992" y="52212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ead_amt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936992" y="54041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model_version_id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8412480" y="3931920"/>
            <a:ext cx="0" cy="22860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8458200" y="39593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784080" y="4160520"/>
            <a:ext cx="192024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credit_allowance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784080" y="4453128"/>
            <a:ext cx="192024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9838944" y="44897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68711" y="44897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allowance_id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838944" y="46725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268711" y="46725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facility_id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838944" y="48554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268711" y="48554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loan_id (opt.)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838944" y="50383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268711" y="50383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commitment_id (opt.)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268711" y="52212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allowance_type_cd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268711" y="54041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as_of_month_dt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268711" y="55869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allowance_amt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10744200" y="3931920"/>
            <a:ext cx="0" cy="22860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10789920" y="39593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4709160" y="4581144"/>
            <a:ext cx="20574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4914900" y="4581144"/>
            <a:ext cx="0" cy="36576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914900" y="4946904"/>
            <a:ext cx="20574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4745736" y="437997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0..1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718303" y="474573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57200" y="6163056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Keys: </a:t>
            </a:r>
            <a:r>
              <a:rPr sz="900" b="0" i="0">
                <a:solidFill>
                  <a:srgbClr val="57626B"/>
                </a:solidFill>
                <a:latin typeface="Calibri"/>
              </a:rPr>
              <a:t>PK primary · FK foreign · UQ unique · NK natural (business) key · DD degenerate dimension.   </a:t>
            </a:r>
            <a:r>
              <a:rPr sz="900" b="1" i="0">
                <a:solidFill>
                  <a:srgbClr val="1A2130"/>
                </a:solidFill>
                <a:latin typeface="Calibri"/>
              </a:rPr>
              <a:t>Cardinality </a:t>
            </a:r>
            <a:r>
              <a:rPr sz="900" b="0" i="0">
                <a:solidFill>
                  <a:srgbClr val="57626B"/>
                </a:solidFill>
                <a:latin typeface="Calibri"/>
              </a:rPr>
              <a:t>is printed at each end of a line: 1 = exactly one · 0..1 = zero or one · M = many.   Full column list and data types: data dictionary.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Relationship catalog (1 of 2): party, origination,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Every relationship is also a data quality rule: no orphans on the FK side, uniqueness where it says 1:1.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4552" cy="4946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47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Parent (PK)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Child (FK)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Cardinality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Foreign key column(s)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Business rule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party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party_address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 : 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party_address.party_id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Home, mailing and prior addresses per customer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party ↔ application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application_party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M : M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application_party: party_id + application_id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Joint applicants; repeat applications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 : 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application.product_id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Each application requests one product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party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credit_report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 : M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credit_report.party_id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Each bureau pull is about one person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credit_report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 : 0..M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credit_report.application_id (nullable)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Account-review pulls have no application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underwriting_decision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 : 1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underwriting_decision.application_id (UQ)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One final decision; history kept in Bronze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 : 0..1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credit_facility.application_id (UQ, nullable)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Approved apps open a facility; purchased ones have none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 : M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credit_facility.product_id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Each facility is booked under one product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party ↔ credit_facility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facility_party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M : 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facility_party: party_id + facility_id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Joint obligors and guarantors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credit_facility ↔ collateral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facility_collateral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M : M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facility_collateral: facility_id + collateral_id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First and second liens on one property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credit_facility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credit_instrument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 : 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credit_instrument.facility_id (UQ)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One instrument defines the facility’s behavior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credit_facility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credit_commitment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 : M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credit_commitment.facility_id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Limit versions; exactly one is_current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credit_facility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facility_risk_monthly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 : 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facility_risk_monthly.facility_id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One PD, LGD and EAD estimate per month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Relationship catalog (2 of 2): loans, allowance, servicing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Funded exposure, the allowance, and every servicing record.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4552" cy="4809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47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Parent (PK)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Child (FK)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Cardinality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Foreign key column(s)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Business rule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credit_facility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loan_account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 : 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loan_account.facility_id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Term loans, draws and card balances under the facility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credit_commitment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loan_account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0..1 : M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loan_account.commitment_id (nullable)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The limit version a draw was made against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credit_facility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credit_allowance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 : 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credit_allowance.facility_id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Every allowance row rolls up to a facility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loan_account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credit_allowance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0..1 : M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credit_allowance.loan_id (FUNDED rows)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Funded allowance: contra-asset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credit_commitment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credit_allowance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0..1 : 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credit_allowance.commitment_id (UNFUNDED rows)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Unfunded allowance: liability. Exactly one of the two keys is set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loan_account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payment_schedule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 : M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payment_schedule.loan_id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One row per installment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loan_account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loan_transaction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 : 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loan_transaction.loan_id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Every posted money movement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loan_account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loan_balance_daily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 : M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loan_balance_daily.loan_id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One balance row per loan per day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loan_account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loan_chargeoff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 : 0..M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loan_chargeoff.loan_id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Most loans are never charged off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loan_transaction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loan_chargeoff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 : 0..1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loan_chargeoff.txn_id (UQ)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Each charge-off mirrors exactly one CO transaction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loan_account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collections_case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1 : 0..M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collections_case.loan_id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A loan may never enter collections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(none)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gl_balance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no FK; ties out by GL account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Reconciled in aggregate, not row by row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Gold E/R model (1 of 3): loan performance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fact_loan_monthly_snapshot: one row per loan per month-end. Serves 7 of the 10 use cases.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103120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dim_customer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18488"/>
            <a:ext cx="21031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65506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customer_sk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837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57626B"/>
                </a:solidFill>
                <a:latin typeface="Courier New"/>
              </a:rPr>
              <a:t>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83794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party_id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02082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fico_band_cd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20370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state_cd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38658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eff_start_dt / eff_end_dt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6946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is_current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148840"/>
            <a:ext cx="2103120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dim_account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441448"/>
            <a:ext cx="21031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80944" y="247802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247802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loan_sk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26609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57626B"/>
                </a:solidFill>
                <a:latin typeface="Courier New"/>
              </a:rPr>
              <a:t>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266090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loan_id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0712" y="284378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loan_type_cd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302666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vintage_qtr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320954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orig_fico_score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339242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orig_ltv_ratio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0712" y="357530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orig_principal_amt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114800"/>
            <a:ext cx="2103120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dim_facility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4407408"/>
            <a:ext cx="21031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80944" y="44439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0712" y="444398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facility_sk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80944" y="46268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57626B"/>
                </a:solidFill>
                <a:latin typeface="Courier New"/>
              </a:rPr>
              <a:t>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10712" y="462686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facility_id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0712" y="480974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instrument_type_cd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0712" y="499262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risk_segment_cd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0712" y="517550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regulatory_class_cd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10712" y="535838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is_current (SCD2)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1325880"/>
            <a:ext cx="2651760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fact_loan_monthly_snapshot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1618488"/>
            <a:ext cx="265176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24144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PK,FK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53912" y="165506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date_key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24144" y="1837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PK,FK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3912" y="183794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loan_sk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24144" y="202082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53912" y="202082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facility_sk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24144" y="22037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53912" y="220370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customer_sk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24144" y="23865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53912" y="238658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product_sk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24144" y="25694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53912" y="256946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geo_sk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24144" y="27523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53912" y="275234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dlq_sk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53912" y="293522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principal_balance_amt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53912" y="311810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accrued_interest_amt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53912" y="330098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days_past_due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53912" y="348386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paid_amt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53912" y="366674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chargeoff_amt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53912" y="384962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allowance_amt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53912" y="403250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in_collections_flag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18320" y="1325880"/>
            <a:ext cx="2313432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dim_date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1618488"/>
            <a:ext cx="231343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473184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02952" y="165506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date_key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02952" y="183794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calendar_dt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02952" y="202082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month_end_flag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02952" y="220370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fiscal_qtr_cd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18320" y="2697480"/>
            <a:ext cx="2313432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dim_product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418320" y="2990088"/>
            <a:ext cx="231343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473184" y="30266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02952" y="302666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product_sk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02952" y="320954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product_type_cd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02952" y="339242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product_name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02952" y="357530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default_regulatory_class_cd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18320" y="4069080"/>
            <a:ext cx="2313432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dim_geography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18320" y="4361688"/>
            <a:ext cx="231343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473184" y="43982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02952" y="439826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geo_sk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02952" y="458114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state_cd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02952" y="476402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msa_cd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02952" y="494690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census_tract_cd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02952" y="512978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lmi_tract_flag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852160" y="4846320"/>
            <a:ext cx="1920240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dim_delinquency_status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52160" y="513892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907024" y="51755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36792" y="517550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dlq_sk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36792" y="535838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dpd_bucket_cd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36792" y="554126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dpd_min / dpd_max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36792" y="572414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rc_n_column_cd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2560320" y="1783080"/>
            <a:ext cx="310896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2596896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66944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029200" y="2697480"/>
            <a:ext cx="64008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5065776" y="24963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66944" y="24963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5029200" y="4206240"/>
            <a:ext cx="64008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065776" y="400507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66944" y="400507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97" name="Connector 96"/>
          <p:cNvCxnSpPr/>
          <p:nvPr/>
        </p:nvCxnSpPr>
        <p:spPr>
          <a:xfrm flipH="1">
            <a:off x="8321040" y="1783080"/>
            <a:ext cx="109728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9015984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57615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100" name="Connector 99"/>
          <p:cNvCxnSpPr/>
          <p:nvPr/>
        </p:nvCxnSpPr>
        <p:spPr>
          <a:xfrm flipH="1">
            <a:off x="8321040" y="3154680"/>
            <a:ext cx="109728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9015984" y="29535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357615" y="29535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103" name="Connector 102"/>
          <p:cNvCxnSpPr/>
          <p:nvPr/>
        </p:nvCxnSpPr>
        <p:spPr>
          <a:xfrm flipH="1">
            <a:off x="7955279" y="4572000"/>
            <a:ext cx="1463041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955279" y="4251960"/>
            <a:ext cx="0" cy="32004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9015984" y="437083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01000" y="42702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107" name="Connector 106"/>
          <p:cNvCxnSpPr/>
          <p:nvPr/>
        </p:nvCxnSpPr>
        <p:spPr>
          <a:xfrm flipV="1">
            <a:off x="6583680" y="4251960"/>
            <a:ext cx="0" cy="59436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6629400" y="46451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29400" y="42702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57200" y="3108960"/>
            <a:ext cx="2103120" cy="1828800"/>
          </a:xfrm>
          <a:prstGeom prst="roundRect">
            <a:avLst>
              <a:gd name="adj" fmla="val 10000"/>
            </a:avLst>
          </a:prstGeom>
          <a:solidFill>
            <a:srgbClr val="F6EFDA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50" b="1" i="0">
                <a:solidFill>
                  <a:srgbClr val="1A2130"/>
                </a:solidFill>
                <a:latin typeface="Calibri"/>
              </a:rPr>
              <a:t>Star schema: </a:t>
            </a:r>
            <a:r>
              <a:rPr sz="950" b="0" i="0">
                <a:solidFill>
                  <a:srgbClr val="57626B"/>
                </a:solidFill>
                <a:latin typeface="Calibri"/>
              </a:rPr>
              <a:t>every dimension is 1:M to the fact. Fact PK = date_key + loan_sk.</a:t>
            </a:r>
          </a:p>
          <a:p>
            <a:pPr algn="l"/>
            <a:r>
              <a:rPr sz="950" b="1" i="0">
                <a:solidFill>
                  <a:srgbClr val="1A2130"/>
                </a:solidFill>
                <a:latin typeface="Calibri"/>
              </a:rPr>
              <a:t>customer_sk </a:t>
            </a:r>
            <a:r>
              <a:rPr sz="950" b="0" i="0">
                <a:solidFill>
                  <a:srgbClr val="57626B"/>
                </a:solidFill>
                <a:latin typeface="Calibri"/>
              </a:rPr>
              <a:t>is the primary obligor at month-end; all obligors are reached through bridge_facility_customer (page 20).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6163056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Keys: </a:t>
            </a:r>
            <a:r>
              <a:rPr sz="900" b="0" i="0">
                <a:solidFill>
                  <a:srgbClr val="57626B"/>
                </a:solidFill>
                <a:latin typeface="Calibri"/>
              </a:rPr>
              <a:t>PK primary · FK foreign · UQ unique · NK natural (business) key · DD degenerate dimension.   </a:t>
            </a:r>
            <a:r>
              <a:rPr sz="900" b="1" i="0">
                <a:solidFill>
                  <a:srgbClr val="1A2130"/>
                </a:solidFill>
                <a:latin typeface="Calibri"/>
              </a:rPr>
              <a:t>Cardinality </a:t>
            </a:r>
            <a:r>
              <a:rPr sz="900" b="0" i="0">
                <a:solidFill>
                  <a:srgbClr val="57626B"/>
                </a:solidFill>
                <a:latin typeface="Calibri"/>
              </a:rPr>
              <a:t>is printed at each end of a line: 1 = exactly one · 0..1 = zero or one · M = many.   Full column list and data types: data dictionary.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Gold E/R model (2 of 3): origination and transaction stars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Two more facts share the same conformed dimensions, so every report slices product and date the same way.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651760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fact_application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18488"/>
            <a:ext cx="265176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PK,DD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65506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application_id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837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83794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application_date_key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02082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02082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decision_date_key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2037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20370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customer_sk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3865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238658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product_sk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5694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256946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geo_sk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523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75234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channel_sk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293522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requested_amt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311810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approved_amt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30098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approved_flag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348386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funded_flag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366674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fico_score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384962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dti_ratio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403250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decision_hours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79992" y="1325880"/>
            <a:ext cx="2651760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fact_loan_transaction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79992" y="1618488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34856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PK,DD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64624" y="165506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txn_id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6" y="1837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64624" y="183794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posted_date_key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4856" y="202082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64624" y="202082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loan_sk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4856" y="22037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64624" y="220370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product_sk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64624" y="238658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txn_type_cd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64624" y="256946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txn_amt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4624" y="275234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principal_amt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64624" y="293522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interest_amt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1280160"/>
            <a:ext cx="2377440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dim_date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1572768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09744" y="16093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9512" y="1609344"/>
            <a:ext cx="1856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date_key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9512" y="1792224"/>
            <a:ext cx="1856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calendar_dt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2103120"/>
            <a:ext cx="2377440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dim_product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54880" y="2395727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09744" y="2432303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9512" y="2432303"/>
            <a:ext cx="1856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product_sk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39512" y="2615184"/>
            <a:ext cx="1856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product_family_cd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2926080"/>
            <a:ext cx="2377440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dim_customer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3218688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809744" y="32552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9512" y="3255264"/>
            <a:ext cx="1856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customer_sk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09744" y="34381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57626B"/>
                </a:solidFill>
                <a:latin typeface="Courier New"/>
              </a:rPr>
              <a:t>NK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512" y="3438144"/>
            <a:ext cx="1856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party_id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0" y="3749039"/>
            <a:ext cx="2377440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dim_geography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54880" y="4041648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809744" y="407822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39512" y="4078224"/>
            <a:ext cx="1856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geo_sk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39512" y="4261104"/>
            <a:ext cx="1856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census_tract_cd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54880" y="4572000"/>
            <a:ext cx="2377440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dim_channel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54880" y="4864608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809744" y="49011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39512" y="4901184"/>
            <a:ext cx="1856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channel_sk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39512" y="5084064"/>
            <a:ext cx="1856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channel_name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54880" y="5394960"/>
            <a:ext cx="2377440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dim_account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54880" y="5687568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809744" y="57241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39512" y="5724144"/>
            <a:ext cx="1856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loan_sk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09744" y="590702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57626B"/>
                </a:solidFill>
                <a:latin typeface="Courier New"/>
              </a:rPr>
              <a:t>NK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39512" y="5907024"/>
            <a:ext cx="185623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loan_id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3108960" y="1508760"/>
            <a:ext cx="164592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145536" y="13075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52544" y="13075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3108960" y="1783080"/>
            <a:ext cx="164592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145536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52544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46120" y="134416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1">
                <a:solidFill>
                  <a:srgbClr val="57626B"/>
                </a:solidFill>
                <a:latin typeface="Calibri"/>
              </a:rPr>
              <a:t>application date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46120" y="180136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1">
                <a:solidFill>
                  <a:srgbClr val="57626B"/>
                </a:solidFill>
                <a:latin typeface="Calibri"/>
              </a:rPr>
              <a:t>decision date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108960" y="2514600"/>
            <a:ext cx="164592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145536" y="231343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52544" y="231343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3108960" y="3291840"/>
            <a:ext cx="164592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3145536" y="309067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52544" y="309067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108960" y="3977639"/>
            <a:ext cx="164592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3145536" y="377647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52544" y="377647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3108960" y="4160520"/>
            <a:ext cx="109728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206240" y="4160520"/>
            <a:ext cx="0" cy="77724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206240" y="4937760"/>
            <a:ext cx="54864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145536" y="39593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52544" y="47365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cxnSp>
        <p:nvCxnSpPr>
          <p:cNvPr id="96" name="Connector 95"/>
          <p:cNvCxnSpPr/>
          <p:nvPr/>
        </p:nvCxnSpPr>
        <p:spPr>
          <a:xfrm flipH="1">
            <a:off x="7132320" y="1645920"/>
            <a:ext cx="1947672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8677656" y="14447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168896" y="14447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cxnSp>
        <p:nvCxnSpPr>
          <p:cNvPr id="99" name="Connector 98"/>
          <p:cNvCxnSpPr/>
          <p:nvPr/>
        </p:nvCxnSpPr>
        <p:spPr>
          <a:xfrm flipH="1">
            <a:off x="7132320" y="2468880"/>
            <a:ext cx="1947672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8677656" y="22677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68896" y="22677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9628632" y="3154680"/>
            <a:ext cx="0" cy="260604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7132320" y="5760720"/>
            <a:ext cx="2496312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9674352" y="317296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168896" y="55595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57200" y="457200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6EFDA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50" b="1" i="0">
                <a:solidFill>
                  <a:srgbClr val="1A2130"/>
                </a:solidFill>
                <a:latin typeface="Calibri"/>
              </a:rPr>
              <a:t>Conformed: </a:t>
            </a:r>
            <a:r>
              <a:rPr sz="950" b="0" i="0">
                <a:solidFill>
                  <a:srgbClr val="57626B"/>
                </a:solidFill>
                <a:latin typeface="Calibri"/>
              </a:rPr>
              <a:t>dim_date and dim_product serve every fact.</a:t>
            </a:r>
          </a:p>
          <a:p>
            <a:pPr algn="l"/>
            <a:r>
              <a:rPr sz="950" b="1" i="0">
                <a:solidFill>
                  <a:srgbClr val="1A2130"/>
                </a:solidFill>
                <a:latin typeface="Calibri"/>
              </a:rPr>
              <a:t>Role-playing: </a:t>
            </a:r>
            <a:r>
              <a:rPr sz="950" b="0" i="0">
                <a:solidFill>
                  <a:srgbClr val="57626B"/>
                </a:solidFill>
                <a:latin typeface="Calibri"/>
              </a:rPr>
              <a:t>dim_date joins fact_application twice.</a:t>
            </a:r>
          </a:p>
          <a:p>
            <a:pPr algn="l"/>
            <a:r>
              <a:rPr sz="950" b="1" i="0">
                <a:solidFill>
                  <a:srgbClr val="1A2130"/>
                </a:solidFill>
                <a:latin typeface="Calibri"/>
              </a:rPr>
              <a:t>Degenerate (DD): </a:t>
            </a:r>
            <a:r>
              <a:rPr sz="950" b="0" i="0">
                <a:solidFill>
                  <a:srgbClr val="57626B"/>
                </a:solidFill>
                <a:latin typeface="Calibri"/>
              </a:rPr>
              <a:t>application_id and txn_id live on the fact, with no dimension.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966960" y="3429000"/>
            <a:ext cx="1764792" cy="1463040"/>
          </a:xfrm>
          <a:prstGeom prst="roundRect">
            <a:avLst>
              <a:gd name="adj" fmla="val 10000"/>
            </a:avLst>
          </a:prstGeom>
          <a:solidFill>
            <a:srgbClr val="F6EFDA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Why no application → loan link here? </a:t>
            </a:r>
            <a:r>
              <a:rPr sz="900" b="0" i="0">
                <a:solidFill>
                  <a:srgbClr val="57626B"/>
                </a:solidFill>
                <a:latin typeface="Calibri"/>
              </a:rPr>
              <a:t>Gold facts join through shared dimensions. The application-to-loan link stays in Silver (credit_facility.application_id) and feeds funded_flag.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57200" y="6163056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Keys: </a:t>
            </a:r>
            <a:r>
              <a:rPr sz="900" b="0" i="0">
                <a:solidFill>
                  <a:srgbClr val="57626B"/>
                </a:solidFill>
                <a:latin typeface="Calibri"/>
              </a:rPr>
              <a:t>PK primary · FK foreign · UQ unique · NK natural (business) key · DD degenerate dimension.   </a:t>
            </a:r>
            <a:r>
              <a:rPr sz="900" b="1" i="0">
                <a:solidFill>
                  <a:srgbClr val="1A2130"/>
                </a:solidFill>
                <a:latin typeface="Calibri"/>
              </a:rPr>
              <a:t>Cardinality </a:t>
            </a:r>
            <a:r>
              <a:rPr sz="900" b="0" i="0">
                <a:solidFill>
                  <a:srgbClr val="57626B"/>
                </a:solidFill>
                <a:latin typeface="Calibri"/>
              </a:rPr>
              <a:t>is printed at each end of a line: 1 = exactly one · 0..1 = zero or one · M = many.   Full column list and data types: data dictionary.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Gold E/R model (3 of 3): credit exposure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fact_facility_monthly_snapshot: one row per facility per month-end. Serves exposure, RC-L, CECL and GL tie-out.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103120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dim_customer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18488"/>
            <a:ext cx="21031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65506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customer_sk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837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57626B"/>
                </a:solidFill>
                <a:latin typeface="Courier New"/>
              </a:rPr>
              <a:t>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83794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party_id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02082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fico_band_cd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20370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state_cd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38658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eff_start_dt / eff_end_dt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6946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is_current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2103120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bridge_facility_customer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41648"/>
            <a:ext cx="2103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407822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PK,FK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07822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facility_sk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42611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PK,FK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26110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customer_sk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44398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obligor_role_cd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62686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allocation_pct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3017520"/>
            <a:ext cx="2103120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dim_facility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3310127"/>
            <a:ext cx="21031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80944" y="3346703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0712" y="3346703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facility_sk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0944" y="352958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57626B"/>
                </a:solidFill>
                <a:latin typeface="Courier New"/>
              </a:rPr>
              <a:t>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0712" y="352958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facility_id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0712" y="3712463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instrument_type_cd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0712" y="389534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risk_segment_cd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10712" y="407822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regulatory_class_cd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0712" y="4261104"/>
            <a:ext cx="15819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is_current (SCD2)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1325880"/>
            <a:ext cx="2743200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fact_facility_monthly_snapshot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1618488"/>
            <a:ext cx="274320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24144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PK,FK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3912" y="1655064"/>
            <a:ext cx="22219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date_key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24144" y="1837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PK,FK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53912" y="1837944"/>
            <a:ext cx="22219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facility_sk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24144" y="202082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3912" y="2020824"/>
            <a:ext cx="22219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customer_sk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24144" y="22037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0E7C66"/>
                </a:solidFill>
                <a:latin typeface="Courier New"/>
              </a:rPr>
              <a:t>FK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53912" y="2203704"/>
            <a:ext cx="22219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product_sk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53912" y="2386584"/>
            <a:ext cx="22219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limit_amt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53912" y="2569464"/>
            <a:ext cx="22219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funded_balance_amt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53912" y="2752344"/>
            <a:ext cx="22219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undrawn_amt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53912" y="2935224"/>
            <a:ext cx="22219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utilization_pct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53912" y="3118104"/>
            <a:ext cx="22219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ccf_pct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53912" y="3300984"/>
            <a:ext cx="22219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ead_amt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53912" y="3483864"/>
            <a:ext cx="22219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pd_12m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53912" y="3666744"/>
            <a:ext cx="22219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lgd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53912" y="3849624"/>
            <a:ext cx="22219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funded_allowance_amt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53912" y="4032504"/>
            <a:ext cx="22219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unfunded_allowance_amt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18320" y="1325880"/>
            <a:ext cx="2313432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dim_date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1618488"/>
            <a:ext cx="231343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73184" y="16550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02952" y="165506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date_key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02952" y="183794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calendar_dt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02952" y="202082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month_end_flag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02952" y="220370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fiscal_qtr_cd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2697480"/>
            <a:ext cx="2313432" cy="292608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dim_product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18320" y="2990088"/>
            <a:ext cx="231343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473184" y="302666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>
                <a:solidFill>
                  <a:srgbClr val="9A3324"/>
                </a:solidFill>
                <a:latin typeface="Courier New"/>
              </a:rPr>
              <a:t>PK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02952" y="302666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product_sk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02952" y="320954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product_type_cd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02952" y="339242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product_name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02952" y="3575304"/>
            <a:ext cx="179222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A2130"/>
                </a:solidFill>
                <a:latin typeface="Calibri"/>
              </a:rPr>
              <a:t>default_regulatory_class_cd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560320" y="1783080"/>
            <a:ext cx="310896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596896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66944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508760" y="2788920"/>
            <a:ext cx="0" cy="960119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554480" y="280720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54480" y="3547871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2560320" y="4251959"/>
            <a:ext cx="36576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523744" y="4050791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96896" y="4050791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029200" y="3566160"/>
            <a:ext cx="64008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065776" y="3364991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66944" y="3364991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79" name="Connector 78"/>
          <p:cNvCxnSpPr/>
          <p:nvPr/>
        </p:nvCxnSpPr>
        <p:spPr>
          <a:xfrm flipH="1">
            <a:off x="8412480" y="1783080"/>
            <a:ext cx="100584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9015984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49055" y="15819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cxnSp>
        <p:nvCxnSpPr>
          <p:cNvPr id="82" name="Connector 81"/>
          <p:cNvCxnSpPr/>
          <p:nvPr/>
        </p:nvCxnSpPr>
        <p:spPr>
          <a:xfrm flipH="1">
            <a:off x="8412480" y="3154680"/>
            <a:ext cx="1005840" cy="0"/>
          </a:xfrm>
          <a:prstGeom prst="line">
            <a:avLst/>
          </a:prstGeom>
          <a:ln w="15875">
            <a:solidFill>
              <a:srgbClr val="6B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9015984" y="29535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3324"/>
                </a:solidFill>
                <a:latin typeface="Courier New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49055" y="295351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A3324"/>
                </a:solidFill>
                <a:latin typeface="Courier New"/>
              </a:rPr>
              <a:t>M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5120640"/>
            <a:ext cx="5120640" cy="685800"/>
          </a:xfrm>
          <a:prstGeom prst="roundRect">
            <a:avLst>
              <a:gd name="adj" fmla="val 10000"/>
            </a:avLst>
          </a:prstGeom>
          <a:solidFill>
            <a:srgbClr val="F6EFDA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50" b="1" i="0">
                <a:solidFill>
                  <a:srgbClr val="1A2130"/>
                </a:solidFill>
                <a:latin typeface="Calibri"/>
              </a:rPr>
              <a:t>Grain: </a:t>
            </a:r>
            <a:r>
              <a:rPr sz="950" b="0" i="0">
                <a:solidFill>
                  <a:srgbClr val="57626B"/>
                </a:solidFill>
                <a:latin typeface="Calibri"/>
              </a:rPr>
              <a:t>one row per facility per month-end; PK = date_key + facility_sk. Joint obligors (M:M) go through the bridge; allocation_pct stops a facility being counted twice.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897880" y="4572000"/>
            <a:ext cx="5833872" cy="1417320"/>
          </a:xfrm>
          <a:prstGeom prst="roundRect">
            <a:avLst>
              <a:gd name="adj" fmla="val 10000"/>
            </a:avLst>
          </a:prstGeom>
          <a:solidFill>
            <a:srgbClr val="F6EFDA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50" b="1" i="0">
                <a:solidFill>
                  <a:srgbClr val="1A2130"/>
                </a:solidFill>
                <a:latin typeface="Calibri"/>
              </a:rPr>
              <a:t>Key measures</a:t>
            </a:r>
          </a:p>
          <a:p>
            <a:pPr algn="l"/>
            <a:r>
              <a:rPr sz="950" b="1" i="0">
                <a:solidFill>
                  <a:srgbClr val="1A2130"/>
                </a:solidFill>
                <a:latin typeface="Calibri"/>
              </a:rPr>
              <a:t>EAD: </a:t>
            </a:r>
            <a:r>
              <a:rPr sz="950" b="0" i="0">
                <a:solidFill>
                  <a:srgbClr val="57626B"/>
                </a:solidFill>
                <a:latin typeface="Calibri"/>
              </a:rPr>
              <a:t>ead_amt = funded_balance_amt + undrawn_amt × ccf_pct</a:t>
            </a:r>
          </a:p>
          <a:p>
            <a:pPr algn="l"/>
            <a:r>
              <a:rPr sz="950" b="1" i="0">
                <a:solidFill>
                  <a:srgbClr val="1A2130"/>
                </a:solidFill>
                <a:latin typeface="Calibri"/>
              </a:rPr>
              <a:t>CECL: </a:t>
            </a:r>
            <a:r>
              <a:rPr sz="950" b="0" i="0">
                <a:solidFill>
                  <a:srgbClr val="57626B"/>
                </a:solidFill>
                <a:latin typeface="Calibri"/>
              </a:rPr>
              <a:t>funded allowance (contra-asset) ties to the loan snapshot; unfunded allowance (liability) exists only here</a:t>
            </a:r>
          </a:p>
          <a:p>
            <a:pPr algn="l"/>
            <a:r>
              <a:rPr sz="950" b="1" i="0">
                <a:solidFill>
                  <a:srgbClr val="1A2130"/>
                </a:solidFill>
                <a:latin typeface="Calibri"/>
              </a:rPr>
              <a:t>RC-L: </a:t>
            </a:r>
            <a:r>
              <a:rPr sz="950" b="0" i="0">
                <a:solidFill>
                  <a:srgbClr val="57626B"/>
                </a:solidFill>
                <a:latin typeface="Calibri"/>
              </a:rPr>
              <a:t>unused commitments = undrawn_amt by regulatory class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6163056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Keys: </a:t>
            </a:r>
            <a:r>
              <a:rPr sz="900" b="0" i="0">
                <a:solidFill>
                  <a:srgbClr val="57626B"/>
                </a:solidFill>
                <a:latin typeface="Calibri"/>
              </a:rPr>
              <a:t>PK primary · FK foreign · UQ unique · NK natural (business) key · DD degenerate dimension.   </a:t>
            </a:r>
            <a:r>
              <a:rPr sz="900" b="1" i="0">
                <a:solidFill>
                  <a:srgbClr val="1A2130"/>
                </a:solidFill>
                <a:latin typeface="Calibri"/>
              </a:rPr>
              <a:t>Cardinality </a:t>
            </a:r>
            <a:r>
              <a:rPr sz="900" b="0" i="0">
                <a:solidFill>
                  <a:srgbClr val="57626B"/>
                </a:solidFill>
                <a:latin typeface="Calibri"/>
              </a:rPr>
              <a:t>is printed at each end of a line: 1 = exactly one · 0..1 = zero or one · M = many.   Full column list and data types: data dictionary.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Gold bus matrix: which dimensions each fact 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The bus matrix is the blueprint for adding new marts without rework: reuse a dimension, never copy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Fact / bridge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Grain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dim_date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dim_customer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dim_facility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dim_account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dim_product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dim_geography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dim_delinquency
_status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dim_channel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fact_loan_monthly_snapshot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Loan × month-end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fact_facility_monthly_snapshot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Facility × month-end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fact_application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 ×2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fact_loan_transaction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Posted transaction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2130"/>
                          </a:solidFill>
                          <a:latin typeface="Calibri"/>
                        </a:rPr>
                        <a:t>bridge_facility_customer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Facility × obligor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7626B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77639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HOW GOLD RELATIONSHIPS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97680"/>
            <a:ext cx="268147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Dimension → fact is always 1:M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One product row, many fact rows. Facts hold only keys and measures.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1558" y="4297680"/>
            <a:ext cx="268147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Point-in-time (SCD2)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Snapshots store the customer_sk and facility_sk valid at month-end, so history never re-states.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4297680"/>
            <a:ext cx="268147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Unknown member = -1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A missing lookup points to a -1 row instead of dropping the fact 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0274" y="4297680"/>
            <a:ext cx="268147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M:M through the bridge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Joint obligors: allocation_pct weights sum to 1 per facility, so balances add up once.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0680"/>
            <a:ext cx="1127455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Grain first: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the loan and facility snapshots have different grains, so loan measures and facility measures live in separate facts and are compared through dim_facility.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dictionary: Bronze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Every Bronze table carries the same ingestion columns; payload columns stay exactly as the source sent them.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1" cy="4133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Source → derivation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rowSpan="6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Standard columns (every brz_ table)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_ingest_ts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TIMESTAMP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When the row landed in the lakehouse (UTC)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Set by ingestion pipeline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_source_system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Source code: LOS, CORE, PAY, ...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Pipeline configuration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_source_object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File, table or topic the row came from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Pipeline configuration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_batch_id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Load run identifier; links to the run log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Orchestrator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_op_type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Change type from CDC: I / U / 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CDC feed (LOS, MDM)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_record_hash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SHA-256 of payload; detects real changes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Computed at load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 rowSpan="8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brz_core_account (payload as sent)</a:t>
                      </a:r>
                    </a:p>
                  </a:txBody>
                  <a:tcPr marL="54864" marR="54864" marT="22860" marB="22860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ACCT_NBR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NK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Servicing account number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nightly ACCT file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PROD_CD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Source product code (not yet mapped)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ACCT file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ORIG_DT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Origination date as text, YYYYMMDD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ACCT file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ORIG_AMT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Original principal, implied 2 decimals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ACCT file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NOTE_RT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Note rate as text, e.g., '0.0749'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ACCT file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TERM_MO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Term in months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ACCT file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STAT_CD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Source account status code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ACCT file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BORR_SSN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Borrower SSN in clear text (restricted)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CORE; tokenized in Silver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9A3324"/>
                          </a:solidFill>
                          <a:latin typeface="Calibri"/>
                        </a:rPr>
                        <a:t>PII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dictionary: Silver (1/7) — Party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Customer golden record, addresses and the customer-to-application bridge.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1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Source → derivation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 rowSpan="9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party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party_id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Enterprise customer ID (MDM golden record)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MDM.PARTY_ID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tax_id_token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UQ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Tokenized SSN/TIN; clear value never stored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MDM.SSN → token vault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9A3324"/>
                          </a:solidFill>
                          <a:latin typeface="Calibri"/>
                        </a:rPr>
                        <a:t>PII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first_name, last_name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Legal name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MDM; trimmed, proper-cased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9A3324"/>
                          </a:solidFill>
                          <a:latin typeface="Calibri"/>
                        </a:rPr>
                        <a:t>PII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birth_dt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 of birth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MDM.DOB parsed from YYYYMMDD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9A3324"/>
                          </a:solidFill>
                          <a:latin typeface="Calibri"/>
                        </a:rPr>
                        <a:t>PII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party_type_cd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 = individual, O = organization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MDM.PTY_TYP mapped via 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kyc_status_cd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Know-your-customer verification status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MDM.KYC_STAT via 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party_status_cd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ACTIVE, INACTIVE or DECEASED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MDM.STATUS via 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eff_start_ts, eff_end_ts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TIMESTAMP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SCD2 window: when this version was valid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Opened when _record_hash changes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is_current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BOOLEAN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True for the latest version only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Derived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 rowSpan="6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party_address</a:t>
                      </a:r>
                    </a:p>
                  </a:txBody>
                  <a:tcPr marL="54864" marR="54864" marT="22860" marB="22860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address_id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Address identifier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MDM.ADDR_ID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party_id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Owning customer → party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MDM.PARTY_ID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address_type_cd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HOME, MAIL or PRIOR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MDM via REF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state_cd, postal_cd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USPS state and ZIP+4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MDM; USPS-standardized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9A3324"/>
                          </a:solidFill>
                          <a:latin typeface="Calibri"/>
                        </a:rPr>
                        <a:t>PII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census_tract_cd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FFIEC census tract of the home address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Geocoded from address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eff_start_ts, eff_end_ts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TIMESTAMP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SCD2 validity window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Derived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4884">
                <a:tc rowSpan="3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application_party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application_id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PK,FK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application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LOS.APP_ID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party_id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PK,FK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party, matched through MDM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 applicant → MDM match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applicant_role_cd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PRIMARY, CO_APPLICANT or GUARANTOR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LOS.APPLICANT_TYPE via 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dictionary: Silver (2/7) — Origination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Applications, bureau pulls and the final underwriting decision.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1" cy="45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Source → derivation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 rowSpan="8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application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application_id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 application number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LOS.APP_ID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product_id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Requested product → product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LOS.PROD_CD mapped via 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channel_cd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BRANCH, ONLINE, DEALER or BROKER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LOS.SRC_CHANNEL via 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application_dt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 the application was submitted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LOS.SUBMIT_TS (date part)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requested_amt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Amount or limit the applicant asked for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LOS.REQ_AMT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stated_income_amt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Annual income stated at application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LOS.INCOME_AMT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dti_ratio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DECIMAL(9,6)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Debt-to-income at submission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 computed; checked 0 to 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application_status_cd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Current pipeline status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Latest LOS CDC row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 rowSpan="5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credit_report</a:t>
                      </a:r>
                    </a:p>
                  </a:txBody>
                  <a:tcPr marL="54864" marR="54864" marT="22860" marB="22860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credit_report_id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Bureau pull identifier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CBR response 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party_id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Person the report is about → party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Matched on tax_id_token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application_id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 that triggered the pull; nullable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 pull request link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bureau_cd, pull_dt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STRING, DATE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EXP, EQF or TUC; date pulled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CBR header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fico_score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FICO score, 300 to 850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CBR score segment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884">
                <a:tc rowSpan="7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underwriting_decision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decision_id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Final decision identifier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LOS.DECISION_ID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application_id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FK,UQ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application; unique, so 1:1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LOS.APP_ID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decision_cd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APPROVE, DECLINE, COUNTER or WITHDRAWN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Latest final LOS decision event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decision_ts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TIMESTAMP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When the final decision was made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LOS.DECISION_TS (UTC)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approved_amt, approved_apr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Approved amount or limit, and APR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 offer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adverse_action_cd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Main decline reasons for the Reg B notice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 reason codes via 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decision_method_cd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AUTO or MANUAL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LOS.UW_TYPE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dictionary: Silver (3/7) — Credit facility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The credit relationship, its behavior rules and its obligors (from the warehouse schema).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1" cy="4283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Source → derivation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 rowSpan="8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credit_facility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facility_id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 relationship identifier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CORE.FACILITY_ID; CARD account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application_id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FK,UQ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 that opened it; null if purchased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 → CORE cross-reference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product_id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product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/ CARD product code via 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origination_dt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 the facility was opened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/ CARD open date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facility_status_cd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OPEN, FROZEN, CLOSED or CHARGED_OFF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CORE.FAC_STAT via 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risk_segment_cd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PD/LGD segment assigned by credit risk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RSK segmentation via 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regulatory_class_cd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Authoritative class for RC-C and RC-L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Product default + collateral rules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eff_start_ts, eff_end_ts, is_current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TS, BOOLEAN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SCD2: new version when segment or class changes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Derived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 rowSpan="7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credit_instrument</a:t>
                      </a:r>
                    </a:p>
                  </a:txBody>
                  <a:tcPr marL="54864" marR="54864" marT="22860" marB="22860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instrument_id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Instrument identifier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Derived; one per facility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facility_id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FK,UQ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credit_facility; unique, so 1:1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/ CARD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instrument_type_cd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REVOLVING, INSTALLMENT, CASH_ADVANCE or BNPL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Product setup via REF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interest_method_cd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How interest accrues, e.g., DAILY_SIMPLE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Product setup via REF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draw_rule_cd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Whether and how funds can be drawn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Product setup via REF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repayment_rule_cd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AMORTIZING, MIN_PAYMENT or BALLOON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Product setup via REF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fee_rule_cd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Fee schedule that applies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Product setup via REF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4884">
                <a:tc rowSpan="3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facility_party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facility_id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PK,FK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credit_facility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BORR file; CARD account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party_id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PK,FK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party, matched through MDM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Obligor → MDM match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obligor_role_cd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PRIMARY, CO_OBLIGOR or GUARANTOR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CORE.REL_CD via 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dictionary: Silver (4/7) — Commitment, risk, allowance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Limit versions, monthly risk estimates and the funded / unfunded CECL allowance.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1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Source → derivation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 rowSpan="7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credit_commitment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commitment_id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Commitment (limit version) identifier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LIMIT file; CARD line change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facility_id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credit_facility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/ CARD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version_nbr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1, 2, 3 ... per facility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Assigned on each limit change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limit_amt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 limit: the amount promised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CORE.LIMIT_AMT; CARD.CREDIT_LINE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effective_dt, expiration_dt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Version start; date the promise expires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LIMIT file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ccf_pct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DECIMAL(9,6)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 conversion factor for undrawn amount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RSK parameter by instrument type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is_current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BOOLEAN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True for the one current version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Derived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 rowSpan="5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facility_risk_monthly</a:t>
                      </a:r>
                    </a:p>
                  </a:txBody>
                  <a:tcPr marL="54864" marR="54864" marT="22860" marB="22860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facility_id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PK,FK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credit_facility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RSK result file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as_of_month_dt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Month-end the estimate applies to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RSK run date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pd_12m, lgd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DECIMAL(9,6)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Probability of default; loss given default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RSK model output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ead_amt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Exposure at default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RSK model output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model_version_id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Model version that produced the estimate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RSK run metadata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 rowSpan="7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credit_allowance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allowance_id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Allowance row identifier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RSK result file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facility_id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credit_facility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RSK result file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loan_id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loan_account; set on FUNDED rows only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RSK result file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commitment_id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credit_commitment; UNFUNDED rows only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RSK result file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allowance_type_cd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FUNDED (contra-asset) or UNFUNDED (liability)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RSK via 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as_of_month_dt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Month-end the allowance applies to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RSK run date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allowance_amt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CECL allowance amount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RSK model output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dictionary: Silver (5/7) — Product and loan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The product catalog, and the loan account: a funded draw, term loan or card balance.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1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Source → derivation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 rowSpan="7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product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product_id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Enterprise product identifier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REF product catalog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product_family_cd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CARD, HOME_EQUITY, AUTO, PERSONAL or BNPL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product_type_cd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HELOC, HE_LOAN, CARD, BNPL, LOC, AUTO, PERSONAL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product_name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Business name of the product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secured_flag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BOOLEAN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True if collateral is required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rate_type_cd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FIXED or VARIABLE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default_regulatory_class_cd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Default regulatory class for new facilities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REF; owned by Reg Reporting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 rowSpan="10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loan_account</a:t>
                      </a:r>
                    </a:p>
                  </a:txBody>
                  <a:tcPr marL="54864" marR="54864" marT="22860" marB="22860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loan_id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 account: term loan, draw or card balance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CORE.ACCT_NBR; CARD balance 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facility_id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credit_facility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/ CARD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commitment_id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Limit version drawn against; null for term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Matched on draw date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loan_type_cd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TERM, DRAW, TERM_CONVERSION, BNPL, CARD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/ CARD via REF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origination_dt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Funding (booking) date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CORE.ORIG_DT parsed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original_principal_amt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Principal at funding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CORE.ORIG_AMT ÷ 100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note_rate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DECIMAL(9,6)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Contract interest rate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CORE.NOTE_RT cast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term_mo, maturity_dt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INT, DATE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Term in months; scheduled maturity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ACCT file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account_status_cd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OPEN, PAID_OFF, CHARGED_OFF or SOLD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CORE.STAT_CD via REF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branch_cd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Booking branch / cost center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CORE.BRANCH_NBR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dictionary: Silver (6/7) — Collateral, transactions, GL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What secures the facility, every posted money movement, and the GL balances used for tie-out.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1" cy="505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Source → derivation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 rowSpan="6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collateral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collateral_id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Collateral item identifier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VAL.COLL_ID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collateral_type_cd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VEHICLE or REAL_ESTATE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VAL via 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asset_identifier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UQ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VIN or property parcel number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VAL; VIN check digit validated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valuation_amt, valuation_dt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DECIMAL, DATE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Latest value and date valued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VAL (book, AVM or appraisal)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valuation_method_cd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BOOK, AVM or APPRAISAL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VAL via 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property_tract_cd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Census tract of the property (HMDA)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Geocoded property address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 rowSpan="4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facility_collateral</a:t>
                      </a:r>
                    </a:p>
                  </a:txBody>
                  <a:tcPr marL="54864" marR="54864" marT="22860" marB="22860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facility_id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PK,FK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credit_facility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VAL lien record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collateral_id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PK,FK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collateral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VAL lien record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lien_position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1 = first lien, 2 = second, ...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VAL lien record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pledged_pct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DECIMAL(9,6)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Share of the collateral pledged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VAL; sums to at most 1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 rowSpan="7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loan_transaction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txn_id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Posted transaction identifier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CORE.TXN_ID; CARD.TRAN_ID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loan_id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loan_account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/ CARD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txn_type_cd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DISB, PMT, INT, FEE, CO, RECOV or REVERSAL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/ CARD code via 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posted_dt, effective_dt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 posted; date it takes effect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/ CARD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txn_amt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Signed amount; reversals are negative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Amount with sign rule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8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principal_amt, interest_amt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How the amount was applied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/ CARD allocation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payment_ref_id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Link to the payment hub record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PAY.PAYMENT_ID match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4884">
                <a:tc rowSpan="4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gl_balance</a:t>
                      </a:r>
                    </a:p>
                  </a:txBody>
                  <a:tcPr marL="54864" marR="54864" marT="22860" marB="22860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gl_account_nbr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General-ledger account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GL extract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cost_center_cd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Cost center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GL extract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as_of_dt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Balance date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GL extract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ledger_balance_amt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GL balance used for tie-out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GL extract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dictionary: Silver (7/7) — Balances, charge-offs,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Schedules, daily balances, charge-off events and collections cases.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1" cy="514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Source → derivation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 rowSpan="4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payment_schedule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schedule_id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Installment identifier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CORE.SCHED_ID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loan_id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loan_account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SCHED file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installment_nbr, due_dt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INT, DATE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Installment number and due date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SCHED file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scheduled_amt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Principal plus interest due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SCHED file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 rowSpan="6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loan_balance_daily</a:t>
                      </a:r>
                    </a:p>
                  </a:txBody>
                  <a:tcPr marL="54864" marR="54864" marT="22860" marB="22860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loan_id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PK,FK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loan_account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EOD file; CARD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as_of_dt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Business date of the balance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File date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principal_balance_amt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Outstanding principal at end of day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CUR_PRIN_BAL ÷ 100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accrued_interest_amt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Interest earned but not yet paid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CORE.ACCR_INT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days_past_due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Days the oldest unpaid amount is late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DPD_CNT; must be ≥ 0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accrual_status_cd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ACCRUAL or NONACCRUAL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ACCR_FLG via REF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 rowSpan="6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loan_chargeoff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chargeoff_id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Charge-off event identifier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/ CARD charge-off record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loan_id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loan_account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/ CARD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txn_id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FK,UQ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The CO transaction this event mirrors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Matched on loan and date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8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chargeoff_dt, chargeoff_amt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DATE, DECIMAL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 and gross amount charged off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 / CARD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chargeoff_reason_cd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e.g., BANKRUPTCY, DPD_120, FRAUD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Reason code via 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recovery_potential_amt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Estimated recoverable amount (optional)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COL estimate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4884">
                <a:tc rowSpan="6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collections_case</a:t>
                      </a:r>
                    </a:p>
                  </a:txBody>
                  <a:tcPr marL="54864" marR="54864" marT="22860" marB="22860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case_id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Collections case identifier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COL.CASE_ID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loan_id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loan_account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COL.ACCT_NBR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open_dt, close_dt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Case opened; closed (null while open)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COL CASE file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case_status_cd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OPEN, PROMISE or CLOSED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COL via REF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close_reason_cd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CURED, PAID_OFF or CHARGED_OFF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COL via REF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contact_attempt_cnt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Contact attempts on the case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Count of brz_col_activity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dictionary: Gold (1/5) — Date, customer,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Surrogate keys (_sk) are generated in Gold; natural keys (NK) link back to Silver for lineage.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1" cy="4750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Source → derivation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6">
                <a:tc rowSpan="4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dim_date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date_key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Calendar date as yyyymmdd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Generated calendar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calendar_dt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Calendar date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Generated calendar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month_end_flag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BOOLEAN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True on the last day of the month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Generated calendar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3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fiscal_qtr_cd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Fiscal quarter, e.g., FY26-Q3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Finance calendar in REF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316">
                <a:tc rowSpan="6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dim_customer (SCD2)</a:t>
                      </a:r>
                    </a:p>
                  </a:txBody>
                  <a:tcPr marL="54864" marR="54864" marT="22860" marB="22860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customer_sk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Surrogate key: one per customer version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Generated on each SCD2 change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3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party_id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NK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Links back to Silver party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party.party_id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3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fico_band_cd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Below 620, 620-679, 680-739, 740+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Latest credit_report.fico_score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3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state_cd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Home-address state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Current HOME party_address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3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customer_tenure_band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Years as a customer, banded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Earliest facility origination_dt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eff_start_dt, eff_end_dt, is_current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DATE, BOOLEAN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Version validity window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Derived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316">
                <a:tc rowSpan="8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dim_account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loan_sk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Surrogate key for the loan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Generated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23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loan_id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NK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Links back to Silver loan_account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loan_account.loan_id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23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loan_type_cd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TERM, DRAW, TERM_CONVERSION, BNPL, CARD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loan_account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23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vintage_qtr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Origination quarter, e.g., 2025-Q2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From origination_dt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23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orig_fico_score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FICO at decision, frozen at funding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credit_report for the application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23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orig_ltv_ratio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DECIMAL(9,6)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Loan-to-value at funding (secured only)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Principal ÷ valuation_amt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23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orig_term_mo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Contract term in months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loan_account.term_mo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23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orig_principal_amt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Funded amount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loan_account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dictionary: Gold (2/5) — Facility and other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dim_facility is new: it folds in the 1:1 instrument and is shared by the loan and facility snapshots.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1" cy="4530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Source → derivation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 rowSpan="7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dim_facility (SCD2)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facility_sk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Surrogate key: one per facility version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Generated on each SCD2 change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facility_id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NK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Links back to Silver credit_facility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credit_facility.facility_id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instrument_type_cd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REVOLVING, INSTALLMENT, CASH_ADVANCE, BNPL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credit_instrument (1:1)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risk_segment_cd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PD/LGD segment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regulatory_class_cd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Class for RC-C and RC-L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facility_status_cd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OPEN, FROZEN, CLOSED or CHARGED_OFF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eff_start_dt, eff_end_dt, is_current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DATE, BOOLEAN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Version validity window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Derived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 rowSpan="4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dim_product</a:t>
                      </a:r>
                    </a:p>
                  </a:txBody>
                  <a:tcPr marL="54864" marR="54864" marT="22860" marB="22860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product_sk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Surrogate key for the product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Generated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product_family_cd, product_type_cd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Product hierarchy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product_name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Business name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default_regulatory_class_cd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Default class for new facilities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product (REF)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 rowSpan="5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dim_geography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geo_sk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Surrogate key for the location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Generated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state_cd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USPS state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party_address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msa_cd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Metropolitan statistical area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FFIEC census file (REF)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census_tract_cd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Census tract; the HMDA / CRA unit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Address geocode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lmi_tract_flag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BOOLEAN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Low- or moderate-income tract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FFIEC income level (REF)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4884">
                <a:tc rowSpan="2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dim_channel</a:t>
                      </a:r>
                    </a:p>
                  </a:txBody>
                  <a:tcPr marL="54864" marR="54864" marT="22860" marB="22860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channel_sk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Surrogate key for the channel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Generated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channel_cd, channel_name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BRANCH, ONLINE, DEALER, BROKER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REF code set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dictionary: Gold (3/5) — Loan snapshot and delinquency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fact_loan_monthly_snapshot grain: one row per loan per month-end. PK = date_key + loan_sk.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1" cy="4713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Source → derivation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 rowSpan="15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fact_loan_monthly_snapshot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date_key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PK,FK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Month-end date → dim_date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loan_balance_daily at month-end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loan_sk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PK,FK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dim_account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Lookup on loan_id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facility_sk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Facility version valid at month-end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loan_account.facility_id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customer_sk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Primary obligor version at month-end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facility_party PRIMARY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product_sk, geo_sk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dim_product, dim_geography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credit_facility; party_address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dlq_sk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Delinquency bucket at month-end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days_past_due in dpd range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principal_balance_amt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Outstanding principal at month-end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loan_balance_daily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accrued_interest_amt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Accrued interest at month-end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loan_balance_daily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days_past_due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Days past due at month-end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loan_balance_daily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accrual_status_cd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ACCRUAL or NONACCRUAL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loan_balance_daily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scheduled_payment_amt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Installments due in the month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Sum of payment_schedule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paid_amt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Payments received in the month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Sum of PMT, net of reversals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chargeoff_amt, recovery_amt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Charge-offs; recoveries in the month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loan_chargeoff; RECOV txns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allowance_amt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Funded CECL allowance for the loan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credit_allowance FUNDED rows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in_collections_flag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BOOLEAN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Open collections case at month-end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collections_case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4884">
                <a:tc rowSpan="5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dim_delinquency_status</a:t>
                      </a:r>
                    </a:p>
                  </a:txBody>
                  <a:tcPr marL="54864" marR="54864" marT="22860" marB="22860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dlq_sk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Surrogate key for the bucket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Generated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dpd_bucket_cd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CURRENT, 1-29, 30-59, 60-89, 90+, CO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REF DPD buckets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dpd_min, dpd_max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Days-past-due range of the bucket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REF DPD buckets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rc_n_column_cd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RC-N column: 30-89, 90+ or nonaccrual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REF; owned by Reg Reporting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roll_order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Bucket sequence for roll-rate matrices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REF DPD buckets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dictionary: Gold (4/5) — Facility snapshot,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fact_facility_monthly_snapshot grain: one row per facility per month-end. PK = date_key + facility_sk.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1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Source → derivation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 rowSpan="13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fact_facility_monthly_snapshot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date_key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PK,FK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Month-end date → dim_date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Month-end calendar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facility_sk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PK,FK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Facility version valid at month-end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customer_sk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Primary obligor version at month-end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facility_party PRIMARY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product_sk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dim_product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credit_facility.product_id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limit_amt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Current limit at month-end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credit_commitment is_current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funded_balance_amt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Sum of the facility’s loan balances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loan_balance_daily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undrawn_amt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Unused limit: limit minus funded, floor 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Derived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utilization_pct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DECIMAL(9,6)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Funded ÷ limit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Derived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ccf_pct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DECIMAL(9,6)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 conversion factor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credit_commitment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ead_amt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Exposure at default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facility_risk_monthly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pd_12m, lgd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DECIMAL(9,6)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Probability of default; loss given default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facility_risk_monthly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funded_allowance_amt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Allowance on drawn balances (contra-asset)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credit_allowance FUNDED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unfunded_allowance_amt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Allowance on undrawn limits (liability)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credit_allowance UNFUNDED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744">
                <a:tc rowSpan="4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bridge_facility_customer</a:t>
                      </a:r>
                    </a:p>
                  </a:txBody>
                  <a:tcPr marL="54864" marR="54864" marT="22860" marB="22860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facility_sk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PK,FK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dim_facility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facility_party.facility_id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customer_sk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PK,FK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dim_customer (current version)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facility_party.party_id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obligor_role_cd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PRIMARY, CO_OBLIGOR or GUARANTOR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facility_party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allocation_pct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DECIMAL(9,6)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Weight so a joint facility counts once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Default 1 ÷ obligors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dictionary: Gold (5/5) — Application &amp; transaction 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Grains: one row per application; one row per posted transaction.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7008"/>
          <a:ext cx="11274551" cy="4764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Source → derivation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ADCEA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2860" marB="22860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 rowSpan="11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fact_application</a:t>
                      </a:r>
                    </a:p>
                  </a:txBody>
                  <a:tcPr marL="54864" marR="54864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application_id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PK,DD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 number, kept on the fact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application.application_id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application_date_key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Submission date → dim_date (role 1)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application.application_dt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decision_date_key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Decision date → dim_date (role 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underwriting_decision.decision_ts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customer_sk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Primary applicant as of application date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application_party PRIMARY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product_sk, channel_sk, geo_sk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dim_product, dim_channel, dim_geography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application; applicant address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requested_amt, approved_amt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Requested; approved (0 if declined)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application; decision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approved_flag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 (0/1)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1 if decision is APPROVE or COUNTER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underwriting_decision.decision_cd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funded_flag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 (0/1)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1 if a credit facility was opened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credit_facility.application_id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fico_score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Score from the pull tied to the application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credit_report (primary applicant)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dti_ratio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DECIMAL(9,6)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Debt-to-income at submission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decision_hours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DECIMAL(9,2)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Hours from submission to decision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decision_ts minus submit time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 rowSpan="6"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2130"/>
                          </a:solidFill>
                          <a:latin typeface="Courier New"/>
                        </a:rPr>
                        <a:t>fact_loan_transaction</a:t>
                      </a:r>
                    </a:p>
                  </a:txBody>
                  <a:tcPr marL="54864" marR="54864" marT="22860" marB="22860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txn_id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PK,DD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Transaction ID, kept on the fact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loan_transaction.txn_id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posted_date_key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dim_date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loan_transaction.posted_dt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loan_sk, product_sk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BIGINT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FK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→ dim_account, dim_product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loan_id; facility product_id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txn_type_cd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DISB, PMT, INT, FEE, CO, RECOV or REVERSAL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loan_transaction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txn_amt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Signed transaction amount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loan_transaction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38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principal_amt, interest_amt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DECIMAL(18,2)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A2130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Principal and interest components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loan_transaction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Conf</a:t>
                      </a:r>
                    </a:p>
                  </a:txBody>
                  <a:tcPr marL="54864" marR="54864" marT="22860" marB="22860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Lineage overview: source to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Each left-hand box is a source system and the Bronze tables it lands; every report traces back to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2514600" cy="274320"/>
          </a:xfrm>
          <a:prstGeom prst="rect">
            <a:avLst/>
          </a:prstGeom>
          <a:solidFill>
            <a:srgbClr val="8A5A2B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ourier New"/>
              </a:rPr>
              <a:t>SOURCE → BRONZE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40" y="1261872"/>
            <a:ext cx="2103120" cy="274320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ourier New"/>
              </a:rPr>
              <a:t>SILVER DOMAINS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261872"/>
            <a:ext cx="2240280" cy="274320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ourier New"/>
              </a:rPr>
              <a:t>GOLD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261872"/>
            <a:ext cx="2587752" cy="274320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ourier New"/>
              </a:rPr>
              <a:t>REPORTS / USE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2514600" cy="347472"/>
          </a:xfrm>
          <a:prstGeom prst="rect">
            <a:avLst/>
          </a:prstGeom>
          <a:solidFill>
            <a:srgbClr val="F4EBE2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709928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A5A2B"/>
                </a:solidFill>
                <a:latin typeface="Calibri"/>
              </a:rPr>
              <a:t>LOS  </a:t>
            </a:r>
            <a:r>
              <a:rPr sz="850" b="1" i="0">
                <a:solidFill>
                  <a:srgbClr val="1A2130"/>
                </a:solidFill>
                <a:latin typeface="Calibri"/>
              </a:rPr>
              <a:t>Loan origination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865376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1A2130"/>
                </a:solidFill>
                <a:latin typeface="Calibri"/>
              </a:rPr>
              <a:t>Lands 3 tables: </a:t>
            </a:r>
            <a:r>
              <a:rPr sz="800" b="0" i="0">
                <a:solidFill>
                  <a:srgbClr val="57626B"/>
                </a:solidFill>
                <a:latin typeface="Calibri"/>
              </a:rPr>
              <a:t>application, applicant, decision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2514600" cy="347472"/>
          </a:xfrm>
          <a:prstGeom prst="rect">
            <a:avLst/>
          </a:prstGeom>
          <a:solidFill>
            <a:srgbClr val="F4EBE2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121408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A5A2B"/>
                </a:solidFill>
                <a:latin typeface="Calibri"/>
              </a:rPr>
              <a:t>CBR  </a:t>
            </a:r>
            <a:r>
              <a:rPr sz="850" b="1" i="0">
                <a:solidFill>
                  <a:srgbClr val="1A2130"/>
                </a:solidFill>
                <a:latin typeface="Calibri"/>
              </a:rPr>
              <a:t>Credit bureaus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276856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1A2130"/>
                </a:solidFill>
                <a:latin typeface="Calibri"/>
              </a:rPr>
              <a:t>Lands 1 table: </a:t>
            </a:r>
            <a:r>
              <a:rPr sz="800" b="0" i="0">
                <a:solidFill>
                  <a:srgbClr val="57626B"/>
                </a:solidFill>
                <a:latin typeface="Calibri"/>
              </a:rPr>
              <a:t>credit_report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2514600" cy="347472"/>
          </a:xfrm>
          <a:prstGeom prst="rect">
            <a:avLst/>
          </a:prstGeom>
          <a:solidFill>
            <a:srgbClr val="F4EBE2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2532888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A5A2B"/>
                </a:solidFill>
                <a:latin typeface="Calibri"/>
              </a:rPr>
              <a:t>MDM  </a:t>
            </a:r>
            <a:r>
              <a:rPr sz="850" b="1" i="0">
                <a:solidFill>
                  <a:srgbClr val="1A2130"/>
                </a:solidFill>
                <a:latin typeface="Calibri"/>
              </a:rPr>
              <a:t>Customer master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688336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1A2130"/>
                </a:solidFill>
                <a:latin typeface="Calibri"/>
              </a:rPr>
              <a:t>Lands 2 tables: </a:t>
            </a:r>
            <a:r>
              <a:rPr sz="800" b="0" i="0">
                <a:solidFill>
                  <a:srgbClr val="57626B"/>
                </a:solidFill>
                <a:latin typeface="Calibri"/>
              </a:rPr>
              <a:t>party, address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26080"/>
            <a:ext cx="2514600" cy="347472"/>
          </a:xfrm>
          <a:prstGeom prst="rect">
            <a:avLst/>
          </a:prstGeom>
          <a:solidFill>
            <a:srgbClr val="F4EBE2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944368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A5A2B"/>
                </a:solidFill>
                <a:latin typeface="Calibri"/>
              </a:rPr>
              <a:t>CORE  </a:t>
            </a:r>
            <a:r>
              <a:rPr sz="850" b="1" i="0">
                <a:solidFill>
                  <a:srgbClr val="1A2130"/>
                </a:solidFill>
                <a:latin typeface="Calibri"/>
              </a:rPr>
              <a:t>Core loan servicing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099816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1A2130"/>
                </a:solidFill>
                <a:latin typeface="Calibri"/>
              </a:rPr>
              <a:t>Lands 7 tables: </a:t>
            </a:r>
            <a:r>
              <a:rPr sz="800" b="0" i="0">
                <a:solidFill>
                  <a:srgbClr val="57626B"/>
                </a:solidFill>
                <a:latin typeface="Calibri"/>
              </a:rPr>
              <a:t>facility, account, +5 more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37560"/>
            <a:ext cx="2514600" cy="347472"/>
          </a:xfrm>
          <a:prstGeom prst="rect">
            <a:avLst/>
          </a:prstGeom>
          <a:solidFill>
            <a:srgbClr val="F4EBE2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3355848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A5A2B"/>
                </a:solidFill>
                <a:latin typeface="Calibri"/>
              </a:rPr>
              <a:t>CARD  </a:t>
            </a:r>
            <a:r>
              <a:rPr sz="850" b="1" i="0">
                <a:solidFill>
                  <a:srgbClr val="1A2130"/>
                </a:solidFill>
                <a:latin typeface="Calibri"/>
              </a:rPr>
              <a:t>Card 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511296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1A2130"/>
                </a:solidFill>
                <a:latin typeface="Calibri"/>
              </a:rPr>
              <a:t>Lands 2 tables: </a:t>
            </a:r>
            <a:r>
              <a:rPr sz="800" b="0" i="0">
                <a:solidFill>
                  <a:srgbClr val="57626B"/>
                </a:solidFill>
                <a:latin typeface="Calibri"/>
              </a:rPr>
              <a:t>account,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49039"/>
            <a:ext cx="2514600" cy="347472"/>
          </a:xfrm>
          <a:prstGeom prst="rect">
            <a:avLst/>
          </a:prstGeom>
          <a:solidFill>
            <a:srgbClr val="F4EBE2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767327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A5A2B"/>
                </a:solidFill>
                <a:latin typeface="Calibri"/>
              </a:rPr>
              <a:t>PAY  </a:t>
            </a:r>
            <a:r>
              <a:rPr sz="850" b="1" i="0">
                <a:solidFill>
                  <a:srgbClr val="1A2130"/>
                </a:solidFill>
                <a:latin typeface="Calibri"/>
              </a:rPr>
              <a:t>Payments 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3922776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1A2130"/>
                </a:solidFill>
                <a:latin typeface="Calibri"/>
              </a:rPr>
              <a:t>Lands 1 table: </a:t>
            </a:r>
            <a:r>
              <a:rPr sz="800" b="0" i="0">
                <a:solidFill>
                  <a:srgbClr val="57626B"/>
                </a:solidFill>
                <a:latin typeface="Calibri"/>
              </a:rPr>
              <a:t>payment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60520"/>
            <a:ext cx="2514600" cy="347472"/>
          </a:xfrm>
          <a:prstGeom prst="rect">
            <a:avLst/>
          </a:prstGeom>
          <a:solidFill>
            <a:srgbClr val="F4EBE2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4178808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A5A2B"/>
                </a:solidFill>
                <a:latin typeface="Calibri"/>
              </a:rPr>
              <a:t>COL  </a:t>
            </a:r>
            <a:r>
              <a:rPr sz="850" b="1" i="0">
                <a:solidFill>
                  <a:srgbClr val="1A2130"/>
                </a:solidFill>
                <a:latin typeface="Calibri"/>
              </a:rPr>
              <a:t>Collections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334256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1A2130"/>
                </a:solidFill>
                <a:latin typeface="Calibri"/>
              </a:rPr>
              <a:t>Lands 2 tables: </a:t>
            </a:r>
            <a:r>
              <a:rPr sz="800" b="0" i="0">
                <a:solidFill>
                  <a:srgbClr val="57626B"/>
                </a:solidFill>
                <a:latin typeface="Calibri"/>
              </a:rPr>
              <a:t>case, activity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72000"/>
            <a:ext cx="2514600" cy="347472"/>
          </a:xfrm>
          <a:prstGeom prst="rect">
            <a:avLst/>
          </a:prstGeom>
          <a:solidFill>
            <a:srgbClr val="F4EBE2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4590288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A5A2B"/>
                </a:solidFill>
                <a:latin typeface="Calibri"/>
              </a:rPr>
              <a:t>VAL  </a:t>
            </a:r>
            <a:r>
              <a:rPr sz="850" b="1" i="0">
                <a:solidFill>
                  <a:srgbClr val="1A2130"/>
                </a:solidFill>
                <a:latin typeface="Calibri"/>
              </a:rPr>
              <a:t>Collateral 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4745736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1A2130"/>
                </a:solidFill>
                <a:latin typeface="Calibri"/>
              </a:rPr>
              <a:t>Lands 1 table: </a:t>
            </a:r>
            <a:r>
              <a:rPr sz="800" b="0" i="0">
                <a:solidFill>
                  <a:srgbClr val="57626B"/>
                </a:solidFill>
                <a:latin typeface="Calibri"/>
              </a:rPr>
              <a:t>collateral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83480"/>
            <a:ext cx="2514600" cy="347472"/>
          </a:xfrm>
          <a:prstGeom prst="rect">
            <a:avLst/>
          </a:prstGeom>
          <a:solidFill>
            <a:srgbClr val="F4EBE2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" y="5001768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A5A2B"/>
                </a:solidFill>
                <a:latin typeface="Calibri"/>
              </a:rPr>
              <a:t>RSK  </a:t>
            </a:r>
            <a:r>
              <a:rPr sz="850" b="1" i="0">
                <a:solidFill>
                  <a:srgbClr val="1A2130"/>
                </a:solidFill>
                <a:latin typeface="Calibri"/>
              </a:rPr>
              <a:t>CECL / credit-risk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5157216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1A2130"/>
                </a:solidFill>
                <a:latin typeface="Calibri"/>
              </a:rPr>
              <a:t>Lands 1 table: </a:t>
            </a:r>
            <a:r>
              <a:rPr sz="800" b="0" i="0">
                <a:solidFill>
                  <a:srgbClr val="57626B"/>
                </a:solidFill>
                <a:latin typeface="Calibri"/>
              </a:rPr>
              <a:t>cecl_result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394960"/>
            <a:ext cx="2514600" cy="347472"/>
          </a:xfrm>
          <a:prstGeom prst="rect">
            <a:avLst/>
          </a:prstGeom>
          <a:solidFill>
            <a:srgbClr val="F4EBE2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5413248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A5A2B"/>
                </a:solidFill>
                <a:latin typeface="Calibri"/>
              </a:rPr>
              <a:t>GL  </a:t>
            </a:r>
            <a:r>
              <a:rPr sz="850" b="1" i="0">
                <a:solidFill>
                  <a:srgbClr val="1A2130"/>
                </a:solidFill>
                <a:latin typeface="Calibri"/>
              </a:rPr>
              <a:t>General ledger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5568696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1A2130"/>
                </a:solidFill>
                <a:latin typeface="Calibri"/>
              </a:rPr>
              <a:t>Lands 1 table: </a:t>
            </a:r>
            <a:r>
              <a:rPr sz="800" b="0" i="0">
                <a:solidFill>
                  <a:srgbClr val="57626B"/>
                </a:solidFill>
                <a:latin typeface="Calibri"/>
              </a:rPr>
              <a:t>balance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806440"/>
            <a:ext cx="2514600" cy="347472"/>
          </a:xfrm>
          <a:prstGeom prst="rect">
            <a:avLst/>
          </a:prstGeom>
          <a:solidFill>
            <a:srgbClr val="F4EBE2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5824727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A5A2B"/>
                </a:solidFill>
                <a:latin typeface="Calibri"/>
              </a:rPr>
              <a:t>REF  </a:t>
            </a:r>
            <a:r>
              <a:rPr sz="850" b="1" i="0">
                <a:solidFill>
                  <a:srgbClr val="1A2130"/>
                </a:solidFill>
                <a:latin typeface="Calibri"/>
              </a:rPr>
              <a:t>Reference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5980176"/>
            <a:ext cx="24048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1A2130"/>
                </a:solidFill>
                <a:latin typeface="Calibri"/>
              </a:rPr>
              <a:t>Lands 2 tables: </a:t>
            </a:r>
            <a:r>
              <a:rPr sz="800" b="0" i="0">
                <a:solidFill>
                  <a:srgbClr val="57626B"/>
                </a:solidFill>
                <a:latin typeface="Calibri"/>
              </a:rPr>
              <a:t>product, code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24535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7626B"/>
                </a:solidFill>
                <a:latin typeface="Calibri"/>
              </a:rPr>
              <a:t>Bronze table name = brz_&lt;source&gt;_&lt;table&gt;, e.g., brz_los_application. Full list: page 12.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1691640"/>
            <a:ext cx="2103120" cy="420624"/>
          </a:xfrm>
          <a:prstGeom prst="rect">
            <a:avLst/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750" b="1" i="0">
                <a:solidFill>
                  <a:srgbClr val="1A2130"/>
                </a:solidFill>
                <a:latin typeface="Calibri"/>
              </a:rPr>
              <a:t>Party</a:t>
            </a:r>
          </a:p>
          <a:p>
            <a:pPr algn="l"/>
            <a:r>
              <a:rPr sz="750" b="0" i="0">
                <a:solidFill>
                  <a:srgbClr val="57626B"/>
                </a:solidFill>
                <a:latin typeface="Calibri"/>
              </a:rPr>
              <a:t>party, party_address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2185416"/>
            <a:ext cx="2103120" cy="420624"/>
          </a:xfrm>
          <a:prstGeom prst="rect">
            <a:avLst/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750" b="1" i="0">
                <a:solidFill>
                  <a:srgbClr val="1A2130"/>
                </a:solidFill>
                <a:latin typeface="Calibri"/>
              </a:rPr>
              <a:t>Origination</a:t>
            </a:r>
          </a:p>
          <a:p>
            <a:pPr algn="l"/>
            <a:r>
              <a:rPr sz="750" b="0" i="0">
                <a:solidFill>
                  <a:srgbClr val="57626B"/>
                </a:solidFill>
                <a:latin typeface="Calibri"/>
              </a:rPr>
              <a:t>application, application_party, decision, credit_report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2679192"/>
            <a:ext cx="2103120" cy="420624"/>
          </a:xfrm>
          <a:prstGeom prst="rect">
            <a:avLst/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750" b="1" i="0">
                <a:solidFill>
                  <a:srgbClr val="1A2130"/>
                </a:solidFill>
                <a:latin typeface="Calibri"/>
              </a:rPr>
              <a:t>Credit exposure</a:t>
            </a:r>
          </a:p>
          <a:p>
            <a:pPr algn="l"/>
            <a:r>
              <a:rPr sz="750" b="0" i="0">
                <a:solidFill>
                  <a:srgbClr val="57626B"/>
                </a:solidFill>
                <a:latin typeface="Calibri"/>
              </a:rPr>
              <a:t>credit_facility, _instrument, _commitment, facility_party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20440" y="3172968"/>
            <a:ext cx="2103120" cy="420624"/>
          </a:xfrm>
          <a:prstGeom prst="rect">
            <a:avLst/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750" b="1" i="0">
                <a:solidFill>
                  <a:srgbClr val="1A2130"/>
                </a:solidFill>
                <a:latin typeface="Calibri"/>
              </a:rPr>
              <a:t>Collateral</a:t>
            </a:r>
          </a:p>
          <a:p>
            <a:pPr algn="l"/>
            <a:r>
              <a:rPr sz="750" b="0" i="0">
                <a:solidFill>
                  <a:srgbClr val="57626B"/>
                </a:solidFill>
                <a:latin typeface="Calibri"/>
              </a:rPr>
              <a:t>collateral, facility_collateral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3666744"/>
            <a:ext cx="2103120" cy="420624"/>
          </a:xfrm>
          <a:prstGeom prst="rect">
            <a:avLst/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750" b="1" i="0">
                <a:solidFill>
                  <a:srgbClr val="1A2130"/>
                </a:solidFill>
                <a:latin typeface="Calibri"/>
              </a:rPr>
              <a:t>Account</a:t>
            </a:r>
          </a:p>
          <a:p>
            <a:pPr algn="l"/>
            <a:r>
              <a:rPr sz="750" b="0" i="0">
                <a:solidFill>
                  <a:srgbClr val="57626B"/>
                </a:solidFill>
                <a:latin typeface="Calibri"/>
              </a:rPr>
              <a:t>loan_account, product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20440" y="4160520"/>
            <a:ext cx="2103120" cy="420624"/>
          </a:xfrm>
          <a:prstGeom prst="rect">
            <a:avLst/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750" b="1" i="0">
                <a:solidFill>
                  <a:srgbClr val="1A2130"/>
                </a:solidFill>
                <a:latin typeface="Calibri"/>
              </a:rPr>
              <a:t>Activity</a:t>
            </a:r>
          </a:p>
          <a:p>
            <a:pPr algn="l"/>
            <a:r>
              <a:rPr sz="750" b="0" i="0">
                <a:solidFill>
                  <a:srgbClr val="57626B"/>
                </a:solidFill>
                <a:latin typeface="Calibri"/>
              </a:rPr>
              <a:t>loan_transaction, _balance_daily, payment_schedule, loan_chargeoff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4654296"/>
            <a:ext cx="2103120" cy="420624"/>
          </a:xfrm>
          <a:prstGeom prst="rect">
            <a:avLst/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750" b="1" i="0">
                <a:solidFill>
                  <a:srgbClr val="1A2130"/>
                </a:solidFill>
                <a:latin typeface="Calibri"/>
              </a:rPr>
              <a:t>Risk &amp; allowance</a:t>
            </a:r>
          </a:p>
          <a:p>
            <a:pPr algn="l"/>
            <a:r>
              <a:rPr sz="750" b="0" i="0">
                <a:solidFill>
                  <a:srgbClr val="57626B"/>
                </a:solidFill>
                <a:latin typeface="Calibri"/>
              </a:rPr>
              <a:t>facility_risk_monthly, credit_allowance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20440" y="5148072"/>
            <a:ext cx="2103120" cy="420624"/>
          </a:xfrm>
          <a:prstGeom prst="rect">
            <a:avLst/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750" b="1" i="0">
                <a:solidFill>
                  <a:srgbClr val="1A2130"/>
                </a:solidFill>
                <a:latin typeface="Calibri"/>
              </a:rPr>
              <a:t>Collections</a:t>
            </a:r>
          </a:p>
          <a:p>
            <a:pPr algn="l"/>
            <a:r>
              <a:rPr sz="750" b="0" i="0">
                <a:solidFill>
                  <a:srgbClr val="57626B"/>
                </a:solidFill>
                <a:latin typeface="Calibri"/>
              </a:rPr>
              <a:t>collections_case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641848"/>
            <a:ext cx="2103120" cy="420624"/>
          </a:xfrm>
          <a:prstGeom prst="rect">
            <a:avLst/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750" b="1" i="0">
                <a:solidFill>
                  <a:srgbClr val="1A2130"/>
                </a:solidFill>
                <a:latin typeface="Calibri"/>
              </a:rPr>
              <a:t>Finance</a:t>
            </a:r>
          </a:p>
          <a:p>
            <a:pPr algn="l"/>
            <a:r>
              <a:rPr sz="750" b="0" i="0">
                <a:solidFill>
                  <a:srgbClr val="57626B"/>
                </a:solidFill>
                <a:latin typeface="Calibri"/>
              </a:rPr>
              <a:t>gl_balance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1691640"/>
            <a:ext cx="2240280" cy="548640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fact_application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2468880"/>
            <a:ext cx="2240280" cy="548640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fact_loan_monthly_snapshot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3246120"/>
            <a:ext cx="2240280" cy="548640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fact_facility_monthly_snapshot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4023360"/>
            <a:ext cx="2240280" cy="548640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fact_loan_transaction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4800600"/>
            <a:ext cx="2240280" cy="548640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Conformed dims + bridge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5394960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57626B"/>
                </a:solidFill>
                <a:latin typeface="Calibri"/>
              </a:rPr>
              <a:t>Dimension lines omitted for readability.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0" y="1691640"/>
            <a:ext cx="25877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Portfolio performance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0" y="2130552"/>
            <a:ext cx="25877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Delinquency &amp; roll rates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0" y="2569464"/>
            <a:ext cx="25877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Credit losses &amp; CECL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008376"/>
            <a:ext cx="25877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Exposure &amp; utilization (EAD)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0" y="3447288"/>
            <a:ext cx="25877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Call Report RC-C / RC-N / RC-L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0" y="3886200"/>
            <a:ext cx="25877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HMDA &amp; fair lending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0" y="4325112"/>
            <a:ext cx="25877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Origination funnel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44000" y="4764024"/>
            <a:ext cx="25877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Vintage analysis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0" y="5202936"/>
            <a:ext cx="25877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Collections effectiveness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0" y="5641848"/>
            <a:ext cx="25877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0" i="0">
                <a:solidFill>
                  <a:srgbClr val="1A2130"/>
                </a:solidFill>
                <a:latin typeface="Calibri"/>
              </a:rPr>
              <a:t>Subledger-to-GL tie-out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971800" y="1865376"/>
            <a:ext cx="548640" cy="530352"/>
          </a:xfrm>
          <a:prstGeom prst="line">
            <a:avLst/>
          </a:prstGeom>
          <a:ln w="12700">
            <a:solidFill>
              <a:srgbClr val="8A5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971800" y="1865376"/>
            <a:ext cx="548640" cy="36576"/>
          </a:xfrm>
          <a:prstGeom prst="line">
            <a:avLst/>
          </a:prstGeom>
          <a:ln w="12700">
            <a:solidFill>
              <a:srgbClr val="8A5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971800" y="2276856"/>
            <a:ext cx="548640" cy="118872"/>
          </a:xfrm>
          <a:prstGeom prst="line">
            <a:avLst/>
          </a:prstGeom>
          <a:ln w="12700">
            <a:solidFill>
              <a:srgbClr val="8A5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971800" y="1901952"/>
            <a:ext cx="548640" cy="786384"/>
          </a:xfrm>
          <a:prstGeom prst="line">
            <a:avLst/>
          </a:prstGeom>
          <a:ln w="12700">
            <a:solidFill>
              <a:srgbClr val="8A5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971800" y="2889504"/>
            <a:ext cx="548640" cy="210312"/>
          </a:xfrm>
          <a:prstGeom prst="line">
            <a:avLst/>
          </a:prstGeom>
          <a:ln w="12700">
            <a:solidFill>
              <a:srgbClr val="8A5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971800" y="3099816"/>
            <a:ext cx="548640" cy="777240"/>
          </a:xfrm>
          <a:prstGeom prst="line">
            <a:avLst/>
          </a:prstGeom>
          <a:ln w="12700">
            <a:solidFill>
              <a:srgbClr val="8A5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971800" y="3099816"/>
            <a:ext cx="548640" cy="1271016"/>
          </a:xfrm>
          <a:prstGeom prst="line">
            <a:avLst/>
          </a:prstGeom>
          <a:ln w="12700">
            <a:solidFill>
              <a:srgbClr val="8A5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971800" y="2889504"/>
            <a:ext cx="548640" cy="621792"/>
          </a:xfrm>
          <a:prstGeom prst="line">
            <a:avLst/>
          </a:prstGeom>
          <a:ln w="12700">
            <a:solidFill>
              <a:srgbClr val="8A5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971800" y="3511296"/>
            <a:ext cx="548640" cy="365760"/>
          </a:xfrm>
          <a:prstGeom prst="line">
            <a:avLst/>
          </a:prstGeom>
          <a:ln w="12700">
            <a:solidFill>
              <a:srgbClr val="8A5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971800" y="3511296"/>
            <a:ext cx="548640" cy="859536"/>
          </a:xfrm>
          <a:prstGeom prst="line">
            <a:avLst/>
          </a:prstGeom>
          <a:ln w="12700">
            <a:solidFill>
              <a:srgbClr val="8A5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971800" y="3922776"/>
            <a:ext cx="548640" cy="448056"/>
          </a:xfrm>
          <a:prstGeom prst="line">
            <a:avLst/>
          </a:prstGeom>
          <a:ln w="12700">
            <a:solidFill>
              <a:srgbClr val="8A5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971800" y="4334256"/>
            <a:ext cx="548640" cy="1024128"/>
          </a:xfrm>
          <a:prstGeom prst="line">
            <a:avLst/>
          </a:prstGeom>
          <a:ln w="12700">
            <a:solidFill>
              <a:srgbClr val="8A5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971800" y="3383280"/>
            <a:ext cx="548640" cy="1362456"/>
          </a:xfrm>
          <a:prstGeom prst="line">
            <a:avLst/>
          </a:prstGeom>
          <a:ln w="12700">
            <a:solidFill>
              <a:srgbClr val="8A5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971800" y="4864608"/>
            <a:ext cx="548640" cy="292608"/>
          </a:xfrm>
          <a:prstGeom prst="line">
            <a:avLst/>
          </a:prstGeom>
          <a:ln w="12700">
            <a:solidFill>
              <a:srgbClr val="8A5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971800" y="5568696"/>
            <a:ext cx="548640" cy="283464"/>
          </a:xfrm>
          <a:prstGeom prst="line">
            <a:avLst/>
          </a:prstGeom>
          <a:ln w="12700">
            <a:solidFill>
              <a:srgbClr val="8A5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971800" y="3877056"/>
            <a:ext cx="548640" cy="2103120"/>
          </a:xfrm>
          <a:prstGeom prst="line">
            <a:avLst/>
          </a:prstGeom>
          <a:ln w="12700">
            <a:solidFill>
              <a:srgbClr val="8A5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5623560" y="1965960"/>
            <a:ext cx="640080" cy="429768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623560" y="1901952"/>
            <a:ext cx="640080" cy="64008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623560" y="2743200"/>
            <a:ext cx="640080" cy="1133856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623560" y="2743200"/>
            <a:ext cx="640080" cy="1627632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623560" y="2743200"/>
            <a:ext cx="640080" cy="2121408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5623560" y="2743200"/>
            <a:ext cx="640080" cy="2615184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623560" y="2889504"/>
            <a:ext cx="640080" cy="630935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5623560" y="3520439"/>
            <a:ext cx="640080" cy="850393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5623560" y="3520439"/>
            <a:ext cx="640080" cy="1344169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5623560" y="4297680"/>
            <a:ext cx="640080" cy="73152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623560" y="1901952"/>
            <a:ext cx="640080" cy="3172968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623560" y="2889504"/>
            <a:ext cx="640080" cy="2185416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623560" y="3383280"/>
            <a:ext cx="640080" cy="1691640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5623560" y="3877056"/>
            <a:ext cx="640080" cy="1197864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503920" y="1965960"/>
            <a:ext cx="640080" cy="2093976"/>
          </a:xfrm>
          <a:prstGeom prst="line">
            <a:avLst/>
          </a:prstGeom>
          <a:ln w="12700">
            <a:solidFill>
              <a:srgbClr val="866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503920" y="1965960"/>
            <a:ext cx="640080" cy="2532888"/>
          </a:xfrm>
          <a:prstGeom prst="line">
            <a:avLst/>
          </a:prstGeom>
          <a:ln w="12700">
            <a:solidFill>
              <a:srgbClr val="866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503920" y="1865376"/>
            <a:ext cx="640080" cy="877824"/>
          </a:xfrm>
          <a:prstGeom prst="line">
            <a:avLst/>
          </a:prstGeom>
          <a:ln w="12700">
            <a:solidFill>
              <a:srgbClr val="866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503920" y="2304288"/>
            <a:ext cx="640080" cy="438912"/>
          </a:xfrm>
          <a:prstGeom prst="line">
            <a:avLst/>
          </a:prstGeom>
          <a:ln w="12700">
            <a:solidFill>
              <a:srgbClr val="866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8503920" y="2743200"/>
            <a:ext cx="640080" cy="0"/>
          </a:xfrm>
          <a:prstGeom prst="line">
            <a:avLst/>
          </a:prstGeom>
          <a:ln w="12700">
            <a:solidFill>
              <a:srgbClr val="866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503920" y="2743200"/>
            <a:ext cx="640080" cy="877824"/>
          </a:xfrm>
          <a:prstGeom prst="line">
            <a:avLst/>
          </a:prstGeom>
          <a:ln w="12700">
            <a:solidFill>
              <a:srgbClr val="866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503920" y="2743200"/>
            <a:ext cx="640080" cy="2194560"/>
          </a:xfrm>
          <a:prstGeom prst="line">
            <a:avLst/>
          </a:prstGeom>
          <a:ln w="12700">
            <a:solidFill>
              <a:srgbClr val="866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503920" y="2743200"/>
            <a:ext cx="640080" cy="2633472"/>
          </a:xfrm>
          <a:prstGeom prst="line">
            <a:avLst/>
          </a:prstGeom>
          <a:ln w="12700">
            <a:solidFill>
              <a:srgbClr val="866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8503920" y="2743200"/>
            <a:ext cx="640080" cy="3072384"/>
          </a:xfrm>
          <a:prstGeom prst="line">
            <a:avLst/>
          </a:prstGeom>
          <a:ln w="12700">
            <a:solidFill>
              <a:srgbClr val="866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503920" y="2743200"/>
            <a:ext cx="640080" cy="777239"/>
          </a:xfrm>
          <a:prstGeom prst="line">
            <a:avLst/>
          </a:prstGeom>
          <a:ln w="12700">
            <a:solidFill>
              <a:srgbClr val="866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503920" y="3182112"/>
            <a:ext cx="640080" cy="338327"/>
          </a:xfrm>
          <a:prstGeom prst="line">
            <a:avLst/>
          </a:prstGeom>
          <a:ln w="12700">
            <a:solidFill>
              <a:srgbClr val="866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503920" y="3520439"/>
            <a:ext cx="640080" cy="100585"/>
          </a:xfrm>
          <a:prstGeom prst="line">
            <a:avLst/>
          </a:prstGeom>
          <a:ln w="12700">
            <a:solidFill>
              <a:srgbClr val="866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503920" y="3520439"/>
            <a:ext cx="640080" cy="2295145"/>
          </a:xfrm>
          <a:prstGeom prst="line">
            <a:avLst/>
          </a:prstGeom>
          <a:ln w="12700">
            <a:solidFill>
              <a:srgbClr val="866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8503920" y="2743200"/>
            <a:ext cx="640080" cy="1554480"/>
          </a:xfrm>
          <a:prstGeom prst="line">
            <a:avLst/>
          </a:prstGeom>
          <a:ln w="12700">
            <a:solidFill>
              <a:srgbClr val="866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8503920" y="4297680"/>
            <a:ext cx="640080" cy="1078992"/>
          </a:xfrm>
          <a:prstGeom prst="line">
            <a:avLst/>
          </a:prstGeom>
          <a:ln w="12700">
            <a:solidFill>
              <a:srgbClr val="866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5623560" y="5852160"/>
            <a:ext cx="3200400" cy="0"/>
          </a:xfrm>
          <a:prstGeom prst="line">
            <a:avLst/>
          </a:prstGeom>
          <a:ln w="12700">
            <a:solidFill>
              <a:srgbClr val="5B67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8823960" y="5815584"/>
            <a:ext cx="0" cy="36576"/>
          </a:xfrm>
          <a:prstGeom prst="line">
            <a:avLst/>
          </a:prstGeom>
          <a:ln w="12700">
            <a:solidFill>
              <a:srgbClr val="5B67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823960" y="5815584"/>
            <a:ext cx="320040" cy="0"/>
          </a:xfrm>
          <a:prstGeom prst="line">
            <a:avLst/>
          </a:prstGeom>
          <a:ln w="12700">
            <a:solidFill>
              <a:srgbClr val="5B677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6263640" y="5632704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7626B"/>
                </a:solidFill>
                <a:latin typeface="Calibri"/>
              </a:rPr>
              <a:t>gl_balance used directly for tie-out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Table-level lineage: what each Gold object is built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Read right to left for impact analysis: if a source changes, which Gold objects and reports are affected?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61872"/>
          <a:ext cx="11274552" cy="4507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Gold object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Built from Silver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Which comes from Bronze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Sources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Key transformation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fact_loan_monthly_snapshot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loan_balance_daily, loan_account, loan_transaction, loan_chargeoff, payment_schedule, credit_allowance, collections_case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brz_core_balance, _account, _transaction, _schedule; brz_card_*; brz_pay_payment; brz_rsk_cecl_result; brz_col_case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CORE, CARD, PAY, RSK, COL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Month-end rows; sum the month’s transactions; bucket DPD; funded allowance per loan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fact_facility_monthly_snapshot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credit_facility, credit_commitment, loan_balance_daily, facility_risk_monthly, credit_allowance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brz_core_facility, _commitment, _balance; brz_card_account; brz_rsk_cecl_result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CORE, CARD, RSK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Current limit at month-end; funded = sum of loan balances; EAD checked against formula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fact_application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application, application_party, underwriting_decision, credit_report, credit_facility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brz_los_*; brz_cbr_credit_report; brz_core_facility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LOS, CBR, CORE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Primary applicant; latest final decision; funded if a facility exists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fact_loan_transaction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loan_transaction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brz_core_transaction, brz_card_transaction, brz_pay_payment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CORE, CARD, PAY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Posted only; reversals carried as negatives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dim_customer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party, party_address, credit_report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brz_mdm_party, _address; brz_cbr_credit_report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MDM, CBR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SCD2 on FICO band and state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dim_facility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credit_facility, credit_instrument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brz_core_facility, brz_card_account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CORE, CARD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SCD2 on segment and class; 1:1 instrument folded in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dim_account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loan_account, credit_report, collateral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brz_core_account, brz_card_account, brz_cbr_credit_report, brz_val_collateral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CORE, CARD, CBR, VAL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Origination attributes frozen at funding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dim_product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brz_ref_product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REF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Carries the default regulatory class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dim_geography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party_address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brz_mdm_address + FFIEC census file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MDM, REF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Geocode to tract; attach MSA and LMI flag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dim_delinquency_status, dim_channel, dim_date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REF code sets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brz_ref_code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REF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Curated reference; changes need approval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bridge_facility_customer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facility_party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brz_core_borrower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allocation_pct defaults to 1 ÷ number of obligors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Column-level lineage: three report numbers traced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Each box shows the exact field and rule (for auditors) and, in italics, what happens in plain terms.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RC-N: auto loans 30–89 days past due, still accruing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What regulators see: auto-loan dollars one to three months late that are still earning interest.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050084" cy="1097280"/>
          </a:xfrm>
          <a:prstGeom prst="rect">
            <a:avLst/>
          </a:prstGeom>
          <a:solidFill>
            <a:srgbClr val="1A213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Source · CORE end-of-day file</a:t>
            </a:r>
          </a:p>
          <a:p>
            <a:pPr algn="l"/>
            <a:r>
              <a:rPr sz="900" b="0" i="0">
                <a:solidFill>
                  <a:srgbClr val="CADCEA"/>
                </a:solidFill>
                <a:latin typeface="Calibri"/>
              </a:rPr>
              <a:t>CUR_PRIN_BAL, DPD_CNT, ACCR_FLG</a:t>
            </a:r>
          </a:p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The servicing system’s nightly record of each loan’s balance and how late it is.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07284" y="2286000"/>
            <a:ext cx="256032" cy="0"/>
          </a:xfrm>
          <a:prstGeom prst="line">
            <a:avLst/>
          </a:prstGeom>
          <a:ln w="19050">
            <a:solidFill>
              <a:srgbClr val="1A21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63316" y="1737360"/>
            <a:ext cx="2050084" cy="1097280"/>
          </a:xfrm>
          <a:prstGeom prst="rect">
            <a:avLst/>
          </a:prstGeom>
          <a:solidFill>
            <a:srgbClr val="F4EBE2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Bronze · brz_core_balance</a:t>
            </a:r>
          </a:p>
          <a:p>
            <a:pPr algn="l"/>
            <a:r>
              <a:rPr sz="900" b="0" i="0">
                <a:solidFill>
                  <a:srgbClr val="57626B"/>
                </a:solidFill>
                <a:latin typeface="Calibri"/>
              </a:rPr>
              <a:t>Stored as-received text</a:t>
            </a:r>
          </a:p>
          <a:p>
            <a:pPr algn="l"/>
            <a:r>
              <a:rPr sz="900" b="0" i="1">
                <a:solidFill>
                  <a:srgbClr val="1A2130"/>
                </a:solidFill>
                <a:latin typeface="Calibri"/>
              </a:rPr>
              <a:t>Kept exactly as sent, so any figure can be re-checked later.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13401" y="2286000"/>
            <a:ext cx="256032" cy="0"/>
          </a:xfrm>
          <a:prstGeom prst="line">
            <a:avLst/>
          </a:prstGeom>
          <a:ln w="19050">
            <a:solidFill>
              <a:srgbClr val="1A21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69433" y="1737360"/>
            <a:ext cx="2050084" cy="1097280"/>
          </a:xfrm>
          <a:prstGeom prst="rect">
            <a:avLst/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Silver · loan_balance_daily</a:t>
            </a:r>
          </a:p>
          <a:p>
            <a:pPr algn="l"/>
            <a:r>
              <a:rPr sz="900" b="0" i="0">
                <a:solidFill>
                  <a:srgbClr val="57626B"/>
                </a:solidFill>
                <a:latin typeface="Calibri"/>
              </a:rPr>
              <a:t>Cast to numbers; DPD ≥ 0; ÷ 100</a:t>
            </a:r>
          </a:p>
          <a:p>
            <a:pPr algn="l"/>
            <a:r>
              <a:rPr sz="900" b="0" i="1">
                <a:solidFill>
                  <a:srgbClr val="1A2130"/>
                </a:solidFill>
                <a:latin typeface="Calibri"/>
              </a:rPr>
              <a:t>Cleaned into real numbers and checked (no negative days late).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19518" y="2286000"/>
            <a:ext cx="256032" cy="0"/>
          </a:xfrm>
          <a:prstGeom prst="line">
            <a:avLst/>
          </a:prstGeom>
          <a:ln w="19050">
            <a:solidFill>
              <a:srgbClr val="1A21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75550" y="1737360"/>
            <a:ext cx="2050084" cy="1097280"/>
          </a:xfrm>
          <a:prstGeom prst="rect">
            <a:avLst/>
          </a:prstGeom>
          <a:solidFill>
            <a:srgbClr val="F6EFDA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Gold · loan snapshot</a:t>
            </a:r>
          </a:p>
          <a:p>
            <a:pPr algn="l"/>
            <a:r>
              <a:rPr sz="900" b="0" i="0">
                <a:solidFill>
                  <a:srgbClr val="57626B"/>
                </a:solidFill>
                <a:latin typeface="Calibri"/>
              </a:rPr>
              <a:t>principal_balance_amt, dlq_sk at month-end</a:t>
            </a:r>
          </a:p>
          <a:p>
            <a:pPr algn="l"/>
            <a:r>
              <a:rPr sz="900" b="0" i="1">
                <a:solidFill>
                  <a:srgbClr val="1A2130"/>
                </a:solidFill>
                <a:latin typeface="Calibri"/>
              </a:rPr>
              <a:t>Month-end balance, with each loan placed in a lateness bucket.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25635" y="2286000"/>
            <a:ext cx="256032" cy="0"/>
          </a:xfrm>
          <a:prstGeom prst="line">
            <a:avLst/>
          </a:prstGeom>
          <a:ln w="19050">
            <a:solidFill>
              <a:srgbClr val="1A21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681667" y="1737360"/>
            <a:ext cx="205008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Report · Call Report RC-N</a:t>
            </a:r>
          </a:p>
          <a:p>
            <a:pPr algn="l"/>
            <a:r>
              <a:rPr sz="900" b="0" i="0">
                <a:solidFill>
                  <a:srgbClr val="57626B"/>
                </a:solidFill>
                <a:latin typeface="Calibri"/>
              </a:rPr>
              <a:t>Sum where RC-N column = 30–89, ACCRUAL, auto</a:t>
            </a:r>
          </a:p>
          <a:p>
            <a:pPr algn="l"/>
            <a:r>
              <a:rPr sz="900" b="0" i="1">
                <a:solidFill>
                  <a:srgbClr val="1A2130"/>
                </a:solidFill>
                <a:latin typeface="Calibri"/>
              </a:rPr>
              <a:t>The dollar figure the bank files with its regulators.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Funded CECL allowance by product (ties to GL)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What finance sees: the reserve held for expected losses on money already lent, proven to match the books.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01568"/>
            <a:ext cx="2050084" cy="1097280"/>
          </a:xfrm>
          <a:prstGeom prst="rect">
            <a:avLst/>
          </a:prstGeom>
          <a:solidFill>
            <a:srgbClr val="1A213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Source · RSK model output</a:t>
            </a:r>
          </a:p>
          <a:p>
            <a:pPr algn="l"/>
            <a:r>
              <a:rPr sz="900" b="0" i="0">
                <a:solidFill>
                  <a:srgbClr val="CADCEA"/>
                </a:solidFill>
                <a:latin typeface="Calibri"/>
              </a:rPr>
              <a:t>ALLOW_AMT per loan, per model run</a:t>
            </a:r>
          </a:p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The credit-risk model’s estimate of expected loss on each loan.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07284" y="3950208"/>
            <a:ext cx="256032" cy="0"/>
          </a:xfrm>
          <a:prstGeom prst="line">
            <a:avLst/>
          </a:prstGeom>
          <a:ln w="19050">
            <a:solidFill>
              <a:srgbClr val="1A21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763316" y="3401568"/>
            <a:ext cx="2050084" cy="1097280"/>
          </a:xfrm>
          <a:prstGeom prst="rect">
            <a:avLst/>
          </a:prstGeom>
          <a:solidFill>
            <a:srgbClr val="F4EBE2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Bronze · brz_rsk_cecl_result</a:t>
            </a:r>
          </a:p>
          <a:p>
            <a:pPr algn="l"/>
            <a:r>
              <a:rPr sz="900" b="0" i="0">
                <a:solidFill>
                  <a:srgbClr val="57626B"/>
                </a:solidFill>
                <a:latin typeface="Calibri"/>
              </a:rPr>
              <a:t>One row per loan per model run</a:t>
            </a:r>
          </a:p>
          <a:p>
            <a:pPr algn="l"/>
            <a:r>
              <a:rPr sz="900" b="0" i="1">
                <a:solidFill>
                  <a:srgbClr val="1A2130"/>
                </a:solidFill>
                <a:latin typeface="Calibri"/>
              </a:rPr>
              <a:t>Every model run is kept, including reruns.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13401" y="3950208"/>
            <a:ext cx="256032" cy="0"/>
          </a:xfrm>
          <a:prstGeom prst="line">
            <a:avLst/>
          </a:prstGeom>
          <a:ln w="19050">
            <a:solidFill>
              <a:srgbClr val="1A21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69433" y="3401568"/>
            <a:ext cx="2050084" cy="1097280"/>
          </a:xfrm>
          <a:prstGeom prst="rect">
            <a:avLst/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Silver · credit_allowance</a:t>
            </a:r>
          </a:p>
          <a:p>
            <a:pPr algn="l"/>
            <a:r>
              <a:rPr sz="900" b="0" i="0">
                <a:solidFill>
                  <a:srgbClr val="57626B"/>
                </a:solidFill>
                <a:latin typeface="Calibri"/>
              </a:rPr>
              <a:t>FUNDED rows; latest approved run</a:t>
            </a:r>
          </a:p>
          <a:p>
            <a:pPr algn="l"/>
            <a:r>
              <a:rPr sz="900" b="0" i="1">
                <a:solidFill>
                  <a:srgbClr val="1A2130"/>
                </a:solidFill>
                <a:latin typeface="Calibri"/>
              </a:rPr>
              <a:t>Only the approved run for the month counts.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19518" y="3950208"/>
            <a:ext cx="256032" cy="0"/>
          </a:xfrm>
          <a:prstGeom prst="line">
            <a:avLst/>
          </a:prstGeom>
          <a:ln w="19050">
            <a:solidFill>
              <a:srgbClr val="1A21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375550" y="3401568"/>
            <a:ext cx="2050084" cy="1097280"/>
          </a:xfrm>
          <a:prstGeom prst="rect">
            <a:avLst/>
          </a:prstGeom>
          <a:solidFill>
            <a:srgbClr val="F6EFDA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Gold · loan snapshot</a:t>
            </a:r>
          </a:p>
          <a:p>
            <a:pPr algn="l"/>
            <a:r>
              <a:rPr sz="900" b="0" i="0">
                <a:solidFill>
                  <a:srgbClr val="57626B"/>
                </a:solidFill>
                <a:latin typeface="Calibri"/>
              </a:rPr>
              <a:t>allowance_amt, joined on loan + month</a:t>
            </a:r>
          </a:p>
          <a:p>
            <a:pPr algn="l"/>
            <a:r>
              <a:rPr sz="900" b="0" i="1">
                <a:solidFill>
                  <a:srgbClr val="1A2130"/>
                </a:solidFill>
                <a:latin typeface="Calibri"/>
              </a:rPr>
              <a:t>Each loan’s reserve sits next to its balance.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25635" y="3950208"/>
            <a:ext cx="256032" cy="0"/>
          </a:xfrm>
          <a:prstGeom prst="line">
            <a:avLst/>
          </a:prstGeom>
          <a:ln w="19050">
            <a:solidFill>
              <a:srgbClr val="1A21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681667" y="3401568"/>
            <a:ext cx="205008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Report · Allowance by product</a:t>
            </a:r>
          </a:p>
          <a:p>
            <a:pPr algn="l"/>
            <a:r>
              <a:rPr sz="900" b="0" i="0">
                <a:solidFill>
                  <a:srgbClr val="57626B"/>
                </a:solidFill>
                <a:latin typeface="Calibri"/>
              </a:rPr>
              <a:t>Sum by product; compare to GL allowance account</a:t>
            </a:r>
          </a:p>
          <a:p>
            <a:pPr algn="l"/>
            <a:r>
              <a:rPr sz="900" b="0" i="1">
                <a:solidFill>
                  <a:srgbClr val="1A2130"/>
                </a:solidFill>
                <a:latin typeface="Calibri"/>
              </a:rPr>
              <a:t>Reserve by product, reconciled to the general ledger.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90288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Approval rate by channel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What sales and product leaders see: the share of applications approved through branch, online, dealer and broker.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65775"/>
            <a:ext cx="2050084" cy="1097280"/>
          </a:xfrm>
          <a:prstGeom prst="rect">
            <a:avLst/>
          </a:prstGeom>
          <a:solidFill>
            <a:srgbClr val="1A213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Source · LOS</a:t>
            </a:r>
          </a:p>
          <a:p>
            <a:pPr algn="l"/>
            <a:r>
              <a:rPr sz="900" b="0" i="0">
                <a:solidFill>
                  <a:srgbClr val="CADCEA"/>
                </a:solidFill>
                <a:latin typeface="Calibri"/>
              </a:rPr>
              <a:t>SRC_CHANNEL, DECISION_CD</a:t>
            </a:r>
          </a:p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Where each application came from and what was decided.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07284" y="5614416"/>
            <a:ext cx="256032" cy="0"/>
          </a:xfrm>
          <a:prstGeom prst="line">
            <a:avLst/>
          </a:prstGeom>
          <a:ln w="19050">
            <a:solidFill>
              <a:srgbClr val="1A21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763316" y="5065775"/>
            <a:ext cx="2050084" cy="1097280"/>
          </a:xfrm>
          <a:prstGeom prst="rect">
            <a:avLst/>
          </a:prstGeom>
          <a:solidFill>
            <a:srgbClr val="F4EBE2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Bronze · brz_los_application, _decision</a:t>
            </a:r>
          </a:p>
          <a:p>
            <a:pPr algn="l"/>
            <a:r>
              <a:rPr sz="900" b="0" i="0">
                <a:solidFill>
                  <a:srgbClr val="57626B"/>
                </a:solidFill>
                <a:latin typeface="Calibri"/>
              </a:rPr>
              <a:t>Every change event (CDC)</a:t>
            </a:r>
          </a:p>
          <a:p>
            <a:pPr algn="l"/>
            <a:r>
              <a:rPr sz="900" b="0" i="1">
                <a:solidFill>
                  <a:srgbClr val="1A2130"/>
                </a:solidFill>
                <a:latin typeface="Calibri"/>
              </a:rPr>
              <a:t>Every change is kept, including re-decisions.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13401" y="5614416"/>
            <a:ext cx="256032" cy="0"/>
          </a:xfrm>
          <a:prstGeom prst="line">
            <a:avLst/>
          </a:prstGeom>
          <a:ln w="19050">
            <a:solidFill>
              <a:srgbClr val="1A21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069433" y="5065775"/>
            <a:ext cx="2050084" cy="1097280"/>
          </a:xfrm>
          <a:prstGeom prst="rect">
            <a:avLst/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Silver · application, underwriting_decision</a:t>
            </a:r>
          </a:p>
          <a:p>
            <a:pPr algn="l"/>
            <a:r>
              <a:rPr sz="900" b="0" i="0">
                <a:solidFill>
                  <a:srgbClr val="57626B"/>
                </a:solidFill>
                <a:latin typeface="Calibri"/>
              </a:rPr>
              <a:t>Channel mapped via REF; final decision only</a:t>
            </a:r>
          </a:p>
          <a:p>
            <a:pPr algn="l"/>
            <a:r>
              <a:rPr sz="900" b="0" i="1">
                <a:solidFill>
                  <a:srgbClr val="1A2130"/>
                </a:solidFill>
                <a:latin typeface="Calibri"/>
              </a:rPr>
              <a:t>Channel names standardized; only the final decision counts.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19518" y="5614416"/>
            <a:ext cx="256032" cy="0"/>
          </a:xfrm>
          <a:prstGeom prst="line">
            <a:avLst/>
          </a:prstGeom>
          <a:ln w="19050">
            <a:solidFill>
              <a:srgbClr val="1A21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375550" y="5065775"/>
            <a:ext cx="2050084" cy="1097280"/>
          </a:xfrm>
          <a:prstGeom prst="rect">
            <a:avLst/>
          </a:prstGeom>
          <a:solidFill>
            <a:srgbClr val="F6EFDA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Gold · fact_application</a:t>
            </a:r>
          </a:p>
          <a:p>
            <a:pPr algn="l"/>
            <a:r>
              <a:rPr sz="900" b="0" i="0">
                <a:solidFill>
                  <a:srgbClr val="57626B"/>
                </a:solidFill>
                <a:latin typeface="Calibri"/>
              </a:rPr>
              <a:t>approved_flag = 1 if APPROVE or COUNTER</a:t>
            </a:r>
          </a:p>
          <a:p>
            <a:pPr algn="l"/>
            <a:r>
              <a:rPr sz="900" b="0" i="1">
                <a:solidFill>
                  <a:srgbClr val="1A2130"/>
                </a:solidFill>
                <a:latin typeface="Calibri"/>
              </a:rPr>
              <a:t>Each application marked approved (1) or not (0).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425635" y="5614416"/>
            <a:ext cx="256032" cy="0"/>
          </a:xfrm>
          <a:prstGeom prst="line">
            <a:avLst/>
          </a:prstGeom>
          <a:ln w="19050">
            <a:solidFill>
              <a:srgbClr val="1A21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681667" y="5065775"/>
            <a:ext cx="205008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900" b="1" i="0">
                <a:solidFill>
                  <a:srgbClr val="1A2130"/>
                </a:solidFill>
                <a:latin typeface="Calibri"/>
              </a:rPr>
              <a:t>Report · Approval rate</a:t>
            </a:r>
          </a:p>
          <a:p>
            <a:pPr algn="l"/>
            <a:r>
              <a:rPr sz="900" b="0" i="0">
                <a:solidFill>
                  <a:srgbClr val="57626B"/>
                </a:solidFill>
                <a:latin typeface="Calibri"/>
              </a:rPr>
              <a:t>Sum(approved_flag) ÷ decided apps, by channel</a:t>
            </a:r>
          </a:p>
          <a:p>
            <a:pPr algn="l"/>
            <a:r>
              <a:rPr sz="900" b="0" i="1">
                <a:solidFill>
                  <a:srgbClr val="1A2130"/>
                </a:solidFill>
                <a:latin typeface="Calibri"/>
              </a:rPr>
              <a:t>Approved applications as a share of all decided, by channel.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quality checks built into each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Checks run where the data is created, so problems are caught before they reach a report.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75304" cy="457200"/>
          </a:xfrm>
          <a:prstGeom prst="rect">
            <a:avLst/>
          </a:prstGeom>
          <a:solidFill>
            <a:srgbClr val="8A5A2B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BRONZE: did we receive it all?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575304" cy="1600200"/>
          </a:xfrm>
          <a:prstGeom prst="rect">
            <a:avLst/>
          </a:prstGeom>
          <a:solidFill>
            <a:srgbClr val="F4EBE2"/>
          </a:solidFill>
          <a:ln w="1270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50" b="0" i="0">
                <a:solidFill>
                  <a:srgbClr val="1A2130"/>
                </a:solidFill>
                <a:latin typeface="Calibri"/>
              </a:rPr>
              <a:t>• Row counts and amount totals match the source control file</a:t>
            </a:r>
          </a:p>
          <a:p>
            <a:pPr algn="l"/>
            <a:r>
              <a:rPr sz="1150" b="0" i="0">
                <a:solidFill>
                  <a:srgbClr val="1A2130"/>
                </a:solidFill>
                <a:latin typeface="Calibri"/>
              </a:rPr>
              <a:t>• Schema drift: new, missing or retyped fields</a:t>
            </a:r>
          </a:p>
          <a:p>
            <a:pPr algn="l"/>
            <a:r>
              <a:rPr sz="1150" b="0" i="0">
                <a:solidFill>
                  <a:srgbClr val="1A2130"/>
                </a:solidFill>
                <a:latin typeface="Calibri"/>
              </a:rPr>
              <a:t>• Duplicate file or batch replay guard</a:t>
            </a:r>
          </a:p>
          <a:p>
            <a:pPr algn="l"/>
            <a:r>
              <a:rPr sz="1150" b="0" i="0">
                <a:solidFill>
                  <a:srgbClr val="1A2130"/>
                </a:solidFill>
                <a:latin typeface="Calibri"/>
              </a:rPr>
              <a:t>• Freshness against the delivery SLA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32504" y="2624328"/>
            <a:ext cx="274320" cy="0"/>
          </a:xfrm>
          <a:prstGeom prst="line">
            <a:avLst/>
          </a:prstGeom>
          <a:ln w="22225">
            <a:solidFill>
              <a:srgbClr val="1A21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306824" y="1371600"/>
            <a:ext cx="3575304" cy="457200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SILVER: is it valid and consistent?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6824" y="1828800"/>
            <a:ext cx="3575304" cy="1600200"/>
          </a:xfrm>
          <a:prstGeom prst="rect">
            <a:avLst/>
          </a:prstGeom>
          <a:solidFill>
            <a:srgbClr val="E8ECEF"/>
          </a:solidFill>
          <a:ln w="12700">
            <a:solidFill>
              <a:srgbClr val="5B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50" b="0" i="0">
                <a:solidFill>
                  <a:srgbClr val="1A2130"/>
                </a:solidFill>
                <a:latin typeface="Calibri"/>
              </a:rPr>
              <a:t>• Primary keys unique</a:t>
            </a:r>
          </a:p>
          <a:p>
            <a:pPr algn="l"/>
            <a:r>
              <a:rPr sz="1150" b="0" i="0">
                <a:solidFill>
                  <a:srgbClr val="1A2130"/>
                </a:solidFill>
                <a:latin typeface="Calibri"/>
              </a:rPr>
              <a:t>• No orphans: every FK finds its parent</a:t>
            </a:r>
          </a:p>
          <a:p>
            <a:pPr algn="l"/>
            <a:r>
              <a:rPr sz="1150" b="0" i="0">
                <a:solidFill>
                  <a:srgbClr val="1A2130"/>
                </a:solidFill>
                <a:latin typeface="Calibri"/>
              </a:rPr>
              <a:t>• Codes valid against REF code sets</a:t>
            </a:r>
          </a:p>
          <a:p>
            <a:pPr algn="l"/>
            <a:r>
              <a:rPr sz="1150" b="0" i="0">
                <a:solidFill>
                  <a:srgbClr val="1A2130"/>
                </a:solidFill>
                <a:latin typeface="Calibri"/>
              </a:rPr>
              <a:t>• SCD2 windows never overlap</a:t>
            </a:r>
          </a:p>
          <a:p>
            <a:pPr algn="l"/>
            <a:r>
              <a:rPr sz="1150" b="0" i="0">
                <a:solidFill>
                  <a:srgbClr val="1A2130"/>
                </a:solidFill>
                <a:latin typeface="Calibri"/>
              </a:rPr>
              <a:t>• Row counts and amounts reconcile to Bronze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82128" y="2624328"/>
            <a:ext cx="274320" cy="0"/>
          </a:xfrm>
          <a:prstGeom prst="line">
            <a:avLst/>
          </a:prstGeom>
          <a:ln w="22225">
            <a:solidFill>
              <a:srgbClr val="1A21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156448" y="1371600"/>
            <a:ext cx="3575304" cy="457200"/>
          </a:xfrm>
          <a:prstGeom prst="rect">
            <a:avLst/>
          </a:prstGeom>
          <a:solidFill>
            <a:srgbClr val="86650F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GOLD: is it fit to report?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6448" y="1828800"/>
            <a:ext cx="3575304" cy="1600200"/>
          </a:xfrm>
          <a:prstGeom prst="rect">
            <a:avLst/>
          </a:prstGeom>
          <a:solidFill>
            <a:srgbClr val="F6EFDA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50" b="0" i="0">
                <a:solidFill>
                  <a:srgbClr val="1A2130"/>
                </a:solidFill>
                <a:latin typeface="Calibri"/>
              </a:rPr>
              <a:t>• Exactly one row per declared grain</a:t>
            </a:r>
          </a:p>
          <a:p>
            <a:pPr algn="l"/>
            <a:r>
              <a:rPr sz="1150" b="0" i="0">
                <a:solidFill>
                  <a:srgbClr val="1A2130"/>
                </a:solidFill>
                <a:latin typeface="Calibri"/>
              </a:rPr>
              <a:t>• Unknown-member (-1) rate below threshold</a:t>
            </a:r>
          </a:p>
          <a:p>
            <a:pPr algn="l"/>
            <a:r>
              <a:rPr sz="1150" b="0" i="0">
                <a:solidFill>
                  <a:srgbClr val="1A2130"/>
                </a:solidFill>
                <a:latin typeface="Calibri"/>
              </a:rPr>
              <a:t>• Snapshot principal ties to GL within tolerance</a:t>
            </a:r>
          </a:p>
          <a:p>
            <a:pPr algn="l"/>
            <a:r>
              <a:rPr sz="1150" b="0" i="0">
                <a:solidFill>
                  <a:srgbClr val="1A2130"/>
                </a:solidFill>
                <a:latin typeface="Calibri"/>
              </a:rPr>
              <a:t>• Month-over-month variance alerts on key measures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THE MODEL WRITES MANY OF THE RULES FOR YOU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3575304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Every 1:M line on an ERD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becomes an orphan check, e.g., each loan_transaction.loan_id must exist in loan_account.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4114800"/>
            <a:ext cx="3575304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Every 1:1 or UQ tag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becomes a uniqueness check, e.g., one underwriting_decision per application.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4114800"/>
            <a:ext cx="3575304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Every declared grain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becomes a duplicate check, e.g., one snapshot row per loan_sk + date_key.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38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03520"/>
            <a:ext cx="1127455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Where failures go: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hard failures stop the load and alert the data owner; soft failures load with a warning and open an issue for the steward.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Summary: what this model gives each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One model, two lenses, three perspectives, and a practical next step for each.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05784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BUSINESS LEADERS</a:t>
            </a:r>
          </a:p>
          <a:p>
            <a:pPr algn="ctr"/>
            <a:r>
              <a:rPr sz="1150" b="0" i="0">
                <a:solidFill>
                  <a:srgbClr val="CADCEA"/>
                </a:solidFill>
                <a:latin typeface="Calibri"/>
              </a:rPr>
              <a:t>Trust and traceability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605784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Ten reporting questions answered from four certified Gold facts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One version of balance, exposure, delinquency and loss across finance, risk and regulatory reports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Every number traces back to a named source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3605784" cy="822960"/>
          </a:xfrm>
          <a:prstGeom prst="roundRect">
            <a:avLst>
              <a:gd name="adj" fmla="val 10000"/>
            </a:avLst>
          </a:prstGeom>
          <a:solidFill>
            <a:srgbClr val="F6EFDA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Next step: sponsor certified definitions for DPD, charge-off, EAD and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1584" y="1371600"/>
            <a:ext cx="3605784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DATA MANAGEMENT</a:t>
            </a:r>
          </a:p>
          <a:p>
            <a:pPr algn="ctr"/>
            <a:r>
              <a:rPr sz="1150" b="0" i="0">
                <a:solidFill>
                  <a:srgbClr val="CADCEA"/>
                </a:solidFill>
                <a:latin typeface="Calibri"/>
              </a:rPr>
              <a:t>Definitions, ownership,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1584" y="2194560"/>
            <a:ext cx="3605784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Every column has a definition, type, key, derivation and data class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One home per attribute: no overlapping fields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Table- and column-level lineage ready for the catalog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4114800"/>
            <a:ext cx="3605784" cy="822960"/>
          </a:xfrm>
          <a:prstGeom prst="roundRect">
            <a:avLst>
              <a:gd name="adj" fmla="val 10000"/>
            </a:avLst>
          </a:prstGeom>
          <a:solidFill>
            <a:srgbClr val="F6EFDA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Next step: assign stewards per Silver domain; register the critical data elements.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5968" y="1371600"/>
            <a:ext cx="3605784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ARCHITECTURE</a:t>
            </a:r>
          </a:p>
          <a:p>
            <a:pPr algn="ctr"/>
            <a:r>
              <a:rPr sz="1150" b="0" i="0">
                <a:solidFill>
                  <a:srgbClr val="CADCEA"/>
                </a:solidFill>
                <a:latin typeface="Calibri"/>
              </a:rPr>
              <a:t>Contracts and extensibility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5968" y="2194560"/>
            <a:ext cx="3605784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Lifecycle and exposure lenses in one Silver model with one set of keys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Conformed dimensions, including dim_facility, let new marts plug in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Grain declared per fact: loan and facility snapshots kept separate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5968" y="4114800"/>
            <a:ext cx="3605784" cy="822960"/>
          </a:xfrm>
          <a:prstGeom prst="roundRect">
            <a:avLst>
              <a:gd name="adj" fmla="val 10000"/>
            </a:avLst>
          </a:prstGeom>
          <a:solidFill>
            <a:srgbClr val="F6EFDA"/>
          </a:solidFill>
          <a:ln w="12700">
            <a:solidFill>
              <a:srgbClr val="866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Next step: build on a lakehouse table format and capture lineage from pipeline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57800"/>
            <a:ext cx="1127455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The common thread: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agree the layer contracts, the grain of each fact and who owns each Silver domain before any build starts.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Appendix A: glossary of terms used in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Plain-language definitions so the main pages can stay concise.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61872"/>
          <a:ext cx="5532119" cy="5157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Medallion architecture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Layering data as Bronze (raw), Silver (conformed), Gold (business-ready)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Primary key (PK)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Column(s) that uniquely identify each row of a table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Foreign key (FK)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Column that points to the primary key of a parent table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Natural key (NK)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The business identifier, e.g., account number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Surrogate key (_sk)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Integer key generated in Gold; stable across source changes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Unique (UQ)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No two rows may share the value; turns a 1:M into a 1:1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Cardinality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How many rows on one side relate to the other: 1:1, 1:M, M:M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Bridge table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Table that resolves an M:M; its key is the two foreign keys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Grain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What one row of a table represents, e.g., one loan per month-end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CDC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Change data capture: streaming each insert, update and delete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SCD Type 1 / 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Type 1 overwrites a value; Type 2 keeps a new row per version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Credit facility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The credit relationship with a borrower; the unit of credit risk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Commitment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The credit promise: limit and terms, versioned over time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EAD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Exposure at default: funded balance plus expected draws of the undrawn limit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99632" y="1261872"/>
          <a:ext cx="5532120" cy="5157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64008" marR="64008" marT="27432" marB="27432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Star schema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 fact table surrounded by dimension tables, joined by keys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Fact table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Measurements (amounts, counts) at a declared grain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Descriptive context for facts: who, what, where, when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Conformed dimension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One dimension shared by several facts, so they compare cleanly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Role-playing dimension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One dimension used twice by a fact, e.g., two dates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Degenerate dimension (DD)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An identifier kept on the fact with no dimension table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DPD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Days past due: how late the oldest unpaid installment is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CECL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Current Expected Credit Loss: the standard for the loan loss allowance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Funded / unfunded allowance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Allowance on drawn balances (contra-asset) / on undrawn limits (liability)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CCF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Credit conversion factor: share of the undrawn limit expected to be drawn by default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Call Report RC-C / RC-N / RC-L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Loans by type / past due and nonaccrual / unused commitments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HMDA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Home Mortgage Disclosure Act: reporting on dwelling-secured lending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LMI tract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Census tract classified as low or moderate income (CRA, fair lending)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A2130"/>
                          </a:solidFill>
                          <a:latin typeface="Calibri"/>
                        </a:rPr>
                        <a:t>PD / LGD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57626B"/>
                          </a:solidFill>
                          <a:latin typeface="Calibri"/>
                        </a:rPr>
                        <a:t>Probability of default / loss given default</a:t>
                      </a:r>
                    </a:p>
                  </a:txBody>
                  <a:tcPr marL="64008" marR="64008" marT="27432" marB="27432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Medallion Data Model for Reporting (illustrative mock-up)   ·  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14910</Words>
  <Application>Microsoft Office PowerPoint</Application>
  <PresentationFormat>Widescreen</PresentationFormat>
  <Paragraphs>3299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 Franco</cp:lastModifiedBy>
  <cp:revision>1</cp:revision>
  <dcterms:created xsi:type="dcterms:W3CDTF">2013-01-27T09:14:16Z</dcterms:created>
  <dcterms:modified xsi:type="dcterms:W3CDTF">2026-09-25T19:29:06Z</dcterms:modified>
  <cp:category/>
</cp:coreProperties>
</file>