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187451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DOMAIN UNWIND  ·  CARD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241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Which Controls Are AI-Driven —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052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For each governance control: what AI capability powers it (RAG, anomaly detection, XAI, classification, NLP) — and which piece stays a human-owned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The AI Capability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Every AI-driven control, its capability, and the human gate that stays in place.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1127455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9A227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6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9A227"/>
                          </a:solidFill>
                          <a:latin typeface="Calibri"/>
                        </a:rPr>
                        <a:t>AI-DRIVEN COMPONENT</a:t>
                      </a:r>
                    </a:p>
                  </a:txBody>
                  <a:tcPr anchor="ctr">
                    <a:solidFill>
                      <a:srgbClr val="16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9A227"/>
                          </a:solidFill>
                          <a:latin typeface="Calibri"/>
                        </a:rPr>
                        <a:t>AI CAPABILITY</a:t>
                      </a:r>
                    </a:p>
                  </a:txBody>
                  <a:tcPr anchor="ctr">
                    <a:solidFill>
                      <a:srgbClr val="16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9A227"/>
                          </a:solidFill>
                          <a:latin typeface="Calibri"/>
                        </a:rPr>
                        <a:t>HUMAN GATE RETAINED</a:t>
                      </a:r>
                    </a:p>
                  </a:txBody>
                  <a:tcPr anchor="ctr">
                    <a:solidFill>
                      <a:srgbClr val="16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01 · Authorization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Bias testing &amp; reason-code explainability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XAI (SHAP/LIME) + bias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Independent model validation &amp; sign-off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02 · Settlement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Exception detection &amp; root-cause triage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Anomaly detection + LLM summarization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Data lineage &amp; SOX change control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03 · Interchange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Fee-leakage / misclassification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Predictive 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Recovery-claim review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04 · Chargebacks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Representment package drafting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RAG + NLP/NER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Final submission approval</a:t>
                      </a:r>
                    </a:p>
                  </a:txBody>
                  <a:tcPr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05 ·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GL commentary &amp; natural-language 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4506B"/>
                          </a:solidFill>
                          <a:latin typeface="Calibri"/>
                        </a:rPr>
                        <a:t>Entitlement inheritance &amp; sign-off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AI drives detection, drafting, and retrieval — humans keep validation, review, and sign-off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01 —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Bias Testing &amp;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Disparate-impact testing flags approval-rate gaps across protected classes automatically.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Decline reason codes are generated by explainability models, not written by hand.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E2761"/>
                </a:solidFill>
                <a:latin typeface="Calibri"/>
              </a:rPr>
              <a:t>TRADITIONAL — </a:t>
            </a:r>
            <a:r>
              <a:rPr sz="1400">
                <a:solidFill>
                  <a:srgbClr val="44506B"/>
                </a:solidFill>
                <a:latin typeface="Calibri"/>
              </a:rPr>
              <a:t>Independent model validation and final sign-off remain a human governance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AI CAPABILITY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XAI (SHAP/LIME) + statistical bias detection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AUTHORIZATION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02 — SETTLEMENT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Exception Detection &amp;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Settlement anomaly detection scores every batch and surfaces only the outliers.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Root-cause narratives for flagged breaks are LLM-summarized from the transaction record.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E2761"/>
                </a:solidFill>
                <a:latin typeface="Calibri"/>
              </a:rPr>
              <a:t>TRADITIONAL — </a:t>
            </a:r>
            <a:r>
              <a:rPr sz="1400">
                <a:solidFill>
                  <a:srgbClr val="44506B"/>
                </a:solidFill>
                <a:latin typeface="Calibri"/>
              </a:rPr>
              <a:t>Data lineage tracking and SOX change-control sign-off stay deterministic, non-AI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AI CAPABILITY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Anomaly detection + grounded summarization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03 — INTERCHANGE &amp; FEES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Fee-Leakage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A classification model matches each transaction's fee against the correct network rate-table category.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E2761"/>
                </a:solidFill>
                <a:latin typeface="Calibri"/>
              </a:rPr>
              <a:t>TRADITIONAL — </a:t>
            </a:r>
            <a:r>
              <a:rPr sz="1400">
                <a:solidFill>
                  <a:srgbClr val="44506B"/>
                </a:solidFill>
                <a:latin typeface="Calibri"/>
              </a:rPr>
              <a:t>Rate-table sourcing, licensing, and version control remain a traditional data-governance control.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E2761"/>
                </a:solidFill>
                <a:latin typeface="Calibri"/>
              </a:rPr>
              <a:t>TRADITIONAL — </a:t>
            </a:r>
            <a:r>
              <a:rPr sz="1400">
                <a:solidFill>
                  <a:srgbClr val="44506B"/>
                </a:solidFill>
                <a:latin typeface="Calibri"/>
              </a:rPr>
              <a:t>The recovery-claim review gate stays human-owned — AI flags candidates, it doesn't authorize submission.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AI CAPABILITY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Predictive classification vs. rate-table rules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INTERCHANGE &amp; FEES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04 — CHARGEBACKS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Representment Drafting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PII/PCI in dispute correspondence is detected and redacted via NLP named-entity recognition.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Representment packages are drafted with Retrieval-Augmented Generation — the model retrieves the actual network reason-code rules and prior evidence before writing, instead of generating from memory.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E2761"/>
                </a:solidFill>
                <a:latin typeface="Calibri"/>
              </a:rPr>
              <a:t>TRADITIONAL — </a:t>
            </a:r>
            <a:r>
              <a:rPr sz="1400">
                <a:solidFill>
                  <a:srgbClr val="44506B"/>
                </a:solidFill>
                <a:latin typeface="Calibri"/>
              </a:rPr>
              <a:t>Final review and submission approval remain a human-in-the-loop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AI CAPABILITY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RAG (retrieval-augmented generation) + NLP/NER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CHARGEBACKS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0" y="502920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STAGE 05 — REPORTING &amp; 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86868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GL Commentary &amp; NL Query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148840"/>
            <a:ext cx="7955279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Natural-language queries over the transaction warehouse use RAG: the model retrieves the actual rows/schema before answering.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C9A227"/>
                </a:solidFill>
                <a:latin typeface="Calibri"/>
              </a:rPr>
              <a:t>AI-DRIVEN — </a:t>
            </a:r>
            <a:r>
              <a:rPr sz="1400">
                <a:solidFill>
                  <a:srgbClr val="44506B"/>
                </a:solidFill>
                <a:latin typeface="Calibri"/>
              </a:rPr>
              <a:t>GL commentary generation is grounded the same way, with an automated variance check against source figures.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E2761"/>
                </a:solidFill>
                <a:latin typeface="Calibri"/>
              </a:rPr>
              <a:t>TRADITIONAL — </a:t>
            </a:r>
            <a:r>
              <a:rPr sz="1400">
                <a:solidFill>
                  <a:srgbClr val="44506B"/>
                </a:solidFill>
                <a:latin typeface="Calibri"/>
              </a:rPr>
              <a:t>Entitlement inheritance and final sign-off remain traditional access-control and human-review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7955279" cy="9144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4800600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AI CAPABILITY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RAG (retrieval-augmented generation) over the warehouse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188720"/>
            <a:ext cx="1828800" cy="18288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C9A227"/>
                </a:solidFill>
                <a:latin typeface="Cambria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REPORTING &amp; GL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406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94406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SETTLE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172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0172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INTERCHANGE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5939" y="6172200"/>
            <a:ext cx="2108606" cy="3840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5939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4506B"/>
                </a:solidFill>
                <a:latin typeface="Calibri"/>
              </a:rPr>
              <a:t>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1705" y="6172200"/>
            <a:ext cx="2108606" cy="3840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1705" y="6172200"/>
            <a:ext cx="210860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Calibri"/>
              </a:rPr>
              <a:t>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554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2</cp:revision>
  <dcterms:created xsi:type="dcterms:W3CDTF">2013-01-27T09:14:16Z</dcterms:created>
  <dcterms:modified xsi:type="dcterms:W3CDTF">2026-09-15T19:58:38Z</dcterms:modified>
  <cp:category/>
</cp:coreProperties>
</file>