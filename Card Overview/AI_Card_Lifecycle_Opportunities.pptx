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2" r:id="rId3"/>
    <p:sldId id="257" r:id="rId4"/>
    <p:sldId id="258" r:id="rId5"/>
    <p:sldId id="259" r:id="rId6"/>
    <p:sldId id="260" r:id="rId7"/>
    <p:sldId id="261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2" d="100"/>
          <a:sy n="102" d="100"/>
        </p:scale>
        <p:origin x="918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22960" y="1874519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C9A227"/>
                </a:solidFill>
                <a:latin typeface="Calibri"/>
              </a:rPr>
              <a:t>DOMAIN UNWIND  ·  CARD PAYMENTS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960120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FFFFF"/>
                </a:solidFill>
                <a:latin typeface="Cambria"/>
              </a:rPr>
              <a:t>AI in the Card Transaction Lifecycle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03320"/>
            <a:ext cx="89611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CADCFC"/>
                </a:solidFill>
                <a:latin typeface="Calibri"/>
              </a:rPr>
              <a:t>A stage-by-stage map of where AI creates efficiency and reporting leverage — from authorization to the general ledger.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0292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mbria"/>
              </a:rPr>
              <a:t>The AI Opportunity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51560"/>
            <a:ext cx="10515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CADCFC"/>
                </a:solidFill>
                <a:latin typeface="Calibri"/>
              </a:rPr>
              <a:t>Five stages. Five AI opportunities. One connected lifecycle.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1600200"/>
          <a:ext cx="10515600" cy="3950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5836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C9A227"/>
                          </a:solidFill>
                          <a:latin typeface="Calibri"/>
                        </a:rPr>
                        <a:t>STAGE</a:t>
                      </a:r>
                    </a:p>
                  </a:txBody>
                  <a:tcPr marL="109728" marR="109728" anchor="ctr">
                    <a:solidFill>
                      <a:srgbClr val="161B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C9A227"/>
                          </a:solidFill>
                          <a:latin typeface="Calibri"/>
                        </a:rPr>
                        <a:t>AI USE CASE</a:t>
                      </a:r>
                    </a:p>
                  </a:txBody>
                  <a:tcPr marL="109728" marR="109728" anchor="ctr">
                    <a:solidFill>
                      <a:srgbClr val="161B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C9A227"/>
                          </a:solidFill>
                          <a:latin typeface="Calibri"/>
                        </a:rPr>
                        <a:t>PRIMARY BENEFIT</a:t>
                      </a:r>
                    </a:p>
                  </a:txBody>
                  <a:tcPr marL="109728" marR="109728" anchor="ctr">
                    <a:solidFill>
                      <a:srgbClr val="161B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E2761"/>
                          </a:solidFill>
                          <a:latin typeface="Calibri"/>
                        </a:rPr>
                        <a:t>01 · Authorization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44506B"/>
                          </a:solidFill>
                          <a:latin typeface="Calibri"/>
                        </a:rPr>
                        <a:t>Real-time fraud scoring &amp; dynamic approvals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44506B"/>
                          </a:solidFill>
                          <a:latin typeface="Calibri"/>
                        </a:rPr>
                        <a:t>Risk reduction + revenue recovery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E2761"/>
                          </a:solidFill>
                          <a:latin typeface="Calibri"/>
                        </a:rPr>
                        <a:t>02 · Settlement</a:t>
                      </a:r>
                    </a:p>
                  </a:txBody>
                  <a:tcPr marL="109728" marR="109728" anchor="ctr"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44506B"/>
                          </a:solidFill>
                          <a:latin typeface="Calibri"/>
                        </a:rPr>
                        <a:t>Reconciliation anomaly detection</a:t>
                      </a:r>
                    </a:p>
                  </a:txBody>
                  <a:tcPr marL="109728" marR="109728" anchor="ctr"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44506B"/>
                          </a:solidFill>
                          <a:latin typeface="Calibri"/>
                        </a:rPr>
                        <a:t>Lower ops cost, faster close</a:t>
                      </a:r>
                    </a:p>
                  </a:txBody>
                  <a:tcPr marL="109728" marR="109728" anchor="ctr">
                    <a:solidFill>
                      <a:srgbClr val="CAD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E2761"/>
                          </a:solidFill>
                          <a:latin typeface="Calibri"/>
                        </a:rPr>
                        <a:t>03 · Interchange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44506B"/>
                          </a:solidFill>
                          <a:latin typeface="Calibri"/>
                        </a:rPr>
                        <a:t>Fee audit &amp; leakage detection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44506B"/>
                          </a:solidFill>
                          <a:latin typeface="Calibri"/>
                        </a:rPr>
                        <a:t>Direct revenue recovery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E2761"/>
                          </a:solidFill>
                          <a:latin typeface="Calibri"/>
                        </a:rPr>
                        <a:t>04 · Chargebacks</a:t>
                      </a:r>
                    </a:p>
                  </a:txBody>
                  <a:tcPr marL="109728" marR="109728" anchor="ctr"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44506B"/>
                          </a:solidFill>
                          <a:latin typeface="Calibri"/>
                        </a:rPr>
                        <a:t>NLP dispute classification &amp; predictive representment</a:t>
                      </a:r>
                    </a:p>
                  </a:txBody>
                  <a:tcPr marL="109728" marR="109728" anchor="ctr"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44506B"/>
                          </a:solidFill>
                          <a:latin typeface="Calibri"/>
                        </a:rPr>
                        <a:t>Faster cycle time, higher win rate</a:t>
                      </a:r>
                    </a:p>
                  </a:txBody>
                  <a:tcPr marL="109728" marR="109728" anchor="ctr">
                    <a:solidFill>
                      <a:srgbClr val="CAD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E2761"/>
                          </a:solidFill>
                          <a:latin typeface="Calibri"/>
                        </a:rPr>
                        <a:t>05 · Reporting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44506B"/>
                          </a:solidFill>
                          <a:latin typeface="Calibri"/>
                        </a:rPr>
                        <a:t>LLM GL commentary &amp; natural-language query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44506B"/>
                          </a:solidFill>
                          <a:latin typeface="Calibri"/>
                        </a:rPr>
                        <a:t>Finance/analyst productivity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" y="598932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1">
                <a:solidFill>
                  <a:srgbClr val="CADCFC"/>
                </a:solidFill>
                <a:latin typeface="Calibri"/>
              </a:rPr>
              <a:t>Built by mapping each lifecycle stage, then asking: where does AI change the cost or speed of this step?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91840" y="502920"/>
            <a:ext cx="7955279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C9A227"/>
                </a:solidFill>
                <a:latin typeface="Calibri"/>
              </a:rPr>
              <a:t>STAGE 01 — AUTHORIZATION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91840" y="868680"/>
            <a:ext cx="7955279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E2761"/>
                </a:solidFill>
                <a:latin typeface="Cambria"/>
              </a:rPr>
              <a:t>Real-Time Fraud Scoring &amp; Approval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2148840"/>
            <a:ext cx="7955279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1500">
                <a:solidFill>
                  <a:srgbClr val="44506B"/>
                </a:solidFill>
                <a:latin typeface="Calibri"/>
              </a:rPr>
              <a:t>ML risk models score every transaction in under 100ms using velocity, geolocation, and device signals — replacing static rule engines.</a:t>
            </a:r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1500">
                <a:solidFill>
                  <a:srgbClr val="44506B"/>
                </a:solidFill>
                <a:latin typeface="Calibri"/>
              </a:rPr>
              <a:t>Dynamic, behavior-based approval thresholds catch more fraud while approving more legitimate transactions.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91840" y="4800600"/>
            <a:ext cx="7955279" cy="91440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566160" y="4800600"/>
            <a:ext cx="740664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C9A227"/>
                </a:solidFill>
                <a:latin typeface="Calibri"/>
              </a:rPr>
              <a:t>EFFICIENCY GAIN   </a:t>
            </a:r>
            <a:r>
              <a:rPr sz="1500" b="1" i="0">
                <a:solidFill>
                  <a:srgbClr val="FFFFFF"/>
                </a:solidFill>
                <a:latin typeface="Calibri"/>
              </a:rPr>
              <a:t>Fewer false declines · lower fraud loss · faster decisioning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1188720"/>
            <a:ext cx="1828800" cy="18288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188720"/>
            <a:ext cx="1828800" cy="1828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5400" b="1" i="0">
                <a:solidFill>
                  <a:srgbClr val="C9A227"/>
                </a:solidFill>
                <a:latin typeface="Cambria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246120"/>
            <a:ext cx="23774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1E2761"/>
                </a:solidFill>
                <a:latin typeface="Calibri"/>
              </a:rPr>
              <a:t>AUTHORIZATION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6172200"/>
            <a:ext cx="2108606" cy="384048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6172200"/>
            <a:ext cx="2108606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C9A227"/>
                </a:solidFill>
                <a:latin typeface="Calibri"/>
              </a:rPr>
              <a:t>AUTH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94406" y="6172200"/>
            <a:ext cx="2108606" cy="384048"/>
          </a:xfrm>
          <a:prstGeom prst="round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794406" y="6172200"/>
            <a:ext cx="2108606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44506B"/>
                </a:solidFill>
                <a:latin typeface="Calibri"/>
              </a:rPr>
              <a:t>SETTLE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40172" y="6172200"/>
            <a:ext cx="2108606" cy="384048"/>
          </a:xfrm>
          <a:prstGeom prst="round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40172" y="6172200"/>
            <a:ext cx="2108606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44506B"/>
                </a:solidFill>
                <a:latin typeface="Calibri"/>
              </a:rPr>
              <a:t>INTERCHANGE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85939" y="6172200"/>
            <a:ext cx="2108606" cy="384048"/>
          </a:xfrm>
          <a:prstGeom prst="round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285939" y="6172200"/>
            <a:ext cx="2108606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44506B"/>
                </a:solidFill>
                <a:latin typeface="Calibri"/>
              </a:rPr>
              <a:t>DISPUTES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531705" y="6172200"/>
            <a:ext cx="2108606" cy="384048"/>
          </a:xfrm>
          <a:prstGeom prst="round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531705" y="6172200"/>
            <a:ext cx="2108606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44506B"/>
                </a:solidFill>
                <a:latin typeface="Calibri"/>
              </a:rPr>
              <a:t>REPORTING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91840" y="502920"/>
            <a:ext cx="7955279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C9A227"/>
                </a:solidFill>
                <a:latin typeface="Calibri"/>
              </a:rPr>
              <a:t>STAGE 02 — SETTLEMENT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91840" y="868680"/>
            <a:ext cx="7955279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E2761"/>
                </a:solidFill>
                <a:latin typeface="Cambria"/>
              </a:rPr>
              <a:t>Automated Reconciliation &amp; Anomaly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2148840"/>
            <a:ext cx="7955279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1500">
                <a:solidFill>
                  <a:srgbClr val="44506B"/>
                </a:solidFill>
                <a:latin typeface="Calibri"/>
              </a:rPr>
              <a:t>AI flags settlement breaks, duplicate transactions, and batch mismatches that manual ops review would otherwise catch late.</a:t>
            </a:r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1500">
                <a:solidFill>
                  <a:srgbClr val="44506B"/>
                </a:solidFill>
                <a:latin typeface="Calibri"/>
              </a:rPr>
              <a:t>Predictive cash-positioning models forecast settlement inflows and outflows for treasury.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91840" y="4800600"/>
            <a:ext cx="7955279" cy="91440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566160" y="4800600"/>
            <a:ext cx="740664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C9A227"/>
                </a:solidFill>
                <a:latin typeface="Calibri"/>
              </a:rPr>
              <a:t>EFFICIENCY GAIN   </a:t>
            </a:r>
            <a:r>
              <a:rPr sz="1500" b="1" i="0">
                <a:solidFill>
                  <a:srgbClr val="FFFFFF"/>
                </a:solidFill>
                <a:latin typeface="Calibri"/>
              </a:rPr>
              <a:t>Fewer manual exceptions · faster daily close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1188720"/>
            <a:ext cx="1828800" cy="18288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188720"/>
            <a:ext cx="1828800" cy="1828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5400" b="1" i="0">
                <a:solidFill>
                  <a:srgbClr val="C9A227"/>
                </a:solidFill>
                <a:latin typeface="Cambria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246120"/>
            <a:ext cx="23774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1E2761"/>
                </a:solidFill>
                <a:latin typeface="Calibri"/>
              </a:rPr>
              <a:t>SETTLEMENT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6172200"/>
            <a:ext cx="2108606" cy="384048"/>
          </a:xfrm>
          <a:prstGeom prst="round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6172200"/>
            <a:ext cx="2108606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44506B"/>
                </a:solidFill>
                <a:latin typeface="Calibri"/>
              </a:rPr>
              <a:t>AUTH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94406" y="6172200"/>
            <a:ext cx="2108606" cy="384048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794406" y="6172200"/>
            <a:ext cx="2108606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C9A227"/>
                </a:solidFill>
                <a:latin typeface="Calibri"/>
              </a:rPr>
              <a:t>SETTLE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40172" y="6172200"/>
            <a:ext cx="2108606" cy="384048"/>
          </a:xfrm>
          <a:prstGeom prst="round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40172" y="6172200"/>
            <a:ext cx="2108606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44506B"/>
                </a:solidFill>
                <a:latin typeface="Calibri"/>
              </a:rPr>
              <a:t>INTERCHANGE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85939" y="6172200"/>
            <a:ext cx="2108606" cy="384048"/>
          </a:xfrm>
          <a:prstGeom prst="round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285939" y="6172200"/>
            <a:ext cx="2108606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44506B"/>
                </a:solidFill>
                <a:latin typeface="Calibri"/>
              </a:rPr>
              <a:t>DISPUTES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531705" y="6172200"/>
            <a:ext cx="2108606" cy="384048"/>
          </a:xfrm>
          <a:prstGeom prst="round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531705" y="6172200"/>
            <a:ext cx="2108606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44506B"/>
                </a:solidFill>
                <a:latin typeface="Calibri"/>
              </a:rPr>
              <a:t>REPORTING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91840" y="502920"/>
            <a:ext cx="7955279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C9A227"/>
                </a:solidFill>
                <a:latin typeface="Calibri"/>
              </a:rPr>
              <a:t>STAGE 03 — INTERCHANGE &amp; FEES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91840" y="868680"/>
            <a:ext cx="7955279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E2761"/>
                </a:solidFill>
                <a:latin typeface="Cambria"/>
              </a:rPr>
              <a:t>Fee Audit &amp; Interchange Leakage Recovery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2148840"/>
            <a:ext cx="7955279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1500">
                <a:solidFill>
                  <a:srgbClr val="44506B"/>
                </a:solidFill>
                <a:latin typeface="Calibri"/>
              </a:rPr>
              <a:t>AI audits each transaction's interchange classification against hundreds of network rate-table categories.</a:t>
            </a:r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1500">
                <a:solidFill>
                  <a:srgbClr val="44506B"/>
                </a:solidFill>
                <a:latin typeface="Calibri"/>
              </a:rPr>
              <a:t>Misclassified or underpaid interchange is flagged and recovered automatically instead of via manual fee audits.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91840" y="4800600"/>
            <a:ext cx="7955279" cy="91440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566160" y="4800600"/>
            <a:ext cx="740664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C9A227"/>
                </a:solidFill>
                <a:latin typeface="Calibri"/>
              </a:rPr>
              <a:t>EFFICIENCY GAIN   </a:t>
            </a:r>
            <a:r>
              <a:rPr sz="1500" b="1" i="0">
                <a:solidFill>
                  <a:srgbClr val="FFFFFF"/>
                </a:solidFill>
                <a:latin typeface="Calibri"/>
              </a:rPr>
              <a:t>Direct, recurring revenue recovery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1188720"/>
            <a:ext cx="1828800" cy="18288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188720"/>
            <a:ext cx="1828800" cy="1828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5400" b="1" i="0">
                <a:solidFill>
                  <a:srgbClr val="C9A227"/>
                </a:solidFill>
                <a:latin typeface="Cambria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246120"/>
            <a:ext cx="23774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1E2761"/>
                </a:solidFill>
                <a:latin typeface="Calibri"/>
              </a:rPr>
              <a:t>INTERCHANGE &amp; FEES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6172200"/>
            <a:ext cx="2108606" cy="384048"/>
          </a:xfrm>
          <a:prstGeom prst="round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6172200"/>
            <a:ext cx="2108606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44506B"/>
                </a:solidFill>
                <a:latin typeface="Calibri"/>
              </a:rPr>
              <a:t>AUTH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94406" y="6172200"/>
            <a:ext cx="2108606" cy="384048"/>
          </a:xfrm>
          <a:prstGeom prst="round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794406" y="6172200"/>
            <a:ext cx="2108606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44506B"/>
                </a:solidFill>
                <a:latin typeface="Calibri"/>
              </a:rPr>
              <a:t>SETTLE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40172" y="6172200"/>
            <a:ext cx="2108606" cy="384048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40172" y="6172200"/>
            <a:ext cx="2108606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C9A227"/>
                </a:solidFill>
                <a:latin typeface="Calibri"/>
              </a:rPr>
              <a:t>INTERCHANGE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85939" y="6172200"/>
            <a:ext cx="2108606" cy="384048"/>
          </a:xfrm>
          <a:prstGeom prst="round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285939" y="6172200"/>
            <a:ext cx="2108606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44506B"/>
                </a:solidFill>
                <a:latin typeface="Calibri"/>
              </a:rPr>
              <a:t>DISPUTES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531705" y="6172200"/>
            <a:ext cx="2108606" cy="384048"/>
          </a:xfrm>
          <a:prstGeom prst="round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531705" y="6172200"/>
            <a:ext cx="2108606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44506B"/>
                </a:solidFill>
                <a:latin typeface="Calibri"/>
              </a:rPr>
              <a:t>REPORTING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91840" y="502920"/>
            <a:ext cx="7955279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C9A227"/>
                </a:solidFill>
                <a:latin typeface="Calibri"/>
              </a:rPr>
              <a:t>STAGE 04 — CHARGEBACKS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91840" y="868680"/>
            <a:ext cx="7955279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E2761"/>
                </a:solidFill>
                <a:latin typeface="Cambria"/>
              </a:rPr>
              <a:t>NLP-Driven Dispute Resolution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2148840"/>
            <a:ext cx="7955279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1500">
                <a:solidFill>
                  <a:srgbClr val="44506B"/>
                </a:solidFill>
                <a:latin typeface="Calibri"/>
              </a:rPr>
              <a:t>NLP classifies dispute reason codes and extracts evidence from merchant correspondence and transaction logs.</a:t>
            </a:r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1500">
                <a:solidFill>
                  <a:srgbClr val="44506B"/>
                </a:solidFill>
                <a:latin typeface="Calibri"/>
              </a:rPr>
              <a:t>Predictive models score win-probability before contesting; generative AI drafts the representment package.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91840" y="4800600"/>
            <a:ext cx="7955279" cy="91440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566160" y="4800600"/>
            <a:ext cx="740664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C9A227"/>
                </a:solidFill>
                <a:latin typeface="Calibri"/>
              </a:rPr>
              <a:t>EFFICIENCY GAIN   </a:t>
            </a:r>
            <a:r>
              <a:rPr sz="1500" b="1" i="0">
                <a:solidFill>
                  <a:srgbClr val="FFFFFF"/>
                </a:solidFill>
                <a:latin typeface="Calibri"/>
              </a:rPr>
              <a:t>Weeks to days cycle time · higher win rate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1188720"/>
            <a:ext cx="1828800" cy="18288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188720"/>
            <a:ext cx="1828800" cy="1828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5400" b="1" i="0">
                <a:solidFill>
                  <a:srgbClr val="C9A227"/>
                </a:solidFill>
                <a:latin typeface="Cambria"/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246120"/>
            <a:ext cx="23774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1E2761"/>
                </a:solidFill>
                <a:latin typeface="Calibri"/>
              </a:rPr>
              <a:t>CHARGEBACKS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6172200"/>
            <a:ext cx="2108606" cy="384048"/>
          </a:xfrm>
          <a:prstGeom prst="round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6172200"/>
            <a:ext cx="2108606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44506B"/>
                </a:solidFill>
                <a:latin typeface="Calibri"/>
              </a:rPr>
              <a:t>AUTH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94406" y="6172200"/>
            <a:ext cx="2108606" cy="384048"/>
          </a:xfrm>
          <a:prstGeom prst="round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794406" y="6172200"/>
            <a:ext cx="2108606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44506B"/>
                </a:solidFill>
                <a:latin typeface="Calibri"/>
              </a:rPr>
              <a:t>SETTLE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40172" y="6172200"/>
            <a:ext cx="2108606" cy="384048"/>
          </a:xfrm>
          <a:prstGeom prst="round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40172" y="6172200"/>
            <a:ext cx="2108606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44506B"/>
                </a:solidFill>
                <a:latin typeface="Calibri"/>
              </a:rPr>
              <a:t>INTERCHANGE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85939" y="6172200"/>
            <a:ext cx="2108606" cy="384048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285939" y="6172200"/>
            <a:ext cx="2108606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C9A227"/>
                </a:solidFill>
                <a:latin typeface="Calibri"/>
              </a:rPr>
              <a:t>DISPUTES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531705" y="6172200"/>
            <a:ext cx="2108606" cy="384048"/>
          </a:xfrm>
          <a:prstGeom prst="round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531705" y="6172200"/>
            <a:ext cx="2108606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44506B"/>
                </a:solidFill>
                <a:latin typeface="Calibri"/>
              </a:rPr>
              <a:t>REPORTING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91840" y="502920"/>
            <a:ext cx="7955279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C9A227"/>
                </a:solidFill>
                <a:latin typeface="Calibri"/>
              </a:rPr>
              <a:t>STAGE 05 — REPORTING &amp; GL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91840" y="868680"/>
            <a:ext cx="7955279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E2761"/>
                </a:solidFill>
                <a:latin typeface="Cambria"/>
              </a:rPr>
              <a:t>LLM-Generated Commentary &amp; Natural-Language Query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2148840"/>
            <a:ext cx="7955279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1500">
                <a:solidFill>
                  <a:srgbClr val="44506B"/>
                </a:solidFill>
                <a:latin typeface="Calibri"/>
              </a:rPr>
              <a:t>LLMs auto-generate journal-entry narratives and flag GL breaks — e.g., interchange revenue vs. settlement volume mismatches.</a:t>
            </a:r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1500">
                <a:solidFill>
                  <a:srgbClr val="44506B"/>
                </a:solidFill>
                <a:latin typeface="Calibri"/>
              </a:rPr>
              <a:t>Finance teams query the transaction warehouse in plain English instead of writing SQL.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91840" y="4800600"/>
            <a:ext cx="7955279" cy="91440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566160" y="4800600"/>
            <a:ext cx="740664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C9A227"/>
                </a:solidFill>
                <a:latin typeface="Calibri"/>
              </a:rPr>
              <a:t>EFFICIENCY GAIN   </a:t>
            </a:r>
            <a:r>
              <a:rPr sz="1500" b="1" i="0">
                <a:solidFill>
                  <a:srgbClr val="FFFFFF"/>
                </a:solidFill>
                <a:latin typeface="Calibri"/>
              </a:rPr>
              <a:t>Analyst productivity · faster finance close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1188720"/>
            <a:ext cx="1828800" cy="18288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188720"/>
            <a:ext cx="1828800" cy="1828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5400" b="1" i="0">
                <a:solidFill>
                  <a:srgbClr val="C9A227"/>
                </a:solidFill>
                <a:latin typeface="Cambria"/>
              </a:rPr>
              <a:t>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246120"/>
            <a:ext cx="23774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1E2761"/>
                </a:solidFill>
                <a:latin typeface="Calibri"/>
              </a:rPr>
              <a:t>REPORTING &amp; GL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6172200"/>
            <a:ext cx="2108606" cy="384048"/>
          </a:xfrm>
          <a:prstGeom prst="round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6172200"/>
            <a:ext cx="2108606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44506B"/>
                </a:solidFill>
                <a:latin typeface="Calibri"/>
              </a:rPr>
              <a:t>AUTH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94406" y="6172200"/>
            <a:ext cx="2108606" cy="384048"/>
          </a:xfrm>
          <a:prstGeom prst="round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794406" y="6172200"/>
            <a:ext cx="2108606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44506B"/>
                </a:solidFill>
                <a:latin typeface="Calibri"/>
              </a:rPr>
              <a:t>SETTLE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40172" y="6172200"/>
            <a:ext cx="2108606" cy="384048"/>
          </a:xfrm>
          <a:prstGeom prst="round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40172" y="6172200"/>
            <a:ext cx="2108606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44506B"/>
                </a:solidFill>
                <a:latin typeface="Calibri"/>
              </a:rPr>
              <a:t>INTERCHANGE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85939" y="6172200"/>
            <a:ext cx="2108606" cy="384048"/>
          </a:xfrm>
          <a:prstGeom prst="round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285939" y="6172200"/>
            <a:ext cx="2108606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44506B"/>
                </a:solidFill>
                <a:latin typeface="Calibri"/>
              </a:rPr>
              <a:t>DISPUTES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531705" y="6172200"/>
            <a:ext cx="2108606" cy="384048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531705" y="6172200"/>
            <a:ext cx="2108606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C9A227"/>
                </a:solidFill>
                <a:latin typeface="Calibri"/>
              </a:rPr>
              <a:t>REPORTING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435</Words>
  <Application>Microsoft Office PowerPoint</Application>
  <PresentationFormat>Widescreen</PresentationFormat>
  <Paragraphs>84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Al Franco</cp:lastModifiedBy>
  <cp:revision>2</cp:revision>
  <dcterms:created xsi:type="dcterms:W3CDTF">2013-01-27T09:14:16Z</dcterms:created>
  <dcterms:modified xsi:type="dcterms:W3CDTF">2026-09-15T19:19:19Z</dcterms:modified>
  <cp:category/>
</cp:coreProperties>
</file>