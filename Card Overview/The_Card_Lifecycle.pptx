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16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9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Title/companion slide. Frame as the origination side of the card lifecycle, complementing The Settlement Ledger's transaction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Overview: six stages, three processing rhythms -- near-real-time origination, real-time authorization, batch servicing. Stages 5-6 point back to the other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Offer &amp; Apply: datasets an origination platform touches before underwriting -- soft pull vs hard pull is the key distinction (score impact).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Approve &amp; Onboard: the underwriting decision itself (with audit trail via reason codes and model version), then what account opening actually provisions.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Business capabilities: seven domains. D (transaction processing) is the other deck; F and G are cross-cutting, not stage-bound.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Technical capabilities part 1: acquisition and risk systems -- CDP, IDV, bureau API, decision engine, CMS/HSM.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Technical capabilities part 2: transacting and reporting systems -- auth switch, settlement engine, fraud/AML, collections,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source -&gt; ingestion -&gt; bronze -&gt; silver -&gt; gold -&gt; serving, medallion-style, with governance cutting across every layer rather than sitting as its own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The Card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0040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1">
                <a:solidFill>
                  <a:srgbClr val="CADCEA"/>
                </a:solidFill>
                <a:latin typeface="Calibri"/>
              </a:rPr>
              <a:t>From offer to servicing -- the business capabilities, datasets, and data</a:t>
            </a:r>
          </a:p>
          <a:p>
            <a:pPr algn="ctr">
              <a:lnSpc>
                <a:spcPct val="125000"/>
              </a:lnSpc>
            </a:pPr>
            <a:r>
              <a:rPr sz="1600" b="0" i="1">
                <a:solidFill>
                  <a:srgbClr val="CADCEA"/>
                </a:solidFill>
                <a:latin typeface="Calibri"/>
              </a:rPr>
              <a:t>architecture that make it work.</a:t>
            </a:r>
          </a:p>
        </p:txBody>
      </p:sp>
      <p:sp>
        <p:nvSpPr>
          <p:cNvPr id="4" name="Oval 3"/>
          <p:cNvSpPr/>
          <p:nvPr/>
        </p:nvSpPr>
        <p:spPr>
          <a:xfrm>
            <a:off x="201762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OFFER</a:t>
            </a:r>
          </a:p>
        </p:txBody>
      </p:sp>
      <p:sp>
        <p:nvSpPr>
          <p:cNvPr id="6" name="Oval 5"/>
          <p:cNvSpPr/>
          <p:nvPr/>
        </p:nvSpPr>
        <p:spPr>
          <a:xfrm>
            <a:off x="357210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832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APPLY</a:t>
            </a:r>
          </a:p>
        </p:txBody>
      </p:sp>
      <p:sp>
        <p:nvSpPr>
          <p:cNvPr id="8" name="Oval 7"/>
          <p:cNvSpPr/>
          <p:nvPr/>
        </p:nvSpPr>
        <p:spPr>
          <a:xfrm>
            <a:off x="512658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0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APPROVE</a:t>
            </a:r>
          </a:p>
        </p:txBody>
      </p:sp>
      <p:sp>
        <p:nvSpPr>
          <p:cNvPr id="10" name="Oval 9"/>
          <p:cNvSpPr/>
          <p:nvPr/>
        </p:nvSpPr>
        <p:spPr>
          <a:xfrm>
            <a:off x="668106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ONBOARD</a:t>
            </a:r>
          </a:p>
        </p:txBody>
      </p:sp>
      <p:sp>
        <p:nvSpPr>
          <p:cNvPr id="12" name="Oval 11"/>
          <p:cNvSpPr/>
          <p:nvPr/>
        </p:nvSpPr>
        <p:spPr>
          <a:xfrm>
            <a:off x="823554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176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TRANSACT</a:t>
            </a:r>
          </a:p>
        </p:txBody>
      </p:sp>
      <p:sp>
        <p:nvSpPr>
          <p:cNvPr id="14" name="Oval 13"/>
          <p:cNvSpPr/>
          <p:nvPr/>
        </p:nvSpPr>
        <p:spPr>
          <a:xfrm>
            <a:off x="979002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24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The account lifecycle,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Six stages, three different processing rhythms: near-real-time origination, real-time transacting, and batch servicing.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0992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60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73328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4496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56648" y="2148840"/>
            <a:ext cx="106070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3385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prospect identified</a:t>
            </a:r>
          </a:p>
        </p:txBody>
      </p:sp>
      <p:sp>
        <p:nvSpPr>
          <p:cNvPr id="13" name="Oval 12"/>
          <p:cNvSpPr/>
          <p:nvPr/>
        </p:nvSpPr>
        <p:spPr>
          <a:xfrm>
            <a:off x="314553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application submitted</a:t>
            </a:r>
          </a:p>
        </p:txBody>
      </p:sp>
      <p:sp>
        <p:nvSpPr>
          <p:cNvPr id="16" name="Oval 15"/>
          <p:cNvSpPr/>
          <p:nvPr/>
        </p:nvSpPr>
        <p:spPr>
          <a:xfrm>
            <a:off x="515721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underwriting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716889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Onboard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account + card issued</a:t>
            </a:r>
          </a:p>
        </p:txBody>
      </p:sp>
      <p:sp>
        <p:nvSpPr>
          <p:cNvPr id="22" name="Oval 21"/>
          <p:cNvSpPr/>
          <p:nvPr/>
        </p:nvSpPr>
        <p:spPr>
          <a:xfrm>
            <a:off x="918057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Transact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auth, clearing, settlement</a:t>
            </a:r>
          </a:p>
        </p:txBody>
      </p:sp>
      <p:sp>
        <p:nvSpPr>
          <p:cNvPr id="25" name="Oval 24"/>
          <p:cNvSpPr/>
          <p:nvPr/>
        </p:nvSpPr>
        <p:spPr>
          <a:xfrm>
            <a:off x="1082649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statement, pay, collect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429000"/>
            <a:ext cx="4160520" cy="502920"/>
          </a:xfrm>
          <a:prstGeom prst="roundRect">
            <a:avLst>
              <a:gd name="adj" fmla="val 6000"/>
            </a:avLst>
          </a:prstGeom>
          <a:solidFill>
            <a:srgbClr val="E2F1EC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354787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E7C66"/>
                </a:solidFill>
                <a:latin typeface="Courier New"/>
              </a:rPr>
              <a:t>ORIGINATION (near-real-time)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42900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7E6E0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35478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3324"/>
                </a:solidFill>
                <a:latin typeface="Courier New"/>
              </a:rPr>
              <a:t>AUTHORIZATION (real-time)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42900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35478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57626B"/>
                </a:solidFill>
                <a:latin typeface="Courier New"/>
              </a:rPr>
              <a:t>SERVICING (batch)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2519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7626B"/>
                </a:solidFill>
                <a:latin typeface="Calibri"/>
              </a:rPr>
              <a:t>Stages 1-4 (Offer through Onboard) are covered on the next two slides -- the datasets behind pulling a credit bureau, underwriting a decision, and issuing a card. Stage 5 (Transact) is the full subject of The Settlement Ledger deck: authorization, clearing, interchange, and the issuer's GL. Stage 6 (Service) covers statementing, payments, and collections -- downstream of everything already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Offer &amp; Application -- the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Everything the origination platform touches before a human underwriter -- or a decision engine -- ever sees the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1. Offer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6655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Prospect / Lead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name, address, source channel, campaign ID</a:t>
            </a:r>
          </a:p>
        </p:txBody>
      </p:sp>
      <p:sp>
        <p:nvSpPr>
          <p:cNvPr id="10" name="Oval 9"/>
          <p:cNvSpPr/>
          <p:nvPr/>
        </p:nvSpPr>
        <p:spPr>
          <a:xfrm>
            <a:off x="676655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Credit Bureau Soft-Pull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pre-qualification risk tier -- no score impact</a:t>
            </a:r>
          </a:p>
        </p:txBody>
      </p:sp>
      <p:sp>
        <p:nvSpPr>
          <p:cNvPr id="13" name="Oval 12"/>
          <p:cNvSpPr/>
          <p:nvPr/>
        </p:nvSpPr>
        <p:spPr>
          <a:xfrm>
            <a:off x="676655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Product / Offer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APR tiers, rewards, fees, credit line bands</a:t>
            </a:r>
          </a:p>
        </p:txBody>
      </p:sp>
      <p:sp>
        <p:nvSpPr>
          <p:cNvPr id="16" name="Oval 15"/>
          <p:cNvSpPr/>
          <p:nvPr/>
        </p:nvSpPr>
        <p:spPr>
          <a:xfrm>
            <a:off x="676655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Campaign / Attribution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channel, creative, campaign that drove the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2. Apply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91656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Application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legal name, SSN/TIN, DOB, address, income, employer</a:t>
            </a:r>
          </a:p>
        </p:txBody>
      </p:sp>
      <p:sp>
        <p:nvSpPr>
          <p:cNvPr id="24" name="Oval 23"/>
          <p:cNvSpPr/>
          <p:nvPr/>
        </p:nvSpPr>
        <p:spPr>
          <a:xfrm>
            <a:off x="6391656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Identity Verification (IDV)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document scans, liveness check, address match</a:t>
            </a:r>
          </a:p>
        </p:txBody>
      </p:sp>
      <p:sp>
        <p:nvSpPr>
          <p:cNvPr id="27" name="Oval 26"/>
          <p:cNvSpPr/>
          <p:nvPr/>
        </p:nvSpPr>
        <p:spPr>
          <a:xfrm>
            <a:off x="6391656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Credit Bureau Hard-Pull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full report, FICO/VantageScore -- hits the score</a:t>
            </a:r>
          </a:p>
        </p:txBody>
      </p:sp>
      <p:sp>
        <p:nvSpPr>
          <p:cNvPr id="30" name="Oval 29"/>
          <p:cNvSpPr/>
          <p:nvPr/>
        </p:nvSpPr>
        <p:spPr>
          <a:xfrm>
            <a:off x="6391656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Fraud &amp; Compliance Screening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OFAC/sanctions, synthetic-identity score, device print</a:t>
            </a:r>
          </a:p>
        </p:txBody>
      </p:sp>
      <p:sp>
        <p:nvSpPr>
          <p:cNvPr id="33" name="Oval 32"/>
          <p:cNvSpPr/>
          <p:nvPr/>
        </p:nvSpPr>
        <p:spPr>
          <a:xfrm>
            <a:off x="6391656" y="4407408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3342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Income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4553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pay stubs, tax transcripts, or algorithmic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Approval &amp; Onboarding -- the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The decision itself, then the account and plastic that decision produces.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3. Approve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6655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Underwriting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approve / decline / counter-offer, engine version</a:t>
            </a:r>
          </a:p>
        </p:txBody>
      </p:sp>
      <p:sp>
        <p:nvSpPr>
          <p:cNvPr id="10" name="Oval 9"/>
          <p:cNvSpPr/>
          <p:nvPr/>
        </p:nvSpPr>
        <p:spPr>
          <a:xfrm>
            <a:off x="676655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Risk 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score, reason codes, model version (for audit)</a:t>
            </a:r>
          </a:p>
        </p:txBody>
      </p:sp>
      <p:sp>
        <p:nvSpPr>
          <p:cNvPr id="13" name="Oval 12"/>
          <p:cNvSpPr/>
          <p:nvPr/>
        </p:nvSpPr>
        <p:spPr>
          <a:xfrm>
            <a:off x="676655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Credit Limit &amp;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line and APR assigned to this applicant</a:t>
            </a:r>
          </a:p>
        </p:txBody>
      </p:sp>
      <p:sp>
        <p:nvSpPr>
          <p:cNvPr id="16" name="Oval 15"/>
          <p:cNvSpPr/>
          <p:nvPr/>
        </p:nvSpPr>
        <p:spPr>
          <a:xfrm>
            <a:off x="676655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Adverse Action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regulatory decline reason codes -- Reg B / FCRA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4. Onboard &amp; Activate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91656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Account Master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account number, product code, open date, cycle date</a:t>
            </a:r>
          </a:p>
        </p:txBody>
      </p:sp>
      <p:sp>
        <p:nvSpPr>
          <p:cNvPr id="24" name="Oval 23"/>
          <p:cNvSpPr/>
          <p:nvPr/>
        </p:nvSpPr>
        <p:spPr>
          <a:xfrm>
            <a:off x="6391656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Cardholder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primary + authorized users linked to the account</a:t>
            </a:r>
          </a:p>
        </p:txBody>
      </p:sp>
      <p:sp>
        <p:nvSpPr>
          <p:cNvPr id="27" name="Oval 26"/>
          <p:cNvSpPr/>
          <p:nvPr/>
        </p:nvSpPr>
        <p:spPr>
          <a:xfrm>
            <a:off x="6391656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Card / Plastic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PAN (tokenized), expiration, CVV, embossing</a:t>
            </a:r>
          </a:p>
        </p:txBody>
      </p:sp>
      <p:sp>
        <p:nvSpPr>
          <p:cNvPr id="30" name="Oval 29"/>
          <p:cNvSpPr/>
          <p:nvPr/>
        </p:nvSpPr>
        <p:spPr>
          <a:xfrm>
            <a:off x="6391656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Activation Event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activation channel/date, PIN setup, card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Business capabilities, by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Seven functional domains span the lifecycle -- two of them (D, cross-cutting F/G) touch every single stage.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1671" cy="476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Domain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Capabilities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A. Customer Acquisition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Campaign targeting &amp; offer management, application intake, identity verification, credit risk assessment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B. Risk Decisioning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Underwriting / adjudication, pricing &amp; credit-line assignment, regulatory disclosure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C. Account &amp; Card Lifecycle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Account provisioning, card issuance &amp; PIN management, activation &amp; first-use enablement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D. Transaction Processing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Authorization, clearing &amp; settlement, interchange/network fee accounting -- see The Settlement Ledger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E. Risk &amp; Collections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Delinquency monitoring, collections workflow, chargeback/dispute handling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F. Compliance, Fraud &amp; Security (cross-cutting)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Fraud detection, AML/sanctions screening, PCI-DSS data protection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G. Data &amp; Analytics (cross-cutting)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Regulatory reporting, risk/credit modeling, portfolio analytics &amp; dashboards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Technical capabilities -- acquisition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The systems that deliver the business capabilities from stages 1-3.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Business Capability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Technical System(s)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Offer management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CDP / campaign management platform, offer decision engine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Application intake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Web/mobile app + API gateway, OCR/document capture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Identity verification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Third-party IDV API (document + biometric), device fingerprinting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Credit assessment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Credit bureau API integration (soft/hard pull)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Underwriting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Rules/decision engine (BRE), ML risk-scoring model, model registry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Account provisioning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Core banking / account management system (AMS)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Card issuance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Card management system (CMS), HSM for PAN/key generation, personalization bureau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Technical capabilities -- transacting, risk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The systems that deliver the business capabilities from stages 4-6, plus the cross-cutting ones.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Business Capability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Technical System(s)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Authorization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Real-time auth switch (sub-200ms), fraud-scoring engine in the auth path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Clearing / settlement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Batch settlement engine, network file interfaces (ISO 8583 / ISO 20022)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Fraud detection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Real-time + batch fraud models, rules engine, case management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AML / sanctions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Screening engine (OFAC/PEP lists), transaction monitoring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Collections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Collections workflow system, dialer/outreach integration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Reporting / analytics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Data warehouse / lakehouse, BI tool (Power BI), regulatory reporting engine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Reference architecture -- the lakehouse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Three processing rhythms feed one conformed model. Governance is not a layer -- it cuts across every one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687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Source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87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origination · card network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core banking · bureau APIs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536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3824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139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139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event streaming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batch / CDC (ADF)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2988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1276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A2130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591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Bronze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591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raw, immutable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full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440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728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A2130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043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43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cleansed, conformed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entities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7892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6180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A2130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495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495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curated subject-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area marts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5344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3632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0947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Serving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947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warehouse (BI)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feature store (ML)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727" y="3749039"/>
            <a:ext cx="11064240" cy="50292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3727" y="38862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9A3324"/>
                </a:solidFill>
                <a:latin typeface="Courier New"/>
              </a:rPr>
              <a:t>GOVERNANCE -- PCI-DSS tokenization &amp; encryption  ·  catalog &amp; lineage  ·  RBAC / PII masking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727" y="4526279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57626B"/>
                </a:solidFill>
                <a:latin typeface="Calibri"/>
              </a:rPr>
              <a:t>Real-time (authorization, fraud scoring) and near-real-time (application decisioning) both land in the same bronze/silver/gold model as the batch flows (settlement, statements, collections, regulatory reporting) -- the rhythm differs, the conformed entity model (customer, account, card, transaction) does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914400"/>
            <a:ext cx="9235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0E7C66"/>
                </a:solidFill>
                <a:latin typeface="Courier New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62863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50" b="0" i="1">
                <a:solidFill>
                  <a:srgbClr val="FFFFFF"/>
                </a:solidFill>
                <a:latin typeface="Cambria"/>
              </a:rPr>
              <a:t>“A card account starts as a marketing offer and a soft credit pull, becomes an application once identity and income are verified, and becomes a live account once underwriting assigns a line and price. From there, every swipe is what The Settlement Ledger covers. The same conformed data model -- customer, account, card, transaction -- has to serve a sub-200ms authorization path and a nightly regulatory report, which is why the architecture separates ingestion rhythm from the curated model underneath it, with governance wrapped around all of it.”</a:t>
            </a:r>
          </a:p>
        </p:txBody>
      </p:sp>
      <p:sp>
        <p:nvSpPr>
          <p:cNvPr id="4" name="Oval 3"/>
          <p:cNvSpPr/>
          <p:nvPr/>
        </p:nvSpPr>
        <p:spPr>
          <a:xfrm>
            <a:off x="204505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59953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15401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0849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826297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981745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60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>
                <a:solidFill>
                  <a:srgbClr val="8A9298"/>
                </a:solidFill>
                <a:latin typeface="Calibri"/>
              </a:rPr>
              <a:t>offer · apply · approve · onboard · transact ·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A2130"/>
                </a:solidFill>
                <a:latin typeface="Cambria"/>
              </a:rPr>
              <a:t>Products this lifecycle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7626B"/>
                </a:solidFill>
                <a:latin typeface="Calibri"/>
              </a:rPr>
              <a:t>The same six stages apply to every product below -- what changes is how the credit decision gets made, and what Transact/Service mean for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1672" cy="4910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6559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Product</a:t>
                      </a:r>
                    </a:p>
                  </a:txBody>
                  <a:tcPr marL="109728" marR="91440" marT="45720" marB="45720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How It Uses This Lifecycle</a:t>
                      </a:r>
                    </a:p>
                  </a:txBody>
                  <a:tcPr marL="109728" marR="91440" marT="45720" marB="45720" anchor="ctr">
                    <a:solidFill>
                      <a:srgbClr val="1A21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Standard / Classic Credit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Unsecured, revolving -- general-purpose card; the baseline this lifecycle models directly.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Secured Credit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Secured (cash deposit) -- underwriting is nearly skipped; the deposit is the credit decision.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Student Credit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Unsecured, relaxed underwriting -- same flow, but leans on enrollment/income over bureau depth.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Business / Commercial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 + personal guarantee -- Onboard adds employee-card issuance and spend controls.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Charge Card (No Preset Limit)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Unsecured, pay-in-full -- Service changes fundamentally; no revolving balance or minimum payment.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Co-Branded / Retail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Unsecured, partner-branded -- Onboard links a loyalty account; Transact earns brand rewards in real time.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Premium / Rewards Travel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Unsecured, top credit tier -- Approve requires a higher-tier decision path; richer Onboard benefits.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Balance Transfer Card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Unsecured, promotional -- Onboard adds a transfer-execution step before the 0% intro clock starts.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30"/>
                          </a:solidFill>
                          <a:latin typeface="Cambria"/>
                        </a:rPr>
                        <a:t>Prepaid Card (GPR)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7626B"/>
                          </a:solidFill>
                          <a:latin typeface="Calibri"/>
                        </a:rPr>
                        <a:t>Not credit -- stored value -- skips Approve entirely; no credit decision in the flow.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7626B"/>
                </a:solidFill>
                <a:latin typeface="Calibri"/>
              </a:rPr>
              <a:t>Full detail on datasets, workflow nuances, and regulatory notes for every product: Card_Payments_Product_Types.pptx.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1315</Words>
  <Application>Microsoft Office PowerPoint</Application>
  <PresentationFormat>Widescreen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4</cp:revision>
  <dcterms:created xsi:type="dcterms:W3CDTF">2013-01-27T09:14:16Z</dcterms:created>
  <dcterms:modified xsi:type="dcterms:W3CDTF">2026-09-15T18:13:31Z</dcterms:modified>
  <cp:category/>
</cp:coreProperties>
</file>