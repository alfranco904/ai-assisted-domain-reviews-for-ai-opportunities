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9164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mbria"/>
              </a:rPr>
              <a:t>The Card Payments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2316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CADCEA"/>
                </a:solidFill>
                <a:latin typeface="Cambria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337560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CADCEA"/>
                </a:solidFill>
                <a:latin typeface="Calibri"/>
              </a:rPr>
              <a:t>Actors, swim lanes, decisions, and timing across origination, transacting, and servicing.</a:t>
            </a:r>
          </a:p>
        </p:txBody>
      </p:sp>
      <p:sp>
        <p:nvSpPr>
          <p:cNvPr id="5" name="Oval 4"/>
          <p:cNvSpPr/>
          <p:nvPr/>
        </p:nvSpPr>
        <p:spPr>
          <a:xfrm>
            <a:off x="2017623" y="4343400"/>
            <a:ext cx="384048" cy="384048"/>
          </a:xfrm>
          <a:prstGeom prst="ellipse">
            <a:avLst/>
          </a:prstGeom>
          <a:solidFill>
            <a:srgbClr val="1A2130"/>
          </a:solidFill>
          <a:ln>
            <a:solidFill>
              <a:srgbClr val="CA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ourier New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3847" y="48097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CADCEA"/>
                </a:solidFill>
                <a:latin typeface="Courier New"/>
              </a:rPr>
              <a:t>OFFER</a:t>
            </a:r>
          </a:p>
        </p:txBody>
      </p:sp>
      <p:sp>
        <p:nvSpPr>
          <p:cNvPr id="7" name="Oval 6"/>
          <p:cNvSpPr/>
          <p:nvPr/>
        </p:nvSpPr>
        <p:spPr>
          <a:xfrm>
            <a:off x="3572103" y="4343400"/>
            <a:ext cx="384048" cy="384048"/>
          </a:xfrm>
          <a:prstGeom prst="ellipse">
            <a:avLst/>
          </a:prstGeom>
          <a:solidFill>
            <a:srgbClr val="1A2130"/>
          </a:solidFill>
          <a:ln>
            <a:solidFill>
              <a:srgbClr val="CA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ourier New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8327" y="48097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CADCEA"/>
                </a:solidFill>
                <a:latin typeface="Courier New"/>
              </a:rPr>
              <a:t>APPLY</a:t>
            </a:r>
          </a:p>
        </p:txBody>
      </p:sp>
      <p:sp>
        <p:nvSpPr>
          <p:cNvPr id="9" name="Oval 8"/>
          <p:cNvSpPr/>
          <p:nvPr/>
        </p:nvSpPr>
        <p:spPr>
          <a:xfrm>
            <a:off x="5126583" y="4343400"/>
            <a:ext cx="384048" cy="384048"/>
          </a:xfrm>
          <a:prstGeom prst="ellipse">
            <a:avLst/>
          </a:prstGeom>
          <a:solidFill>
            <a:srgbClr val="1A2130"/>
          </a:solidFill>
          <a:ln>
            <a:solidFill>
              <a:srgbClr val="CA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ourier New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807" y="48097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CADCEA"/>
                </a:solidFill>
                <a:latin typeface="Courier New"/>
              </a:rPr>
              <a:t>APPROVE</a:t>
            </a:r>
          </a:p>
        </p:txBody>
      </p:sp>
      <p:sp>
        <p:nvSpPr>
          <p:cNvPr id="11" name="Oval 10"/>
          <p:cNvSpPr/>
          <p:nvPr/>
        </p:nvSpPr>
        <p:spPr>
          <a:xfrm>
            <a:off x="6681063" y="4343400"/>
            <a:ext cx="384048" cy="384048"/>
          </a:xfrm>
          <a:prstGeom prst="ellipse">
            <a:avLst/>
          </a:prstGeom>
          <a:solidFill>
            <a:srgbClr val="1A2130"/>
          </a:solidFill>
          <a:ln>
            <a:solidFill>
              <a:srgbClr val="CA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ourier New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7287" y="48097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CADCEA"/>
                </a:solidFill>
                <a:latin typeface="Courier New"/>
              </a:rPr>
              <a:t>ONBOARD</a:t>
            </a:r>
          </a:p>
        </p:txBody>
      </p:sp>
      <p:sp>
        <p:nvSpPr>
          <p:cNvPr id="13" name="Oval 12"/>
          <p:cNvSpPr/>
          <p:nvPr/>
        </p:nvSpPr>
        <p:spPr>
          <a:xfrm>
            <a:off x="8235543" y="4343400"/>
            <a:ext cx="384048" cy="384048"/>
          </a:xfrm>
          <a:prstGeom prst="ellipse">
            <a:avLst/>
          </a:prstGeom>
          <a:solidFill>
            <a:srgbClr val="1A2130"/>
          </a:solidFill>
          <a:ln>
            <a:solidFill>
              <a:srgbClr val="CA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ourier New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1767" y="48097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CADCEA"/>
                </a:solidFill>
                <a:latin typeface="Courier New"/>
              </a:rPr>
              <a:t>TRANSACT</a:t>
            </a:r>
          </a:p>
        </p:txBody>
      </p:sp>
      <p:sp>
        <p:nvSpPr>
          <p:cNvPr id="15" name="Oval 14"/>
          <p:cNvSpPr/>
          <p:nvPr/>
        </p:nvSpPr>
        <p:spPr>
          <a:xfrm>
            <a:off x="9790023" y="4343400"/>
            <a:ext cx="384048" cy="384048"/>
          </a:xfrm>
          <a:prstGeom prst="ellipse">
            <a:avLst/>
          </a:prstGeom>
          <a:solidFill>
            <a:srgbClr val="1A2130"/>
          </a:solidFill>
          <a:ln>
            <a:solidFill>
              <a:srgbClr val="CA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CADCEA"/>
                </a:solidFill>
                <a:latin typeface="Courier New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6247" y="48097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CADCEA"/>
                </a:solidFill>
                <a:latin typeface="Courier New"/>
              </a:rPr>
              <a:t>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>
            <a:solidFill>
              <a:srgbClr val="1A2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Actors in the card payments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86384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Nine roles carry the file from application to every swipe after it -- the cast changes between origination and transacting.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0011" y="1463040"/>
          <a:ext cx="11091672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9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ourier New"/>
                        </a:rPr>
                        <a:t>Actor</a:t>
                      </a:r>
                    </a:p>
                  </a:txBody>
                  <a:tcPr marL="109728" marT="54864" marB="54864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ourier New"/>
                        </a:rPr>
                        <a:t>Role</a:t>
                      </a:r>
                    </a:p>
                  </a:txBody>
                  <a:tcPr marL="109728" marT="54864" marB="54864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130"/>
                          </a:solidFill>
                          <a:latin typeface="Cambria"/>
                        </a:rPr>
                        <a:t>Cardholder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The applicant, then accountholder -- applies, activates the card, makes purchases, and pays the bill.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130"/>
                          </a:solidFill>
                          <a:latin typeface="Cambria"/>
                        </a:rPr>
                        <a:t>Origination Platform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Digital/assisted front-end that captures the application and routes it for underwriting.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130"/>
                          </a:solidFill>
                          <a:latin typeface="Cambria"/>
                        </a:rPr>
                        <a:t>Credit Bureau (external)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Third-party source of soft-pull and hard-pull credit data, on request.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130"/>
                          </a:solidFill>
                          <a:latin typeface="Cambria"/>
                        </a:rPr>
                        <a:t>Underwriting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Decision engine plus human underwriter -- scores the application and sets the credit line &amp; APR.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130"/>
                          </a:solidFill>
                          <a:latin typeface="Cambria"/>
                        </a:rPr>
                        <a:t>Compliance &amp; Risk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Cross-cutting -- fraud &amp; fair-lending checks, auth-path fraud scoring, dispute compliance.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130"/>
                          </a:solidFill>
                          <a:latin typeface="Cambria"/>
                        </a:rPr>
                        <a:t>Merchant / PSP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Where the sale happens -- submits the authorization request and ultimately receives funds net of fees.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130"/>
                          </a:solidFill>
                          <a:latin typeface="Cambria"/>
                        </a:rPr>
                        <a:t>Acquirer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The merchant's bank -- forwards authorization and clearing, takes its own fee.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130"/>
                          </a:solidFill>
                          <a:latin typeface="Cambria"/>
                        </a:rPr>
                        <a:t>Network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The rails (e.g. Visa/Mastercard) -- routes the transaction, sets interchange, arbitrates disputes.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130"/>
                          </a:solidFill>
                          <a:latin typeface="Cambria"/>
                        </a:rPr>
                        <a:t>Issuer -- Card Systems &amp; Servicing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The cardholder's bank -- issues the card, authorizes transactions, and runs settlement &amp; servicing.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>
            <a:solidFill>
              <a:srgbClr val="1A2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Workflow -- origination (stages 1-4)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86384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Offer through Onboard -- who builds and decides the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15568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57626B"/>
                </a:solidFill>
                <a:latin typeface="Calibri"/>
              </a:rPr>
              <a:t>Gray border = process step   ·   Rust border = decision / exception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8840" y="1481328"/>
            <a:ext cx="2356866" cy="365760"/>
          </a:xfrm>
          <a:prstGeom prst="rect">
            <a:avLst/>
          </a:prstGeom>
          <a:solidFill>
            <a:srgbClr val="1A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urier New"/>
              </a:rPr>
              <a:t>1. OFFER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60570" y="1481328"/>
            <a:ext cx="2356866" cy="365760"/>
          </a:xfrm>
          <a:prstGeom prst="rect">
            <a:avLst/>
          </a:prstGeom>
          <a:solidFill>
            <a:srgbClr val="1A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urier New"/>
              </a:rPr>
              <a:t>2. APPLY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72300" y="1481328"/>
            <a:ext cx="2356866" cy="365760"/>
          </a:xfrm>
          <a:prstGeom prst="rect">
            <a:avLst/>
          </a:prstGeom>
          <a:solidFill>
            <a:srgbClr val="1A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urier New"/>
              </a:rPr>
              <a:t>3. APPROVE</a:t>
            </a:r>
          </a:p>
        </p:txBody>
      </p:sp>
      <p:sp>
        <p:nvSpPr>
          <p:cNvPr id="9" name="Rectangle 8"/>
          <p:cNvSpPr/>
          <p:nvPr/>
        </p:nvSpPr>
        <p:spPr>
          <a:xfrm>
            <a:off x="9384030" y="1481328"/>
            <a:ext cx="2356866" cy="365760"/>
          </a:xfrm>
          <a:prstGeom prst="rect">
            <a:avLst/>
          </a:prstGeom>
          <a:solidFill>
            <a:srgbClr val="1A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urier New"/>
              </a:rPr>
              <a:t>4. ONBOARD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48840" y="1481328"/>
            <a:ext cx="0" cy="5056632"/>
          </a:xfrm>
          <a:prstGeom prst="line">
            <a:avLst/>
          </a:prstGeom>
          <a:ln w="9525">
            <a:solidFill>
              <a:srgbClr val="C7CD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60570" y="1481328"/>
            <a:ext cx="0" cy="5056632"/>
          </a:xfrm>
          <a:prstGeom prst="line">
            <a:avLst/>
          </a:prstGeom>
          <a:ln w="9525">
            <a:solidFill>
              <a:srgbClr val="C7CD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72300" y="1481328"/>
            <a:ext cx="0" cy="5056632"/>
          </a:xfrm>
          <a:prstGeom prst="line">
            <a:avLst/>
          </a:prstGeom>
          <a:ln w="9525">
            <a:solidFill>
              <a:srgbClr val="C7CD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84030" y="1481328"/>
            <a:ext cx="0" cy="5056632"/>
          </a:xfrm>
          <a:prstGeom prst="line">
            <a:avLst/>
          </a:prstGeom>
          <a:ln w="9525">
            <a:solidFill>
              <a:srgbClr val="C7CD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795760" y="1481328"/>
            <a:ext cx="0" cy="5056632"/>
          </a:xfrm>
          <a:prstGeom prst="line">
            <a:avLst/>
          </a:prstGeom>
          <a:ln w="9525">
            <a:solidFill>
              <a:srgbClr val="C7CD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1847088"/>
            <a:ext cx="11338560" cy="781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847088"/>
            <a:ext cx="1453896" cy="781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Cardholder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28900"/>
            <a:ext cx="1453896" cy="781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Origination 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10712"/>
            <a:ext cx="11338560" cy="781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410712"/>
            <a:ext cx="1453896" cy="781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Credit Bureau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92524"/>
            <a:ext cx="1453896" cy="781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Underwriting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74336"/>
            <a:ext cx="11338560" cy="781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974336"/>
            <a:ext cx="1453896" cy="781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Compliance &amp;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56148"/>
            <a:ext cx="1453896" cy="781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Issuer -- Card Systems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08860" y="2009394"/>
            <a:ext cx="209169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Receives offer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20590" y="2009394"/>
            <a:ext cx="209169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Submits application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44050" y="2009394"/>
            <a:ext cx="209169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Activates card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08860" y="2791206"/>
            <a:ext cx="209169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Presents offer terms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20590" y="2791206"/>
            <a:ext cx="209169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Captures application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08860" y="3573018"/>
            <a:ext cx="209169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Soft-pull report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20590" y="3573018"/>
            <a:ext cx="209169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Hard-pull report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4272534"/>
            <a:ext cx="209169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A3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0E7C66"/>
                </a:solidFill>
                <a:latin typeface="Calibri"/>
              </a:rPr>
              <a:t>Approve</a:t>
            </a:r>
            <a:r>
              <a:rPr sz="950" b="0">
                <a:solidFill>
                  <a:srgbClr val="57626B"/>
                </a:solidFill>
                <a:latin typeface="Calibri"/>
              </a:rPr>
              <a:t> / </a:t>
            </a:r>
            <a:r>
              <a:rPr sz="950" b="1">
                <a:solidFill>
                  <a:srgbClr val="9A3324"/>
                </a:solidFill>
                <a:latin typeface="Calibri"/>
              </a:rPr>
              <a:t>Decline</a:t>
            </a:r>
            <a:r>
              <a:rPr sz="950" b="0">
                <a:solidFill>
                  <a:srgbClr val="57626B"/>
                </a:solidFill>
                <a:latin typeface="Calibri"/>
              </a:rPr>
              <a:t> / </a:t>
            </a:r>
            <a:r>
              <a:rPr sz="950" b="1">
                <a:solidFill>
                  <a:srgbClr val="1A2130"/>
                </a:solidFill>
                <a:latin typeface="Calibri"/>
              </a:rPr>
              <a:t>Counter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20590" y="5136642"/>
            <a:ext cx="209169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IDV + fraud screen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5136642"/>
            <a:ext cx="209169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Fair-lending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44050" y="5918454"/>
            <a:ext cx="209169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Issues card, sets PIN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00550" y="2237994"/>
            <a:ext cx="32004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12280" y="2237994"/>
            <a:ext cx="273177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400550" y="3019806"/>
            <a:ext cx="32004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400550" y="3801618"/>
            <a:ext cx="32004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812280" y="5365242"/>
            <a:ext cx="32004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>
            <a:solidFill>
              <a:srgbClr val="1A2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Workflow -- transaction (stage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86384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The five-party settlement model, in full: authorization is a promise, clearing &amp; settlement is the real event.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15568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57626B"/>
                </a:solidFill>
                <a:latin typeface="Calibri"/>
              </a:rPr>
              <a:t>A different cast from origination -- Merchant/PSP, Acquirer, and Network only appear here.  Rust border = decision / exception path.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8840" y="1481328"/>
            <a:ext cx="3160776" cy="365760"/>
          </a:xfrm>
          <a:prstGeom prst="rect">
            <a:avLst/>
          </a:prstGeom>
          <a:solidFill>
            <a:srgbClr val="1A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urier New"/>
              </a:rPr>
              <a:t>AUTHORIZATION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364480" y="1481328"/>
            <a:ext cx="3160776" cy="365760"/>
          </a:xfrm>
          <a:prstGeom prst="rect">
            <a:avLst/>
          </a:prstGeom>
          <a:solidFill>
            <a:srgbClr val="1A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urier New"/>
              </a:rPr>
              <a:t>CLEARING &amp; SETTLEMENT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580120" y="1481328"/>
            <a:ext cx="3160776" cy="365760"/>
          </a:xfrm>
          <a:prstGeom prst="rect">
            <a:avLst/>
          </a:prstGeom>
          <a:solidFill>
            <a:srgbClr val="9A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urier New"/>
              </a:rPr>
              <a:t>DISPUTE / CHARGEBACK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1481328"/>
            <a:ext cx="0" cy="5056632"/>
          </a:xfrm>
          <a:prstGeom prst="line">
            <a:avLst/>
          </a:prstGeom>
          <a:ln w="9525">
            <a:solidFill>
              <a:srgbClr val="C7CD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64480" y="1481328"/>
            <a:ext cx="0" cy="5056632"/>
          </a:xfrm>
          <a:prstGeom prst="line">
            <a:avLst/>
          </a:prstGeom>
          <a:ln w="9525">
            <a:solidFill>
              <a:srgbClr val="C7CD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80120" y="1481328"/>
            <a:ext cx="0" cy="5056632"/>
          </a:xfrm>
          <a:prstGeom prst="line">
            <a:avLst/>
          </a:prstGeom>
          <a:ln w="9525">
            <a:solidFill>
              <a:srgbClr val="C7CD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95760" y="1481328"/>
            <a:ext cx="0" cy="5056632"/>
          </a:xfrm>
          <a:prstGeom prst="line">
            <a:avLst/>
          </a:prstGeom>
          <a:ln w="9525">
            <a:solidFill>
              <a:srgbClr val="C7CD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1847088"/>
            <a:ext cx="11338560" cy="781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847088"/>
            <a:ext cx="1453896" cy="781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Cardholder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28900"/>
            <a:ext cx="1453896" cy="781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Merchant / PSP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10712"/>
            <a:ext cx="11338560" cy="781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410712"/>
            <a:ext cx="1453896" cy="781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Acquirer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92524"/>
            <a:ext cx="1453896" cy="781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Network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74336"/>
            <a:ext cx="11338560" cy="781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974336"/>
            <a:ext cx="1453896" cy="781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Compliance &amp;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56148"/>
            <a:ext cx="1453896" cy="7818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Issuer -- Card Systems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08860" y="2009394"/>
            <a:ext cx="2895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Swipes / taps card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40140" y="2009394"/>
            <a:ext cx="2895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3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Disputes the charge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08860" y="2791206"/>
            <a:ext cx="2895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Submits auth request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24500" y="2791206"/>
            <a:ext cx="2895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Sends clearing 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40140" y="2791206"/>
            <a:ext cx="2895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3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Provides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08860" y="3573018"/>
            <a:ext cx="2895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Forwards auth request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24500" y="3573018"/>
            <a:ext cx="2895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Forwards clearing, takes fee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08860" y="4354830"/>
            <a:ext cx="2895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Routes auth, checks limits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24500" y="4354830"/>
            <a:ext cx="2895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Sets interchange, forwards clearing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40140" y="4354830"/>
            <a:ext cx="2895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3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Arbitrates the dispute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08860" y="5136642"/>
            <a:ext cx="2895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Real-time fraud/credit scoring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08860" y="5836158"/>
            <a:ext cx="289560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A3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0E7C66"/>
                </a:solidFill>
                <a:latin typeface="Calibri"/>
              </a:rPr>
              <a:t>Approve</a:t>
            </a:r>
            <a:r>
              <a:rPr sz="950" b="0">
                <a:solidFill>
                  <a:srgbClr val="57626B"/>
                </a:solidFill>
                <a:latin typeface="Calibri"/>
              </a:rPr>
              <a:t> / </a:t>
            </a:r>
            <a:r>
              <a:rPr sz="950" b="1">
                <a:solidFill>
                  <a:srgbClr val="9A3324"/>
                </a:solidFill>
                <a:latin typeface="Calibri"/>
              </a:rPr>
              <a:t>Decline</a:t>
            </a:r>
            <a:r>
              <a:rPr sz="950" b="0">
                <a:solidFill>
                  <a:srgbClr val="57626B"/>
                </a:solidFill>
                <a:latin typeface="Calibri"/>
              </a:rPr>
              <a:t> -- memo hold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24500" y="5918454"/>
            <a:ext cx="2895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Books settlement (4 GL entries)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40140" y="5836158"/>
            <a:ext cx="289560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A3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1A2130"/>
                </a:solidFill>
                <a:latin typeface="Calibri"/>
              </a:rPr>
              <a:t>Cardholder wins</a:t>
            </a:r>
            <a:r>
              <a:rPr sz="950" b="0">
                <a:solidFill>
                  <a:srgbClr val="57626B"/>
                </a:solidFill>
                <a:latin typeface="Calibri"/>
              </a:rPr>
              <a:t> / </a:t>
            </a:r>
            <a:r>
              <a:rPr sz="950" b="1">
                <a:solidFill>
                  <a:srgbClr val="0E7C66"/>
                </a:solidFill>
                <a:latin typeface="Calibri"/>
              </a:rPr>
              <a:t>Merchant wins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04460" y="2237994"/>
            <a:ext cx="353568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204460" y="3019806"/>
            <a:ext cx="32004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420100" y="3019806"/>
            <a:ext cx="32004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204460" y="3801618"/>
            <a:ext cx="32004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204460" y="4583430"/>
            <a:ext cx="32004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20100" y="4583430"/>
            <a:ext cx="32004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04460" y="6147054"/>
            <a:ext cx="32004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420100" y="6147054"/>
            <a:ext cx="32004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>
            <a:solidFill>
              <a:srgbClr val="1A2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Workflow -- servicing (stage 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86384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The recurring billing cycle, and the delinquency branch.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15568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57626B"/>
                </a:solidFill>
                <a:latin typeface="Calibri"/>
              </a:rPr>
              <a:t>Gray border = process step   ·   Rust border = decision / exception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8840" y="1481328"/>
            <a:ext cx="4768596" cy="365760"/>
          </a:xfrm>
          <a:prstGeom prst="rect">
            <a:avLst/>
          </a:prstGeom>
          <a:solidFill>
            <a:srgbClr val="1A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urier New"/>
              </a:rPr>
              <a:t>SERVICE -- ON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972300" y="1481328"/>
            <a:ext cx="4768596" cy="365760"/>
          </a:xfrm>
          <a:prstGeom prst="rect">
            <a:avLst/>
          </a:prstGeom>
          <a:solidFill>
            <a:srgbClr val="9A3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ourier New"/>
              </a:rPr>
              <a:t>IF DELINQUENT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1481328"/>
            <a:ext cx="0" cy="5056632"/>
          </a:xfrm>
          <a:prstGeom prst="line">
            <a:avLst/>
          </a:prstGeom>
          <a:ln w="9525">
            <a:solidFill>
              <a:srgbClr val="C7CD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72300" y="1481328"/>
            <a:ext cx="0" cy="5056632"/>
          </a:xfrm>
          <a:prstGeom prst="line">
            <a:avLst/>
          </a:prstGeom>
          <a:ln w="9525">
            <a:solidFill>
              <a:srgbClr val="C7CD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795760" y="1481328"/>
            <a:ext cx="0" cy="5056632"/>
          </a:xfrm>
          <a:prstGeom prst="line">
            <a:avLst/>
          </a:prstGeom>
          <a:ln w="9525">
            <a:solidFill>
              <a:srgbClr val="C7CD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1847088"/>
            <a:ext cx="11338560" cy="11727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453896" cy="11727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Cardholder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9806"/>
            <a:ext cx="1453896" cy="11727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Credit Bureau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92524"/>
            <a:ext cx="11338560" cy="11727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192524"/>
            <a:ext cx="1453896" cy="11727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Compliance &amp;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65242"/>
            <a:ext cx="1453896" cy="11727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A2130"/>
                </a:solidFill>
                <a:latin typeface="Cambria"/>
              </a:rPr>
              <a:t>Issuer -- Card Systems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08860" y="2204847"/>
            <a:ext cx="45034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Makes payment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2204847"/>
            <a:ext cx="45034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3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Misses a payment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08860" y="3377565"/>
            <a:ext cx="45034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Receives payment furnishing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377565"/>
            <a:ext cx="45034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3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Receives delinquency furnishing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08860" y="4550283"/>
            <a:ext cx="45034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Monitors fair-servicing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08860" y="5723001"/>
            <a:ext cx="45034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0">
                <a:solidFill>
                  <a:srgbClr val="1A2130"/>
                </a:solidFill>
                <a:latin typeface="Calibri"/>
              </a:rPr>
              <a:t>Bills statement, processes payment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5640705"/>
            <a:ext cx="45034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A3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1A2130"/>
                </a:solidFill>
                <a:latin typeface="Calibri"/>
              </a:rPr>
              <a:t>Collections</a:t>
            </a:r>
            <a:r>
              <a:rPr sz="950" b="0">
                <a:solidFill>
                  <a:srgbClr val="57626B"/>
                </a:solidFill>
                <a:latin typeface="Calibri"/>
              </a:rPr>
              <a:t> → </a:t>
            </a:r>
            <a:r>
              <a:rPr sz="950" b="1">
                <a:solidFill>
                  <a:srgbClr val="9A3324"/>
                </a:solidFill>
                <a:latin typeface="Calibri"/>
              </a:rPr>
              <a:t>Charge-off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12280" y="2433447"/>
            <a:ext cx="32004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12280" y="3606165"/>
            <a:ext cx="32004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12280" y="5951601"/>
            <a:ext cx="32004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>
            <a:solidFill>
              <a:srgbClr val="1A2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Decision points across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86384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Five moments where the file or the transaction branches -- and who owns the call.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0011" y="1417320"/>
          <a:ext cx="11091672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19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ourier New"/>
                        </a:rPr>
                        <a:t>Decision</a:t>
                      </a:r>
                    </a:p>
                  </a:txBody>
                  <a:tcPr marL="109728" marT="54864" marB="54864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ourier New"/>
                        </a:rPr>
                        <a:t>Made By</a:t>
                      </a:r>
                    </a:p>
                  </a:txBody>
                  <a:tcPr marL="109728" marT="54864" marB="54864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ourier New"/>
                        </a:rPr>
                        <a:t>Possible Outcomes</a:t>
                      </a:r>
                    </a:p>
                  </a:txBody>
                  <a:tcPr marL="109728" marT="54864" marB="54864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ourier New"/>
                        </a:rPr>
                        <a:t>What Happens Next</a:t>
                      </a:r>
                    </a:p>
                  </a:txBody>
                  <a:tcPr marL="109728" marT="54864" marB="54864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130"/>
                          </a:solidFill>
                          <a:latin typeface="Cambria"/>
                        </a:rPr>
                        <a:t>Underwriting decision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Underwriting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7C66"/>
                          </a:solidFill>
                          <a:latin typeface="Calibri"/>
                        </a:rPr>
                        <a:t>Approve</a:t>
                      </a:r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 / </a:t>
                      </a:r>
                      <a:r>
                        <a:rPr sz="1000" b="1">
                          <a:solidFill>
                            <a:srgbClr val="9A3324"/>
                          </a:solidFill>
                          <a:latin typeface="Calibri"/>
                        </a:rPr>
                        <a:t>Decline</a:t>
                      </a:r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 / </a:t>
                      </a:r>
                      <a:r>
                        <a:rPr sz="1000" b="1">
                          <a:solidFill>
                            <a:srgbClr val="1A2130"/>
                          </a:solidFill>
                          <a:latin typeface="Calibri"/>
                        </a:rPr>
                        <a:t>Counter-offer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Approve or counter-offer moves to Onboard; decline generates the adverse-action notice and the file ends.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130"/>
                          </a:solidFill>
                          <a:latin typeface="Cambria"/>
                        </a:rPr>
                        <a:t>Authorization decision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Issuer (real-time fraud/credit check)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7C66"/>
                          </a:solidFill>
                          <a:latin typeface="Calibri"/>
                        </a:rPr>
                        <a:t>Approve</a:t>
                      </a:r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 / </a:t>
                      </a:r>
                      <a:r>
                        <a:rPr sz="1000" b="1">
                          <a:solidFill>
                            <a:srgbClr val="9A3324"/>
                          </a:solidFill>
                          <a:latin typeface="Calibri"/>
                        </a:rPr>
                        <a:t>Decline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Approve places a memo hold and the sale proceeds; decline refuses the transaction at the point of sale.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130"/>
                          </a:solidFill>
                          <a:latin typeface="Cambria"/>
                        </a:rPr>
                        <a:t>Chargeback outcome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Network (arbitration)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130"/>
                          </a:solidFill>
                          <a:latin typeface="Calibri"/>
                        </a:rPr>
                        <a:t>Cardholder wins</a:t>
                      </a:r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 / </a:t>
                      </a:r>
                      <a:r>
                        <a:rPr sz="1000" b="1">
                          <a:solidFill>
                            <a:srgbClr val="0E7C66"/>
                          </a:solidFill>
                          <a:latin typeface="Calibri"/>
                        </a:rPr>
                        <a:t>Merchant wins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Cardholder wins -- the chargeback posts and the merchant loses the funds; merchant wins (successful representment) -- the charge stands.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130"/>
                          </a:solidFill>
                          <a:latin typeface="Cambria"/>
                        </a:rPr>
                        <a:t>Payment status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Cardholder (behavior)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7C66"/>
                          </a:solidFill>
                          <a:latin typeface="Calibri"/>
                        </a:rPr>
                        <a:t>On-time</a:t>
                      </a:r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 / </a:t>
                      </a:r>
                      <a:r>
                        <a:rPr sz="1000" b="1">
                          <a:solidFill>
                            <a:srgbClr val="9A3324"/>
                          </a:solidFill>
                          <a:latin typeface="Calibri"/>
                        </a:rPr>
                        <a:t>Delinquent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On-time continues the normal billing cycle; delinquent escalates to collections outreach.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130"/>
                          </a:solidFill>
                          <a:latin typeface="Cambria"/>
                        </a:rPr>
                        <a:t>Charge-off decision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Issuer -- Card Systems (policy-driven)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130"/>
                          </a:solidFill>
                          <a:latin typeface="Calibri"/>
                        </a:rPr>
                        <a:t>Continue collecting</a:t>
                      </a:r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 / </a:t>
                      </a:r>
                      <a:r>
                        <a:rPr sz="1000" b="1">
                          <a:solidFill>
                            <a:srgbClr val="9A3324"/>
                          </a:solidFill>
                          <a:latin typeface="Calibri"/>
                        </a:rPr>
                        <a:t>Charge off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7626B"/>
                          </a:solidFill>
                          <a:latin typeface="Calibri"/>
                        </a:rPr>
                        <a:t>Charge-off recognizes the loss and refers the account to recovery.</a:t>
                      </a:r>
                    </a:p>
                  </a:txBody>
                  <a:tcPr marL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>
            <a:solidFill>
              <a:srgbClr val="1A2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Illustrative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86384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Two rhythms: origination measured in days, a transaction measured in hours -- and the transaction leg repeats with every purchase.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3114" y="246888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A2130"/>
                </a:solidFill>
                <a:latin typeface="Courier New"/>
              </a:rPr>
              <a:t>Days 0-3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114" y="2834640"/>
            <a:ext cx="141732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57626B"/>
                </a:solidFill>
                <a:latin typeface="Calibri"/>
              </a:rPr>
              <a:t>Apply &amp;</a:t>
            </a:r>
          </a:p>
          <a:p>
            <a:pPr algn="ctr"/>
            <a:r>
              <a:rPr sz="1050" b="0">
                <a:solidFill>
                  <a:srgbClr val="57626B"/>
                </a:solidFill>
                <a:latin typeface="Calibri"/>
              </a:rPr>
              <a:t>Approve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50743" y="246888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A2130"/>
                </a:solidFill>
                <a:latin typeface="Courier New"/>
              </a:rPr>
              <a:t>Day 3-5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0743" y="2834640"/>
            <a:ext cx="141732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57626B"/>
                </a:solidFill>
                <a:latin typeface="Calibri"/>
              </a:rPr>
              <a:t>Onboard --</a:t>
            </a:r>
          </a:p>
          <a:p>
            <a:pPr algn="ctr"/>
            <a:r>
              <a:rPr sz="1050" b="0">
                <a:solidFill>
                  <a:srgbClr val="57626B"/>
                </a:solidFill>
                <a:latin typeface="Calibri"/>
              </a:rPr>
              <a:t>card issued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8372" y="246888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A2130"/>
                </a:solidFill>
                <a:latin typeface="Courier New"/>
              </a:rPr>
              <a:t>Instant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372" y="2834640"/>
            <a:ext cx="141732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9A3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57626B"/>
                </a:solidFill>
                <a:latin typeface="Calibri"/>
              </a:rPr>
              <a:t>Swipe --</a:t>
            </a:r>
          </a:p>
          <a:p>
            <a:pPr algn="ctr"/>
            <a:r>
              <a:rPr sz="1050" b="0">
                <a:solidFill>
                  <a:srgbClr val="57626B"/>
                </a:solidFill>
                <a:latin typeface="Calibri"/>
              </a:rPr>
              <a:t>authorization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6002" y="246888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A2130"/>
                </a:solidFill>
                <a:latin typeface="Courier New"/>
              </a:rPr>
              <a:t>Day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6002" y="2834640"/>
            <a:ext cx="141732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57626B"/>
                </a:solidFill>
                <a:latin typeface="Calibri"/>
              </a:rPr>
              <a:t>Clearing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3631" y="246888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A2130"/>
                </a:solidFill>
                <a:latin typeface="Courier New"/>
              </a:rPr>
              <a:t>Day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3631" y="2834640"/>
            <a:ext cx="141732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57626B"/>
                </a:solidFill>
                <a:latin typeface="Calibri"/>
              </a:rPr>
              <a:t>Settlement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1260" y="246888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A2130"/>
                </a:solidFill>
                <a:latin typeface="Courier New"/>
              </a:rPr>
              <a:t>Monthly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1260" y="2834640"/>
            <a:ext cx="1417320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0">
                <a:solidFill>
                  <a:srgbClr val="57626B"/>
                </a:solidFill>
                <a:latin typeface="Calibri"/>
              </a:rPr>
              <a:t>Billing</a:t>
            </a:r>
          </a:p>
          <a:p>
            <a:pPr algn="ctr"/>
            <a:r>
              <a:rPr sz="1050" b="0">
                <a:solidFill>
                  <a:srgbClr val="57626B"/>
                </a:solidFill>
                <a:latin typeface="Calibri"/>
              </a:rPr>
              <a:t>Cycle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10434" y="3337560"/>
            <a:ext cx="340309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68063" y="3337560"/>
            <a:ext cx="340309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25692" y="3337560"/>
            <a:ext cx="34031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3322" y="3337560"/>
            <a:ext cx="340309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440951" y="3337560"/>
            <a:ext cx="340309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29768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57626B"/>
                </a:solidFill>
                <a:latin typeface="Calibri"/>
              </a:rPr>
              <a:t>Once active, the transaction leg (swipe → clearing → settlement) repeats with every purchase -- it does not wait for the next billing cycle.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0" y="914400"/>
            <a:ext cx="9235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7C66"/>
                </a:solidFill>
                <a:latin typeface="Courier New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417320"/>
            <a:ext cx="9628632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FFFFFF"/>
                </a:solidFill>
                <a:latin typeface="Cambria"/>
              </a:rPr>
              <a:t>The card workflow has two casts, not one: the cardholder, origination platform, credit bureau, underwriting, and compliance build and decide the account; then merchant/PSP, acquirer, network, and the issuer's own systems carry every swipe after it. Three decision points sit at the seams -- underwriting's approve/decline/counter-offer, the issuer's real-time authorization call, and the network's chargeback arbitration -- plus the same quiet payment-status branch every billing cycle. The lifecycle and settlement-ledger decks show what data moves and what posts to the GL; this deck shows who moves it, and when.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6126480"/>
            <a:ext cx="9235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CADCEA"/>
                </a:solidFill>
                <a:latin typeface="Courier New"/>
              </a:rPr>
              <a:t>offer · apply · approve · onboard · transact ·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896</Words>
  <Application>Microsoft Office PowerPoint</Application>
  <PresentationFormat>Widescreen</PresentationFormat>
  <Paragraphs>157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 Franco</cp:lastModifiedBy>
  <cp:revision>1</cp:revision>
  <dcterms:created xsi:type="dcterms:W3CDTF">2013-01-27T09:14:16Z</dcterms:created>
  <dcterms:modified xsi:type="dcterms:W3CDTF">2026-09-16T17:53:59Z</dcterms:modified>
  <cp:category/>
</cp:coreProperties>
</file>